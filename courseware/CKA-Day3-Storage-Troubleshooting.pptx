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Networking, Storage &amp;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Domains 3, 4 &amp; 5 — Labs 19–28</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03</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3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Yesterday: CRDs, extension interfaces, Deployments, ConfigMaps, Secrets, HPA, scheduling and Services.</a:t>
            </a:r>
          </a:p>
          <a:p>
            <a:pPr>
              <a:spcBef>
                <a:spcPts val="0"/>
              </a:spcBef>
              <a:spcAft>
                <a:spcPts val="1000"/>
              </a:spcAft>
            </a:pPr>
            <a:r>
              <a:rPr sz="1900" b="1">
                <a:solidFill>
                  <a:srgbClr val="1F6FEB"/>
                </a:solidFill>
                <a:latin typeface="Arial"/>
              </a:rPr>
              <a:t>•  </a:t>
            </a:r>
            <a:r>
              <a:rPr sz="1900">
                <a:solidFill>
                  <a:srgbClr val="161B26"/>
                </a:solidFill>
                <a:latin typeface="Arial"/>
              </a:rPr>
              <a:t>Morning — Domain 3 remaining (20%): Ingress, Gateway API, NetworkPolicy, CoreDNS.</a:t>
            </a:r>
          </a:p>
          <a:p>
            <a:pPr>
              <a:spcBef>
                <a:spcPts val="0"/>
              </a:spcBef>
              <a:spcAft>
                <a:spcPts val="1000"/>
              </a:spcAft>
            </a:pPr>
            <a:r>
              <a:rPr sz="1900" b="1">
                <a:solidFill>
                  <a:srgbClr val="1F6FEB"/>
                </a:solidFill>
                <a:latin typeface="Arial"/>
              </a:rPr>
              <a:t>•  </a:t>
            </a:r>
            <a:r>
              <a:rPr sz="1900">
                <a:solidFill>
                  <a:srgbClr val="161B26"/>
                </a:solidFill>
                <a:latin typeface="Arial"/>
              </a:rPr>
              <a:t>Afternoon — Domain 4 (10%): PV/PVC, StorageClass, dynamic provisioning.</a:t>
            </a:r>
          </a:p>
          <a:p>
            <a:pPr>
              <a:spcBef>
                <a:spcPts val="0"/>
              </a:spcBef>
              <a:spcAft>
                <a:spcPts val="1000"/>
              </a:spcAft>
            </a:pPr>
            <a:r>
              <a:rPr sz="1900" b="1">
                <a:solidFill>
                  <a:srgbClr val="1F6FEB"/>
                </a:solidFill>
                <a:latin typeface="Arial"/>
              </a:rPr>
              <a:t>•  </a:t>
            </a:r>
            <a:r>
              <a:rPr sz="1900">
                <a:solidFill>
                  <a:srgbClr val="161B26"/>
                </a:solidFill>
                <a:latin typeface="Arial"/>
              </a:rPr>
              <a:t>Late afternoon — Domain 5 start (30%): cluster component failures, node troubleshooting, pod debugging.</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Ingress &amp; Gateway API</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Layer-7 HTTP/HTTPS routing into the cluster</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HTTP ROUTING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 L7 Routing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An Ingress defines host- and path-based HTTP/HTTPS rules that forward traffic to backend Services.</a:t>
            </a:r>
          </a:p>
          <a:p>
            <a:pPr>
              <a:spcBef>
                <a:spcPts val="0"/>
              </a:spcBef>
              <a:spcAft>
                <a:spcPts val="1000"/>
              </a:spcAft>
            </a:pPr>
            <a:r>
              <a:rPr sz="1900" b="1">
                <a:solidFill>
                  <a:srgbClr val="1F6FEB"/>
                </a:solidFill>
                <a:latin typeface="Arial"/>
              </a:rPr>
              <a:t>•  </a:t>
            </a:r>
            <a:r>
              <a:rPr sz="1900">
                <a:solidFill>
                  <a:srgbClr val="161B26"/>
                </a:solidFill>
                <a:latin typeface="Arial"/>
              </a:rPr>
              <a:t>An Ingress controller (e.g. ingress-nginx) must be running; ingressClassName selects it.</a:t>
            </a:r>
          </a:p>
          <a:p>
            <a:pPr>
              <a:spcBef>
                <a:spcPts val="0"/>
              </a:spcBef>
              <a:spcAft>
                <a:spcPts val="1000"/>
              </a:spcAft>
            </a:pPr>
            <a:r>
              <a:rPr sz="1900" b="1">
                <a:solidFill>
                  <a:srgbClr val="1F6FEB"/>
                </a:solidFill>
                <a:latin typeface="Arial"/>
              </a:rPr>
              <a:t>•  </a:t>
            </a:r>
            <a:r>
              <a:rPr sz="1900">
                <a:solidFill>
                  <a:srgbClr val="161B26"/>
                </a:solidFill>
                <a:latin typeface="Arial"/>
              </a:rPr>
              <a:t>TLS terminates at the controller — tls.secretName points at a kubernetes.io/tls Secret.</a:t>
            </a:r>
          </a:p>
          <a:p>
            <a:pPr>
              <a:spcBef>
                <a:spcPts val="0"/>
              </a:spcBef>
              <a:spcAft>
                <a:spcPts val="1000"/>
              </a:spcAft>
            </a:pPr>
            <a:r>
              <a:rPr sz="1900" b="1">
                <a:solidFill>
                  <a:srgbClr val="1F6FEB"/>
                </a:solidFill>
                <a:latin typeface="Arial"/>
              </a:rPr>
              <a:t>•  </a:t>
            </a:r>
            <a:r>
              <a:rPr sz="1900">
                <a:solidFill>
                  <a:srgbClr val="161B26"/>
                </a:solidFill>
                <a:latin typeface="Arial"/>
              </a:rPr>
              <a:t>pathType: Prefix matches a path and everything below it; Exact requires a literal match.</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GATEWAY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 The Modern Alternative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Gateway API is the successor to Ingress — role-oriented (infra / cluster-operator / app dev).</a:t>
            </a:r>
          </a:p>
          <a:p>
            <a:pPr>
              <a:spcBef>
                <a:spcPts val="0"/>
              </a:spcBef>
              <a:spcAft>
                <a:spcPts val="1000"/>
              </a:spcAft>
            </a:pPr>
            <a:r>
              <a:rPr sz="1900" b="1">
                <a:solidFill>
                  <a:srgbClr val="1F6FEB"/>
                </a:solidFill>
                <a:latin typeface="Arial"/>
              </a:rPr>
              <a:t>•  </a:t>
            </a:r>
            <a:r>
              <a:rPr sz="1900">
                <a:solidFill>
                  <a:srgbClr val="161B26"/>
                </a:solidFill>
                <a:latin typeface="Arial"/>
              </a:rPr>
              <a:t>GatewayClass defines the controller; Gateway binds a listener; HTTPRoute attaches rules.</a:t>
            </a:r>
          </a:p>
          <a:p>
            <a:pPr>
              <a:spcBef>
                <a:spcPts val="0"/>
              </a:spcBef>
              <a:spcAft>
                <a:spcPts val="1000"/>
              </a:spcAft>
            </a:pPr>
            <a:r>
              <a:rPr sz="1900" b="1">
                <a:solidFill>
                  <a:srgbClr val="1F6FEB"/>
                </a:solidFill>
                <a:latin typeface="Arial"/>
              </a:rPr>
              <a:t>•  </a:t>
            </a:r>
            <a:r>
              <a:rPr sz="1900">
                <a:solidFill>
                  <a:srgbClr val="161B26"/>
                </a:solidFill>
                <a:latin typeface="Arial"/>
              </a:rPr>
              <a:t>Supports HTTP, HTTPS, TCP, TLS and gRPC routing with cross-namespace route attachment.</a:t>
            </a:r>
          </a:p>
          <a:p>
            <a:pPr>
              <a:spcBef>
                <a:spcPts val="0"/>
              </a:spcBef>
              <a:spcAft>
                <a:spcPts val="1000"/>
              </a:spcAft>
            </a:pPr>
            <a:r>
              <a:rPr sz="1900" b="1">
                <a:solidFill>
                  <a:srgbClr val="1F6FEB"/>
                </a:solidFill>
                <a:latin typeface="Arial"/>
              </a:rPr>
              <a:t>•  </a:t>
            </a:r>
            <a:r>
              <a:rPr sz="1900">
                <a:solidFill>
                  <a:srgbClr val="161B26"/>
                </a:solidFill>
                <a:latin typeface="Arial"/>
              </a:rPr>
              <a:t>apiVersion: gateway.networking.k8s.io/v1 — install the CRDs separately before using it.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INGRESS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Ingress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ingress-nginx controller, configure host-based routing to multiple backends, terminate TLS using a Kubernetes Secret, and debug misconfigured Ingress resources. CKA 2026 tests installing ingress-nginx, host routing, and TLS termination.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ingress-nginx via bare-metal manifest, create Ingress for two apps with host rules, add TLS block with secret, debug 404 by checking ingressClassName.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HTTP_PORT=$(kubectl -n · cat &lt;&lt;'EOF' · kubectl create · » ingressClassName: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ingress-nginx</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https://raw.githubusercontent.com/kubernetes/ingress-nginx/main/deploy/static/provider/baremetal/deploy.yaml</a:t>
            </a:r>
          </a:p>
          <a:p>
            <a:pPr>
              <a:spcBef>
                <a:spcPts val="0"/>
              </a:spcBef>
              <a:spcAft>
                <a:spcPts val="0"/>
              </a:spcAft>
            </a:pPr>
            <a:r>
              <a:rPr sz="1050">
                <a:solidFill>
                  <a:srgbClr val="161B26"/>
                </a:solidFill>
                <a:latin typeface="Consolas"/>
              </a:rPr>
              <a:t>kubectl -n ingress-nginx wait --for=condition=Ready pod \</a:t>
            </a:r>
          </a:p>
          <a:p>
            <a:pPr>
              <a:spcBef>
                <a:spcPts val="0"/>
              </a:spcBef>
              <a:spcAft>
                <a:spcPts val="0"/>
              </a:spcAft>
            </a:pPr>
            <a:r>
              <a:rPr sz="1050">
                <a:solidFill>
                  <a:srgbClr val="161B26"/>
                </a:solidFill>
                <a:latin typeface="Consolas"/>
              </a:rPr>
              <a:t>  -l app.kubernetes.io/component=controller --timeout=180s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Get NodePort for testing</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HTTP_PORT=$(kubectl -n ingress-nginx get svc ingress-nginx-controller \</a:t>
            </a:r>
          </a:p>
          <a:p>
            <a:pPr>
              <a:spcBef>
                <a:spcPts val="0"/>
              </a:spcBef>
              <a:spcAft>
                <a:spcPts val="0"/>
              </a:spcAft>
            </a:pPr>
            <a:r>
              <a:rPr sz="1050">
                <a:solidFill>
                  <a:srgbClr val="161B26"/>
                </a:solidFill>
                <a:latin typeface="Consolas"/>
              </a:rPr>
              <a:t>  -o jsonpath='{.spec.ports[?(@.name=="http")].nodePort}')</a:t>
            </a:r>
          </a:p>
          <a:p>
            <a:pPr>
              <a:spcBef>
                <a:spcPts val="0"/>
              </a:spcBef>
              <a:spcAft>
                <a:spcPts val="0"/>
              </a:spcAft>
            </a:pPr>
            <a:r>
              <a:rPr sz="1050">
                <a:solidFill>
                  <a:srgbClr val="161B26"/>
                </a:solidFill>
                <a:latin typeface="Consolas"/>
              </a:rPr>
              <a:t>echo "HTTP NodePort: $HTTP_PORT"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Ingress with host-based routing</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Ingress</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multi-host</a:t>
            </a:r>
          </a:p>
          <a:p>
            <a:pPr>
              <a:spcBef>
                <a:spcPts val="0"/>
              </a:spcBef>
              <a:spcAft>
                <a:spcPts val="0"/>
              </a:spcAft>
            </a:pPr>
            <a:r>
              <a:rPr sz="1050">
                <a:solidFill>
                  <a:srgbClr val="161B26"/>
                </a:solidFill>
                <a:latin typeface="Consolas"/>
              </a:rPr>
              <a:t>  annotations:</a:t>
            </a:r>
          </a:p>
          <a:p>
            <a:pPr>
              <a:spcBef>
                <a:spcPts val="0"/>
              </a:spcBef>
              <a:spcAft>
                <a:spcPts val="0"/>
              </a:spcAft>
            </a:pPr>
            <a:r>
              <a:rPr sz="1050">
                <a:solidFill>
                  <a:srgbClr val="161B26"/>
                </a:solidFill>
                <a:latin typeface="Consolas"/>
              </a:rPr>
              <a:t>    nginx.ingress.kubernetes.io/rewrite-target: /</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ingressClassName: nginx</a:t>
            </a:r>
          </a:p>
          <a:p>
            <a:pPr>
              <a:spcBef>
                <a:spcPts val="0"/>
              </a:spcBef>
              <a:spcAft>
                <a:spcPts val="0"/>
              </a:spcAft>
            </a:pPr>
            <a:r>
              <a:rPr sz="1050">
                <a:solidFill>
                  <a:srgbClr val="161B26"/>
                </a:solidFill>
                <a:latin typeface="Consolas"/>
              </a:rPr>
              <a:t>  rules:</a:t>
            </a:r>
          </a:p>
          <a:p>
            <a:pPr>
              <a:spcBef>
                <a:spcPts val="0"/>
              </a:spcBef>
              <a:spcAft>
                <a:spcPts val="0"/>
              </a:spcAft>
            </a:pPr>
            <a:r>
              <a:rPr sz="1050">
                <a:solidFill>
                  <a:srgbClr val="161B26"/>
                </a:solidFill>
                <a:latin typeface="Consolas"/>
              </a:rPr>
              <a:t>  - host: app1.example.com</a:t>
            </a:r>
          </a:p>
          <a:p>
            <a:pPr>
              <a:spcBef>
                <a:spcPts val="0"/>
              </a:spcBef>
              <a:spcAft>
                <a:spcPts val="0"/>
              </a:spcAft>
            </a:pPr>
            <a:r>
              <a:rPr sz="1050">
                <a:solidFill>
                  <a:srgbClr val="161B26"/>
                </a:solidFill>
                <a:latin typeface="Consolas"/>
              </a:rPr>
              <a:t>    http:</a:t>
            </a:r>
          </a:p>
          <a:p>
            <a:pPr>
              <a:spcBef>
                <a:spcPts val="0"/>
              </a:spcBef>
              <a:spcAft>
                <a:spcPts val="0"/>
              </a:spcAft>
            </a:pPr>
            <a:r>
              <a:rPr sz="1050">
                <a:solidFill>
                  <a:srgbClr val="161B26"/>
                </a:solidFill>
                <a:latin typeface="Consolas"/>
              </a:rPr>
              <a:t>      paths:</a:t>
            </a:r>
          </a:p>
          <a:p>
            <a:pPr>
              <a:spcBef>
                <a:spcPts val="0"/>
              </a:spcBef>
              <a:spcAft>
                <a:spcPts val="0"/>
              </a:spcAft>
            </a:pPr>
            <a:r>
              <a:rPr sz="1050">
                <a:solidFill>
                  <a:srgbClr val="161B26"/>
                </a:solidFill>
                <a:latin typeface="Consolas"/>
              </a:rPr>
              <a:t>      - path: /</a:t>
            </a:r>
          </a:p>
          <a:p>
            <a:pPr>
              <a:spcBef>
                <a:spcPts val="0"/>
              </a:spcBef>
              <a:spcAft>
                <a:spcPts val="0"/>
              </a:spcAft>
            </a:pPr>
            <a:r>
              <a:rPr sz="1050">
                <a:solidFill>
                  <a:srgbClr val="161B26"/>
                </a:solidFill>
                <a:latin typeface="Consolas"/>
              </a:rPr>
              <a:t>        pathType: Prefix</a:t>
            </a:r>
          </a:p>
          <a:p>
            <a:pPr>
              <a:spcBef>
                <a:spcPts val="0"/>
              </a:spcBef>
              <a:spcAft>
                <a:spcPts val="0"/>
              </a:spcAft>
            </a:pPr>
            <a:r>
              <a:rPr sz="1050">
                <a:solidFill>
                  <a:srgbClr val="161B26"/>
                </a:solidFill>
                <a:latin typeface="Consolas"/>
              </a:rPr>
              <a:t>        backend:</a:t>
            </a:r>
          </a:p>
          <a:p>
            <a:pPr>
              <a:spcBef>
                <a:spcPts val="0"/>
              </a:spcBef>
              <a:spcAft>
                <a:spcPts val="0"/>
              </a:spcAft>
            </a:pPr>
            <a:r>
              <a:rPr sz="1050">
                <a:solidFill>
                  <a:srgbClr val="161B26"/>
                </a:solidFill>
                <a:latin typeface="Consolas"/>
              </a:rPr>
              <a:t>          service:</a:t>
            </a:r>
          </a:p>
          <a:p>
            <a:pPr>
              <a:spcBef>
                <a:spcPts val="0"/>
              </a:spcBef>
              <a:spcAft>
                <a:spcPts val="0"/>
              </a:spcAft>
            </a:pPr>
            <a:r>
              <a:rPr sz="1050">
                <a:solidFill>
                  <a:srgbClr val="161B26"/>
                </a:solidFill>
                <a:latin typeface="Consolas"/>
              </a:rPr>
              <a:t>            name: app1-svc</a:t>
            </a:r>
          </a:p>
          <a:p>
            <a:pPr>
              <a:spcBef>
                <a:spcPts val="0"/>
              </a:spcBef>
              <a:spcAft>
                <a:spcPts val="0"/>
              </a:spcAft>
            </a:pPr>
            <a:r>
              <a:rPr sz="1050">
                <a:solidFill>
                  <a:srgbClr val="161B26"/>
                </a:solidFill>
                <a:latin typeface="Consolas"/>
              </a:rPr>
              <a:t>            port:</a:t>
            </a:r>
          </a:p>
          <a:p>
            <a:pPr>
              <a:spcBef>
                <a:spcPts val="0"/>
              </a:spcBef>
              <a:spcAft>
                <a:spcPts val="0"/>
              </a:spcAft>
            </a:pPr>
            <a:r>
              <a:rPr sz="1050">
                <a:solidFill>
                  <a:srgbClr val="161B26"/>
                </a:solidFill>
                <a:latin typeface="Consolas"/>
              </a:rPr>
              <a:t>              number: 80</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TLS termination</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secret tls tls-secret --cert=tls.crt --key=tls.key</a:t>
            </a:r>
          </a:p>
          <a:p>
            <a:pPr>
              <a:spcBef>
                <a:spcPts val="0"/>
              </a:spcBef>
              <a:spcAft>
                <a:spcPts val="0"/>
              </a:spcAft>
            </a:pPr>
            <a:r>
              <a:rPr sz="1050">
                <a:solidFill>
                  <a:srgbClr val="161B26"/>
                </a:solidFill>
                <a:latin typeface="Consolas"/>
              </a:rPr>
              <a:t># Add to Ingress spec:</a:t>
            </a:r>
          </a:p>
          <a:p>
            <a:pPr>
              <a:spcBef>
                <a:spcPts val="0"/>
              </a:spcBef>
              <a:spcAft>
                <a:spcPts val="0"/>
              </a:spcAft>
            </a:pPr>
            <a:r>
              <a:rPr sz="1050">
                <a:solidFill>
                  <a:srgbClr val="161B26"/>
                </a:solidFill>
                <a:latin typeface="Consolas"/>
              </a:rPr>
              <a:t># tls:</a:t>
            </a:r>
          </a:p>
          <a:p>
            <a:pPr>
              <a:spcBef>
                <a:spcPts val="0"/>
              </a:spcBef>
              <a:spcAft>
                <a:spcPts val="0"/>
              </a:spcAft>
            </a:pPr>
            <a:r>
              <a:rPr sz="1050">
                <a:solidFill>
                  <a:srgbClr val="161B26"/>
                </a:solidFill>
                <a:latin typeface="Consolas"/>
              </a:rPr>
              <a:t># - hosts: [app1.example.com]</a:t>
            </a:r>
          </a:p>
          <a:p>
            <a:pPr>
              <a:spcBef>
                <a:spcPts val="0"/>
              </a:spcBef>
              <a:spcAft>
                <a:spcPts val="0"/>
              </a:spcAft>
            </a:pPr>
            <a:r>
              <a:rPr sz="1050">
                <a:solidFill>
                  <a:srgbClr val="161B26"/>
                </a:solidFill>
                <a:latin typeface="Consolas"/>
              </a:rPr>
              <a:t>#   secretName: tls-secret</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ingressClassName: nginx is required in Kubernetes 1.18+. Without it, the Ingress is ignored. Check ingress-nginx logs: kubectl logs -n ingress-nginx -l app.kubernetes.io/component=controller</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curl -H 'Host: app1.example.com' http://NODE:PORT returns app1 content. Wrong ingressClassName causes 404. TLS ingress terminates HTTPS correctly.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GATEWAY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Gateway API</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the Kubernetes Gateway API (GA as of v1.28, tested in CKA 2026) to route traffic using GatewayClass, Gateway, and HTTPRoute objects. Gateway API is role-oriented: infrastructure providers manage GatewayClass/Gateway; developers manage HTTPRoutes.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Gateway API CRDs and NGINX Gateway Fabric, create GatewayClass and Gateway, define HTTPRoutes with path-based routing.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cat &lt;&lt;'EOF' · » Three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Gateway API CRDs</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https://github.com/kubernetes-sigs/gateway-api/releases/download/v1.1.0/standard-install.yaml</a:t>
            </a:r>
          </a:p>
          <a:p>
            <a:pPr>
              <a:spcBef>
                <a:spcPts val="0"/>
              </a:spcBef>
              <a:spcAft>
                <a:spcPts val="0"/>
              </a:spcAft>
            </a:pPr>
            <a:r>
              <a:rPr sz="1050">
                <a:solidFill>
                  <a:srgbClr val="161B26"/>
                </a:solidFill>
                <a:latin typeface="Consolas"/>
              </a:rPr>
              <a:t>kubectl get crds | grep gateway</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NGINX Gateway Fabric</a:t>
            </a:r>
          </a:p>
        </p:txBody>
      </p:sp>
      <p:sp>
        <p:nvSpPr>
          <p:cNvPr id="12" name="Rounded Rectangle 11"/>
          <p:cNvSpPr/>
          <p:nvPr/>
        </p:nvSpPr>
        <p:spPr>
          <a:xfrm>
            <a:off x="777240" y="316382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https://raw.githubusercontent.com/nginxinc/nginx-gateway-fabric/v1.4.0/deploy/crds.yaml</a:t>
            </a:r>
          </a:p>
          <a:p>
            <a:pPr>
              <a:spcBef>
                <a:spcPts val="0"/>
              </a:spcBef>
              <a:spcAft>
                <a:spcPts val="0"/>
              </a:spcAft>
            </a:pPr>
            <a:r>
              <a:rPr sz="1050">
                <a:solidFill>
                  <a:srgbClr val="161B26"/>
                </a:solidFill>
                <a:latin typeface="Consolas"/>
              </a:rPr>
              <a:t>kubectl apply -f https://raw.githubusercontent.com/nginxinc/nginx-gateway-fabric/v1.4.0/deploy/manifests/nginx-gateway.yaml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GatewayClass and Gateway</a:t>
            </a:r>
          </a:p>
        </p:txBody>
      </p:sp>
      <p:sp>
        <p:nvSpPr>
          <p:cNvPr id="8" name="Rounded Rectangle 7"/>
          <p:cNvSpPr/>
          <p:nvPr/>
        </p:nvSpPr>
        <p:spPr>
          <a:xfrm>
            <a:off x="777240" y="2075688"/>
            <a:ext cx="10652760" cy="3707891"/>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7078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616451"/>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GatewayClass</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nginx</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controllerName: gateway.nginx.org/nginx-gateway-controller</a:t>
            </a:r>
          </a:p>
          <a:p>
            <a:pPr>
              <a:spcBef>
                <a:spcPts val="0"/>
              </a:spcBef>
              <a:spcAft>
                <a:spcPts val="0"/>
              </a:spcAft>
            </a:pPr>
            <a:r>
              <a:rPr sz="1050">
                <a:solidFill>
                  <a:srgbClr val="161B26"/>
                </a:solidFill>
                <a:latin typeface="Consolas"/>
              </a:rPr>
              <a:t>---</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Gateway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main-gateway</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gatewayClassName: nginx</a:t>
            </a:r>
          </a:p>
          <a:p>
            <a:pPr>
              <a:spcBef>
                <a:spcPts val="0"/>
              </a:spcBef>
              <a:spcAft>
                <a:spcPts val="0"/>
              </a:spcAft>
            </a:pPr>
            <a:r>
              <a:rPr sz="1050">
                <a:solidFill>
                  <a:srgbClr val="161B26"/>
                </a:solidFill>
                <a:latin typeface="Consolas"/>
              </a:rPr>
              <a:t>  listeners:</a:t>
            </a:r>
          </a:p>
          <a:p>
            <a:pPr>
              <a:spcBef>
                <a:spcPts val="0"/>
              </a:spcBef>
              <a:spcAft>
                <a:spcPts val="0"/>
              </a:spcAft>
            </a:pPr>
            <a:r>
              <a:rPr sz="1050">
                <a:solidFill>
                  <a:srgbClr val="161B26"/>
                </a:solidFill>
                <a:latin typeface="Consolas"/>
              </a:rPr>
              <a:t>  - name: http</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    protocol: HTTP</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Create HTTPRoute</a:t>
            </a:r>
          </a:p>
        </p:txBody>
      </p:sp>
      <p:sp>
        <p:nvSpPr>
          <p:cNvPr id="8" name="Rounded Rectangle 7"/>
          <p:cNvSpPr/>
          <p:nvPr/>
        </p:nvSpPr>
        <p:spPr>
          <a:xfrm>
            <a:off x="777240" y="2075688"/>
            <a:ext cx="10652760" cy="333298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29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24154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HTTPRoute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app-route</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parentRefs:</a:t>
            </a:r>
          </a:p>
          <a:p>
            <a:pPr>
              <a:spcBef>
                <a:spcPts val="0"/>
              </a:spcBef>
              <a:spcAft>
                <a:spcPts val="0"/>
              </a:spcAft>
            </a:pPr>
            <a:r>
              <a:rPr sz="1050">
                <a:solidFill>
                  <a:srgbClr val="161B26"/>
                </a:solidFill>
                <a:latin typeface="Consolas"/>
              </a:rPr>
              <a:t>  - name: main-gateway</a:t>
            </a:r>
          </a:p>
          <a:p>
            <a:pPr>
              <a:spcBef>
                <a:spcPts val="0"/>
              </a:spcBef>
              <a:spcAft>
                <a:spcPts val="0"/>
              </a:spcAft>
            </a:pPr>
            <a:r>
              <a:rPr sz="1050">
                <a:solidFill>
                  <a:srgbClr val="161B26"/>
                </a:solidFill>
                <a:latin typeface="Consolas"/>
              </a:rPr>
              <a:t>  rules:</a:t>
            </a:r>
          </a:p>
          <a:p>
            <a:pPr>
              <a:spcBef>
                <a:spcPts val="0"/>
              </a:spcBef>
              <a:spcAft>
                <a:spcPts val="0"/>
              </a:spcAft>
            </a:pPr>
            <a:r>
              <a:rPr sz="1050">
                <a:solidFill>
                  <a:srgbClr val="161B26"/>
                </a:solidFill>
                <a:latin typeface="Consolas"/>
              </a:rPr>
              <a:t>  - matches:</a:t>
            </a:r>
          </a:p>
          <a:p>
            <a:pPr>
              <a:spcBef>
                <a:spcPts val="0"/>
              </a:spcBef>
              <a:spcAft>
                <a:spcPts val="0"/>
              </a:spcAft>
            </a:pPr>
            <a:r>
              <a:rPr sz="1050">
                <a:solidFill>
                  <a:srgbClr val="161B26"/>
                </a:solidFill>
                <a:latin typeface="Consolas"/>
              </a:rPr>
              <a:t>    - path:</a:t>
            </a:r>
          </a:p>
          <a:p>
            <a:pPr>
              <a:spcBef>
                <a:spcPts val="0"/>
              </a:spcBef>
              <a:spcAft>
                <a:spcPts val="0"/>
              </a:spcAft>
            </a:pPr>
            <a:r>
              <a:rPr sz="1050">
                <a:solidFill>
                  <a:srgbClr val="161B26"/>
                </a:solidFill>
                <a:latin typeface="Consolas"/>
              </a:rPr>
              <a:t>        type: PathPrefix</a:t>
            </a:r>
          </a:p>
          <a:p>
            <a:pPr>
              <a:spcBef>
                <a:spcPts val="0"/>
              </a:spcBef>
              <a:spcAft>
                <a:spcPts val="0"/>
              </a:spcAft>
            </a:pPr>
            <a:r>
              <a:rPr sz="1050">
                <a:solidFill>
                  <a:srgbClr val="161B26"/>
                </a:solidFill>
                <a:latin typeface="Consolas"/>
              </a:rPr>
              <a:t>        value: /api</a:t>
            </a:r>
          </a:p>
          <a:p>
            <a:pPr>
              <a:spcBef>
                <a:spcPts val="0"/>
              </a:spcBef>
              <a:spcAft>
                <a:spcPts val="0"/>
              </a:spcAft>
            </a:pPr>
            <a:r>
              <a:rPr sz="1050">
                <a:solidFill>
                  <a:srgbClr val="161B26"/>
                </a:solidFill>
                <a:latin typeface="Consolas"/>
              </a:rPr>
              <a:t>    backendRefs:</a:t>
            </a:r>
          </a:p>
          <a:p>
            <a:pPr>
              <a:spcBef>
                <a:spcPts val="0"/>
              </a:spcBef>
              <a:spcAft>
                <a:spcPts val="0"/>
              </a:spcAft>
            </a:pPr>
            <a:r>
              <a:rPr sz="1050">
                <a:solidFill>
                  <a:srgbClr val="161B26"/>
                </a:solidFill>
                <a:latin typeface="Consolas"/>
              </a:rPr>
              <a:t>    - name: api-svc</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Three core Gateway API objects: GatewayClass (infra tier), Gateway (cluster operator tier), HTTPRoute (developer tier). Role separation enables multi-tenant traffic management.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gatewayclass shows nginx as Accepted. kubectl get gateway shows Programmed=True. HTTP request to /api path routes to api-svc backend.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NetworkPolicy &amp; CoreDNS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Network isolation and in-cluster DNS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 ISOLATION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 Allow-List Firewalling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By default every pod can talk to every other pod — NetworkPolicies apply an allow-list.</a:t>
            </a:r>
          </a:p>
          <a:p>
            <a:pPr>
              <a:spcBef>
                <a:spcPts val="0"/>
              </a:spcBef>
              <a:spcAft>
                <a:spcPts val="1000"/>
              </a:spcAft>
            </a:pPr>
            <a:r>
              <a:rPr sz="1900" b="1">
                <a:solidFill>
                  <a:srgbClr val="1F6FEB"/>
                </a:solidFill>
                <a:latin typeface="Arial"/>
              </a:rPr>
              <a:t>•  </a:t>
            </a:r>
            <a:r>
              <a:rPr sz="1900">
                <a:solidFill>
                  <a:srgbClr val="161B26"/>
                </a:solidFill>
                <a:latin typeface="Arial"/>
              </a:rPr>
              <a:t>Default-deny: podSelector: {} with policyTypes: [Ingress] and no ingress rules blocks all inbound.</a:t>
            </a:r>
          </a:p>
          <a:p>
            <a:pPr>
              <a:spcBef>
                <a:spcPts val="0"/>
              </a:spcBef>
              <a:spcAft>
                <a:spcPts val="1000"/>
              </a:spcAft>
            </a:pPr>
            <a:r>
              <a:rPr sz="1900" b="1">
                <a:solidFill>
                  <a:srgbClr val="1F6FEB"/>
                </a:solidFill>
                <a:latin typeface="Arial"/>
              </a:rPr>
              <a:t>•  </a:t>
            </a:r>
            <a:r>
              <a:rPr sz="1900">
                <a:solidFill>
                  <a:srgbClr val="161B26"/>
                </a:solidFill>
                <a:latin typeface="Arial"/>
              </a:rPr>
              <a:t>Allow by podSelector (pod label match) or namespaceSelector (whole namespaces) in the from/to block.</a:t>
            </a:r>
          </a:p>
          <a:p>
            <a:pPr>
              <a:spcBef>
                <a:spcPts val="0"/>
              </a:spcBef>
              <a:spcAft>
                <a:spcPts val="1000"/>
              </a:spcAft>
            </a:pPr>
            <a:r>
              <a:rPr sz="1900" b="1">
                <a:solidFill>
                  <a:srgbClr val="1F6FEB"/>
                </a:solidFill>
                <a:latin typeface="Arial"/>
              </a:rPr>
              <a:t>•  </a:t>
            </a:r>
            <a:r>
              <a:rPr sz="1900">
                <a:solidFill>
                  <a:srgbClr val="161B26"/>
                </a:solidFill>
                <a:latin typeface="Arial"/>
              </a:rPr>
              <a:t>Policies are additive (OR): multiple policies that match the same pod combine their allow rules.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POD FIREWALL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 Default Deny + Allow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4572000" cy="3474720"/>
          </a:xfrm>
          <a:prstGeom prst="roundRect">
            <a:avLst>
              <a:gd name="adj" fmla="val 5000"/>
            </a:avLst>
          </a:prstGeom>
          <a:solidFill>
            <a:srgbClr val="FCE9E9"/>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75104"/>
            <a:ext cx="4572000" cy="292608"/>
          </a:xfrm>
          <a:prstGeom prst="rect">
            <a:avLst/>
          </a:prstGeom>
          <a:noFill/>
        </p:spPr>
        <p:txBody>
          <a:bodyPr wrap="square" anchor="ctr" lIns="0" rIns="0" tIns="0" bIns="0">
            <a:spAutoFit/>
          </a:bodyPr>
          <a:lstStyle/>
          <a:p>
            <a:pPr algn="ctr">
              <a:spcBef>
                <a:spcPts val="0"/>
              </a:spcBef>
              <a:spcAft>
                <a:spcPts val="400"/>
              </a:spcAft>
            </a:pPr>
            <a:r>
              <a:rPr sz="1400" b="1">
                <a:solidFill>
                  <a:srgbClr val="DC2626"/>
                </a:solidFill>
                <a:latin typeface="Arial"/>
              </a:rPr>
              <a:t>Default Deny (all pods)</a:t>
            </a:r>
          </a:p>
        </p:txBody>
      </p:sp>
      <p:sp>
        <p:nvSpPr>
          <p:cNvPr id="9" name="TextBox 8"/>
          <p:cNvSpPr txBox="1"/>
          <p:nvPr/>
        </p:nvSpPr>
        <p:spPr>
          <a:xfrm>
            <a:off x="1051560" y="2468880"/>
            <a:ext cx="4023360" cy="548640"/>
          </a:xfrm>
          <a:prstGeom prst="rect">
            <a:avLst/>
          </a:prstGeom>
          <a:noFill/>
        </p:spPr>
        <p:txBody>
          <a:bodyPr wrap="square" anchor="t" lIns="0" rIns="0" tIns="0" bIns="0">
            <a:spAutoFit/>
          </a:bodyPr>
          <a:lstStyle/>
          <a:p>
            <a:pPr algn="l">
              <a:spcBef>
                <a:spcPts val="0"/>
              </a:spcBef>
              <a:spcAft>
                <a:spcPts val="400"/>
              </a:spcAft>
            </a:pPr>
            <a:r>
              <a:rPr sz="1200" b="0">
                <a:solidFill>
                  <a:srgbClr val="161B26"/>
                </a:solidFill>
                <a:latin typeface="Arial"/>
              </a:rPr>
              <a:t>podSelector: {} + policyTypes: [Ingress]</a:t>
            </a:r>
          </a:p>
        </p:txBody>
      </p:sp>
      <p:sp>
        <p:nvSpPr>
          <p:cNvPr id="10" name="TextBox 9"/>
          <p:cNvSpPr txBox="1"/>
          <p:nvPr/>
        </p:nvSpPr>
        <p:spPr>
          <a:xfrm>
            <a:off x="1051560" y="3017520"/>
            <a:ext cx="4023360" cy="548640"/>
          </a:xfrm>
          <a:prstGeom prst="rect">
            <a:avLst/>
          </a:prstGeom>
          <a:noFill/>
        </p:spPr>
        <p:txBody>
          <a:bodyPr wrap="square" anchor="t" lIns="0" rIns="0" tIns="0" bIns="0">
            <a:spAutoFit/>
          </a:bodyPr>
          <a:lstStyle/>
          <a:p>
            <a:pPr algn="l">
              <a:spcBef>
                <a:spcPts val="0"/>
              </a:spcBef>
              <a:spcAft>
                <a:spcPts val="400"/>
              </a:spcAft>
            </a:pPr>
            <a:r>
              <a:rPr sz="1300" b="1">
                <a:solidFill>
                  <a:srgbClr val="DC2626"/>
                </a:solidFill>
                <a:latin typeface="Arial"/>
              </a:rPr>
              <a:t>→ nothing reaches any pod</a:t>
            </a:r>
          </a:p>
        </p:txBody>
      </p:sp>
      <p:sp>
        <p:nvSpPr>
          <p:cNvPr id="11" name="Rounded Rectangle 10"/>
          <p:cNvSpPr/>
          <p:nvPr/>
        </p:nvSpPr>
        <p:spPr>
          <a:xfrm>
            <a:off x="6675120" y="1828800"/>
            <a:ext cx="4709160" cy="34747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975104"/>
            <a:ext cx="470916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0B981"/>
                </a:solidFill>
                <a:latin typeface="Arial"/>
              </a:rPr>
              <a:t>Selective Allow (podSelector)</a:t>
            </a:r>
          </a:p>
        </p:txBody>
      </p:sp>
      <p:sp>
        <p:nvSpPr>
          <p:cNvPr id="13" name="TextBox 12"/>
          <p:cNvSpPr txBox="1"/>
          <p:nvPr/>
        </p:nvSpPr>
        <p:spPr>
          <a:xfrm>
            <a:off x="6949440" y="2468880"/>
            <a:ext cx="4160520" cy="2560320"/>
          </a:xfrm>
          <a:prstGeom prst="rect">
            <a:avLst/>
          </a:prstGeom>
          <a:noFill/>
        </p:spPr>
        <p:txBody>
          <a:bodyPr wrap="square" anchor="t" lIns="0" rIns="0" tIns="0" bIns="0">
            <a:spAutoFit/>
          </a:bodyPr>
          <a:lstStyle/>
          <a:p>
            <a:pPr algn="l">
              <a:spcBef>
                <a:spcPts val="0"/>
              </a:spcBef>
              <a:spcAft>
                <a:spcPts val="300"/>
              </a:spcAft>
            </a:pPr>
            <a:r>
              <a:rPr sz="1200" b="1">
                <a:solidFill>
                  <a:srgbClr val="10B981"/>
                </a:solidFill>
                <a:latin typeface="Arial"/>
              </a:rPr>
              <a:t>ingress:</a:t>
            </a:r>
          </a:p>
          <a:p>
            <a:pPr algn="l">
              <a:spcBef>
                <a:spcPts val="0"/>
              </a:spcBef>
              <a:spcAft>
                <a:spcPts val="300"/>
              </a:spcAft>
            </a:pPr>
            <a:r>
              <a:rPr sz="1200" b="0">
                <a:solidFill>
                  <a:srgbClr val="161B26"/>
                </a:solidFill>
                <a:latin typeface="Arial"/>
              </a:rPr>
              <a:t>  from:</a:t>
            </a:r>
          </a:p>
          <a:p>
            <a:pPr algn="l">
              <a:spcBef>
                <a:spcPts val="0"/>
              </a:spcBef>
              <a:spcAft>
                <a:spcPts val="300"/>
              </a:spcAft>
            </a:pPr>
            <a:r>
              <a:rPr sz="1200" b="0">
                <a:solidFill>
                  <a:srgbClr val="161B26"/>
                </a:solidFill>
                <a:latin typeface="Arial"/>
              </a:rPr>
              <a:t>    - podSelector: {role: allowed}</a:t>
            </a:r>
          </a:p>
          <a:p>
            <a:pPr algn="l">
              <a:spcBef>
                <a:spcPts val="0"/>
              </a:spcBef>
              <a:spcAft>
                <a:spcPts val="300"/>
              </a:spcAft>
            </a:pPr>
            <a:r>
              <a:rPr sz="1200" b="0">
                <a:solidFill>
                  <a:srgbClr val="161B26"/>
                </a:solidFill>
                <a:latin typeface="Arial"/>
              </a:rPr>
              <a:t>  ports: [{port: 80}]</a:t>
            </a:r>
          </a:p>
          <a:p>
            <a:pPr algn="l">
              <a:spcBef>
                <a:spcPts val="0"/>
              </a:spcBef>
              <a:spcAft>
                <a:spcPts val="300"/>
              </a:spcAft>
            </a:pPr>
            <a:r>
              <a:rPr sz="1200" b="0">
                <a:solidFill>
                  <a:srgbClr val="161B26"/>
                </a:solidFill>
                <a:latin typeface="Arial"/>
              </a:rPr>
              <a:t/>
            </a:r>
          </a:p>
          <a:p>
            <a:pPr algn="l">
              <a:spcBef>
                <a:spcPts val="0"/>
              </a:spcBef>
              <a:spcAft>
                <a:spcPts val="300"/>
              </a:spcAft>
            </a:pPr>
            <a:r>
              <a:rPr sz="1200" b="0">
                <a:solidFill>
                  <a:srgbClr val="5B6372"/>
                </a:solidFill>
                <a:latin typeface="Arial"/>
              </a:rPr>
              <a:t>Policies are additive (OR). Combined</a:t>
            </a:r>
          </a:p>
          <a:p>
            <a:pPr algn="l">
              <a:spcBef>
                <a:spcPts val="0"/>
              </a:spcBef>
              <a:spcAft>
                <a:spcPts val="300"/>
              </a:spcAft>
            </a:pPr>
            <a:r>
              <a:rPr sz="1200" b="0">
                <a:solidFill>
                  <a:srgbClr val="5B6372"/>
                </a:solidFill>
                <a:latin typeface="Arial"/>
              </a:rPr>
              <a:t>default-deny + allow = allow-list model.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DISCOVERY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 In-Cluster DNS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Every pod's /etc/resolv.conf points to the kube-dns ClusterIP with a search list.</a:t>
            </a:r>
          </a:p>
          <a:p>
            <a:pPr>
              <a:spcBef>
                <a:spcPts val="0"/>
              </a:spcBef>
              <a:spcAft>
                <a:spcPts val="1000"/>
              </a:spcAft>
            </a:pPr>
            <a:r>
              <a:rPr sz="1900" b="1">
                <a:solidFill>
                  <a:srgbClr val="1F6FEB"/>
                </a:solidFill>
                <a:latin typeface="Arial"/>
              </a:rPr>
              <a:t>•  </a:t>
            </a:r>
            <a:r>
              <a:rPr sz="1900">
                <a:solidFill>
                  <a:srgbClr val="161B26"/>
                </a:solidFill>
                <a:latin typeface="Arial"/>
              </a:rPr>
              <a:t>FQDN format: &lt;service&gt;.&lt;namespace&gt;.svc.cluster.local — within the same namespace the short name resolves.</a:t>
            </a:r>
          </a:p>
          <a:p>
            <a:pPr>
              <a:spcBef>
                <a:spcPts val="0"/>
              </a:spcBef>
              <a:spcAft>
                <a:spcPts val="1000"/>
              </a:spcAft>
            </a:pPr>
            <a:r>
              <a:rPr sz="1900" b="1">
                <a:solidFill>
                  <a:srgbClr val="1F6FEB"/>
                </a:solidFill>
                <a:latin typeface="Arial"/>
              </a:rPr>
              <a:t>•  </a:t>
            </a:r>
            <a:r>
              <a:rPr sz="1900">
                <a:solidFill>
                  <a:srgbClr val="161B26"/>
                </a:solidFill>
                <a:latin typeface="Arial"/>
              </a:rPr>
              <a:t>Headless Service (clusterIP: None): DNS returns individual pod A records instead of a single virtual IP.</a:t>
            </a:r>
          </a:p>
          <a:p>
            <a:pPr>
              <a:spcBef>
                <a:spcPts val="0"/>
              </a:spcBef>
              <a:spcAft>
                <a:spcPts val="1000"/>
              </a:spcAft>
            </a:pPr>
            <a:r>
              <a:rPr sz="1900" b="1">
                <a:solidFill>
                  <a:srgbClr val="1F6FEB"/>
                </a:solidFill>
                <a:latin typeface="Arial"/>
              </a:rPr>
              <a:t>•  </a:t>
            </a:r>
            <a:r>
              <a:rPr sz="1900">
                <a:solidFill>
                  <a:srgbClr val="161B26"/>
                </a:solidFill>
                <a:latin typeface="Arial"/>
              </a:rPr>
              <a:t>Corefile ConfigMap controls CoreDNS behaviour — add stub zones, upstream forwarders or rewrite rules.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NETWORK POLICY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 Policies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Implement Pod-level firewall rules using NetworkPolicies. Kubernetes uses allow-lists: once any NetworkPolicy selects a pod, all traffic not explicitly allowed is blocked. CKA 2026 tests default-deny, pod/namespace selectors, and egress lockdown.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server and client pods, apply default-deny-ingress policy, verify blocking, add allow rule for specific pod selector, test egress lockdown.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cat &lt;&lt;'EOF' · » Empty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test workloads</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ns netpol</a:t>
            </a:r>
          </a:p>
          <a:p>
            <a:pPr>
              <a:spcBef>
                <a:spcPts val="0"/>
              </a:spcBef>
              <a:spcAft>
                <a:spcPts val="0"/>
              </a:spcAft>
            </a:pPr>
            <a:r>
              <a:rPr sz="1050">
                <a:solidFill>
                  <a:srgbClr val="161B26"/>
                </a:solidFill>
                <a:latin typeface="Consolas"/>
              </a:rPr>
              <a:t>kubectl -n netpol run server --image=nginx --labels='app=server'</a:t>
            </a:r>
          </a:p>
          <a:p>
            <a:pPr>
              <a:spcBef>
                <a:spcPts val="0"/>
              </a:spcBef>
              <a:spcAft>
                <a:spcPts val="0"/>
              </a:spcAft>
            </a:pPr>
            <a:r>
              <a:rPr sz="1050">
                <a:solidFill>
                  <a:srgbClr val="161B26"/>
                </a:solidFill>
                <a:latin typeface="Consolas"/>
              </a:rPr>
              <a:t>kubectl -n netpol run client-ok --image=nicolaka/netshoot \</a:t>
            </a:r>
          </a:p>
          <a:p>
            <a:pPr>
              <a:spcBef>
                <a:spcPts val="0"/>
              </a:spcBef>
              <a:spcAft>
                <a:spcPts val="0"/>
              </a:spcAft>
            </a:pPr>
            <a:r>
              <a:rPr sz="1050">
                <a:solidFill>
                  <a:srgbClr val="161B26"/>
                </a:solidFill>
                <a:latin typeface="Consolas"/>
              </a:rPr>
              <a:t>  --labels='role=allowed' --command -- sleep 3600</a:t>
            </a:r>
          </a:p>
          <a:p>
            <a:pPr>
              <a:spcBef>
                <a:spcPts val="0"/>
              </a:spcBef>
              <a:spcAft>
                <a:spcPts val="0"/>
              </a:spcAft>
            </a:pPr>
            <a:r>
              <a:rPr sz="1050">
                <a:solidFill>
                  <a:srgbClr val="161B26"/>
                </a:solidFill>
                <a:latin typeface="Consolas"/>
              </a:rPr>
              <a:t>kubectl -n netpol run client-bad --image=nicolaka/netshoot \</a:t>
            </a:r>
          </a:p>
          <a:p>
            <a:pPr>
              <a:spcBef>
                <a:spcPts val="0"/>
              </a:spcBef>
              <a:spcAft>
                <a:spcPts val="0"/>
              </a:spcAft>
            </a:pPr>
            <a:r>
              <a:rPr sz="1050">
                <a:solidFill>
                  <a:srgbClr val="161B26"/>
                </a:solidFill>
                <a:latin typeface="Consolas"/>
              </a:rPr>
              <a:t>  --labels='role=denied' --command -- sleep 3600</a:t>
            </a:r>
          </a:p>
          <a:p>
            <a:pPr>
              <a:spcBef>
                <a:spcPts val="0"/>
              </a:spcBef>
              <a:spcAft>
                <a:spcPts val="0"/>
              </a:spcAft>
            </a:pPr>
            <a:r>
              <a:rPr sz="1050">
                <a:solidFill>
                  <a:srgbClr val="161B26"/>
                </a:solidFill>
                <a:latin typeface="Consolas"/>
              </a:rPr>
              <a:t>kubectl -n netpol expose pod server --port=80</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Apply default-deny-ingress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NetworkPolicy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default-deny-ingress</a:t>
            </a:r>
          </a:p>
          <a:p>
            <a:pPr>
              <a:spcBef>
                <a:spcPts val="0"/>
              </a:spcBef>
              <a:spcAft>
                <a:spcPts val="0"/>
              </a:spcAft>
            </a:pPr>
            <a:r>
              <a:rPr sz="1050">
                <a:solidFill>
                  <a:srgbClr val="161B26"/>
                </a:solidFill>
                <a:latin typeface="Consolas"/>
              </a:rPr>
              <a:t>  namespace: netpol</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podSelector: {}</a:t>
            </a:r>
          </a:p>
          <a:p>
            <a:pPr>
              <a:spcBef>
                <a:spcPts val="0"/>
              </a:spcBef>
              <a:spcAft>
                <a:spcPts val="0"/>
              </a:spcAft>
            </a:pPr>
            <a:r>
              <a:rPr sz="1050">
                <a:solidFill>
                  <a:srgbClr val="161B26"/>
                </a:solidFill>
                <a:latin typeface="Consolas"/>
              </a:rPr>
              <a:t>  policyTypes: ['Ingress']</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-n netpol exec client-ok -- curl -m 3 http://server || echo BLOCKED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Allow specific pod selector</a:t>
            </a:r>
          </a:p>
        </p:txBody>
      </p:sp>
      <p:sp>
        <p:nvSpPr>
          <p:cNvPr id="8" name="Rounded Rectangle 7"/>
          <p:cNvSpPr/>
          <p:nvPr/>
        </p:nvSpPr>
        <p:spPr>
          <a:xfrm>
            <a:off x="777240" y="2075688"/>
            <a:ext cx="10652760" cy="389534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8953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80390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NetworkPolicy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allow-from-allowed</a:t>
            </a:r>
          </a:p>
          <a:p>
            <a:pPr>
              <a:spcBef>
                <a:spcPts val="0"/>
              </a:spcBef>
              <a:spcAft>
                <a:spcPts val="0"/>
              </a:spcAft>
            </a:pPr>
            <a:r>
              <a:rPr sz="1050">
                <a:solidFill>
                  <a:srgbClr val="161B26"/>
                </a:solidFill>
                <a:latin typeface="Consolas"/>
              </a:rPr>
              <a:t>  namespace: netpol</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podSelector: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server</a:t>
            </a:r>
          </a:p>
          <a:p>
            <a:pPr>
              <a:spcBef>
                <a:spcPts val="0"/>
              </a:spcBef>
              <a:spcAft>
                <a:spcPts val="0"/>
              </a:spcAft>
            </a:pPr>
            <a:r>
              <a:rPr sz="1050">
                <a:solidFill>
                  <a:srgbClr val="161B26"/>
                </a:solidFill>
                <a:latin typeface="Consolas"/>
              </a:rPr>
              <a:t>  policyTypes: ['Ingress']</a:t>
            </a:r>
          </a:p>
          <a:p>
            <a:pPr>
              <a:spcBef>
                <a:spcPts val="0"/>
              </a:spcBef>
              <a:spcAft>
                <a:spcPts val="0"/>
              </a:spcAft>
            </a:pPr>
            <a:r>
              <a:rPr sz="1050">
                <a:solidFill>
                  <a:srgbClr val="161B26"/>
                </a:solidFill>
                <a:latin typeface="Consolas"/>
              </a:rPr>
              <a:t>  ingress:</a:t>
            </a:r>
          </a:p>
          <a:p>
            <a:pPr>
              <a:spcBef>
                <a:spcPts val="0"/>
              </a:spcBef>
              <a:spcAft>
                <a:spcPts val="0"/>
              </a:spcAft>
            </a:pPr>
            <a:r>
              <a:rPr sz="1050">
                <a:solidFill>
                  <a:srgbClr val="161B26"/>
                </a:solidFill>
                <a:latin typeface="Consolas"/>
              </a:rPr>
              <a:t>  - from:</a:t>
            </a:r>
          </a:p>
          <a:p>
            <a:pPr>
              <a:spcBef>
                <a:spcPts val="0"/>
              </a:spcBef>
              <a:spcAft>
                <a:spcPts val="0"/>
              </a:spcAft>
            </a:pPr>
            <a:r>
              <a:rPr sz="1050">
                <a:solidFill>
                  <a:srgbClr val="161B26"/>
                </a:solidFill>
                <a:latin typeface="Consolas"/>
              </a:rPr>
              <a:t>    - podSelector: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role: allowed</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-n netpol exec client-ok -- curl -s http://server</a:t>
            </a:r>
          </a:p>
          <a:p>
            <a:pPr>
              <a:spcBef>
                <a:spcPts val="0"/>
              </a:spcBef>
              <a:spcAft>
                <a:spcPts val="0"/>
              </a:spcAft>
            </a:pPr>
            <a:r>
              <a:rPr sz="1050">
                <a:solidFill>
                  <a:srgbClr val="161B26"/>
                </a:solidFill>
                <a:latin typeface="Consolas"/>
              </a:rPr>
              <a:t># OK</a:t>
            </a:r>
          </a:p>
          <a:p>
            <a:pPr>
              <a:spcBef>
                <a:spcPts val="0"/>
              </a:spcBef>
              <a:spcAft>
                <a:spcPts val="0"/>
              </a:spcAft>
            </a:pPr>
            <a:r>
              <a:rPr sz="1050">
                <a:solidFill>
                  <a:srgbClr val="161B26"/>
                </a:solidFill>
                <a:latin typeface="Consolas"/>
              </a:rPr>
              <a:t>kubectl -n netpol exec client-bad -- curl -m 3 http://server || echo BLOCKED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Empty podSelector {} selects ALL pods in the namespace. NetworkPolicy requires a CNI that enforces it (Calico, Cilium -- NOT Flannel alone).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default-deny blocks both clients. After allow policy, client-ok reaches server; client-bad (role=denied) is still blocked.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COREDNS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CoreDNS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Inspect CoreDNS configuration, query Service and Pod DNS records, understand headless service resolution (A records per pod), and customize CoreDNS with stub zones. CKA tests configuring CoreDNS via ConfigMap and diagnosing DNS failures.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Inspect kube-dns service and coredns ConfigMap, test DNS from netshoot pod, create headless service, verify per-pod A records, add stub zone to Corefile.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-n · kubectl run · kubectl expose · » Service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Inspect CoreDNS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get svc kube-dns</a:t>
            </a:r>
          </a:p>
          <a:p>
            <a:pPr>
              <a:spcBef>
                <a:spcPts val="0"/>
              </a:spcBef>
              <a:spcAft>
                <a:spcPts val="0"/>
              </a:spcAft>
            </a:pPr>
            <a:r>
              <a:rPr sz="1050">
                <a:solidFill>
                  <a:srgbClr val="161B26"/>
                </a:solidFill>
                <a:latin typeface="Consolas"/>
              </a:rPr>
              <a:t>kubectl -n kube-system get pods -l k8s-app=kube-dns</a:t>
            </a:r>
          </a:p>
          <a:p>
            <a:pPr>
              <a:spcBef>
                <a:spcPts val="0"/>
              </a:spcBef>
              <a:spcAft>
                <a:spcPts val="0"/>
              </a:spcAft>
            </a:pPr>
            <a:r>
              <a:rPr sz="1050">
                <a:solidFill>
                  <a:srgbClr val="161B26"/>
                </a:solidFill>
                <a:latin typeface="Consolas"/>
              </a:rPr>
              <a:t>kubectl -n kube-system get configmap coredns -o yaml</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Query DNS from debug pod</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dnsdebug --image=nicolaka/netshoot --command -- sleep 3600</a:t>
            </a:r>
          </a:p>
          <a:p>
            <a:pPr>
              <a:spcBef>
                <a:spcPts val="0"/>
              </a:spcBef>
              <a:spcAft>
                <a:spcPts val="0"/>
              </a:spcAft>
            </a:pPr>
            <a:r>
              <a:rPr sz="1050">
                <a:solidFill>
                  <a:srgbClr val="161B26"/>
                </a:solidFill>
                <a:latin typeface="Consolas"/>
              </a:rPr>
              <a:t>kubectl exec dnsdebug -- cat /etc/resolv.conf</a:t>
            </a:r>
          </a:p>
          <a:p>
            <a:pPr>
              <a:spcBef>
                <a:spcPts val="0"/>
              </a:spcBef>
              <a:spcAft>
                <a:spcPts val="0"/>
              </a:spcAft>
            </a:pPr>
            <a:r>
              <a:rPr sz="1050">
                <a:solidFill>
                  <a:srgbClr val="161B26"/>
                </a:solidFill>
                <a:latin typeface="Consolas"/>
              </a:rPr>
              <a:t>kubectl exec dnsdebug -- nslookup kubernetes.default.svc.cluster.local</a:t>
            </a:r>
          </a:p>
          <a:p>
            <a:pPr>
              <a:spcBef>
                <a:spcPts val="0"/>
              </a:spcBef>
              <a:spcAft>
                <a:spcPts val="0"/>
              </a:spcAft>
            </a:pPr>
            <a:r>
              <a:rPr sz="1050">
                <a:solidFill>
                  <a:srgbClr val="161B26"/>
                </a:solidFill>
                <a:latin typeface="Consolas"/>
              </a:rPr>
              <a:t>kubectl exec dnsdebug -- dig +short webapp.default.svc.cluster.local</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Headless service: per-pod A records</a:t>
            </a:r>
          </a:p>
        </p:txBody>
      </p:sp>
      <p:sp>
        <p:nvSpPr>
          <p:cNvPr id="16" name="Rounded Rectangle 15"/>
          <p:cNvSpPr/>
          <p:nvPr/>
        </p:nvSpPr>
        <p:spPr>
          <a:xfrm>
            <a:off x="777240" y="481431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expose deployment webapp --port=80 --name=webapp-headless --cluster-ip=None</a:t>
            </a:r>
          </a:p>
          <a:p>
            <a:pPr>
              <a:spcBef>
                <a:spcPts val="0"/>
              </a:spcBef>
              <a:spcAft>
                <a:spcPts val="0"/>
              </a:spcAft>
            </a:pPr>
            <a:r>
              <a:rPr sz="1050">
                <a:solidFill>
                  <a:srgbClr val="161B26"/>
                </a:solidFill>
                <a:latin typeface="Consolas"/>
              </a:rPr>
              <a:t>kubectl exec dnsdebug -- dig +short webapp-headless.default.svc.cluster.local</a:t>
            </a:r>
          </a:p>
          <a:p>
            <a:pPr>
              <a:spcBef>
                <a:spcPts val="0"/>
              </a:spcBef>
              <a:spcAft>
                <a:spcPts val="0"/>
              </a:spcAft>
            </a:pPr>
            <a:r>
              <a:rPr sz="1050">
                <a:solidFill>
                  <a:srgbClr val="161B26"/>
                </a:solidFill>
                <a:latin typeface="Consolas"/>
              </a:rPr>
              <a:t># Returns one IP per pod -- used by StatefulSets for stable identity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Add stub zone to Corefile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edit configmap coredns</a:t>
            </a:r>
          </a:p>
          <a:p>
            <a:pPr>
              <a:spcBef>
                <a:spcPts val="0"/>
              </a:spcBef>
              <a:spcAft>
                <a:spcPts val="0"/>
              </a:spcAft>
            </a:pPr>
            <a:r>
              <a:rPr sz="1050">
                <a:solidFill>
                  <a:srgbClr val="161B26"/>
                </a:solidFill>
                <a:latin typeface="Consolas"/>
              </a:rPr>
              <a:t># Add inside Corefile:</a:t>
            </a:r>
          </a:p>
          <a:p>
            <a:pPr>
              <a:spcBef>
                <a:spcPts val="0"/>
              </a:spcBef>
              <a:spcAft>
                <a:spcPts val="0"/>
              </a:spcAft>
            </a:pPr>
            <a:r>
              <a:rPr sz="1050">
                <a:solidFill>
                  <a:srgbClr val="161B26"/>
                </a:solidFill>
                <a:latin typeface="Consolas"/>
              </a:rPr>
              <a:t># example.internal:53 {</a:t>
            </a:r>
          </a:p>
          <a:p>
            <a:pPr>
              <a:spcBef>
                <a:spcPts val="0"/>
              </a:spcBef>
              <a:spcAft>
                <a:spcPts val="0"/>
              </a:spcAft>
            </a:pPr>
            <a:r>
              <a:rPr sz="1050">
                <a:solidFill>
                  <a:srgbClr val="161B26"/>
                </a:solidFill>
                <a:latin typeface="Consolas"/>
              </a:rPr>
              <a:t>#   forward . 10.10.0.1</a:t>
            </a:r>
          </a:p>
          <a:p>
            <a:pPr>
              <a:spcBef>
                <a:spcPts val="0"/>
              </a:spcBef>
              <a:spcAft>
                <a:spcPts val="0"/>
              </a:spcAft>
            </a:pPr>
            <a:r>
              <a:rPr sz="1050">
                <a:solidFill>
                  <a:srgbClr val="161B26"/>
                </a:solidFill>
                <a:latin typeface="Consolas"/>
              </a:rPr>
              <a:t># }</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Service name is 'kube-dns' (legacy) even though pods run CoreDNS. Headless services have clusterIP: None. Stub zones forward specific domains to external DNS.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nslookup kubernetes.default resolves to 10.96.0.1. Headless service dig returns one IP per pod. CoreDNS ConfigMap has the Corefile visible.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Persistent Storage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PV, PVC, StorageClass and dynamic provisioning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STORAGE LIFECYCLE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PersistentVolumes and Claims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PersistentVolume (PV) is a cluster-level storage resource with capacity, accessModes and reclaimPolicy.</a:t>
            </a:r>
          </a:p>
          <a:p>
            <a:pPr>
              <a:spcBef>
                <a:spcPts val="0"/>
              </a:spcBef>
              <a:spcAft>
                <a:spcPts val="1000"/>
              </a:spcAft>
            </a:pPr>
            <a:r>
              <a:rPr sz="1900" b="1">
                <a:solidFill>
                  <a:srgbClr val="1F6FEB"/>
                </a:solidFill>
                <a:latin typeface="Arial"/>
              </a:rPr>
              <a:t>•  </a:t>
            </a:r>
            <a:r>
              <a:rPr sz="1900">
                <a:solidFill>
                  <a:srgbClr val="161B26"/>
                </a:solidFill>
                <a:latin typeface="Arial"/>
              </a:rPr>
              <a:t>A PersistentVolumeClaim (PVC) is a namespaced request that binds to a matching PV.</a:t>
            </a:r>
          </a:p>
          <a:p>
            <a:pPr>
              <a:spcBef>
                <a:spcPts val="0"/>
              </a:spcBef>
              <a:spcAft>
                <a:spcPts val="1000"/>
              </a:spcAft>
            </a:pPr>
            <a:r>
              <a:rPr sz="1900" b="1">
                <a:solidFill>
                  <a:srgbClr val="1F6FEB"/>
                </a:solidFill>
                <a:latin typeface="Arial"/>
              </a:rPr>
              <a:t>•  </a:t>
            </a:r>
            <a:r>
              <a:rPr sz="1900">
                <a:solidFill>
                  <a:srgbClr val="161B26"/>
                </a:solidFill>
                <a:latin typeface="Arial"/>
              </a:rPr>
              <a:t>Access modes: ReadWriteOnce (node), ReadOnlyMany (many nodes), ReadWriteMany (many nodes).</a:t>
            </a:r>
          </a:p>
          <a:p>
            <a:pPr>
              <a:spcBef>
                <a:spcPts val="0"/>
              </a:spcBef>
              <a:spcAft>
                <a:spcPts val="1000"/>
              </a:spcAft>
            </a:pPr>
            <a:r>
              <a:rPr sz="1900" b="1">
                <a:solidFill>
                  <a:srgbClr val="1F6FEB"/>
                </a:solidFill>
                <a:latin typeface="Arial"/>
              </a:rPr>
              <a:t>•  </a:t>
            </a:r>
            <a:r>
              <a:rPr sz="1900">
                <a:solidFill>
                  <a:srgbClr val="161B26"/>
                </a:solidFill>
                <a:latin typeface="Arial"/>
              </a:rPr>
              <a:t>reclaimPolicy Retain keeps data after PVC deletion; Delete removes the underlying volume.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4  ·  PERSISTENT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PV, PVC, and Pod</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PersistentVolume</a:t>
            </a:r>
          </a:p>
          <a:p>
            <a:pPr algn="ctr">
              <a:spcBef>
                <a:spcPts val="0"/>
              </a:spcBef>
              <a:spcAft>
                <a:spcPts val="300"/>
              </a:spcAft>
            </a:pPr>
            <a:r>
              <a:rPr sz="1100" b="0">
                <a:solidFill>
                  <a:srgbClr val="5B6372"/>
                </a:solidFill>
                <a:latin typeface="Arial"/>
              </a:rPr>
              <a:t>capacity, accessModes</a:t>
            </a:r>
          </a:p>
          <a:p>
            <a:pPr algn="ctr">
              <a:spcBef>
                <a:spcPts val="0"/>
              </a:spcBef>
              <a:spcAft>
                <a:spcPts val="300"/>
              </a:spcAft>
            </a:pPr>
            <a:r>
              <a:rPr sz="1100" b="0">
                <a:solidFill>
                  <a:srgbClr val="5B6372"/>
                </a:solidFill>
                <a:latin typeface="Arial"/>
              </a:rPr>
              <a:t>reclaimPolicy, storageClass</a:t>
            </a:r>
          </a:p>
          <a:p>
            <a:pPr algn="ctr">
              <a:spcBef>
                <a:spcPts val="0"/>
              </a:spcBef>
              <a:spcAft>
                <a:spcPts val="300"/>
              </a:spcAft>
            </a:pPr>
            <a:r>
              <a:rPr sz="1100" b="0">
                <a:solidFill>
                  <a:srgbClr val="5B6372"/>
                </a:solidFill>
                <a:latin typeface="Arial"/>
              </a:rPr>
              <a:t>hostPath / NFS / CSI</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bound</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PersistentVolumeClaim</a:t>
            </a:r>
          </a:p>
          <a:p>
            <a:pPr algn="ctr">
              <a:spcBef>
                <a:spcPts val="0"/>
              </a:spcBef>
              <a:spcAft>
                <a:spcPts val="300"/>
              </a:spcAft>
            </a:pPr>
            <a:r>
              <a:rPr sz="1100" b="0">
                <a:solidFill>
                  <a:srgbClr val="5B6372"/>
                </a:solidFill>
                <a:latin typeface="Arial"/>
              </a:rPr>
              <a:t>requests storage size</a:t>
            </a:r>
          </a:p>
          <a:p>
            <a:pPr algn="ctr">
              <a:spcBef>
                <a:spcPts val="0"/>
              </a:spcBef>
              <a:spcAft>
                <a:spcPts val="300"/>
              </a:spcAft>
            </a:pPr>
            <a:r>
              <a:rPr sz="1100" b="0">
                <a:solidFill>
                  <a:srgbClr val="5B6372"/>
                </a:solidFill>
                <a:latin typeface="Arial"/>
              </a:rPr>
              <a:t>accessModes match</a:t>
            </a:r>
          </a:p>
          <a:p>
            <a:pPr algn="ctr">
              <a:spcBef>
                <a:spcPts val="0"/>
              </a:spcBef>
              <a:spcAft>
                <a:spcPts val="300"/>
              </a:spcAft>
            </a:pPr>
            <a:r>
              <a:rPr sz="1100" b="0">
                <a:solidFill>
                  <a:srgbClr val="5B6372"/>
                </a:solidFill>
                <a:latin typeface="Arial"/>
              </a:rPr>
              <a:t>binds to best PV</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mounted in</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Pod</a:t>
            </a:r>
          </a:p>
          <a:p>
            <a:pPr algn="ctr">
              <a:spcBef>
                <a:spcPts val="0"/>
              </a:spcBef>
              <a:spcAft>
                <a:spcPts val="300"/>
              </a:spcAft>
            </a:pPr>
            <a:r>
              <a:rPr sz="1100" b="0">
                <a:solidFill>
                  <a:srgbClr val="5B6372"/>
                </a:solidFill>
                <a:latin typeface="Arial"/>
              </a:rPr>
              <a:t>volumes: [{pvc: claim}]</a:t>
            </a:r>
          </a:p>
          <a:p>
            <a:pPr algn="ctr">
              <a:spcBef>
                <a:spcPts val="0"/>
              </a:spcBef>
              <a:spcAft>
                <a:spcPts val="300"/>
              </a:spcAft>
            </a:pPr>
            <a:r>
              <a:rPr sz="1100" b="0">
                <a:solidFill>
                  <a:srgbClr val="5B6372"/>
                </a:solidFill>
                <a:latin typeface="Arial"/>
              </a:rPr>
              <a:t>volumeMounts: [{mountPath}]</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Dynamic: PVC → </a:t>
            </a:r>
            <a:r>
              <a:rPr sz="1300" b="1">
                <a:solidFill>
                  <a:srgbClr val="161B26"/>
                </a:solidFill>
                <a:latin typeface="Arial"/>
              </a:rPr>
              <a:t>StorageClass</a:t>
            </a:r>
            <a:r>
              <a:rPr sz="1300" b="0">
                <a:solidFill>
                  <a:srgbClr val="5B6372"/>
                </a:solidFill>
                <a:latin typeface="Arial"/>
              </a:rPr>
              <a:t> → CSI provisioner creates PV on demand. </a:t>
            </a:r>
            <a:r>
              <a:rPr sz="1300" b="1">
                <a:solidFill>
                  <a:srgbClr val="1F6FEB"/>
                </a:solidFill>
                <a:latin typeface="Arial"/>
              </a:rPr>
              <a:t>Retain</a:t>
            </a:r>
            <a:r>
              <a:rPr sz="1300" b="0">
                <a:solidFill>
                  <a:srgbClr val="5B6372"/>
                </a:solidFill>
                <a:latin typeface="Arial"/>
              </a:rPr>
              <a:t> keeps data; </a:t>
            </a:r>
            <a:r>
              <a:rPr sz="1300" b="1">
                <a:solidFill>
                  <a:srgbClr val="DC2626"/>
                </a:solidFill>
                <a:latin typeface="Arial"/>
              </a:rPr>
              <a:t>Delete</a:t>
            </a:r>
            <a:r>
              <a:rPr sz="1300" b="0">
                <a:solidFill>
                  <a:srgbClr val="5B6372"/>
                </a:solidFill>
                <a:latin typeface="Arial"/>
              </a:rPr>
              <a:t> removes it.</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DYNAMIC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&amp; Dynamic Provisioning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StorageClass references a CSI provisioner that creates PVs on demand when a PVC is submitted.</a:t>
            </a:r>
          </a:p>
          <a:p>
            <a:pPr>
              <a:spcBef>
                <a:spcPts val="0"/>
              </a:spcBef>
              <a:spcAft>
                <a:spcPts val="1000"/>
              </a:spcAft>
            </a:pPr>
            <a:r>
              <a:rPr sz="1900" b="1">
                <a:solidFill>
                  <a:srgbClr val="1F6FEB"/>
                </a:solidFill>
                <a:latin typeface="Arial"/>
              </a:rPr>
              <a:t>•  </a:t>
            </a:r>
            <a:r>
              <a:rPr sz="1900">
                <a:solidFill>
                  <a:srgbClr val="161B26"/>
                </a:solidFill>
                <a:latin typeface="Arial"/>
              </a:rPr>
              <a:t>The default StorageClass is annotated storageclass.kubernetes.io/is-default-class: 'true'.</a:t>
            </a:r>
          </a:p>
          <a:p>
            <a:pPr>
              <a:spcBef>
                <a:spcPts val="0"/>
              </a:spcBef>
              <a:spcAft>
                <a:spcPts val="1000"/>
              </a:spcAft>
            </a:pPr>
            <a:r>
              <a:rPr sz="1900" b="1">
                <a:solidFill>
                  <a:srgbClr val="1F6FEB"/>
                </a:solidFill>
                <a:latin typeface="Arial"/>
              </a:rPr>
              <a:t>•  </a:t>
            </a:r>
            <a:r>
              <a:rPr sz="1900">
                <a:solidFill>
                  <a:srgbClr val="161B26"/>
                </a:solidFill>
                <a:latin typeface="Arial"/>
              </a:rPr>
              <a:t>PVC without storageClassName uses the default class automatically.</a:t>
            </a:r>
          </a:p>
          <a:p>
            <a:pPr>
              <a:spcBef>
                <a:spcPts val="0"/>
              </a:spcBef>
              <a:spcAft>
                <a:spcPts val="1000"/>
              </a:spcAft>
            </a:pPr>
            <a:r>
              <a:rPr sz="1900" b="1">
                <a:solidFill>
                  <a:srgbClr val="1F6FEB"/>
                </a:solidFill>
                <a:latin typeface="Arial"/>
              </a:rPr>
              <a:t>•  </a:t>
            </a:r>
            <a:r>
              <a:rPr sz="1900">
                <a:solidFill>
                  <a:srgbClr val="161B26"/>
                </a:solidFill>
                <a:latin typeface="Arial"/>
              </a:rPr>
              <a:t>StatefulSet volumeClaimTemplates give each replica its own PVC — they are not auto-deleted on scale-down.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4  ·  DYNAMIC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 Dynamic Provisioning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11455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11455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PVC</a:t>
            </a:r>
          </a:p>
          <a:p>
            <a:pPr algn="ctr">
              <a:spcBef>
                <a:spcPts val="0"/>
              </a:spcBef>
              <a:spcAft>
                <a:spcPts val="300"/>
              </a:spcAft>
            </a:pPr>
            <a:r>
              <a:rPr sz="1100" b="0">
                <a:solidFill>
                  <a:srgbClr val="5B6372"/>
                </a:solidFill>
                <a:latin typeface="Arial"/>
              </a:rPr>
              <a:t>storageClassName: fast</a:t>
            </a:r>
          </a:p>
          <a:p>
            <a:pPr algn="ctr">
              <a:spcBef>
                <a:spcPts val="0"/>
              </a:spcBef>
              <a:spcAft>
                <a:spcPts val="300"/>
              </a:spcAft>
            </a:pPr>
            <a:r>
              <a:rPr sz="1100" b="0">
                <a:solidFill>
                  <a:srgbClr val="5B6372"/>
                </a:solidFill>
                <a:latin typeface="Arial"/>
              </a:rPr>
              <a:t>storage: 10Gi</a:t>
            </a:r>
          </a:p>
          <a:p>
            <a:pPr algn="ctr">
              <a:spcBef>
                <a:spcPts val="0"/>
              </a:spcBef>
              <a:spcAft>
                <a:spcPts val="300"/>
              </a:spcAft>
            </a:pPr>
            <a:r>
              <a:rPr sz="1100" b="0">
                <a:solidFill>
                  <a:srgbClr val="5B6372"/>
                </a:solidFill>
                <a:latin typeface="Arial"/>
              </a:rPr>
              <a:t>accessModes: RWO</a:t>
            </a:r>
          </a:p>
        </p:txBody>
      </p:sp>
      <p:sp>
        <p:nvSpPr>
          <p:cNvPr id="10" name="Right Arrow 9"/>
          <p:cNvSpPr/>
          <p:nvPr/>
        </p:nvSpPr>
        <p:spPr>
          <a:xfrm>
            <a:off x="289179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319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references</a:t>
            </a:r>
          </a:p>
        </p:txBody>
      </p:sp>
      <p:sp>
        <p:nvSpPr>
          <p:cNvPr id="12" name="Rounded Rectangle 11"/>
          <p:cNvSpPr/>
          <p:nvPr/>
        </p:nvSpPr>
        <p:spPr>
          <a:xfrm>
            <a:off x="3623310" y="2468880"/>
            <a:ext cx="211455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23310" y="2468880"/>
            <a:ext cx="211455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03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StorageClass</a:t>
            </a:r>
          </a:p>
          <a:p>
            <a:pPr algn="ctr">
              <a:spcBef>
                <a:spcPts val="0"/>
              </a:spcBef>
              <a:spcAft>
                <a:spcPts val="300"/>
              </a:spcAft>
            </a:pPr>
            <a:r>
              <a:rPr sz="1100" b="0">
                <a:solidFill>
                  <a:srgbClr val="5B6372"/>
                </a:solidFill>
                <a:latin typeface="Arial"/>
              </a:rPr>
              <a:t>provisioner: ebs.csi.aws.com</a:t>
            </a:r>
          </a:p>
          <a:p>
            <a:pPr algn="ctr">
              <a:spcBef>
                <a:spcPts val="0"/>
              </a:spcBef>
              <a:spcAft>
                <a:spcPts val="300"/>
              </a:spcAft>
            </a:pPr>
            <a:r>
              <a:rPr sz="1100" b="0">
                <a:solidFill>
                  <a:srgbClr val="5B6372"/>
                </a:solidFill>
                <a:latin typeface="Arial"/>
              </a:rPr>
              <a:t>reclaimPolicy: Delete</a:t>
            </a:r>
          </a:p>
        </p:txBody>
      </p:sp>
      <p:sp>
        <p:nvSpPr>
          <p:cNvPr id="15" name="Right Arrow 14"/>
          <p:cNvSpPr/>
          <p:nvPr/>
        </p:nvSpPr>
        <p:spPr>
          <a:xfrm>
            <a:off x="573786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0926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calls</a:t>
            </a:r>
          </a:p>
        </p:txBody>
      </p:sp>
      <p:sp>
        <p:nvSpPr>
          <p:cNvPr id="17" name="Rounded Rectangle 16"/>
          <p:cNvSpPr/>
          <p:nvPr/>
        </p:nvSpPr>
        <p:spPr>
          <a:xfrm>
            <a:off x="6469380" y="2468880"/>
            <a:ext cx="2114550" cy="1737360"/>
          </a:xfrm>
          <a:prstGeom prst="roundRect">
            <a:avLst>
              <a:gd name="adj" fmla="val 5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69380" y="2468880"/>
            <a:ext cx="211455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910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CSI Driver</a:t>
            </a:r>
          </a:p>
          <a:p>
            <a:pPr algn="ctr">
              <a:spcBef>
                <a:spcPts val="0"/>
              </a:spcBef>
              <a:spcAft>
                <a:spcPts val="300"/>
              </a:spcAft>
            </a:pPr>
            <a:r>
              <a:rPr sz="1100" b="0">
                <a:solidFill>
                  <a:srgbClr val="5B6372"/>
                </a:solidFill>
                <a:latin typeface="Arial"/>
              </a:rPr>
              <a:t>creates volume on</a:t>
            </a:r>
          </a:p>
          <a:p>
            <a:pPr algn="ctr">
              <a:spcBef>
                <a:spcPts val="0"/>
              </a:spcBef>
              <a:spcAft>
                <a:spcPts val="300"/>
              </a:spcAft>
            </a:pPr>
            <a:r>
              <a:rPr sz="1100" b="0">
                <a:solidFill>
                  <a:srgbClr val="5B6372"/>
                </a:solidFill>
                <a:latin typeface="Arial"/>
              </a:rPr>
              <a:t>cloud / NFS / hostPath</a:t>
            </a:r>
          </a:p>
        </p:txBody>
      </p:sp>
      <p:sp>
        <p:nvSpPr>
          <p:cNvPr id="20" name="Right Arrow 19"/>
          <p:cNvSpPr/>
          <p:nvPr/>
        </p:nvSpPr>
        <p:spPr>
          <a:xfrm>
            <a:off x="858393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5533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creates</a:t>
            </a:r>
          </a:p>
        </p:txBody>
      </p:sp>
      <p:sp>
        <p:nvSpPr>
          <p:cNvPr id="22" name="Rounded Rectangle 21"/>
          <p:cNvSpPr/>
          <p:nvPr/>
        </p:nvSpPr>
        <p:spPr>
          <a:xfrm>
            <a:off x="9315450" y="2468880"/>
            <a:ext cx="211455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5178" y="2468880"/>
            <a:ext cx="189509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PV (auto)</a:t>
            </a:r>
          </a:p>
          <a:p>
            <a:pPr algn="ctr">
              <a:spcBef>
                <a:spcPts val="0"/>
              </a:spcBef>
              <a:spcAft>
                <a:spcPts val="300"/>
              </a:spcAft>
            </a:pPr>
            <a:r>
              <a:rPr sz="1100" b="0">
                <a:solidFill>
                  <a:srgbClr val="5B6372"/>
                </a:solidFill>
                <a:latin typeface="Arial"/>
              </a:rPr>
              <a:t>bound to PVC</a:t>
            </a:r>
          </a:p>
          <a:p>
            <a:pPr algn="ctr">
              <a:spcBef>
                <a:spcPts val="0"/>
              </a:spcBef>
              <a:spcAft>
                <a:spcPts val="300"/>
              </a:spcAft>
            </a:pPr>
            <a:r>
              <a:rPr sz="1100" b="0">
                <a:solidFill>
                  <a:srgbClr val="5B6372"/>
                </a:solidFill>
                <a:latin typeface="Arial"/>
              </a:rPr>
              <a:t>capacity matches request</a:t>
            </a:r>
          </a:p>
        </p:txBody>
      </p:sp>
      <p:sp>
        <p:nvSpPr>
          <p:cNvPr id="24" name="Rounded Rectangle 23"/>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PVC without storageClassName uses the </a:t>
            </a:r>
            <a:r>
              <a:rPr sz="1300" b="1">
                <a:solidFill>
                  <a:srgbClr val="161B26"/>
                </a:solidFill>
                <a:latin typeface="Arial"/>
              </a:rPr>
              <a:t>default StorageClass</a:t>
            </a:r>
            <a:r>
              <a:rPr sz="1300" b="0">
                <a:solidFill>
                  <a:srgbClr val="5B6372"/>
                </a:solidFill>
                <a:latin typeface="Arial"/>
              </a:rPr>
              <a:t>. reclaimPolicy Delete removes PV on PVC deletion; Retain keeps data.</a:t>
            </a:r>
          </a:p>
        </p:txBody>
      </p:sp>
      <p:sp>
        <p:nvSpPr>
          <p:cNvPr id="26" name="TextBox 2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PV AND PVC</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PersistentVolumes and PersistentVolumeClaims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PersistentVolume (static provisioning), bind it via a PVC, mount in a pod, and understand PV/PVC binding rules including access modes and reclaim policies. CKA tests static provisioning, access modes, and the fact that PVCs outlive pods.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hostPath PV with ReadWriteOnce, create PVC that binds, mount in nginx pod, write data, delete pod and recreate to verify persistence.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sudo mkdir · cat &gt; · cat &lt;&lt;'EOF' · » Access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 PersistentVolume</a:t>
            </a:r>
          </a:p>
        </p:txBody>
      </p:sp>
      <p:sp>
        <p:nvSpPr>
          <p:cNvPr id="8" name="Rounded Rectangle 7"/>
          <p:cNvSpPr/>
          <p:nvPr/>
        </p:nvSpPr>
        <p:spPr>
          <a:xfrm>
            <a:off x="777240" y="2075688"/>
            <a:ext cx="10652760" cy="295808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9580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86664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mkdir -p /mnt/data &amp;&amp; echo 'hello from host' | sudo tee /mnt/data/index.html</a:t>
            </a:r>
          </a:p>
          <a:p>
            <a:pPr>
              <a:spcBef>
                <a:spcPts val="0"/>
              </a:spcBef>
              <a:spcAft>
                <a:spcPts val="0"/>
              </a:spcAft>
            </a:pPr>
            <a:r>
              <a:rPr sz="1050">
                <a:solidFill>
                  <a:srgbClr val="161B26"/>
                </a:solidFill>
                <a:latin typeface="Consolas"/>
              </a:rPr>
              <a:t>cat &gt; pv.yaml &lt;&lt;'EOF'</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pv-host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capacity:</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hostPath:</a:t>
            </a:r>
          </a:p>
          <a:p>
            <a:pPr>
              <a:spcBef>
                <a:spcPts val="0"/>
              </a:spcBef>
              <a:spcAft>
                <a:spcPts val="0"/>
              </a:spcAft>
            </a:pPr>
            <a:r>
              <a:rPr sz="1050">
                <a:solidFill>
                  <a:srgbClr val="161B26"/>
                </a:solidFill>
                <a:latin typeface="Consolas"/>
              </a:rPr>
              <a:t>    path: /mnt/data</a:t>
            </a:r>
          </a:p>
          <a:p>
            <a:pPr>
              <a:spcBef>
                <a:spcPts val="0"/>
              </a:spcBef>
              <a:spcAft>
                <a:spcPts val="0"/>
              </a:spcAft>
            </a:pPr>
            <a:r>
              <a:rPr sz="1050">
                <a:solidFill>
                  <a:srgbClr val="161B26"/>
                </a:solidFill>
                <a:latin typeface="Consolas"/>
              </a:rPr>
              <a:t>  persistentVolumeReclaimPolicy: Retain</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apply -f pv.yaml &amp;&amp; kubectl get pv</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 PVC that binds to the PV</a:t>
            </a:r>
          </a:p>
        </p:txBody>
      </p:sp>
      <p:sp>
        <p:nvSpPr>
          <p:cNvPr id="8" name="Rounded Rectangle 7"/>
          <p:cNvSpPr/>
          <p:nvPr/>
        </p:nvSpPr>
        <p:spPr>
          <a:xfrm>
            <a:off x="777240" y="2075688"/>
            <a:ext cx="10652760" cy="258318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583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9174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&gt; pvc.yaml &lt;&lt;'EOF'</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PersistentVolumeClaim</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pvc-host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apply -f pvc.yaml &amp;&amp; kubectl get pvc</a:t>
            </a:r>
          </a:p>
          <a:p>
            <a:pPr>
              <a:spcBef>
                <a:spcPts val="0"/>
              </a:spcBef>
              <a:spcAft>
                <a:spcPts val="0"/>
              </a:spcAft>
            </a:pPr>
            <a:r>
              <a:rPr sz="1050">
                <a:solidFill>
                  <a:srgbClr val="161B26"/>
                </a:solidFill>
                <a:latin typeface="Consolas"/>
              </a:rPr>
              <a:t># STATUS: Bound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PVC in a pod</a:t>
            </a:r>
          </a:p>
        </p:txBody>
      </p:sp>
      <p:sp>
        <p:nvSpPr>
          <p:cNvPr id="8" name="Rounded Rectangle 7"/>
          <p:cNvSpPr/>
          <p:nvPr/>
        </p:nvSpPr>
        <p:spPr>
          <a:xfrm>
            <a:off x="777240" y="2075688"/>
            <a:ext cx="10652760" cy="352044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42900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pvc-pod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nginx</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mountPath: /usr/share/nginx/html</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persistentVolumeClaim:</a:t>
            </a:r>
          </a:p>
          <a:p>
            <a:pPr>
              <a:spcBef>
                <a:spcPts val="0"/>
              </a:spcBef>
              <a:spcAft>
                <a:spcPts val="0"/>
              </a:spcAft>
            </a:pPr>
            <a:r>
              <a:rPr sz="1050">
                <a:solidFill>
                  <a:srgbClr val="161B26"/>
                </a:solidFill>
                <a:latin typeface="Consolas"/>
              </a:rPr>
              <a:t>      claimName: pvc-host</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exec pvc-pod -- cat /usr/share/nginx/html/index.html</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Access modes: ReadWriteOnce (one node RW), ReadOnlyMany (many nodes R), ReadWriteMany (many nodes RW). Reclaim: Retain (manual cleanup), Delete (removes storage), Recycle (deprecated).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PVC shows STATUS=Bound. Pod reads 'hello from host' from the mounted volume. After pod deletion and recreation, data persists (Retain policy).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STORAGECLASS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StorageClass and dynamic provisioning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StorageClasses for dynamic PV creation, mark a class as default, and create a StatefulSet with volumeClaimTemplates that provisions one PVC per pod. CKA tests creating StorageClasses and dynamic provisioning.</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local-path-provisioner, mark StorageClass as default, create dynamically-provisioned PVC, create StatefulSet with volumeClaimTemplates.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patch · cat &lt;&lt;'EOF' · » StatefulSet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local-path-provisioner</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https://raw.githubusercontent.com/rancher/local-path-provisioner/master/deploy/local-path-storage.yaml</a:t>
            </a:r>
          </a:p>
          <a:p>
            <a:pPr>
              <a:spcBef>
                <a:spcPts val="0"/>
              </a:spcBef>
              <a:spcAft>
                <a:spcPts val="0"/>
              </a:spcAft>
            </a:pPr>
            <a:r>
              <a:rPr sz="1050">
                <a:solidFill>
                  <a:srgbClr val="161B26"/>
                </a:solidFill>
                <a:latin typeface="Consolas"/>
              </a:rPr>
              <a:t>kubectl -n local-path-storage rollout status deploy/local-path-provisioner</a:t>
            </a:r>
          </a:p>
          <a:p>
            <a:pPr>
              <a:spcBef>
                <a:spcPts val="0"/>
              </a:spcBef>
              <a:spcAft>
                <a:spcPts val="0"/>
              </a:spcAft>
            </a:pPr>
            <a:r>
              <a:rPr sz="1050">
                <a:solidFill>
                  <a:srgbClr val="161B26"/>
                </a:solidFill>
                <a:latin typeface="Consolas"/>
              </a:rPr>
              <a:t>kubectl get storageclass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Mark StorageClass as default</a:t>
            </a:r>
          </a:p>
        </p:txBody>
      </p:sp>
      <p:sp>
        <p:nvSpPr>
          <p:cNvPr id="12" name="Rounded Rectangle 11"/>
          <p:cNvSpPr/>
          <p:nvPr/>
        </p:nvSpPr>
        <p:spPr>
          <a:xfrm>
            <a:off x="777240" y="335127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patch storageclass local-path \</a:t>
            </a:r>
          </a:p>
          <a:p>
            <a:pPr>
              <a:spcBef>
                <a:spcPts val="0"/>
              </a:spcBef>
              <a:spcAft>
                <a:spcPts val="0"/>
              </a:spcAft>
            </a:pPr>
            <a:r>
              <a:rPr sz="1050">
                <a:solidFill>
                  <a:srgbClr val="161B26"/>
                </a:solidFill>
                <a:latin typeface="Consolas"/>
              </a:rPr>
              <a:t>  -p '{"metadata":{"annotations":{"storageclass.kubernetes.io/is-default-class":"true"}}}'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Dynamic PVC provisioning</a:t>
            </a:r>
          </a:p>
        </p:txBody>
      </p:sp>
      <p:sp>
        <p:nvSpPr>
          <p:cNvPr id="8" name="Rounded Rectangle 7"/>
          <p:cNvSpPr/>
          <p:nvPr/>
        </p:nvSpPr>
        <p:spPr>
          <a:xfrm>
            <a:off x="777240" y="2075688"/>
            <a:ext cx="10652760" cy="258318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583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9174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PersistentVolumeClaim</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dynamic-pvc</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storageClassName: local-path</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512Mi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pvc dynamic-pvc &amp;&amp; kubectl get pv</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StatefulSet with volumeClaimTemplates</a:t>
            </a:r>
          </a:p>
        </p:txBody>
      </p:sp>
      <p:sp>
        <p:nvSpPr>
          <p:cNvPr id="8" name="Rounded Rectangle 7"/>
          <p:cNvSpPr/>
          <p:nvPr/>
        </p:nvSpPr>
        <p:spPr>
          <a:xfrm>
            <a:off x="777240" y="2075688"/>
            <a:ext cx="10652760" cy="67071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67071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6156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StatefulSet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db</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serviceName: db</a:t>
            </a:r>
          </a:p>
          <a:p>
            <a:pPr>
              <a:spcBef>
                <a:spcPts val="0"/>
              </a:spcBef>
              <a:spcAft>
                <a:spcPts val="0"/>
              </a:spcAft>
            </a:pPr>
            <a:r>
              <a:rPr sz="1050">
                <a:solidFill>
                  <a:srgbClr val="161B26"/>
                </a:solidFill>
                <a:latin typeface="Consolas"/>
              </a:rPr>
              <a:t>  replicas: 3</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db</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db</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postgres</a:t>
            </a:r>
          </a:p>
          <a:p>
            <a:pPr>
              <a:spcBef>
                <a:spcPts val="0"/>
              </a:spcBef>
              <a:spcAft>
                <a:spcPts val="0"/>
              </a:spcAft>
            </a:pPr>
            <a:r>
              <a:rPr sz="1050">
                <a:solidFill>
                  <a:srgbClr val="161B26"/>
                </a:solidFill>
                <a:latin typeface="Consolas"/>
              </a:rPr>
              <a:t>        image: postgres:16-alpine</a:t>
            </a:r>
          </a:p>
          <a:p>
            <a:pPr>
              <a:spcBef>
                <a:spcPts val="0"/>
              </a:spcBef>
              <a:spcAft>
                <a:spcPts val="0"/>
              </a:spcAft>
            </a:pPr>
            <a:r>
              <a:rPr sz="1050">
                <a:solidFill>
                  <a:srgbClr val="161B26"/>
                </a:solidFill>
                <a:latin typeface="Consolas"/>
              </a:rPr>
              <a:t>        env:</a:t>
            </a:r>
          </a:p>
          <a:p>
            <a:pPr>
              <a:spcBef>
                <a:spcPts val="0"/>
              </a:spcBef>
              <a:spcAft>
                <a:spcPts val="0"/>
              </a:spcAft>
            </a:pPr>
            <a:r>
              <a:rPr sz="1050">
                <a:solidFill>
                  <a:srgbClr val="161B26"/>
                </a:solidFill>
                <a:latin typeface="Consolas"/>
              </a:rPr>
              <a:t>        - name: POSTGRES_PASSWORD</a:t>
            </a:r>
          </a:p>
          <a:p>
            <a:pPr>
              <a:spcBef>
                <a:spcPts val="0"/>
              </a:spcBef>
              <a:spcAft>
                <a:spcPts val="0"/>
              </a:spcAft>
            </a:pPr>
            <a:r>
              <a:rPr sz="1050">
                <a:solidFill>
                  <a:srgbClr val="161B26"/>
                </a:solidFill>
                <a:latin typeface="Consolas"/>
              </a:rPr>
              <a:t>          value: example</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mountPath: /var/lib/postgresql/data</a:t>
            </a:r>
          </a:p>
          <a:p>
            <a:pPr>
              <a:spcBef>
                <a:spcPts val="0"/>
              </a:spcBef>
              <a:spcAft>
                <a:spcPts val="0"/>
              </a:spcAft>
            </a:pPr>
            <a:r>
              <a:rPr sz="1050">
                <a:solidFill>
                  <a:srgbClr val="161B26"/>
                </a:solidFill>
                <a:latin typeface="Consolas"/>
              </a:rPr>
              <a:t>  volumeClaimTemplates:</a:t>
            </a:r>
          </a:p>
          <a:p>
            <a:pPr>
              <a:spcBef>
                <a:spcPts val="0"/>
              </a:spcBef>
              <a:spcAft>
                <a:spcPts val="0"/>
              </a:spcAft>
            </a:pPr>
            <a:r>
              <a:rPr sz="1050">
                <a:solidFill>
                  <a:srgbClr val="161B26"/>
                </a:solidFill>
                <a:latin typeface="Consolas"/>
              </a:rPr>
              <a:t>  - metadata:</a:t>
            </a:r>
          </a:p>
          <a:p>
            <a:pPr>
              <a:spcBef>
                <a:spcPts val="0"/>
              </a:spcBef>
              <a:spcAft>
                <a:spcPts val="0"/>
              </a:spcAft>
            </a:pPr>
            <a:r>
              <a:rPr sz="1050">
                <a:solidFill>
                  <a:srgbClr val="161B26"/>
                </a:solidFill>
                <a:latin typeface="Consolas"/>
              </a:rPr>
              <a:t>      name: data</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pods -l app=db &amp;&amp; kubectl get pvc -l app=db</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StatefulSet volumeClaimTemplates create one PVC per pod: data-db-0, data-db-1, data-db-2. PVCs are NOT deleted when the StatefulSet is deleted -- manual cleanup required.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dynamic-pvc is Bound. StatefulSet db has 3 pods each with their own PVC (data-db-0, etc).</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VOLUME TYPES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 volume types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Explore pod-level volume types: emptyDir for shared scratch space, hostPath for node filesystem access, projected for combining multiple sources into one mount, and downwardAPI for exposing pod metadata to the application.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pod with emptyDir shared between two containers, projected volume combining ConfigMap + Secret, downwardAPI volume exposing pod name/namespace/resource requests.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kubectl exec · » emptyDir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emptyDir: shared scratch space</a:t>
            </a:r>
          </a:p>
        </p:txBody>
      </p:sp>
      <p:sp>
        <p:nvSpPr>
          <p:cNvPr id="8" name="Rounded Rectangle 7"/>
          <p:cNvSpPr/>
          <p:nvPr/>
        </p:nvSpPr>
        <p:spPr>
          <a:xfrm>
            <a:off x="777240" y="2075688"/>
            <a:ext cx="10652760" cy="464515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645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55371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scratch</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writer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hello-shared &gt; /data/file;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 name: reader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emptyDir: {}</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exec scratch -c reader -- cat /data/file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projected volume (ConfigMap + Secret)</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combined</a:t>
            </a:r>
          </a:p>
          <a:p>
            <a:pPr>
              <a:spcBef>
                <a:spcPts val="0"/>
              </a:spcBef>
              <a:spcAft>
                <a:spcPts val="0"/>
              </a:spcAft>
            </a:pPr>
            <a:r>
              <a:rPr sz="1050">
                <a:solidFill>
                  <a:srgbClr val="161B26"/>
                </a:solidFill>
                <a:latin typeface="Consolas"/>
              </a:rPr>
              <a:t>#   projected:</a:t>
            </a:r>
          </a:p>
          <a:p>
            <a:pPr>
              <a:spcBef>
                <a:spcPts val="0"/>
              </a:spcBef>
              <a:spcAft>
                <a:spcPts val="0"/>
              </a:spcAft>
            </a:pPr>
            <a:r>
              <a:rPr sz="1050">
                <a:solidFill>
                  <a:srgbClr val="161B26"/>
                </a:solidFill>
                <a:latin typeface="Consolas"/>
              </a:rPr>
              <a:t>#     sources:</a:t>
            </a:r>
          </a:p>
          <a:p>
            <a:pPr>
              <a:spcBef>
                <a:spcPts val="0"/>
              </a:spcBef>
              <a:spcAft>
                <a:spcPts val="0"/>
              </a:spcAft>
            </a:pPr>
            <a:r>
              <a:rPr sz="1050">
                <a:solidFill>
                  <a:srgbClr val="161B26"/>
                </a:solidFill>
                <a:latin typeface="Consolas"/>
              </a:rPr>
              <a:t>#     - configMap:</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     - secret:</a:t>
            </a:r>
          </a:p>
          <a:p>
            <a:pPr>
              <a:spcBef>
                <a:spcPts val="0"/>
              </a:spcBef>
              <a:spcAft>
                <a:spcPts val="0"/>
              </a:spcAft>
            </a:pPr>
            <a:r>
              <a:rPr sz="1050">
                <a:solidFill>
                  <a:srgbClr val="161B26"/>
                </a:solidFill>
                <a:latin typeface="Consolas"/>
              </a:rPr>
              <a:t>#         name: app-secret</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downwardAPI: pod metadata as files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podinfo</a:t>
            </a:r>
          </a:p>
          <a:p>
            <a:pPr>
              <a:spcBef>
                <a:spcPts val="0"/>
              </a:spcBef>
              <a:spcAft>
                <a:spcPts val="0"/>
              </a:spcAft>
            </a:pPr>
            <a:r>
              <a:rPr sz="1050">
                <a:solidFill>
                  <a:srgbClr val="161B26"/>
                </a:solidFill>
                <a:latin typeface="Consolas"/>
              </a:rPr>
              <a:t>#   downwardAPI:</a:t>
            </a:r>
          </a:p>
          <a:p>
            <a:pPr>
              <a:spcBef>
                <a:spcPts val="0"/>
              </a:spcBef>
              <a:spcAft>
                <a:spcPts val="0"/>
              </a:spcAft>
            </a:pPr>
            <a:r>
              <a:rPr sz="1050">
                <a:solidFill>
                  <a:srgbClr val="161B26"/>
                </a:solidFill>
                <a:latin typeface="Consolas"/>
              </a:rPr>
              <a:t>#     items:</a:t>
            </a:r>
          </a:p>
          <a:p>
            <a:pPr>
              <a:spcBef>
                <a:spcPts val="0"/>
              </a:spcBef>
              <a:spcAft>
                <a:spcPts val="0"/>
              </a:spcAft>
            </a:pPr>
            <a:r>
              <a:rPr sz="1050">
                <a:solidFill>
                  <a:srgbClr val="161B26"/>
                </a:solidFill>
                <a:latin typeface="Consolas"/>
              </a:rPr>
              <a:t>#     - path: 'pod-name'</a:t>
            </a:r>
          </a:p>
          <a:p>
            <a:pPr>
              <a:spcBef>
                <a:spcPts val="0"/>
              </a:spcBef>
              <a:spcAft>
                <a:spcPts val="0"/>
              </a:spcAft>
            </a:pPr>
            <a:r>
              <a:rPr sz="1050">
                <a:solidFill>
                  <a:srgbClr val="161B26"/>
                </a:solidFill>
                <a:latin typeface="Consolas"/>
              </a:rPr>
              <a:t>#       fieldRef:</a:t>
            </a:r>
          </a:p>
          <a:p>
            <a:pPr>
              <a:spcBef>
                <a:spcPts val="0"/>
              </a:spcBef>
              <a:spcAft>
                <a:spcPts val="0"/>
              </a:spcAft>
            </a:pPr>
            <a:r>
              <a:rPr sz="1050">
                <a:solidFill>
                  <a:srgbClr val="161B26"/>
                </a:solidFill>
                <a:latin typeface="Consolas"/>
              </a:rPr>
              <a:t>#         fieldPath: metadata.name</a:t>
            </a:r>
          </a:p>
          <a:p>
            <a:pPr>
              <a:spcBef>
                <a:spcPts val="0"/>
              </a:spcBef>
              <a:spcAft>
                <a:spcPts val="0"/>
              </a:spcAft>
            </a:pPr>
            <a:r>
              <a:rPr sz="1050">
                <a:solidFill>
                  <a:srgbClr val="161B26"/>
                </a:solidFill>
                <a:latin typeface="Consolas"/>
              </a:rPr>
              <a:t>#     - path: 'cpu-request'</a:t>
            </a:r>
          </a:p>
          <a:p>
            <a:pPr>
              <a:spcBef>
                <a:spcPts val="0"/>
              </a:spcBef>
              <a:spcAft>
                <a:spcPts val="0"/>
              </a:spcAft>
            </a:pPr>
            <a:r>
              <a:rPr sz="1050">
                <a:solidFill>
                  <a:srgbClr val="161B26"/>
                </a:solidFill>
                <a:latin typeface="Consolas"/>
              </a:rPr>
              <a:t>#       resourceFieldRef:</a:t>
            </a:r>
          </a:p>
          <a:p>
            <a:pPr>
              <a:spcBef>
                <a:spcPts val="0"/>
              </a:spcBef>
              <a:spcAft>
                <a:spcPts val="0"/>
              </a:spcAft>
            </a:pPr>
            <a:r>
              <a:rPr sz="1050">
                <a:solidFill>
                  <a:srgbClr val="161B26"/>
                </a:solidFill>
                <a:latin typeface="Consolas"/>
              </a:rPr>
              <a:t>#         resource: requests.cpu</a:t>
            </a:r>
          </a:p>
          <a:p>
            <a:pPr>
              <a:spcBef>
                <a:spcPts val="0"/>
              </a:spcBef>
              <a:spcAft>
                <a:spcPts val="0"/>
              </a:spcAft>
            </a:pPr>
            <a:r>
              <a:rPr sz="1050">
                <a:solidFill>
                  <a:srgbClr val="161B26"/>
                </a:solidFill>
                <a:latin typeface="Consolas"/>
              </a:rPr>
              <a:t>kubectl exec downward-pod -- cat /podinfo/pod-name</a:t>
            </a:r>
          </a:p>
        </p:txBody>
      </p:sp>
      <p:sp>
        <p:nvSpPr>
          <p:cNvPr id="11" name="TextBox 10"/>
          <p:cNvSpPr txBox="1"/>
          <p:nvPr/>
        </p:nvSpPr>
        <p:spPr>
          <a:xfrm>
            <a:off x="777240" y="446684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emptyDir is deleted when the pod is deleted. hostPath ties the pod to a specific node. projected combines ConfigMap, Secret, serviceAccountToken, and downwardAPI into one mount.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reader container reads file written by writer via emptyDir. downwardAPI pod shows correct pod name from /podinfo/pod-name.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Troubleshooting Cluster Components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etcd, API server, scheduler and controller-manager</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Component Failures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Static pod manifests live in /etc/kubernetes/manifests/ — kubelet watches this directory and auto-restarts them.</a:t>
            </a:r>
          </a:p>
          <a:p>
            <a:pPr>
              <a:spcBef>
                <a:spcPts val="0"/>
              </a:spcBef>
              <a:spcAft>
                <a:spcPts val="1000"/>
              </a:spcAft>
            </a:pPr>
            <a:r>
              <a:rPr sz="1900" b="1">
                <a:solidFill>
                  <a:srgbClr val="1F6FEB"/>
                </a:solidFill>
                <a:latin typeface="Arial"/>
              </a:rPr>
              <a:t>•  </a:t>
            </a:r>
            <a:r>
              <a:rPr sz="1900">
                <a:solidFill>
                  <a:srgbClr val="161B26"/>
                </a:solidFill>
                <a:latin typeface="Arial"/>
              </a:rPr>
              <a:t>API server down? kubectl will fail — switch to crictl ps -a / crictl logs and journalctl -u kubelet.</a:t>
            </a:r>
          </a:p>
          <a:p>
            <a:pPr>
              <a:spcBef>
                <a:spcPts val="0"/>
              </a:spcBef>
              <a:spcAft>
                <a:spcPts val="1000"/>
              </a:spcAft>
            </a:pPr>
            <a:r>
              <a:rPr sz="1900" b="1">
                <a:solidFill>
                  <a:srgbClr val="1F6FEB"/>
                </a:solidFill>
                <a:latin typeface="Arial"/>
              </a:rPr>
              <a:t>•  </a:t>
            </a:r>
            <a:r>
              <a:rPr sz="1900">
                <a:solidFill>
                  <a:srgbClr val="161B26"/>
                </a:solidFill>
                <a:latin typeface="Arial"/>
              </a:rPr>
              <a:t>etcdctl endpoint health verifies etcd before assuming the API server itself is broken.</a:t>
            </a:r>
          </a:p>
          <a:p>
            <a:pPr>
              <a:spcBef>
                <a:spcPts val="0"/>
              </a:spcBef>
              <a:spcAft>
                <a:spcPts val="1000"/>
              </a:spcAft>
            </a:pPr>
            <a:r>
              <a:rPr sz="1900" b="1">
                <a:solidFill>
                  <a:srgbClr val="1F6FEB"/>
                </a:solidFill>
                <a:latin typeface="Arial"/>
              </a:rPr>
              <a:t>•  </a:t>
            </a:r>
            <a:r>
              <a:rPr sz="1900">
                <a:solidFill>
                  <a:srgbClr val="161B26"/>
                </a:solidFill>
                <a:latin typeface="Arial"/>
              </a:rPr>
              <a:t>Fix a broken manifest, save it, and the kubelet restarts the static pod automatically within ~30 seconds.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7-STEP DEBUG CHAIN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Troubleshooting Triage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6420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1. kubectl get/describe</a:t>
            </a:r>
          </a:p>
        </p:txBody>
      </p:sp>
      <p:sp>
        <p:nvSpPr>
          <p:cNvPr id="9" name="TextBox 8"/>
          <p:cNvSpPr txBox="1"/>
          <p:nvPr/>
        </p:nvSpPr>
        <p:spPr>
          <a:xfrm>
            <a:off x="4251960" y="166420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Read Events — usually tells you the cause directly</a:t>
            </a:r>
          </a:p>
        </p:txBody>
      </p:sp>
      <p:sp>
        <p:nvSpPr>
          <p:cNvPr id="10" name="Rectangle 9"/>
          <p:cNvSpPr/>
          <p:nvPr/>
        </p:nvSpPr>
        <p:spPr>
          <a:xfrm>
            <a:off x="4160520" y="180136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39572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39572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2. kubectl logs (--previous)</a:t>
            </a:r>
          </a:p>
        </p:txBody>
      </p:sp>
      <p:sp>
        <p:nvSpPr>
          <p:cNvPr id="13" name="TextBox 12"/>
          <p:cNvSpPr txBox="1"/>
          <p:nvPr/>
        </p:nvSpPr>
        <p:spPr>
          <a:xfrm>
            <a:off x="4251960" y="239572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Read container output; --previous for a crashed pod</a:t>
            </a:r>
          </a:p>
        </p:txBody>
      </p:sp>
      <p:sp>
        <p:nvSpPr>
          <p:cNvPr id="14" name="Rectangle 13"/>
          <p:cNvSpPr/>
          <p:nvPr/>
        </p:nvSpPr>
        <p:spPr>
          <a:xfrm>
            <a:off x="4160520" y="253288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12724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12724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3. systemctl / journalctl</a:t>
            </a:r>
          </a:p>
        </p:txBody>
      </p:sp>
      <p:sp>
        <p:nvSpPr>
          <p:cNvPr id="17" name="TextBox 16"/>
          <p:cNvSpPr txBox="1"/>
          <p:nvPr/>
        </p:nvSpPr>
        <p:spPr>
          <a:xfrm>
            <a:off x="4251960" y="312724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On the node: status kubelet containerd; journalctl -u kubelet</a:t>
            </a:r>
          </a:p>
        </p:txBody>
      </p:sp>
      <p:sp>
        <p:nvSpPr>
          <p:cNvPr id="18" name="Rectangle 17"/>
          <p:cNvSpPr/>
          <p:nvPr/>
        </p:nvSpPr>
        <p:spPr>
          <a:xfrm>
            <a:off x="4160520" y="326440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7240" y="385876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5876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4. crictl ps / logs</a:t>
            </a:r>
          </a:p>
        </p:txBody>
      </p:sp>
      <p:sp>
        <p:nvSpPr>
          <p:cNvPr id="21" name="TextBox 20"/>
          <p:cNvSpPr txBox="1"/>
          <p:nvPr/>
        </p:nvSpPr>
        <p:spPr>
          <a:xfrm>
            <a:off x="4251960" y="385876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Use when kubectl is unavailable (API server down)</a:t>
            </a:r>
          </a:p>
        </p:txBody>
      </p:sp>
      <p:sp>
        <p:nvSpPr>
          <p:cNvPr id="22" name="Rectangle 21"/>
          <p:cNvSpPr/>
          <p:nvPr/>
        </p:nvSpPr>
        <p:spPr>
          <a:xfrm>
            <a:off x="4160520" y="399592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59028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59028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5. etcdctl endpoint health</a:t>
            </a:r>
          </a:p>
        </p:txBody>
      </p:sp>
      <p:sp>
        <p:nvSpPr>
          <p:cNvPr id="25" name="TextBox 24"/>
          <p:cNvSpPr txBox="1"/>
          <p:nvPr/>
        </p:nvSpPr>
        <p:spPr>
          <a:xfrm>
            <a:off x="4251960" y="459028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Verify etcd is healthy before assuming API server bugs</a:t>
            </a:r>
          </a:p>
        </p:txBody>
      </p:sp>
      <p:sp>
        <p:nvSpPr>
          <p:cNvPr id="26" name="Rectangle 25"/>
          <p:cNvSpPr/>
          <p:nvPr/>
        </p:nvSpPr>
        <p:spPr>
          <a:xfrm>
            <a:off x="4160520" y="472744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532180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32180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6. kubectl get events -A</a:t>
            </a:r>
          </a:p>
        </p:txBody>
      </p:sp>
      <p:sp>
        <p:nvSpPr>
          <p:cNvPr id="29" name="TextBox 28"/>
          <p:cNvSpPr txBox="1"/>
          <p:nvPr/>
        </p:nvSpPr>
        <p:spPr>
          <a:xfrm>
            <a:off x="4251960" y="532180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Cluster-wide event stream — sorted by lastTimestamp</a:t>
            </a:r>
          </a:p>
        </p:txBody>
      </p:sp>
      <p:sp>
        <p:nvSpPr>
          <p:cNvPr id="30" name="Rectangle 29"/>
          <p:cNvSpPr/>
          <p:nvPr/>
        </p:nvSpPr>
        <p:spPr>
          <a:xfrm>
            <a:off x="4160520" y="545896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77240" y="605332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605332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7. kubectl auth can-i</a:t>
            </a:r>
          </a:p>
        </p:txBody>
      </p:sp>
      <p:sp>
        <p:nvSpPr>
          <p:cNvPr id="33" name="TextBox 32"/>
          <p:cNvSpPr txBox="1"/>
          <p:nvPr/>
        </p:nvSpPr>
        <p:spPr>
          <a:xfrm>
            <a:off x="4251960" y="605332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Confirm RBAC allows the operation before blaming the app</a:t>
            </a:r>
          </a:p>
        </p:txBody>
      </p:sp>
      <p:sp>
        <p:nvSpPr>
          <p:cNvPr id="34" name="Rectangle 33"/>
          <p:cNvSpPr/>
          <p:nvPr/>
        </p:nvSpPr>
        <p:spPr>
          <a:xfrm>
            <a:off x="4160520" y="619048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NODE HEALTH</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Node Troubleshooting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Five node conditions: Ready, MemoryPressure, DiskPressure, PIDPressure, NetworkUnavailable.</a:t>
            </a:r>
          </a:p>
          <a:p>
            <a:pPr>
              <a:spcBef>
                <a:spcPts val="0"/>
              </a:spcBef>
              <a:spcAft>
                <a:spcPts val="1000"/>
              </a:spcAft>
            </a:pPr>
            <a:r>
              <a:rPr sz="1900" b="1">
                <a:solidFill>
                  <a:srgbClr val="1F6FEB"/>
                </a:solidFill>
                <a:latin typeface="Arial"/>
              </a:rPr>
              <a:t>•  </a:t>
            </a:r>
            <a:r>
              <a:rPr sz="1900">
                <a:solidFill>
                  <a:srgbClr val="161B26"/>
                </a:solidFill>
                <a:latin typeface="Arial"/>
              </a:rPr>
              <a:t>kubelet stopped → node goes NotReady after ~40 s; systemctl start kubelet restores it.</a:t>
            </a:r>
          </a:p>
          <a:p>
            <a:pPr>
              <a:spcBef>
                <a:spcPts val="0"/>
              </a:spcBef>
              <a:spcAft>
                <a:spcPts val="1000"/>
              </a:spcAft>
            </a:pPr>
            <a:r>
              <a:rPr sz="1900" b="1">
                <a:solidFill>
                  <a:srgbClr val="1F6FEB"/>
                </a:solidFill>
                <a:latin typeface="Arial"/>
              </a:rPr>
              <a:t>•  </a:t>
            </a:r>
            <a:r>
              <a:rPr sz="1900">
                <a:solidFill>
                  <a:srgbClr val="161B26"/>
                </a:solidFill>
                <a:latin typeface="Arial"/>
              </a:rPr>
              <a:t>Disk pressure: df -h on the node — kubelet evicts pods when thresholds are hit; free space to recover.</a:t>
            </a:r>
          </a:p>
          <a:p>
            <a:pPr>
              <a:spcBef>
                <a:spcPts val="0"/>
              </a:spcBef>
              <a:spcAft>
                <a:spcPts val="1000"/>
              </a:spcAft>
            </a:pPr>
            <a:r>
              <a:rPr sz="1900" b="1">
                <a:solidFill>
                  <a:srgbClr val="1F6FEB"/>
                </a:solidFill>
                <a:latin typeface="Arial"/>
              </a:rPr>
              <a:t>•  </a:t>
            </a:r>
            <a:r>
              <a:rPr sz="1900">
                <a:solidFill>
                  <a:srgbClr val="161B26"/>
                </a:solidFill>
                <a:latin typeface="Arial"/>
              </a:rPr>
              <a:t>cordon = SchedulingDisabled (no new pods); drain = evict existing pods; uncordon restores scheduling.</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Control plane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and fix broken control plane components. When kubectl is unresponsive, use crictl and journalctl instead. Troubleshooting is the highest-weighted CKA domain at 30%.</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Locate static pod manifests, introduce a break in kube-apiserver.yaml (wrong flag), diagnose with crictl and journalctl, fix manifest and verify recovery.</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ls /etc/kubernetes/manifests/ · crictl pods · sudo vi · kubectl get · » Static</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Know where control plane components live</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/etc/kubernetes/manifests/</a:t>
            </a:r>
          </a:p>
          <a:p>
            <a:pPr>
              <a:spcBef>
                <a:spcPts val="0"/>
              </a:spcBef>
              <a:spcAft>
                <a:spcPts val="0"/>
              </a:spcAft>
            </a:pPr>
            <a:r>
              <a:rPr sz="1050">
                <a:solidFill>
                  <a:srgbClr val="161B26"/>
                </a:solidFill>
                <a:latin typeface="Consolas"/>
              </a:rPr>
              <a:t>sudo systemctl status kubelet --no-pager | head -5</a:t>
            </a:r>
          </a:p>
          <a:p>
            <a:pPr>
              <a:spcBef>
                <a:spcPts val="0"/>
              </a:spcBef>
              <a:spcAft>
                <a:spcPts val="0"/>
              </a:spcAft>
            </a:pPr>
            <a:r>
              <a:rPr sz="1050">
                <a:solidFill>
                  <a:srgbClr val="161B26"/>
                </a:solidFill>
                <a:latin typeface="Consolas"/>
              </a:rPr>
              <a:t>sudo systemctl status containerd --no-pager | head -5</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Diagnose API server failure</a:t>
            </a:r>
          </a:p>
        </p:txBody>
      </p:sp>
      <p:sp>
        <p:nvSpPr>
          <p:cNvPr id="12" name="Rounded Rectangle 11"/>
          <p:cNvSpPr/>
          <p:nvPr/>
        </p:nvSpPr>
        <p:spPr>
          <a:xfrm>
            <a:off x="777240" y="3351276"/>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If kubectl is unresponsive:</a:t>
            </a:r>
          </a:p>
          <a:p>
            <a:pPr>
              <a:spcBef>
                <a:spcPts val="0"/>
              </a:spcBef>
              <a:spcAft>
                <a:spcPts val="0"/>
              </a:spcAft>
            </a:pPr>
            <a:r>
              <a:rPr sz="1050">
                <a:solidFill>
                  <a:srgbClr val="161B26"/>
                </a:solidFill>
                <a:latin typeface="Consolas"/>
              </a:rPr>
              <a:t>crictl pods</a:t>
            </a:r>
          </a:p>
          <a:p>
            <a:pPr>
              <a:spcBef>
                <a:spcPts val="0"/>
              </a:spcBef>
              <a:spcAft>
                <a:spcPts val="0"/>
              </a:spcAft>
            </a:pPr>
            <a:r>
              <a:rPr sz="1050">
                <a:solidFill>
                  <a:srgbClr val="161B26"/>
                </a:solidFill>
                <a:latin typeface="Consolas"/>
              </a:rPr>
              <a:t>crictl ps -a</a:t>
            </a:r>
          </a:p>
          <a:p>
            <a:pPr>
              <a:spcBef>
                <a:spcPts val="0"/>
              </a:spcBef>
              <a:spcAft>
                <a:spcPts val="0"/>
              </a:spcAft>
            </a:pPr>
            <a:r>
              <a:rPr sz="1050">
                <a:solidFill>
                  <a:srgbClr val="161B26"/>
                </a:solidFill>
                <a:latin typeface="Consolas"/>
              </a:rPr>
              <a:t>crictl logs $(crictl ps -a --name kube-apiserver -q)</a:t>
            </a:r>
          </a:p>
          <a:p>
            <a:pPr>
              <a:spcBef>
                <a:spcPts val="0"/>
              </a:spcBef>
              <a:spcAft>
                <a:spcPts val="0"/>
              </a:spcAft>
            </a:pPr>
            <a:r>
              <a:rPr sz="1050">
                <a:solidFill>
                  <a:srgbClr val="161B26"/>
                </a:solidFill>
                <a:latin typeface="Consolas"/>
              </a:rPr>
              <a:t>journalctl -u kubelet --no-pager -n 50 | grep -i error</a:t>
            </a:r>
          </a:p>
          <a:p>
            <a:pPr>
              <a:spcBef>
                <a:spcPts val="0"/>
              </a:spcBef>
              <a:spcAft>
                <a:spcPts val="0"/>
              </a:spcAft>
            </a:pPr>
            <a:r>
              <a:rPr sz="1050">
                <a:solidFill>
                  <a:srgbClr val="161B26"/>
                </a:solidFill>
                <a:latin typeface="Consolas"/>
              </a:rPr>
              <a:t>sudo cat /etc/kubernetes/manifests/kube-apiserver.yaml | head -50</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Fix static pod manifest</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Wrong flag/image in manifest causes API server to not start</a:t>
            </a:r>
          </a:p>
          <a:p>
            <a:pPr>
              <a:spcBef>
                <a:spcPts val="0"/>
              </a:spcBef>
              <a:spcAft>
                <a:spcPts val="0"/>
              </a:spcAft>
            </a:pPr>
            <a:r>
              <a:rPr sz="1050">
                <a:solidFill>
                  <a:srgbClr val="161B26"/>
                </a:solidFill>
                <a:latin typeface="Consolas"/>
              </a:rPr>
              <a:t>sudo vi /etc/kubernetes/manifests/kube-apiserver.yaml</a:t>
            </a:r>
          </a:p>
          <a:p>
            <a:pPr>
              <a:spcBef>
                <a:spcPts val="0"/>
              </a:spcBef>
              <a:spcAft>
                <a:spcPts val="0"/>
              </a:spcAft>
            </a:pPr>
            <a:r>
              <a:rPr sz="1050">
                <a:solidFill>
                  <a:srgbClr val="161B26"/>
                </a:solidFill>
                <a:latin typeface="Consolas"/>
              </a:rPr>
              <a:t># Kubelet detects change within 20 seconds</a:t>
            </a:r>
          </a:p>
          <a:p>
            <a:pPr>
              <a:spcBef>
                <a:spcPts val="0"/>
              </a:spcBef>
              <a:spcAft>
                <a:spcPts val="0"/>
              </a:spcAft>
            </a:pPr>
            <a:r>
              <a:rPr sz="1050">
                <a:solidFill>
                  <a:srgbClr val="161B26"/>
                </a:solidFill>
                <a:latin typeface="Consolas"/>
              </a:rPr>
              <a:t>crictl ps | grep apiserver</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Should work once apiserver recovers</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Diagnose controller manager and scheduler</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 -n kube-system | grep -E 'controller|scheduler'</a:t>
            </a:r>
          </a:p>
          <a:p>
            <a:pPr>
              <a:spcBef>
                <a:spcPts val="0"/>
              </a:spcBef>
              <a:spcAft>
                <a:spcPts val="0"/>
              </a:spcAft>
            </a:pPr>
            <a:r>
              <a:rPr sz="1050">
                <a:solidFill>
                  <a:srgbClr val="161B26"/>
                </a:solidFill>
                <a:latin typeface="Consolas"/>
              </a:rPr>
              <a:t>kubectl logs -n kube-system kube-controller-manager-controlplane | tail -20</a:t>
            </a:r>
          </a:p>
          <a:p>
            <a:pPr>
              <a:spcBef>
                <a:spcPts val="0"/>
              </a:spcBef>
              <a:spcAft>
                <a:spcPts val="0"/>
              </a:spcAft>
            </a:pPr>
            <a:r>
              <a:rPr sz="1050">
                <a:solidFill>
                  <a:srgbClr val="161B26"/>
                </a:solidFill>
                <a:latin typeface="Consolas"/>
              </a:rPr>
              <a:t>kubectl logs -n kube-system kube-scheduler-controlplane | tail -20</a:t>
            </a:r>
          </a:p>
        </p:txBody>
      </p:sp>
      <p:sp>
        <p:nvSpPr>
          <p:cNvPr id="15" name="TextBox 14"/>
          <p:cNvSpPr txBox="1"/>
          <p:nvPr/>
        </p:nvSpPr>
        <p:spPr>
          <a:xfrm>
            <a:off x="777240" y="480517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Static pod manifests: changes cause automatic pod restart by kubelet -- no restart needed. Use crictl when API server is down: crictl pods, crictl logs, crictl ps -a.</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Broken API server manifest is fixed; kubectl get nodes works again. journalctl shows the specific error. All kube-system pods are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NODE TROUBLESHOOTING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Node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 node transition to NotReady by identifying common causes: kubelet service failure, cgroup driver mismatch between kubelet and containerd, and containerd failure. Practice safely draining a node for maintenance.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Stop kubelet, observe NotReady, restart. Introduce cgroup mismatch, diagnose with journalctl, fix config.toml, drain and uncordon node.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sudo systemctl · journalctl -u · kubectl drain · » After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Check node status baseline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-o wide</a:t>
            </a:r>
          </a:p>
          <a:p>
            <a:pPr>
              <a:spcBef>
                <a:spcPts val="0"/>
              </a:spcBef>
              <a:spcAft>
                <a:spcPts val="0"/>
              </a:spcAft>
            </a:pPr>
            <a:r>
              <a:rPr sz="1050">
                <a:solidFill>
                  <a:srgbClr val="161B26"/>
                </a:solidFill>
                <a:latin typeface="Consolas"/>
              </a:rPr>
              <a:t>kubectl describe node node01 | grep -A10 Conditions</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Scenario: kubelet service stops</a:t>
            </a:r>
          </a:p>
        </p:txBody>
      </p:sp>
      <p:sp>
        <p:nvSpPr>
          <p:cNvPr id="12" name="Rounded Rectangle 11"/>
          <p:cNvSpPr/>
          <p:nvPr/>
        </p:nvSpPr>
        <p:spPr>
          <a:xfrm>
            <a:off x="777240" y="3163823"/>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node01:</a:t>
            </a:r>
          </a:p>
          <a:p>
            <a:pPr>
              <a:spcBef>
                <a:spcPts val="0"/>
              </a:spcBef>
              <a:spcAft>
                <a:spcPts val="0"/>
              </a:spcAft>
            </a:pPr>
            <a:r>
              <a:rPr sz="1050">
                <a:solidFill>
                  <a:srgbClr val="161B26"/>
                </a:solidFill>
                <a:latin typeface="Consolas"/>
              </a:rPr>
              <a:t>sudo systemctl stop kubelet</a:t>
            </a:r>
          </a:p>
          <a:p>
            <a:pPr>
              <a:spcBef>
                <a:spcPts val="0"/>
              </a:spcBef>
              <a:spcAft>
                <a:spcPts val="0"/>
              </a:spcAft>
            </a:pPr>
            <a:r>
              <a:rPr sz="1050">
                <a:solidFill>
                  <a:srgbClr val="161B26"/>
                </a:solidFill>
                <a:latin typeface="Consolas"/>
              </a:rPr>
              <a:t># On control plane (wait 40s):</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node01: NotReady</a:t>
            </a:r>
          </a:p>
          <a:p>
            <a:pPr>
              <a:spcBef>
                <a:spcPts val="0"/>
              </a:spcBef>
              <a:spcAft>
                <a:spcPts val="0"/>
              </a:spcAft>
            </a:pPr>
            <a:r>
              <a:rPr sz="1050">
                <a:solidFill>
                  <a:srgbClr val="161B26"/>
                </a:solidFill>
                <a:latin typeface="Consolas"/>
              </a:rPr>
              <a:t># Fix (on node01):</a:t>
            </a:r>
          </a:p>
          <a:p>
            <a:pPr>
              <a:spcBef>
                <a:spcPts val="0"/>
              </a:spcBef>
              <a:spcAft>
                <a:spcPts val="0"/>
              </a:spcAft>
            </a:pPr>
            <a:r>
              <a:rPr sz="1050">
                <a:solidFill>
                  <a:srgbClr val="161B26"/>
                </a:solidFill>
                <a:latin typeface="Consolas"/>
              </a:rPr>
              <a:t>sudo systemctl start kubelet &amp;&amp; kubectl get nodes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Scenario: cgroup driver mismatch</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journalctl -u kubelet --no-pager -n 30</a:t>
            </a:r>
          </a:p>
          <a:p>
            <a:pPr>
              <a:spcBef>
                <a:spcPts val="0"/>
              </a:spcBef>
              <a:spcAft>
                <a:spcPts val="0"/>
              </a:spcAft>
            </a:pPr>
            <a:r>
              <a:rPr sz="1050">
                <a:solidFill>
                  <a:srgbClr val="161B26"/>
                </a:solidFill>
                <a:latin typeface="Consolas"/>
              </a:rPr>
              <a:t># Look for: 'failed to create containerd task' or 'cgroupDriver'</a:t>
            </a:r>
          </a:p>
          <a:p>
            <a:pPr>
              <a:spcBef>
                <a:spcPts val="0"/>
              </a:spcBef>
              <a:spcAft>
                <a:spcPts val="0"/>
              </a:spcAft>
            </a:pPr>
            <a:r>
              <a:rPr sz="1050">
                <a:solidFill>
                  <a:srgbClr val="161B26"/>
                </a:solidFill>
                <a:latin typeface="Consolas"/>
              </a:rPr>
              <a:t>grep -i cgroup /var/lib/kubelet/config.yaml</a:t>
            </a:r>
          </a:p>
          <a:p>
            <a:pPr>
              <a:spcBef>
                <a:spcPts val="0"/>
              </a:spcBef>
              <a:spcAft>
                <a:spcPts val="0"/>
              </a:spcAft>
            </a:pPr>
            <a:r>
              <a:rPr sz="1050">
                <a:solidFill>
                  <a:srgbClr val="161B26"/>
                </a:solidFill>
                <a:latin typeface="Consolas"/>
              </a:rPr>
              <a:t>grep -i SystemdCgroup /etc/containerd/config.toml</a:t>
            </a:r>
          </a:p>
          <a:p>
            <a:pPr>
              <a:spcBef>
                <a:spcPts val="0"/>
              </a:spcBef>
              <a:spcAft>
                <a:spcPts val="0"/>
              </a:spcAft>
            </a:pPr>
            <a:r>
              <a:rPr sz="1050">
                <a:solidFill>
                  <a:srgbClr val="161B26"/>
                </a:solidFill>
                <a:latin typeface="Consolas"/>
              </a:rPr>
              <a:t># Fix: ensure both use cgroupDriver: systemd / SystemdCgroup = true</a:t>
            </a:r>
          </a:p>
          <a:p>
            <a:pPr>
              <a:spcBef>
                <a:spcPts val="0"/>
              </a:spcBef>
              <a:spcAft>
                <a:spcPts val="0"/>
              </a:spcAft>
            </a:pPr>
            <a:r>
              <a:rPr sz="1050">
                <a:solidFill>
                  <a:srgbClr val="161B26"/>
                </a:solidFill>
                <a:latin typeface="Consolas"/>
              </a:rPr>
              <a:t>sudo systemctl restart kubelet containerd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Drain node for maintenance</a:t>
            </a:r>
          </a:p>
        </p:txBody>
      </p:sp>
      <p:sp>
        <p:nvSpPr>
          <p:cNvPr id="12" name="Rounded Rectangle 11"/>
          <p:cNvSpPr/>
          <p:nvPr/>
        </p:nvSpPr>
        <p:spPr>
          <a:xfrm>
            <a:off x="777240" y="3913632"/>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drain node01 --ignore-daemonsets --delete-emptydir-data</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node01: Ready,SchedulingDisabled</a:t>
            </a:r>
          </a:p>
          <a:p>
            <a:pPr>
              <a:spcBef>
                <a:spcPts val="0"/>
              </a:spcBef>
              <a:spcAft>
                <a:spcPts val="0"/>
              </a:spcAft>
            </a:pPr>
            <a:r>
              <a:rPr sz="1050">
                <a:solidFill>
                  <a:srgbClr val="161B26"/>
                </a:solidFill>
                <a:latin typeface="Consolas"/>
              </a:rPr>
              <a:t># After maintenance:</a:t>
            </a:r>
          </a:p>
          <a:p>
            <a:pPr>
              <a:spcBef>
                <a:spcPts val="0"/>
              </a:spcBef>
              <a:spcAft>
                <a:spcPts val="0"/>
              </a:spcAft>
            </a:pPr>
            <a:r>
              <a:rPr sz="1050">
                <a:solidFill>
                  <a:srgbClr val="161B26"/>
                </a:solidFill>
                <a:latin typeface="Consolas"/>
              </a:rPr>
              <a:t>kubectl uncordon node01</a:t>
            </a:r>
          </a:p>
        </p:txBody>
      </p:sp>
      <p:sp>
        <p:nvSpPr>
          <p:cNvPr id="15" name="TextBox 14"/>
          <p:cNvSpPr txBox="1"/>
          <p:nvPr/>
        </p:nvSpPr>
        <p:spPr>
          <a:xfrm>
            <a:off x="777240" y="51800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After 40s without kubelet heartbeat, node controller marks NotReady. After 5 minutes, pods are evicted to healthy nodes. Drain before any maintenance.</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Stopped kubelet causes NotReady; starting it restores Ready within 1 minute. Drain evicts pods and cordons node; uncordon re-enables scheduling.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Application &amp; Log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Pods, logs and container debugging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POD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Failure States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ImagePullBackOff: wrong image name, tag or missing imagePullSecret — check Events in kubectl describe pod.</a:t>
            </a:r>
          </a:p>
          <a:p>
            <a:pPr>
              <a:spcBef>
                <a:spcPts val="0"/>
              </a:spcBef>
              <a:spcAft>
                <a:spcPts val="1000"/>
              </a:spcAft>
            </a:pPr>
            <a:r>
              <a:rPr sz="1900" b="1">
                <a:solidFill>
                  <a:srgbClr val="1F6FEB"/>
                </a:solidFill>
                <a:latin typeface="Arial"/>
              </a:rPr>
              <a:t>•  </a:t>
            </a:r>
            <a:r>
              <a:rPr sz="1900">
                <a:solidFill>
                  <a:srgbClr val="161B26"/>
                </a:solidFill>
                <a:latin typeface="Arial"/>
              </a:rPr>
              <a:t>CrashLoopBackOff: container exits non-zero repeatedly — read kubectl logs &lt;pod&gt; --previous.</a:t>
            </a:r>
          </a:p>
          <a:p>
            <a:pPr>
              <a:spcBef>
                <a:spcPts val="0"/>
              </a:spcBef>
              <a:spcAft>
                <a:spcPts val="1000"/>
              </a:spcAft>
            </a:pPr>
            <a:r>
              <a:rPr sz="1900" b="1">
                <a:solidFill>
                  <a:srgbClr val="1F6FEB"/>
                </a:solidFill>
                <a:latin typeface="Arial"/>
              </a:rPr>
              <a:t>•  </a:t>
            </a:r>
            <a:r>
              <a:rPr sz="1900">
                <a:solidFill>
                  <a:srgbClr val="161B26"/>
                </a:solidFill>
                <a:latin typeface="Arial"/>
              </a:rPr>
              <a:t>OOMKilled: container exceeded its memory limit — raise resources.limits.memory.</a:t>
            </a:r>
          </a:p>
          <a:p>
            <a:pPr>
              <a:spcBef>
                <a:spcPts val="0"/>
              </a:spcBef>
              <a:spcAft>
                <a:spcPts val="1000"/>
              </a:spcAft>
            </a:pPr>
            <a:r>
              <a:rPr sz="1900" b="1">
                <a:solidFill>
                  <a:srgbClr val="1F6FEB"/>
                </a:solidFill>
                <a:latin typeface="Arial"/>
              </a:rPr>
              <a:t>•  </a:t>
            </a:r>
            <a:r>
              <a:rPr sz="1900">
                <a:solidFill>
                  <a:srgbClr val="161B26"/>
                </a:solidFill>
                <a:latin typeface="Arial"/>
              </a:rPr>
              <a:t>kubectl get events --sort-by=.lastTimestamp -A gives a cluster-wide timeline — start here for unknown failures.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POD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Failure States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DC2626"/>
                </a:solidFill>
                <a:latin typeface="Arial"/>
              </a:rPr>
              <a:t>ImagePullBackOff</a:t>
            </a:r>
          </a:p>
          <a:p>
            <a:pPr algn="l">
              <a:spcBef>
                <a:spcPts val="0"/>
              </a:spcBef>
              <a:spcAft>
                <a:spcPts val="300"/>
              </a:spcAft>
            </a:pPr>
            <a:r>
              <a:rPr sz="1200" b="0">
                <a:solidFill>
                  <a:srgbClr val="5B6372"/>
                </a:solidFill>
                <a:latin typeface="Arial"/>
              </a:rPr>
              <a:t>wrong image name, tag or missing imagePullSecret</a:t>
            </a:r>
          </a:p>
        </p:txBody>
      </p:sp>
      <p:sp>
        <p:nvSpPr>
          <p:cNvPr id="10" name="Right Arrow 9"/>
          <p:cNvSpPr/>
          <p:nvPr/>
        </p:nvSpPr>
        <p:spPr>
          <a:xfrm>
            <a:off x="5074920" y="2340864"/>
            <a:ext cx="640080" cy="329184"/>
          </a:xfrm>
          <a:prstGeom prst="rightArrow">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describe pod → Events → 'Failed to pull image'. Fix image ref and recreate.</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CrashLoopBackOff</a:t>
            </a:r>
          </a:p>
          <a:p>
            <a:pPr algn="l">
              <a:spcBef>
                <a:spcPts val="0"/>
              </a:spcBef>
              <a:spcAft>
                <a:spcPts val="300"/>
              </a:spcAft>
            </a:pPr>
            <a:r>
              <a:rPr sz="1200" b="0">
                <a:solidFill>
                  <a:srgbClr val="5B6372"/>
                </a:solidFill>
                <a:latin typeface="Arial"/>
              </a:rPr>
              <a:t>container exits non-zero repeatedly</a:t>
            </a:r>
          </a:p>
        </p:txBody>
      </p:sp>
      <p:sp>
        <p:nvSpPr>
          <p:cNvPr id="15" name="Right Arrow 14"/>
          <p:cNvSpPr/>
          <p:nvPr/>
        </p:nvSpPr>
        <p:spPr>
          <a:xfrm>
            <a:off x="5074920" y="3538728"/>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logs &lt;pod&gt; --previous → read the crash output. Fix command / config / entrypoint.</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OOMKilled</a:t>
            </a:r>
          </a:p>
          <a:p>
            <a:pPr algn="l">
              <a:spcBef>
                <a:spcPts val="0"/>
              </a:spcBef>
              <a:spcAft>
                <a:spcPts val="300"/>
              </a:spcAft>
            </a:pPr>
            <a:r>
              <a:rPr sz="1200" b="0">
                <a:solidFill>
                  <a:srgbClr val="5B6372"/>
                </a:solidFill>
                <a:latin typeface="Arial"/>
              </a:rPr>
              <a:t>container exceeded memory limit</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describe pod → Reason: OOMKilled → raise resources.limits.memory.</a:t>
            </a:r>
          </a:p>
        </p:txBody>
      </p:sp>
      <p:sp>
        <p:nvSpPr>
          <p:cNvPr id="22" name="Rounded Rectangle 21"/>
          <p:cNvSpPr/>
          <p:nvPr/>
        </p:nvSpPr>
        <p:spPr>
          <a:xfrm>
            <a:off x="777240" y="5486400"/>
            <a:ext cx="10652760" cy="384048"/>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486400"/>
            <a:ext cx="1014984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Fast triage: </a:t>
            </a:r>
            <a:r>
              <a:rPr sz="1200" b="0">
                <a:solidFill>
                  <a:srgbClr val="161B26"/>
                </a:solidFill>
                <a:latin typeface="Arial"/>
              </a:rPr>
              <a:t>kubectl get events --sort-by=.lastTimestamp -A   ·   kubectl debug (ephemeral container for distroless)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LOGS AND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Application logs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Read logs from running containers, crashed containers (--previous), specific containers in multi-container pods, and raw log files on disk at /var/log/pods/. Log retrieval is the first step in every CKA application troubleshooting question.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noisy pod, use kubectl logs with --tail --timestamps --follow. Create crashloop pod and read with --previous. Locate raw log file on disk.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kubectl logs · ls /var/log/pods/ · » --previous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Basic log commands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noisy --image=busybox --restart=Never -- \</a:t>
            </a:r>
          </a:p>
          <a:p>
            <a:pPr>
              <a:spcBef>
                <a:spcPts val="0"/>
              </a:spcBef>
              <a:spcAft>
                <a:spcPts val="0"/>
              </a:spcAft>
            </a:pPr>
            <a:r>
              <a:rPr sz="1050">
                <a:solidFill>
                  <a:srgbClr val="161B26"/>
                </a:solidFill>
                <a:latin typeface="Consolas"/>
              </a:rPr>
              <a:t>  sh -c 'i=0; while true; do echo "line $i"; i=$((i+1)); sleep 1; done'</a:t>
            </a:r>
          </a:p>
          <a:p>
            <a:pPr>
              <a:spcBef>
                <a:spcPts val="0"/>
              </a:spcBef>
              <a:spcAft>
                <a:spcPts val="0"/>
              </a:spcAft>
            </a:pPr>
            <a:r>
              <a:rPr sz="1050">
                <a:solidFill>
                  <a:srgbClr val="161B26"/>
                </a:solidFill>
                <a:latin typeface="Consolas"/>
              </a:rPr>
              <a:t>kubectl logs noisy --tail=5</a:t>
            </a:r>
          </a:p>
          <a:p>
            <a:pPr>
              <a:spcBef>
                <a:spcPts val="0"/>
              </a:spcBef>
              <a:spcAft>
                <a:spcPts val="0"/>
              </a:spcAft>
            </a:pPr>
            <a:r>
              <a:rPr sz="1050">
                <a:solidFill>
                  <a:srgbClr val="161B26"/>
                </a:solidFill>
                <a:latin typeface="Consolas"/>
              </a:rPr>
              <a:t>kubectl logs noisy --tail=10 --timestamps=true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Crashed container logs with --previous</a:t>
            </a:r>
          </a:p>
        </p:txBody>
      </p:sp>
      <p:sp>
        <p:nvSpPr>
          <p:cNvPr id="12" name="Rounded Rectangle 11"/>
          <p:cNvSpPr/>
          <p:nvPr/>
        </p:nvSpPr>
        <p:spPr>
          <a:xfrm>
            <a:off x="777240" y="353872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crasher --image=busybox --restart=Always -- \</a:t>
            </a:r>
          </a:p>
          <a:p>
            <a:pPr>
              <a:spcBef>
                <a:spcPts val="0"/>
              </a:spcBef>
              <a:spcAft>
                <a:spcPts val="0"/>
              </a:spcAft>
            </a:pPr>
            <a:r>
              <a:rPr sz="1050">
                <a:solidFill>
                  <a:srgbClr val="161B26"/>
                </a:solidFill>
                <a:latin typeface="Consolas"/>
              </a:rPr>
              <a:t>  sh -c 'echo starting; sleep 2; echo crashing; exit 1'</a:t>
            </a:r>
          </a:p>
          <a:p>
            <a:pPr>
              <a:spcBef>
                <a:spcPts val="0"/>
              </a:spcBef>
              <a:spcAft>
                <a:spcPts val="0"/>
              </a:spcAft>
            </a:pPr>
            <a:r>
              <a:rPr sz="1050">
                <a:solidFill>
                  <a:srgbClr val="161B26"/>
                </a:solidFill>
                <a:latin typeface="Consolas"/>
              </a:rPr>
              <a:t>kubectl get pod crasher -w</a:t>
            </a:r>
          </a:p>
          <a:p>
            <a:pPr>
              <a:spcBef>
                <a:spcPts val="0"/>
              </a:spcBef>
              <a:spcAft>
                <a:spcPts val="0"/>
              </a:spcAft>
            </a:pPr>
            <a:r>
              <a:rPr sz="1050">
                <a:solidFill>
                  <a:srgbClr val="161B26"/>
                </a:solidFill>
                <a:latin typeface="Consolas"/>
              </a:rPr>
              <a:t># Watch CrashLoopBackOff</a:t>
            </a:r>
          </a:p>
          <a:p>
            <a:pPr>
              <a:spcBef>
                <a:spcPts val="0"/>
              </a:spcBef>
              <a:spcAft>
                <a:spcPts val="0"/>
              </a:spcAft>
            </a:pPr>
            <a:r>
              <a:rPr sz="1050">
                <a:solidFill>
                  <a:srgbClr val="161B26"/>
                </a:solidFill>
                <a:latin typeface="Consolas"/>
              </a:rPr>
              <a:t>kubectl logs crasher --previous</a:t>
            </a:r>
          </a:p>
        </p:txBody>
      </p:sp>
      <p:sp>
        <p:nvSpPr>
          <p:cNvPr id="15" name="TextBox 14"/>
          <p:cNvSpPr txBox="1"/>
          <p:nvPr/>
        </p:nvSpPr>
        <p:spPr>
          <a:xfrm>
            <a:off x="777240" y="480517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Multi-container pod logs</a:t>
            </a:r>
          </a:p>
        </p:txBody>
      </p:sp>
      <p:sp>
        <p:nvSpPr>
          <p:cNvPr id="16" name="Rounded Rectangle 15"/>
          <p:cNvSpPr/>
          <p:nvPr/>
        </p:nvSpPr>
        <p:spPr>
          <a:xfrm>
            <a:off x="777240" y="5189219"/>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9"/>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7"/>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logs multi-pod -c c1</a:t>
            </a:r>
          </a:p>
          <a:p>
            <a:pPr>
              <a:spcBef>
                <a:spcPts val="0"/>
              </a:spcBef>
              <a:spcAft>
                <a:spcPts val="0"/>
              </a:spcAft>
            </a:pPr>
            <a:r>
              <a:rPr sz="1050">
                <a:solidFill>
                  <a:srgbClr val="161B26"/>
                </a:solidFill>
                <a:latin typeface="Consolas"/>
              </a:rPr>
              <a:t>kubectl logs multi-pod -c c2</a:t>
            </a:r>
          </a:p>
          <a:p>
            <a:pPr>
              <a:spcBef>
                <a:spcPts val="0"/>
              </a:spcBef>
              <a:spcAft>
                <a:spcPts val="0"/>
              </a:spcAft>
            </a:pPr>
            <a:r>
              <a:rPr sz="1050">
                <a:solidFill>
                  <a:srgbClr val="161B26"/>
                </a:solidFill>
                <a:latin typeface="Consolas"/>
              </a:rPr>
              <a:t>kubectl logs multi-pod --all-containers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Raw log files on disk</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/var/log/pods/</a:t>
            </a:r>
          </a:p>
          <a:p>
            <a:pPr>
              <a:spcBef>
                <a:spcPts val="0"/>
              </a:spcBef>
              <a:spcAft>
                <a:spcPts val="0"/>
              </a:spcAft>
            </a:pPr>
            <a:r>
              <a:rPr sz="1050">
                <a:solidFill>
                  <a:srgbClr val="161B26"/>
                </a:solidFill>
                <a:latin typeface="Consolas"/>
              </a:rPr>
              <a:t>find /var/log/pods/ -name '*.log' | head -5</a:t>
            </a:r>
          </a:p>
          <a:p>
            <a:pPr>
              <a:spcBef>
                <a:spcPts val="0"/>
              </a:spcBef>
              <a:spcAft>
                <a:spcPts val="0"/>
              </a:spcAft>
            </a:pPr>
            <a:r>
              <a:rPr sz="1050">
                <a:solidFill>
                  <a:srgbClr val="161B26"/>
                </a:solidFill>
                <a:latin typeface="Consolas"/>
              </a:rPr>
              <a:t>tail -20 /var/log/pods/default_noisy_*/noisy/0.log</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--previous reads the last terminated container instance -- essential for CrashLoopBackOff. Raw log files at /var/log/pods/ persist even if the pod is deleted.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logs noisy shows incrementing lines. kubectl logs crasher --previous shows crash message. Raw log file found under /var/log/pods/default_noisy_*/.</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3 done — networking, storage and component troubleshooting.</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morning: monitoring, service triage, RBAC/scheduling failures. Then mock exam and assessment.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