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slides/slide224.xml" ContentType="application/vnd.openxmlformats-officedocument.presentationml.slide+xml"/>
  <Override PartName="/ppt/slides/slide225.xml" ContentType="application/vnd.openxmlformats-officedocument.presentationml.slide+xml"/>
  <Override PartName="/ppt/slides/slide226.xml" ContentType="application/vnd.openxmlformats-officedocument.presentationml.slide+xml"/>
  <Override PartName="/ppt/slides/slide227.xml" ContentType="application/vnd.openxmlformats-officedocument.presentationml.slide+xml"/>
  <Override PartName="/ppt/slides/slide228.xml" ContentType="application/vnd.openxmlformats-officedocument.presentationml.slide+xml"/>
  <Override PartName="/ppt/slides/slide229.xml" ContentType="application/vnd.openxmlformats-officedocument.presentationml.slide+xml"/>
  <Override PartName="/ppt/slides/slide23.xml" ContentType="application/vnd.openxmlformats-officedocument.presentationml.slide+xml"/>
  <Override PartName="/ppt/slides/slide230.xml" ContentType="application/vnd.openxmlformats-officedocument.presentationml.slide+xml"/>
  <Override PartName="/ppt/slides/slide231.xml" ContentType="application/vnd.openxmlformats-officedocument.presentationml.slide+xml"/>
  <Override PartName="/ppt/slides/slide232.xml" ContentType="application/vnd.openxmlformats-officedocument.presentationml.slide+xml"/>
  <Override PartName="/ppt/slides/slide233.xml" ContentType="application/vnd.openxmlformats-officedocument.presentationml.slide+xml"/>
  <Override PartName="/ppt/slides/slide234.xml" ContentType="application/vnd.openxmlformats-officedocument.presentationml.slide+xml"/>
  <Override PartName="/ppt/slides/slide235.xml" ContentType="application/vnd.openxmlformats-officedocument.presentationml.slide+xml"/>
  <Override PartName="/ppt/slides/slide236.xml" ContentType="application/vnd.openxmlformats-officedocument.presentationml.slide+xml"/>
  <Override PartName="/ppt/slides/slide237.xml" ContentType="application/vnd.openxmlformats-officedocument.presentationml.slide+xml"/>
  <Override PartName="/ppt/slides/slide238.xml" ContentType="application/vnd.openxmlformats-officedocument.presentationml.slide+xml"/>
  <Override PartName="/ppt/slides/slide239.xml" ContentType="application/vnd.openxmlformats-officedocument.presentationml.slide+xml"/>
  <Override PartName="/ppt/slides/slide24.xml" ContentType="application/vnd.openxmlformats-officedocument.presentationml.slide+xml"/>
  <Override PartName="/ppt/slides/slide240.xml" ContentType="application/vnd.openxmlformats-officedocument.presentationml.slide+xml"/>
  <Override PartName="/ppt/slides/slide241.xml" ContentType="application/vnd.openxmlformats-officedocument.presentationml.slide+xml"/>
  <Override PartName="/ppt/slides/slide242.xml" ContentType="application/vnd.openxmlformats-officedocument.presentationml.slide+xml"/>
  <Override PartName="/ppt/slides/slide243.xml" ContentType="application/vnd.openxmlformats-officedocument.presentationml.slide+xml"/>
  <Override PartName="/ppt/slides/slide244.xml" ContentType="application/vnd.openxmlformats-officedocument.presentationml.slide+xml"/>
  <Override PartName="/ppt/slides/slide245.xml" ContentType="application/vnd.openxmlformats-officedocument.presentationml.slide+xml"/>
  <Override PartName="/ppt/slides/slide246.xml" ContentType="application/vnd.openxmlformats-officedocument.presentationml.slide+xml"/>
  <Override PartName="/ppt/slides/slide247.xml" ContentType="application/vnd.openxmlformats-officedocument.presentationml.slide+xml"/>
  <Override PartName="/ppt/slides/slide248.xml" ContentType="application/vnd.openxmlformats-officedocument.presentationml.slide+xml"/>
  <Override PartName="/ppt/slides/slide249.xml" ContentType="application/vnd.openxmlformats-officedocument.presentationml.slide+xml"/>
  <Override PartName="/ppt/slides/slide25.xml" ContentType="application/vnd.openxmlformats-officedocument.presentationml.slide+xml"/>
  <Override PartName="/ppt/slides/slide250.xml" ContentType="application/vnd.openxmlformats-officedocument.presentationml.slide+xml"/>
  <Override PartName="/ppt/slides/slide251.xml" ContentType="application/vnd.openxmlformats-officedocument.presentationml.slide+xml"/>
  <Override PartName="/ppt/slides/slide252.xml" ContentType="application/vnd.openxmlformats-officedocument.presentationml.slide+xml"/>
  <Override PartName="/ppt/slides/slide253.xml" ContentType="application/vnd.openxmlformats-officedocument.presentationml.slide+xml"/>
  <Override PartName="/ppt/slides/slide254.xml" ContentType="application/vnd.openxmlformats-officedocument.presentationml.slide+xml"/>
  <Override PartName="/ppt/slides/slide255.xml" ContentType="application/vnd.openxmlformats-officedocument.presentationml.slide+xml"/>
  <Override PartName="/ppt/slides/slide256.xml" ContentType="application/vnd.openxmlformats-officedocument.presentationml.slide+xml"/>
  <Override PartName="/ppt/slides/slide257.xml" ContentType="application/vnd.openxmlformats-officedocument.presentationml.slide+xml"/>
  <Override PartName="/ppt/slides/slide258.xml" ContentType="application/vnd.openxmlformats-officedocument.presentationml.slide+xml"/>
  <Override PartName="/ppt/slides/slide259.xml" ContentType="application/vnd.openxmlformats-officedocument.presentationml.slide+xml"/>
  <Override PartName="/ppt/slides/slide26.xml" ContentType="application/vnd.openxmlformats-officedocument.presentationml.slide+xml"/>
  <Override PartName="/ppt/slides/slide260.xml" ContentType="application/vnd.openxmlformats-officedocument.presentationml.slide+xml"/>
  <Override PartName="/ppt/slides/slide261.xml" ContentType="application/vnd.openxmlformats-officedocument.presentationml.slide+xml"/>
  <Override PartName="/ppt/slides/slide262.xml" ContentType="application/vnd.openxmlformats-officedocument.presentationml.slide+xml"/>
  <Override PartName="/ppt/slides/slide263.xml" ContentType="application/vnd.openxmlformats-officedocument.presentationml.slide+xml"/>
  <Override PartName="/ppt/slides/slide264.xml" ContentType="application/vnd.openxmlformats-officedocument.presentationml.slide+xml"/>
  <Override PartName="/ppt/slides/slide265.xml" ContentType="application/vnd.openxmlformats-officedocument.presentationml.slide+xml"/>
  <Override PartName="/ppt/slides/slide266.xml" ContentType="application/vnd.openxmlformats-officedocument.presentationml.slide+xml"/>
  <Override PartName="/ppt/slides/slide267.xml" ContentType="application/vnd.openxmlformats-officedocument.presentationml.slide+xml"/>
  <Override PartName="/ppt/slides/slide268.xml" ContentType="application/vnd.openxmlformats-officedocument.presentationml.slide+xml"/>
  <Override PartName="/ppt/slides/slide269.xml" ContentType="application/vnd.openxmlformats-officedocument.presentationml.slide+xml"/>
  <Override PartName="/ppt/slides/slide27.xml" ContentType="application/vnd.openxmlformats-officedocument.presentationml.slide+xml"/>
  <Override PartName="/ppt/slides/slide270.xml" ContentType="application/vnd.openxmlformats-officedocument.presentationml.slide+xml"/>
  <Override PartName="/ppt/slides/slide271.xml" ContentType="application/vnd.openxmlformats-officedocument.presentationml.slide+xml"/>
  <Override PartName="/ppt/slides/slide272.xml" ContentType="application/vnd.openxmlformats-officedocument.presentationml.slide+xml"/>
  <Override PartName="/ppt/slides/slide273.xml" ContentType="application/vnd.openxmlformats-officedocument.presentationml.slide+xml"/>
  <Override PartName="/ppt/slides/slide274.xml" ContentType="application/vnd.openxmlformats-officedocument.presentationml.slide+xml"/>
  <Override PartName="/ppt/slides/slide275.xml" ContentType="application/vnd.openxmlformats-officedocument.presentationml.slide+xml"/>
  <Override PartName="/ppt/slides/slide276.xml" ContentType="application/vnd.openxmlformats-officedocument.presentationml.slide+xml"/>
  <Override PartName="/ppt/slides/slide277.xml" ContentType="application/vnd.openxmlformats-officedocument.presentationml.slide+xml"/>
  <Override PartName="/ppt/slides/slide278.xml" ContentType="application/vnd.openxmlformats-officedocument.presentationml.slide+xml"/>
  <Override PartName="/ppt/slides/slide279.xml" ContentType="application/vnd.openxmlformats-officedocument.presentationml.slide+xml"/>
  <Override PartName="/ppt/slides/slide28.xml" ContentType="application/vnd.openxmlformats-officedocument.presentationml.slide+xml"/>
  <Override PartName="/ppt/slides/slide280.xml" ContentType="application/vnd.openxmlformats-officedocument.presentationml.slide+xml"/>
  <Override PartName="/ppt/slides/slide281.xml" ContentType="application/vnd.openxmlformats-officedocument.presentationml.slide+xml"/>
  <Override PartName="/ppt/slides/slide282.xml" ContentType="application/vnd.openxmlformats-officedocument.presentationml.slide+xml"/>
  <Override PartName="/ppt/slides/slide283.xml" ContentType="application/vnd.openxmlformats-officedocument.presentationml.slide+xml"/>
  <Override PartName="/ppt/slides/slide284.xml" ContentType="application/vnd.openxmlformats-officedocument.presentationml.slide+xml"/>
  <Override PartName="/ppt/slides/slide285.xml" ContentType="application/vnd.openxmlformats-officedocument.presentationml.slide+xml"/>
  <Override PartName="/ppt/slides/slide286.xml" ContentType="application/vnd.openxmlformats-officedocument.presentationml.slide+xml"/>
  <Override PartName="/ppt/slides/slide287.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 id="343" r:id="rId94"/>
    <p:sldId id="344" r:id="rId95"/>
    <p:sldId id="345" r:id="rId96"/>
    <p:sldId id="346" r:id="rId97"/>
    <p:sldId id="347" r:id="rId98"/>
    <p:sldId id="348" r:id="rId99"/>
    <p:sldId id="349" r:id="rId100"/>
    <p:sldId id="350" r:id="rId101"/>
    <p:sldId id="351" r:id="rId102"/>
    <p:sldId id="352" r:id="rId103"/>
    <p:sldId id="353" r:id="rId104"/>
    <p:sldId id="354" r:id="rId105"/>
    <p:sldId id="355" r:id="rId106"/>
    <p:sldId id="356" r:id="rId107"/>
    <p:sldId id="357" r:id="rId108"/>
    <p:sldId id="358" r:id="rId109"/>
    <p:sldId id="359" r:id="rId110"/>
    <p:sldId id="360" r:id="rId111"/>
    <p:sldId id="361" r:id="rId112"/>
    <p:sldId id="362" r:id="rId113"/>
    <p:sldId id="363" r:id="rId114"/>
    <p:sldId id="364" r:id="rId115"/>
    <p:sldId id="365" r:id="rId116"/>
    <p:sldId id="366" r:id="rId117"/>
    <p:sldId id="367" r:id="rId118"/>
    <p:sldId id="368" r:id="rId119"/>
    <p:sldId id="369" r:id="rId120"/>
    <p:sldId id="370" r:id="rId121"/>
    <p:sldId id="371" r:id="rId122"/>
    <p:sldId id="372" r:id="rId123"/>
    <p:sldId id="373" r:id="rId124"/>
    <p:sldId id="374" r:id="rId125"/>
    <p:sldId id="375" r:id="rId126"/>
    <p:sldId id="376" r:id="rId127"/>
    <p:sldId id="377" r:id="rId128"/>
    <p:sldId id="378" r:id="rId129"/>
    <p:sldId id="379" r:id="rId130"/>
    <p:sldId id="380" r:id="rId131"/>
    <p:sldId id="381" r:id="rId132"/>
    <p:sldId id="382" r:id="rId133"/>
    <p:sldId id="383" r:id="rId134"/>
    <p:sldId id="384" r:id="rId135"/>
    <p:sldId id="385" r:id="rId136"/>
    <p:sldId id="386" r:id="rId137"/>
    <p:sldId id="387" r:id="rId138"/>
    <p:sldId id="388" r:id="rId139"/>
    <p:sldId id="389" r:id="rId140"/>
    <p:sldId id="390" r:id="rId141"/>
    <p:sldId id="391" r:id="rId142"/>
    <p:sldId id="392" r:id="rId143"/>
    <p:sldId id="393" r:id="rId144"/>
    <p:sldId id="394" r:id="rId145"/>
    <p:sldId id="395" r:id="rId146"/>
    <p:sldId id="396" r:id="rId147"/>
    <p:sldId id="397" r:id="rId148"/>
    <p:sldId id="398" r:id="rId149"/>
    <p:sldId id="399" r:id="rId150"/>
    <p:sldId id="400" r:id="rId151"/>
    <p:sldId id="401" r:id="rId152"/>
    <p:sldId id="402" r:id="rId153"/>
    <p:sldId id="403" r:id="rId154"/>
    <p:sldId id="404" r:id="rId155"/>
    <p:sldId id="405" r:id="rId156"/>
    <p:sldId id="406" r:id="rId157"/>
    <p:sldId id="407" r:id="rId158"/>
    <p:sldId id="408" r:id="rId159"/>
    <p:sldId id="409" r:id="rId160"/>
    <p:sldId id="410" r:id="rId161"/>
    <p:sldId id="411" r:id="rId162"/>
    <p:sldId id="412" r:id="rId163"/>
    <p:sldId id="413" r:id="rId164"/>
    <p:sldId id="414" r:id="rId165"/>
    <p:sldId id="415" r:id="rId166"/>
    <p:sldId id="416" r:id="rId167"/>
    <p:sldId id="417" r:id="rId168"/>
    <p:sldId id="418" r:id="rId169"/>
    <p:sldId id="419" r:id="rId170"/>
    <p:sldId id="420" r:id="rId171"/>
    <p:sldId id="421" r:id="rId172"/>
    <p:sldId id="422" r:id="rId173"/>
    <p:sldId id="423" r:id="rId174"/>
    <p:sldId id="424" r:id="rId175"/>
    <p:sldId id="425" r:id="rId176"/>
    <p:sldId id="426" r:id="rId177"/>
    <p:sldId id="427" r:id="rId178"/>
    <p:sldId id="428" r:id="rId179"/>
    <p:sldId id="429" r:id="rId180"/>
    <p:sldId id="430" r:id="rId181"/>
    <p:sldId id="431" r:id="rId182"/>
    <p:sldId id="432" r:id="rId183"/>
    <p:sldId id="433" r:id="rId184"/>
    <p:sldId id="434" r:id="rId185"/>
    <p:sldId id="435" r:id="rId186"/>
    <p:sldId id="436" r:id="rId187"/>
    <p:sldId id="437" r:id="rId188"/>
    <p:sldId id="438" r:id="rId189"/>
    <p:sldId id="439" r:id="rId190"/>
    <p:sldId id="440" r:id="rId191"/>
    <p:sldId id="441" r:id="rId192"/>
    <p:sldId id="442" r:id="rId193"/>
    <p:sldId id="443" r:id="rId194"/>
    <p:sldId id="444" r:id="rId195"/>
    <p:sldId id="445" r:id="rId196"/>
    <p:sldId id="446" r:id="rId197"/>
    <p:sldId id="447" r:id="rId198"/>
    <p:sldId id="448" r:id="rId199"/>
    <p:sldId id="449" r:id="rId200"/>
    <p:sldId id="450" r:id="rId201"/>
    <p:sldId id="451" r:id="rId202"/>
    <p:sldId id="452" r:id="rId203"/>
    <p:sldId id="453" r:id="rId204"/>
    <p:sldId id="454" r:id="rId205"/>
    <p:sldId id="455" r:id="rId206"/>
    <p:sldId id="456" r:id="rId207"/>
    <p:sldId id="457" r:id="rId208"/>
    <p:sldId id="458" r:id="rId209"/>
    <p:sldId id="459" r:id="rId210"/>
    <p:sldId id="460" r:id="rId211"/>
    <p:sldId id="461" r:id="rId212"/>
    <p:sldId id="462" r:id="rId213"/>
    <p:sldId id="463" r:id="rId214"/>
    <p:sldId id="464" r:id="rId215"/>
    <p:sldId id="465" r:id="rId216"/>
    <p:sldId id="466" r:id="rId217"/>
    <p:sldId id="467" r:id="rId218"/>
    <p:sldId id="468" r:id="rId219"/>
    <p:sldId id="469" r:id="rId220"/>
    <p:sldId id="470" r:id="rId221"/>
    <p:sldId id="471" r:id="rId222"/>
    <p:sldId id="472" r:id="rId223"/>
    <p:sldId id="473" r:id="rId224"/>
    <p:sldId id="474" r:id="rId225"/>
    <p:sldId id="475" r:id="rId226"/>
    <p:sldId id="476" r:id="rId227"/>
    <p:sldId id="477" r:id="rId228"/>
    <p:sldId id="478" r:id="rId229"/>
    <p:sldId id="479" r:id="rId230"/>
    <p:sldId id="480" r:id="rId231"/>
    <p:sldId id="481" r:id="rId232"/>
    <p:sldId id="482" r:id="rId233"/>
    <p:sldId id="483" r:id="rId234"/>
    <p:sldId id="484" r:id="rId235"/>
    <p:sldId id="485" r:id="rId236"/>
    <p:sldId id="486" r:id="rId237"/>
    <p:sldId id="487" r:id="rId238"/>
    <p:sldId id="488" r:id="rId239"/>
    <p:sldId id="489" r:id="rId240"/>
    <p:sldId id="490" r:id="rId241"/>
    <p:sldId id="491" r:id="rId242"/>
    <p:sldId id="492" r:id="rId243"/>
    <p:sldId id="493" r:id="rId244"/>
    <p:sldId id="494" r:id="rId245"/>
    <p:sldId id="495" r:id="rId246"/>
    <p:sldId id="496" r:id="rId247"/>
    <p:sldId id="497" r:id="rId248"/>
    <p:sldId id="498" r:id="rId249"/>
    <p:sldId id="499" r:id="rId250"/>
    <p:sldId id="500" r:id="rId251"/>
    <p:sldId id="501" r:id="rId252"/>
    <p:sldId id="502" r:id="rId253"/>
    <p:sldId id="503" r:id="rId254"/>
    <p:sldId id="504" r:id="rId255"/>
    <p:sldId id="505" r:id="rId256"/>
    <p:sldId id="506" r:id="rId257"/>
    <p:sldId id="507" r:id="rId258"/>
    <p:sldId id="508" r:id="rId259"/>
    <p:sldId id="509" r:id="rId260"/>
    <p:sldId id="510" r:id="rId261"/>
    <p:sldId id="511" r:id="rId262"/>
    <p:sldId id="512" r:id="rId263"/>
    <p:sldId id="513" r:id="rId264"/>
    <p:sldId id="514" r:id="rId265"/>
    <p:sldId id="515" r:id="rId266"/>
    <p:sldId id="516" r:id="rId267"/>
    <p:sldId id="517" r:id="rId268"/>
    <p:sldId id="518" r:id="rId269"/>
    <p:sldId id="519" r:id="rId270"/>
    <p:sldId id="520" r:id="rId271"/>
    <p:sldId id="521" r:id="rId272"/>
    <p:sldId id="522" r:id="rId273"/>
    <p:sldId id="523" r:id="rId274"/>
    <p:sldId id="524" r:id="rId275"/>
    <p:sldId id="525" r:id="rId276"/>
    <p:sldId id="526" r:id="rId277"/>
    <p:sldId id="527" r:id="rId278"/>
    <p:sldId id="528" r:id="rId279"/>
    <p:sldId id="529" r:id="rId280"/>
    <p:sldId id="530" r:id="rId281"/>
    <p:sldId id="531" r:id="rId282"/>
    <p:sldId id="532" r:id="rId283"/>
    <p:sldId id="533" r:id="rId284"/>
    <p:sldId id="534" r:id="rId285"/>
    <p:sldId id="535" r:id="rId286"/>
    <p:sldId id="536" r:id="rId287"/>
    <p:sldId id="537" r:id="rId288"/>
    <p:sldId id="538" r:id="rId289"/>
    <p:sldId id="539" r:id="rId290"/>
    <p:sldId id="540" r:id="rId291"/>
    <p:sldId id="541" r:id="rId292"/>
    <p:sldId id="542" r:id="rId29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 Id="rId77" Type="http://schemas.openxmlformats.org/officeDocument/2006/relationships/slide" Target="slides/slide71.xml"/><Relationship Id="rId78" Type="http://schemas.openxmlformats.org/officeDocument/2006/relationships/slide" Target="slides/slide72.xml"/><Relationship Id="rId79" Type="http://schemas.openxmlformats.org/officeDocument/2006/relationships/slide" Target="slides/slide73.xml"/><Relationship Id="rId80" Type="http://schemas.openxmlformats.org/officeDocument/2006/relationships/slide" Target="slides/slide74.xml"/><Relationship Id="rId81" Type="http://schemas.openxmlformats.org/officeDocument/2006/relationships/slide" Target="slides/slide75.xml"/><Relationship Id="rId82" Type="http://schemas.openxmlformats.org/officeDocument/2006/relationships/slide" Target="slides/slide76.xml"/><Relationship Id="rId83" Type="http://schemas.openxmlformats.org/officeDocument/2006/relationships/slide" Target="slides/slide77.xml"/><Relationship Id="rId84" Type="http://schemas.openxmlformats.org/officeDocument/2006/relationships/slide" Target="slides/slide78.xml"/><Relationship Id="rId85" Type="http://schemas.openxmlformats.org/officeDocument/2006/relationships/slide" Target="slides/slide79.xml"/><Relationship Id="rId86" Type="http://schemas.openxmlformats.org/officeDocument/2006/relationships/slide" Target="slides/slide80.xml"/><Relationship Id="rId87" Type="http://schemas.openxmlformats.org/officeDocument/2006/relationships/slide" Target="slides/slide81.xml"/><Relationship Id="rId88" Type="http://schemas.openxmlformats.org/officeDocument/2006/relationships/slide" Target="slides/slide82.xml"/><Relationship Id="rId89" Type="http://schemas.openxmlformats.org/officeDocument/2006/relationships/slide" Target="slides/slide83.xml"/><Relationship Id="rId90" Type="http://schemas.openxmlformats.org/officeDocument/2006/relationships/slide" Target="slides/slide84.xml"/><Relationship Id="rId91" Type="http://schemas.openxmlformats.org/officeDocument/2006/relationships/slide" Target="slides/slide85.xml"/><Relationship Id="rId92" Type="http://schemas.openxmlformats.org/officeDocument/2006/relationships/slide" Target="slides/slide86.xml"/><Relationship Id="rId93" Type="http://schemas.openxmlformats.org/officeDocument/2006/relationships/slide" Target="slides/slide87.xml"/><Relationship Id="rId94" Type="http://schemas.openxmlformats.org/officeDocument/2006/relationships/slide" Target="slides/slide88.xml"/><Relationship Id="rId95" Type="http://schemas.openxmlformats.org/officeDocument/2006/relationships/slide" Target="slides/slide89.xml"/><Relationship Id="rId96" Type="http://schemas.openxmlformats.org/officeDocument/2006/relationships/slide" Target="slides/slide90.xml"/><Relationship Id="rId97" Type="http://schemas.openxmlformats.org/officeDocument/2006/relationships/slide" Target="slides/slide91.xml"/><Relationship Id="rId98" Type="http://schemas.openxmlformats.org/officeDocument/2006/relationships/slide" Target="slides/slide92.xml"/><Relationship Id="rId99" Type="http://schemas.openxmlformats.org/officeDocument/2006/relationships/slide" Target="slides/slide93.xml"/><Relationship Id="rId100" Type="http://schemas.openxmlformats.org/officeDocument/2006/relationships/slide" Target="slides/slide94.xml"/><Relationship Id="rId101" Type="http://schemas.openxmlformats.org/officeDocument/2006/relationships/slide" Target="slides/slide95.xml"/><Relationship Id="rId102" Type="http://schemas.openxmlformats.org/officeDocument/2006/relationships/slide" Target="slides/slide96.xml"/><Relationship Id="rId103" Type="http://schemas.openxmlformats.org/officeDocument/2006/relationships/slide" Target="slides/slide97.xml"/><Relationship Id="rId104" Type="http://schemas.openxmlformats.org/officeDocument/2006/relationships/slide" Target="slides/slide98.xml"/><Relationship Id="rId105" Type="http://schemas.openxmlformats.org/officeDocument/2006/relationships/slide" Target="slides/slide99.xml"/><Relationship Id="rId106" Type="http://schemas.openxmlformats.org/officeDocument/2006/relationships/slide" Target="slides/slide100.xml"/><Relationship Id="rId107" Type="http://schemas.openxmlformats.org/officeDocument/2006/relationships/slide" Target="slides/slide101.xml"/><Relationship Id="rId108" Type="http://schemas.openxmlformats.org/officeDocument/2006/relationships/slide" Target="slides/slide102.xml"/><Relationship Id="rId109" Type="http://schemas.openxmlformats.org/officeDocument/2006/relationships/slide" Target="slides/slide103.xml"/><Relationship Id="rId110" Type="http://schemas.openxmlformats.org/officeDocument/2006/relationships/slide" Target="slides/slide104.xml"/><Relationship Id="rId111" Type="http://schemas.openxmlformats.org/officeDocument/2006/relationships/slide" Target="slides/slide105.xml"/><Relationship Id="rId112" Type="http://schemas.openxmlformats.org/officeDocument/2006/relationships/slide" Target="slides/slide106.xml"/><Relationship Id="rId113" Type="http://schemas.openxmlformats.org/officeDocument/2006/relationships/slide" Target="slides/slide107.xml"/><Relationship Id="rId114" Type="http://schemas.openxmlformats.org/officeDocument/2006/relationships/slide" Target="slides/slide108.xml"/><Relationship Id="rId115" Type="http://schemas.openxmlformats.org/officeDocument/2006/relationships/slide" Target="slides/slide109.xml"/><Relationship Id="rId116" Type="http://schemas.openxmlformats.org/officeDocument/2006/relationships/slide" Target="slides/slide110.xml"/><Relationship Id="rId117" Type="http://schemas.openxmlformats.org/officeDocument/2006/relationships/slide" Target="slides/slide111.xml"/><Relationship Id="rId118" Type="http://schemas.openxmlformats.org/officeDocument/2006/relationships/slide" Target="slides/slide112.xml"/><Relationship Id="rId119" Type="http://schemas.openxmlformats.org/officeDocument/2006/relationships/slide" Target="slides/slide113.xml"/><Relationship Id="rId120" Type="http://schemas.openxmlformats.org/officeDocument/2006/relationships/slide" Target="slides/slide114.xml"/><Relationship Id="rId121" Type="http://schemas.openxmlformats.org/officeDocument/2006/relationships/slide" Target="slides/slide115.xml"/><Relationship Id="rId122" Type="http://schemas.openxmlformats.org/officeDocument/2006/relationships/slide" Target="slides/slide116.xml"/><Relationship Id="rId123" Type="http://schemas.openxmlformats.org/officeDocument/2006/relationships/slide" Target="slides/slide117.xml"/><Relationship Id="rId124" Type="http://schemas.openxmlformats.org/officeDocument/2006/relationships/slide" Target="slides/slide118.xml"/><Relationship Id="rId125" Type="http://schemas.openxmlformats.org/officeDocument/2006/relationships/slide" Target="slides/slide119.xml"/><Relationship Id="rId126" Type="http://schemas.openxmlformats.org/officeDocument/2006/relationships/slide" Target="slides/slide120.xml"/><Relationship Id="rId127" Type="http://schemas.openxmlformats.org/officeDocument/2006/relationships/slide" Target="slides/slide121.xml"/><Relationship Id="rId128" Type="http://schemas.openxmlformats.org/officeDocument/2006/relationships/slide" Target="slides/slide122.xml"/><Relationship Id="rId129" Type="http://schemas.openxmlformats.org/officeDocument/2006/relationships/slide" Target="slides/slide123.xml"/><Relationship Id="rId130" Type="http://schemas.openxmlformats.org/officeDocument/2006/relationships/slide" Target="slides/slide124.xml"/><Relationship Id="rId131" Type="http://schemas.openxmlformats.org/officeDocument/2006/relationships/slide" Target="slides/slide125.xml"/><Relationship Id="rId132" Type="http://schemas.openxmlformats.org/officeDocument/2006/relationships/slide" Target="slides/slide126.xml"/><Relationship Id="rId133" Type="http://schemas.openxmlformats.org/officeDocument/2006/relationships/slide" Target="slides/slide127.xml"/><Relationship Id="rId134" Type="http://schemas.openxmlformats.org/officeDocument/2006/relationships/slide" Target="slides/slide128.xml"/><Relationship Id="rId135" Type="http://schemas.openxmlformats.org/officeDocument/2006/relationships/slide" Target="slides/slide129.xml"/><Relationship Id="rId136" Type="http://schemas.openxmlformats.org/officeDocument/2006/relationships/slide" Target="slides/slide130.xml"/><Relationship Id="rId137" Type="http://schemas.openxmlformats.org/officeDocument/2006/relationships/slide" Target="slides/slide131.xml"/><Relationship Id="rId138" Type="http://schemas.openxmlformats.org/officeDocument/2006/relationships/slide" Target="slides/slide132.xml"/><Relationship Id="rId139" Type="http://schemas.openxmlformats.org/officeDocument/2006/relationships/slide" Target="slides/slide133.xml"/><Relationship Id="rId140" Type="http://schemas.openxmlformats.org/officeDocument/2006/relationships/slide" Target="slides/slide134.xml"/><Relationship Id="rId141" Type="http://schemas.openxmlformats.org/officeDocument/2006/relationships/slide" Target="slides/slide135.xml"/><Relationship Id="rId142" Type="http://schemas.openxmlformats.org/officeDocument/2006/relationships/slide" Target="slides/slide136.xml"/><Relationship Id="rId143" Type="http://schemas.openxmlformats.org/officeDocument/2006/relationships/slide" Target="slides/slide137.xml"/><Relationship Id="rId144" Type="http://schemas.openxmlformats.org/officeDocument/2006/relationships/slide" Target="slides/slide138.xml"/><Relationship Id="rId145" Type="http://schemas.openxmlformats.org/officeDocument/2006/relationships/slide" Target="slides/slide139.xml"/><Relationship Id="rId146" Type="http://schemas.openxmlformats.org/officeDocument/2006/relationships/slide" Target="slides/slide140.xml"/><Relationship Id="rId147" Type="http://schemas.openxmlformats.org/officeDocument/2006/relationships/slide" Target="slides/slide141.xml"/><Relationship Id="rId148" Type="http://schemas.openxmlformats.org/officeDocument/2006/relationships/slide" Target="slides/slide142.xml"/><Relationship Id="rId149" Type="http://schemas.openxmlformats.org/officeDocument/2006/relationships/slide" Target="slides/slide143.xml"/><Relationship Id="rId150" Type="http://schemas.openxmlformats.org/officeDocument/2006/relationships/slide" Target="slides/slide144.xml"/><Relationship Id="rId151" Type="http://schemas.openxmlformats.org/officeDocument/2006/relationships/slide" Target="slides/slide145.xml"/><Relationship Id="rId152" Type="http://schemas.openxmlformats.org/officeDocument/2006/relationships/slide" Target="slides/slide146.xml"/><Relationship Id="rId153" Type="http://schemas.openxmlformats.org/officeDocument/2006/relationships/slide" Target="slides/slide147.xml"/><Relationship Id="rId154" Type="http://schemas.openxmlformats.org/officeDocument/2006/relationships/slide" Target="slides/slide148.xml"/><Relationship Id="rId155" Type="http://schemas.openxmlformats.org/officeDocument/2006/relationships/slide" Target="slides/slide149.xml"/><Relationship Id="rId156" Type="http://schemas.openxmlformats.org/officeDocument/2006/relationships/slide" Target="slides/slide150.xml"/><Relationship Id="rId157" Type="http://schemas.openxmlformats.org/officeDocument/2006/relationships/slide" Target="slides/slide151.xml"/><Relationship Id="rId158" Type="http://schemas.openxmlformats.org/officeDocument/2006/relationships/slide" Target="slides/slide152.xml"/><Relationship Id="rId159" Type="http://schemas.openxmlformats.org/officeDocument/2006/relationships/slide" Target="slides/slide153.xml"/><Relationship Id="rId160" Type="http://schemas.openxmlformats.org/officeDocument/2006/relationships/slide" Target="slides/slide154.xml"/><Relationship Id="rId161" Type="http://schemas.openxmlformats.org/officeDocument/2006/relationships/slide" Target="slides/slide155.xml"/><Relationship Id="rId162" Type="http://schemas.openxmlformats.org/officeDocument/2006/relationships/slide" Target="slides/slide156.xml"/><Relationship Id="rId163" Type="http://schemas.openxmlformats.org/officeDocument/2006/relationships/slide" Target="slides/slide157.xml"/><Relationship Id="rId164" Type="http://schemas.openxmlformats.org/officeDocument/2006/relationships/slide" Target="slides/slide158.xml"/><Relationship Id="rId165" Type="http://schemas.openxmlformats.org/officeDocument/2006/relationships/slide" Target="slides/slide159.xml"/><Relationship Id="rId166" Type="http://schemas.openxmlformats.org/officeDocument/2006/relationships/slide" Target="slides/slide160.xml"/><Relationship Id="rId167" Type="http://schemas.openxmlformats.org/officeDocument/2006/relationships/slide" Target="slides/slide161.xml"/><Relationship Id="rId168" Type="http://schemas.openxmlformats.org/officeDocument/2006/relationships/slide" Target="slides/slide162.xml"/><Relationship Id="rId169" Type="http://schemas.openxmlformats.org/officeDocument/2006/relationships/slide" Target="slides/slide163.xml"/><Relationship Id="rId170" Type="http://schemas.openxmlformats.org/officeDocument/2006/relationships/slide" Target="slides/slide164.xml"/><Relationship Id="rId171" Type="http://schemas.openxmlformats.org/officeDocument/2006/relationships/slide" Target="slides/slide165.xml"/><Relationship Id="rId172" Type="http://schemas.openxmlformats.org/officeDocument/2006/relationships/slide" Target="slides/slide166.xml"/><Relationship Id="rId173" Type="http://schemas.openxmlformats.org/officeDocument/2006/relationships/slide" Target="slides/slide167.xml"/><Relationship Id="rId174" Type="http://schemas.openxmlformats.org/officeDocument/2006/relationships/slide" Target="slides/slide168.xml"/><Relationship Id="rId175" Type="http://schemas.openxmlformats.org/officeDocument/2006/relationships/slide" Target="slides/slide169.xml"/><Relationship Id="rId176" Type="http://schemas.openxmlformats.org/officeDocument/2006/relationships/slide" Target="slides/slide170.xml"/><Relationship Id="rId177" Type="http://schemas.openxmlformats.org/officeDocument/2006/relationships/slide" Target="slides/slide171.xml"/><Relationship Id="rId178" Type="http://schemas.openxmlformats.org/officeDocument/2006/relationships/slide" Target="slides/slide172.xml"/><Relationship Id="rId179" Type="http://schemas.openxmlformats.org/officeDocument/2006/relationships/slide" Target="slides/slide173.xml"/><Relationship Id="rId180" Type="http://schemas.openxmlformats.org/officeDocument/2006/relationships/slide" Target="slides/slide174.xml"/><Relationship Id="rId181" Type="http://schemas.openxmlformats.org/officeDocument/2006/relationships/slide" Target="slides/slide175.xml"/><Relationship Id="rId182" Type="http://schemas.openxmlformats.org/officeDocument/2006/relationships/slide" Target="slides/slide176.xml"/><Relationship Id="rId183" Type="http://schemas.openxmlformats.org/officeDocument/2006/relationships/slide" Target="slides/slide177.xml"/><Relationship Id="rId184" Type="http://schemas.openxmlformats.org/officeDocument/2006/relationships/slide" Target="slides/slide178.xml"/><Relationship Id="rId185" Type="http://schemas.openxmlformats.org/officeDocument/2006/relationships/slide" Target="slides/slide179.xml"/><Relationship Id="rId186" Type="http://schemas.openxmlformats.org/officeDocument/2006/relationships/slide" Target="slides/slide180.xml"/><Relationship Id="rId187" Type="http://schemas.openxmlformats.org/officeDocument/2006/relationships/slide" Target="slides/slide181.xml"/><Relationship Id="rId188" Type="http://schemas.openxmlformats.org/officeDocument/2006/relationships/slide" Target="slides/slide182.xml"/><Relationship Id="rId189" Type="http://schemas.openxmlformats.org/officeDocument/2006/relationships/slide" Target="slides/slide183.xml"/><Relationship Id="rId190" Type="http://schemas.openxmlformats.org/officeDocument/2006/relationships/slide" Target="slides/slide184.xml"/><Relationship Id="rId191" Type="http://schemas.openxmlformats.org/officeDocument/2006/relationships/slide" Target="slides/slide185.xml"/><Relationship Id="rId192" Type="http://schemas.openxmlformats.org/officeDocument/2006/relationships/slide" Target="slides/slide186.xml"/><Relationship Id="rId193" Type="http://schemas.openxmlformats.org/officeDocument/2006/relationships/slide" Target="slides/slide187.xml"/><Relationship Id="rId194" Type="http://schemas.openxmlformats.org/officeDocument/2006/relationships/slide" Target="slides/slide188.xml"/><Relationship Id="rId195" Type="http://schemas.openxmlformats.org/officeDocument/2006/relationships/slide" Target="slides/slide189.xml"/><Relationship Id="rId196" Type="http://schemas.openxmlformats.org/officeDocument/2006/relationships/slide" Target="slides/slide190.xml"/><Relationship Id="rId197" Type="http://schemas.openxmlformats.org/officeDocument/2006/relationships/slide" Target="slides/slide191.xml"/><Relationship Id="rId198" Type="http://schemas.openxmlformats.org/officeDocument/2006/relationships/slide" Target="slides/slide192.xml"/><Relationship Id="rId199" Type="http://schemas.openxmlformats.org/officeDocument/2006/relationships/slide" Target="slides/slide193.xml"/><Relationship Id="rId200" Type="http://schemas.openxmlformats.org/officeDocument/2006/relationships/slide" Target="slides/slide194.xml"/><Relationship Id="rId201" Type="http://schemas.openxmlformats.org/officeDocument/2006/relationships/slide" Target="slides/slide195.xml"/><Relationship Id="rId202" Type="http://schemas.openxmlformats.org/officeDocument/2006/relationships/slide" Target="slides/slide196.xml"/><Relationship Id="rId203" Type="http://schemas.openxmlformats.org/officeDocument/2006/relationships/slide" Target="slides/slide197.xml"/><Relationship Id="rId204" Type="http://schemas.openxmlformats.org/officeDocument/2006/relationships/slide" Target="slides/slide198.xml"/><Relationship Id="rId205" Type="http://schemas.openxmlformats.org/officeDocument/2006/relationships/slide" Target="slides/slide199.xml"/><Relationship Id="rId206" Type="http://schemas.openxmlformats.org/officeDocument/2006/relationships/slide" Target="slides/slide200.xml"/><Relationship Id="rId207" Type="http://schemas.openxmlformats.org/officeDocument/2006/relationships/slide" Target="slides/slide201.xml"/><Relationship Id="rId208" Type="http://schemas.openxmlformats.org/officeDocument/2006/relationships/slide" Target="slides/slide202.xml"/><Relationship Id="rId209" Type="http://schemas.openxmlformats.org/officeDocument/2006/relationships/slide" Target="slides/slide203.xml"/><Relationship Id="rId210" Type="http://schemas.openxmlformats.org/officeDocument/2006/relationships/slide" Target="slides/slide204.xml"/><Relationship Id="rId211" Type="http://schemas.openxmlformats.org/officeDocument/2006/relationships/slide" Target="slides/slide205.xml"/><Relationship Id="rId212" Type="http://schemas.openxmlformats.org/officeDocument/2006/relationships/slide" Target="slides/slide206.xml"/><Relationship Id="rId213" Type="http://schemas.openxmlformats.org/officeDocument/2006/relationships/slide" Target="slides/slide207.xml"/><Relationship Id="rId214" Type="http://schemas.openxmlformats.org/officeDocument/2006/relationships/slide" Target="slides/slide208.xml"/><Relationship Id="rId215" Type="http://schemas.openxmlformats.org/officeDocument/2006/relationships/slide" Target="slides/slide209.xml"/><Relationship Id="rId216" Type="http://schemas.openxmlformats.org/officeDocument/2006/relationships/slide" Target="slides/slide210.xml"/><Relationship Id="rId217" Type="http://schemas.openxmlformats.org/officeDocument/2006/relationships/slide" Target="slides/slide211.xml"/><Relationship Id="rId218" Type="http://schemas.openxmlformats.org/officeDocument/2006/relationships/slide" Target="slides/slide212.xml"/><Relationship Id="rId219" Type="http://schemas.openxmlformats.org/officeDocument/2006/relationships/slide" Target="slides/slide213.xml"/><Relationship Id="rId220" Type="http://schemas.openxmlformats.org/officeDocument/2006/relationships/slide" Target="slides/slide214.xml"/><Relationship Id="rId221" Type="http://schemas.openxmlformats.org/officeDocument/2006/relationships/slide" Target="slides/slide215.xml"/><Relationship Id="rId222" Type="http://schemas.openxmlformats.org/officeDocument/2006/relationships/slide" Target="slides/slide216.xml"/><Relationship Id="rId223" Type="http://schemas.openxmlformats.org/officeDocument/2006/relationships/slide" Target="slides/slide217.xml"/><Relationship Id="rId224" Type="http://schemas.openxmlformats.org/officeDocument/2006/relationships/slide" Target="slides/slide218.xml"/><Relationship Id="rId225" Type="http://schemas.openxmlformats.org/officeDocument/2006/relationships/slide" Target="slides/slide219.xml"/><Relationship Id="rId226" Type="http://schemas.openxmlformats.org/officeDocument/2006/relationships/slide" Target="slides/slide220.xml"/><Relationship Id="rId227" Type="http://schemas.openxmlformats.org/officeDocument/2006/relationships/slide" Target="slides/slide221.xml"/><Relationship Id="rId228" Type="http://schemas.openxmlformats.org/officeDocument/2006/relationships/slide" Target="slides/slide222.xml"/><Relationship Id="rId229" Type="http://schemas.openxmlformats.org/officeDocument/2006/relationships/slide" Target="slides/slide223.xml"/><Relationship Id="rId230" Type="http://schemas.openxmlformats.org/officeDocument/2006/relationships/slide" Target="slides/slide224.xml"/><Relationship Id="rId231" Type="http://schemas.openxmlformats.org/officeDocument/2006/relationships/slide" Target="slides/slide225.xml"/><Relationship Id="rId232" Type="http://schemas.openxmlformats.org/officeDocument/2006/relationships/slide" Target="slides/slide226.xml"/><Relationship Id="rId233" Type="http://schemas.openxmlformats.org/officeDocument/2006/relationships/slide" Target="slides/slide227.xml"/><Relationship Id="rId234" Type="http://schemas.openxmlformats.org/officeDocument/2006/relationships/slide" Target="slides/slide228.xml"/><Relationship Id="rId235" Type="http://schemas.openxmlformats.org/officeDocument/2006/relationships/slide" Target="slides/slide229.xml"/><Relationship Id="rId236" Type="http://schemas.openxmlformats.org/officeDocument/2006/relationships/slide" Target="slides/slide230.xml"/><Relationship Id="rId237" Type="http://schemas.openxmlformats.org/officeDocument/2006/relationships/slide" Target="slides/slide231.xml"/><Relationship Id="rId238" Type="http://schemas.openxmlformats.org/officeDocument/2006/relationships/slide" Target="slides/slide232.xml"/><Relationship Id="rId239" Type="http://schemas.openxmlformats.org/officeDocument/2006/relationships/slide" Target="slides/slide233.xml"/><Relationship Id="rId240" Type="http://schemas.openxmlformats.org/officeDocument/2006/relationships/slide" Target="slides/slide234.xml"/><Relationship Id="rId241" Type="http://schemas.openxmlformats.org/officeDocument/2006/relationships/slide" Target="slides/slide235.xml"/><Relationship Id="rId242" Type="http://schemas.openxmlformats.org/officeDocument/2006/relationships/slide" Target="slides/slide236.xml"/><Relationship Id="rId243" Type="http://schemas.openxmlformats.org/officeDocument/2006/relationships/slide" Target="slides/slide237.xml"/><Relationship Id="rId244" Type="http://schemas.openxmlformats.org/officeDocument/2006/relationships/slide" Target="slides/slide238.xml"/><Relationship Id="rId245" Type="http://schemas.openxmlformats.org/officeDocument/2006/relationships/slide" Target="slides/slide239.xml"/><Relationship Id="rId246" Type="http://schemas.openxmlformats.org/officeDocument/2006/relationships/slide" Target="slides/slide240.xml"/><Relationship Id="rId247" Type="http://schemas.openxmlformats.org/officeDocument/2006/relationships/slide" Target="slides/slide241.xml"/><Relationship Id="rId248" Type="http://schemas.openxmlformats.org/officeDocument/2006/relationships/slide" Target="slides/slide242.xml"/><Relationship Id="rId249" Type="http://schemas.openxmlformats.org/officeDocument/2006/relationships/slide" Target="slides/slide243.xml"/><Relationship Id="rId250" Type="http://schemas.openxmlformats.org/officeDocument/2006/relationships/slide" Target="slides/slide244.xml"/><Relationship Id="rId251" Type="http://schemas.openxmlformats.org/officeDocument/2006/relationships/slide" Target="slides/slide245.xml"/><Relationship Id="rId252" Type="http://schemas.openxmlformats.org/officeDocument/2006/relationships/slide" Target="slides/slide246.xml"/><Relationship Id="rId253" Type="http://schemas.openxmlformats.org/officeDocument/2006/relationships/slide" Target="slides/slide247.xml"/><Relationship Id="rId254" Type="http://schemas.openxmlformats.org/officeDocument/2006/relationships/slide" Target="slides/slide248.xml"/><Relationship Id="rId255" Type="http://schemas.openxmlformats.org/officeDocument/2006/relationships/slide" Target="slides/slide249.xml"/><Relationship Id="rId256" Type="http://schemas.openxmlformats.org/officeDocument/2006/relationships/slide" Target="slides/slide250.xml"/><Relationship Id="rId257" Type="http://schemas.openxmlformats.org/officeDocument/2006/relationships/slide" Target="slides/slide251.xml"/><Relationship Id="rId258" Type="http://schemas.openxmlformats.org/officeDocument/2006/relationships/slide" Target="slides/slide252.xml"/><Relationship Id="rId259" Type="http://schemas.openxmlformats.org/officeDocument/2006/relationships/slide" Target="slides/slide253.xml"/><Relationship Id="rId260" Type="http://schemas.openxmlformats.org/officeDocument/2006/relationships/slide" Target="slides/slide254.xml"/><Relationship Id="rId261" Type="http://schemas.openxmlformats.org/officeDocument/2006/relationships/slide" Target="slides/slide255.xml"/><Relationship Id="rId262" Type="http://schemas.openxmlformats.org/officeDocument/2006/relationships/slide" Target="slides/slide256.xml"/><Relationship Id="rId263" Type="http://schemas.openxmlformats.org/officeDocument/2006/relationships/slide" Target="slides/slide257.xml"/><Relationship Id="rId264" Type="http://schemas.openxmlformats.org/officeDocument/2006/relationships/slide" Target="slides/slide258.xml"/><Relationship Id="rId265" Type="http://schemas.openxmlformats.org/officeDocument/2006/relationships/slide" Target="slides/slide259.xml"/><Relationship Id="rId266" Type="http://schemas.openxmlformats.org/officeDocument/2006/relationships/slide" Target="slides/slide260.xml"/><Relationship Id="rId267" Type="http://schemas.openxmlformats.org/officeDocument/2006/relationships/slide" Target="slides/slide261.xml"/><Relationship Id="rId268" Type="http://schemas.openxmlformats.org/officeDocument/2006/relationships/slide" Target="slides/slide262.xml"/><Relationship Id="rId269" Type="http://schemas.openxmlformats.org/officeDocument/2006/relationships/slide" Target="slides/slide263.xml"/><Relationship Id="rId270" Type="http://schemas.openxmlformats.org/officeDocument/2006/relationships/slide" Target="slides/slide264.xml"/><Relationship Id="rId271" Type="http://schemas.openxmlformats.org/officeDocument/2006/relationships/slide" Target="slides/slide265.xml"/><Relationship Id="rId272" Type="http://schemas.openxmlformats.org/officeDocument/2006/relationships/slide" Target="slides/slide266.xml"/><Relationship Id="rId273" Type="http://schemas.openxmlformats.org/officeDocument/2006/relationships/slide" Target="slides/slide267.xml"/><Relationship Id="rId274" Type="http://schemas.openxmlformats.org/officeDocument/2006/relationships/slide" Target="slides/slide268.xml"/><Relationship Id="rId275" Type="http://schemas.openxmlformats.org/officeDocument/2006/relationships/slide" Target="slides/slide269.xml"/><Relationship Id="rId276" Type="http://schemas.openxmlformats.org/officeDocument/2006/relationships/slide" Target="slides/slide270.xml"/><Relationship Id="rId277" Type="http://schemas.openxmlformats.org/officeDocument/2006/relationships/slide" Target="slides/slide271.xml"/><Relationship Id="rId278" Type="http://schemas.openxmlformats.org/officeDocument/2006/relationships/slide" Target="slides/slide272.xml"/><Relationship Id="rId279" Type="http://schemas.openxmlformats.org/officeDocument/2006/relationships/slide" Target="slides/slide273.xml"/><Relationship Id="rId280" Type="http://schemas.openxmlformats.org/officeDocument/2006/relationships/slide" Target="slides/slide274.xml"/><Relationship Id="rId281" Type="http://schemas.openxmlformats.org/officeDocument/2006/relationships/slide" Target="slides/slide275.xml"/><Relationship Id="rId282" Type="http://schemas.openxmlformats.org/officeDocument/2006/relationships/slide" Target="slides/slide276.xml"/><Relationship Id="rId283" Type="http://schemas.openxmlformats.org/officeDocument/2006/relationships/slide" Target="slides/slide277.xml"/><Relationship Id="rId284" Type="http://schemas.openxmlformats.org/officeDocument/2006/relationships/slide" Target="slides/slide278.xml"/><Relationship Id="rId285" Type="http://schemas.openxmlformats.org/officeDocument/2006/relationships/slide" Target="slides/slide279.xml"/><Relationship Id="rId286" Type="http://schemas.openxmlformats.org/officeDocument/2006/relationships/slide" Target="slides/slide280.xml"/><Relationship Id="rId287" Type="http://schemas.openxmlformats.org/officeDocument/2006/relationships/slide" Target="slides/slide281.xml"/><Relationship Id="rId288" Type="http://schemas.openxmlformats.org/officeDocument/2006/relationships/slide" Target="slides/slide282.xml"/><Relationship Id="rId289" Type="http://schemas.openxmlformats.org/officeDocument/2006/relationships/slide" Target="slides/slide283.xml"/><Relationship Id="rId290" Type="http://schemas.openxmlformats.org/officeDocument/2006/relationships/slide" Target="slides/slide284.xml"/><Relationship Id="rId291" Type="http://schemas.openxmlformats.org/officeDocument/2006/relationships/slide" Target="slides/slide285.xml"/><Relationship Id="rId292" Type="http://schemas.openxmlformats.org/officeDocument/2006/relationships/slide" Target="slides/slide286.xml"/><Relationship Id="rId293" Type="http://schemas.openxmlformats.org/officeDocument/2006/relationships/slide" Target="slides/slide28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5.png"/><Relationship Id="rId6" Type="http://schemas.openxmlformats.org/officeDocument/2006/relationships/image" Target="../media/image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8.png"/><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image" Target="../media/image11.png"/><Relationship Id="rId4" Type="http://schemas.openxmlformats.org/officeDocument/2006/relationships/image" Target="../media/image12.png"/><Relationship Id="rId5" Type="http://schemas.openxmlformats.org/officeDocument/2006/relationships/image" Target="../media/image13.png"/><Relationship Id="rId6" Type="http://schemas.openxmlformats.org/officeDocument/2006/relationships/image" Target="../media/image14.png"/><Relationship Id="rId7" Type="http://schemas.openxmlformats.org/officeDocument/2006/relationships/image" Target="../media/image1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image" Target="../media/image18.png"/><Relationship Id="rId4" Type="http://schemas.openxmlformats.org/officeDocument/2006/relationships/image" Target="../media/image19.png"/><Relationship Id="rId5" Type="http://schemas.openxmlformats.org/officeDocument/2006/relationships/image" Target="../media/image20.png"/><Relationship Id="rId6" Type="http://schemas.openxmlformats.org/officeDocument/2006/relationships/image" Target="../media/image13.png"/><Relationship Id="rId7" Type="http://schemas.openxmlformats.org/officeDocument/2006/relationships/image" Target="../media/image2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png"/></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jpg"/></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png"/></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jpg"/></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png"/></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jpg"/></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2.png"/></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3.jpg"/></Relationships>
</file>

<file path=ppt/slides/_rels/slide2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4.jpg"/></Relationships>
</file>

<file path=ppt/slides/_rels/slide2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5.jpg"/></Relationships>
</file>

<file path=ppt/slides/_rels/slide2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6.jpg"/></Relationships>
</file>

<file path=ppt/slides/_rels/slide2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s>
</file>

<file path=ppt/slides/_rels/slide2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image" Target="../media/image18.png"/><Relationship Id="rId4" Type="http://schemas.openxmlformats.org/officeDocument/2006/relationships/image" Target="../media/image19.png"/><Relationship Id="rId5" Type="http://schemas.openxmlformats.org/officeDocument/2006/relationships/image" Target="../media/image20.png"/><Relationship Id="rId6" Type="http://schemas.openxmlformats.org/officeDocument/2006/relationships/image" Target="../media/image13.png"/><Relationship Id="rId7" Type="http://schemas.openxmlformats.org/officeDocument/2006/relationships/image" Target="../media/image21.png"/></Relationships>
</file>

<file path=ppt/slides/_rels/slide2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56832"/>
            <a:ext cx="12191695" cy="2011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2103120"/>
            <a:ext cx="10972800" cy="548640"/>
          </a:xfrm>
          <a:prstGeom prst="rect">
            <a:avLst/>
          </a:prstGeom>
          <a:noFill/>
        </p:spPr>
        <p:txBody>
          <a:bodyPr wrap="square" anchor="t" lIns="0" rIns="0" tIns="0" bIns="0">
            <a:spAutoFit/>
          </a:bodyPr>
          <a:lstStyle/>
          <a:p>
            <a:pPr algn="l">
              <a:spcBef>
                <a:spcPts val="0"/>
              </a:spcBef>
              <a:spcAft>
                <a:spcPts val="400"/>
              </a:spcAft>
            </a:pPr>
            <a:r>
              <a:rPr sz="1600" b="1">
                <a:solidFill>
                  <a:srgbClr val="1F6FEB"/>
                </a:solidFill>
                <a:latin typeface="Arial"/>
              </a:rPr>
              <a:t>COURSE SLIDES</a:t>
            </a:r>
          </a:p>
        </p:txBody>
      </p:sp>
      <p:sp>
        <p:nvSpPr>
          <p:cNvPr id="6" name="TextBox 5"/>
          <p:cNvSpPr txBox="1"/>
          <p:nvPr/>
        </p:nvSpPr>
        <p:spPr>
          <a:xfrm>
            <a:off x="822960" y="2606040"/>
            <a:ext cx="10972800" cy="1737360"/>
          </a:xfrm>
          <a:prstGeom prst="rect">
            <a:avLst/>
          </a:prstGeom>
          <a:noFill/>
        </p:spPr>
        <p:txBody>
          <a:bodyPr wrap="square" anchor="t" lIns="0" rIns="0" tIns="0" bIns="0">
            <a:spAutoFit/>
          </a:bodyPr>
          <a:lstStyle/>
          <a:p>
            <a:pPr algn="l">
              <a:spcBef>
                <a:spcPts val="0"/>
              </a:spcBef>
              <a:spcAft>
                <a:spcPts val="400"/>
              </a:spcAft>
            </a:pPr>
            <a:r>
              <a:rPr sz="4400" b="1">
                <a:solidFill>
                  <a:srgbClr val="161B26"/>
                </a:solidFill>
                <a:latin typeface="Arial"/>
              </a:rPr>
              <a:t>Certified Kubernetes Administrator (CKA)</a:t>
            </a:r>
          </a:p>
        </p:txBody>
      </p:sp>
      <p:sp>
        <p:nvSpPr>
          <p:cNvPr id="7" name="Rectangle 6"/>
          <p:cNvSpPr/>
          <p:nvPr/>
        </p:nvSpPr>
        <p:spPr>
          <a:xfrm>
            <a:off x="841248" y="4526280"/>
            <a:ext cx="2194560" cy="5486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4800600"/>
            <a:ext cx="10972800" cy="1280160"/>
          </a:xfrm>
          <a:prstGeom prst="rect">
            <a:avLst/>
          </a:prstGeom>
          <a:noFill/>
        </p:spPr>
        <p:txBody>
          <a:bodyPr wrap="square" anchor="t" lIns="0" rIns="0" tIns="0" bIns="0">
            <a:spAutoFit/>
          </a:bodyPr>
          <a:lstStyle/>
          <a:p>
            <a:pPr algn="l">
              <a:spcBef>
                <a:spcPts val="0"/>
              </a:spcBef>
              <a:spcAft>
                <a:spcPts val="600"/>
              </a:spcAft>
            </a:pPr>
            <a:r>
              <a:rPr sz="1600" b="0">
                <a:solidFill>
                  <a:srgbClr val="5B6372"/>
                </a:solidFill>
                <a:latin typeface="Arial"/>
              </a:rPr>
              <a:t>WSQ Course Code: TGS-2025054612</a:t>
            </a:r>
          </a:p>
          <a:p>
            <a:pPr algn="l">
              <a:spcBef>
                <a:spcPts val="0"/>
              </a:spcBef>
              <a:spcAft>
                <a:spcPts val="600"/>
              </a:spcAft>
            </a:pPr>
            <a:r>
              <a:rPr sz="1400" b="0">
                <a:solidFill>
                  <a:srgbClr val="5B6372"/>
                </a:solidFill>
                <a:latin typeface="Arial"/>
              </a:rPr>
              <a:t>Conducted by Tertiary Infotech Academy Pte Ltd  ·  UEN 201200696W</a:t>
            </a:r>
          </a:p>
        </p:txBody>
      </p:sp>
      <p:sp>
        <p:nvSpPr>
          <p:cNvPr id="9" name="TextBox 8"/>
          <p:cNvSpPr txBox="1"/>
          <p:nvPr/>
        </p:nvSpPr>
        <p:spPr>
          <a:xfrm>
            <a:off x="822960" y="6126480"/>
            <a:ext cx="10972800" cy="310896"/>
          </a:xfrm>
          <a:prstGeom prst="rect">
            <a:avLst/>
          </a:prstGeom>
          <a:noFill/>
        </p:spPr>
        <p:txBody>
          <a:bodyPr wrap="square" anchor="t" lIns="0" rIns="0" tIns="0" bIns="0">
            <a:spAutoFit/>
          </a:bodyPr>
          <a:lstStyle/>
          <a:p>
            <a:pPr algn="l">
              <a:spcBef>
                <a:spcPts val="0"/>
              </a:spcBef>
              <a:spcAft>
                <a:spcPts val="400"/>
              </a:spcAft>
            </a:pPr>
            <a:r>
              <a:rPr sz="1000" b="0">
                <a:solidFill>
                  <a:srgbClr val="5B6372"/>
                </a:solidFill>
                <a:latin typeface="Arial"/>
              </a:rPr>
              <a:t>© 2026 Tertiary Infotech Academy Pte Ltd. All rights reserved.  ·  www.tertiarycourses.com.sg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lIns="0" rIns="0" tIns="0" bIns="0">
            <a:spAutoFit/>
          </a:bodyPr>
          <a:lstStyle/>
          <a:p>
            <a:pPr algn="l">
              <a:spcBef>
                <a:spcPts val="0"/>
              </a:spcBef>
              <a:spcAft>
                <a:spcPts val="400"/>
              </a:spcAft>
            </a:pPr>
            <a:r>
              <a:rPr sz="1800" b="1">
                <a:solidFill>
                  <a:srgbClr val="1F6FEB"/>
                </a:solidFill>
                <a:latin typeface="Arial"/>
              </a:rPr>
              <a:t>COURSE ADMINISTRATION</a:t>
            </a:r>
          </a:p>
        </p:txBody>
      </p:sp>
      <p:sp>
        <p:nvSpPr>
          <p:cNvPr id="6" name="TextBox 5"/>
          <p:cNvSpPr txBox="1"/>
          <p:nvPr/>
        </p:nvSpPr>
        <p:spPr>
          <a:xfrm>
            <a:off x="1143000" y="2743200"/>
            <a:ext cx="10424160" cy="1463040"/>
          </a:xfrm>
          <a:prstGeom prst="rect">
            <a:avLst/>
          </a:prstGeom>
          <a:noFill/>
        </p:spPr>
        <p:txBody>
          <a:bodyPr wrap="square" anchor="t" lIns="0" rIns="0" tIns="0" bIns="0">
            <a:spAutoFit/>
          </a:bodyPr>
          <a:lstStyle/>
          <a:p>
            <a:pPr algn="l">
              <a:spcBef>
                <a:spcPts val="0"/>
              </a:spcBef>
              <a:spcAft>
                <a:spcPts val="400"/>
              </a:spcAft>
            </a:pPr>
            <a:r>
              <a:rPr sz="4000" b="1">
                <a:solidFill>
                  <a:srgbClr val="161B26"/>
                </a:solidFill>
                <a:latin typeface="Arial"/>
              </a:rPr>
              <a:t>Welcome &amp; Housekeeping</a:t>
            </a:r>
          </a:p>
        </p:txBody>
      </p:sp>
      <p:sp>
        <p:nvSpPr>
          <p:cNvPr id="7" name="TextBox 6"/>
          <p:cNvSpPr txBox="1"/>
          <p:nvPr/>
        </p:nvSpPr>
        <p:spPr>
          <a:xfrm>
            <a:off x="9418320" y="640080"/>
            <a:ext cx="2286000" cy="1463040"/>
          </a:xfrm>
          <a:prstGeom prst="rect">
            <a:avLst/>
          </a:prstGeom>
          <a:noFill/>
        </p:spPr>
        <p:txBody>
          <a:bodyPr wrap="square" anchor="t" lIns="0" rIns="0" tIns="0" bIns="0">
            <a:spAutoFit/>
          </a:bodyPr>
          <a:lstStyle/>
          <a:p>
            <a:pPr algn="r">
              <a:spcBef>
                <a:spcPts val="0"/>
              </a:spcBef>
              <a:spcAft>
                <a:spcPts val="400"/>
              </a:spcAft>
            </a:pPr>
            <a:r>
              <a:rPr sz="7200" b="1">
                <a:solidFill>
                  <a:srgbClr val="E2E8F0"/>
                </a:solidFill>
                <a:latin typeface="Arial"/>
              </a:rPr>
              <a:t/>
            </a:r>
          </a:p>
        </p:txBody>
      </p:sp>
      <p:sp>
        <p:nvSpPr>
          <p:cNvPr id="8" name="TextBox 7"/>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9" name="TextBox 8"/>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TRAQOM · SSG DIGITAL ATTENDANCE</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Digital Attendance (Mandatory)</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828800"/>
            <a:ext cx="5760720" cy="3840480"/>
          </a:xfrm>
          <a:prstGeom prst="rect">
            <a:avLst/>
          </a:prstGeom>
          <a:noFill/>
        </p:spPr>
        <p:txBody>
          <a:bodyPr wrap="square" lIns="0" rIns="0">
            <a:spAutoFit/>
          </a:bodyPr>
          <a:lstStyle/>
          <a:p>
            <a:pPr>
              <a:spcBef>
                <a:spcPts val="0"/>
              </a:spcBef>
              <a:spcAft>
                <a:spcPts val="1400"/>
              </a:spcAft>
            </a:pPr>
            <a:r>
              <a:rPr sz="1600" b="1">
                <a:solidFill>
                  <a:srgbClr val="1F6FEB"/>
                </a:solidFill>
                <a:latin typeface="Arial"/>
              </a:rPr>
              <a:t>•  </a:t>
            </a:r>
            <a:r>
              <a:rPr sz="1600">
                <a:solidFill>
                  <a:srgbClr val="161B26"/>
                </a:solidFill>
                <a:latin typeface="Arial"/>
              </a:rPr>
              <a:t>It is mandatory to take the AM, PM and Assessment digital attendance for WSQ-funded courses.</a:t>
            </a:r>
          </a:p>
          <a:p>
            <a:pPr>
              <a:spcBef>
                <a:spcPts val="0"/>
              </a:spcBef>
              <a:spcAft>
                <a:spcPts val="1400"/>
              </a:spcAft>
            </a:pPr>
            <a:r>
              <a:rPr sz="1600" b="1">
                <a:solidFill>
                  <a:srgbClr val="1F6FEB"/>
                </a:solidFill>
                <a:latin typeface="Arial"/>
              </a:rPr>
              <a:t>•  </a:t>
            </a:r>
            <a:r>
              <a:rPr sz="1600">
                <a:solidFill>
                  <a:srgbClr val="161B26"/>
                </a:solidFill>
                <a:latin typeface="Arial"/>
              </a:rPr>
              <a:t>The trainer displays the digital attendance QR code from the SSG portal.</a:t>
            </a:r>
          </a:p>
          <a:p>
            <a:pPr>
              <a:spcBef>
                <a:spcPts val="0"/>
              </a:spcBef>
              <a:spcAft>
                <a:spcPts val="1400"/>
              </a:spcAft>
            </a:pPr>
            <a:r>
              <a:rPr sz="1600" b="1">
                <a:solidFill>
                  <a:srgbClr val="1F6FEB"/>
                </a:solidFill>
                <a:latin typeface="Arial"/>
              </a:rPr>
              <a:t>•  </a:t>
            </a:r>
            <a:r>
              <a:rPr sz="1600">
                <a:solidFill>
                  <a:srgbClr val="161B26"/>
                </a:solidFill>
                <a:latin typeface="Arial"/>
              </a:rPr>
              <a:t>Scan the QR code with your phone camera and submit your attendance.</a:t>
            </a:r>
          </a:p>
          <a:p>
            <a:pPr>
              <a:spcBef>
                <a:spcPts val="0"/>
              </a:spcBef>
              <a:spcAft>
                <a:spcPts val="1400"/>
              </a:spcAft>
            </a:pPr>
            <a:r>
              <a:rPr sz="1600" b="1">
                <a:solidFill>
                  <a:srgbClr val="1F6FEB"/>
                </a:solidFill>
                <a:latin typeface="Arial"/>
              </a:rPr>
              <a:t>•  </a:t>
            </a:r>
            <a:r>
              <a:rPr sz="1600">
                <a:solidFill>
                  <a:srgbClr val="161B26"/>
                </a:solidFill>
                <a:latin typeface="Arial"/>
              </a:rPr>
              <a:t>A minimum of 75% attendance is required for assessment and funding.</a:t>
            </a:r>
          </a:p>
        </p:txBody>
      </p:sp>
      <p:sp>
        <p:nvSpPr>
          <p:cNvPr id="8" name="Rounded Rectangle 7"/>
          <p:cNvSpPr/>
          <p:nvPr/>
        </p:nvSpPr>
        <p:spPr>
          <a:xfrm>
            <a:off x="6903720" y="1828800"/>
            <a:ext cx="4389120" cy="2743200"/>
          </a:xfrm>
          <a:prstGeom prst="roundRect">
            <a:avLst>
              <a:gd name="adj" fmla="val 5000"/>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595360" y="2148840"/>
            <a:ext cx="1005840" cy="10058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ic_attend.png"/>
          <p:cNvPicPr>
            <a:picLocks noChangeAspect="1"/>
          </p:cNvPicPr>
          <p:nvPr/>
        </p:nvPicPr>
        <p:blipFill>
          <a:blip r:embed="rId2"/>
          <a:stretch>
            <a:fillRect/>
          </a:stretch>
        </p:blipFill>
        <p:spPr>
          <a:xfrm>
            <a:off x="8866936" y="2420416"/>
            <a:ext cx="462688" cy="462688"/>
          </a:xfrm>
          <a:prstGeom prst="rect">
            <a:avLst/>
          </a:prstGeom>
        </p:spPr>
      </p:pic>
      <p:sp>
        <p:nvSpPr>
          <p:cNvPr id="11" name="TextBox 10"/>
          <p:cNvSpPr txBox="1"/>
          <p:nvPr/>
        </p:nvSpPr>
        <p:spPr>
          <a:xfrm>
            <a:off x="7178040" y="3337560"/>
            <a:ext cx="3840480" cy="1097280"/>
          </a:xfrm>
          <a:prstGeom prst="rect">
            <a:avLst/>
          </a:prstGeom>
          <a:noFill/>
        </p:spPr>
        <p:txBody>
          <a:bodyPr wrap="square" anchor="t" lIns="0" rIns="0" tIns="0" bIns="0">
            <a:spAutoFit/>
          </a:bodyPr>
          <a:lstStyle/>
          <a:p>
            <a:pPr algn="ctr">
              <a:spcBef>
                <a:spcPts val="0"/>
              </a:spcBef>
              <a:spcAft>
                <a:spcPts val="200"/>
              </a:spcAft>
            </a:pPr>
            <a:r>
              <a:rPr sz="2600" b="1">
                <a:solidFill>
                  <a:srgbClr val="1F6FEB"/>
                </a:solidFill>
                <a:latin typeface="Arial"/>
              </a:rPr>
              <a:t>Minimum 75%</a:t>
            </a:r>
          </a:p>
          <a:p>
            <a:pPr algn="ctr">
              <a:spcBef>
                <a:spcPts val="0"/>
              </a:spcBef>
              <a:spcAft>
                <a:spcPts val="200"/>
              </a:spcAft>
            </a:pPr>
            <a:r>
              <a:rPr sz="2600" b="1">
                <a:solidFill>
                  <a:srgbClr val="1F6FEB"/>
                </a:solidFill>
                <a:latin typeface="Arial"/>
              </a:rPr>
              <a:t>attendance required</a:t>
            </a:r>
          </a:p>
        </p:txBody>
      </p:sp>
      <p:sp>
        <p:nvSpPr>
          <p:cNvPr id="12" name="TextBox 11"/>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3" name="TextBox 12"/>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4" name="TextBox 13"/>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2</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YOUR TRAINER</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About the Trainer</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31520" y="1783080"/>
            <a:ext cx="3383280" cy="3657600"/>
          </a:xfrm>
          <a:prstGeom prst="roundRect">
            <a:avLst>
              <a:gd name="adj" fmla="val 5000"/>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851660" y="2194560"/>
            <a:ext cx="1143000" cy="114300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ic_grad.png"/>
          <p:cNvPicPr>
            <a:picLocks noChangeAspect="1"/>
          </p:cNvPicPr>
          <p:nvPr/>
        </p:nvPicPr>
        <p:blipFill>
          <a:blip r:embed="rId2"/>
          <a:stretch>
            <a:fillRect/>
          </a:stretch>
        </p:blipFill>
        <p:spPr>
          <a:xfrm>
            <a:off x="2160270" y="2503170"/>
            <a:ext cx="525780" cy="525780"/>
          </a:xfrm>
          <a:prstGeom prst="rect">
            <a:avLst/>
          </a:prstGeom>
        </p:spPr>
      </p:pic>
      <p:sp>
        <p:nvSpPr>
          <p:cNvPr id="10" name="TextBox 9"/>
          <p:cNvSpPr txBox="1"/>
          <p:nvPr/>
        </p:nvSpPr>
        <p:spPr>
          <a:xfrm>
            <a:off x="731520" y="3611880"/>
            <a:ext cx="3383280" cy="502920"/>
          </a:xfrm>
          <a:prstGeom prst="rect">
            <a:avLst/>
          </a:prstGeom>
          <a:noFill/>
        </p:spPr>
        <p:txBody>
          <a:bodyPr wrap="square" anchor="t" lIns="0" rIns="0" tIns="0" bIns="0">
            <a:spAutoFit/>
          </a:bodyPr>
          <a:lstStyle/>
          <a:p>
            <a:pPr algn="ctr">
              <a:spcBef>
                <a:spcPts val="0"/>
              </a:spcBef>
              <a:spcAft>
                <a:spcPts val="400"/>
              </a:spcAft>
            </a:pPr>
            <a:r>
              <a:rPr sz="2000" b="1">
                <a:solidFill>
                  <a:srgbClr val="FFFFFF"/>
                </a:solidFill>
                <a:latin typeface="Arial"/>
              </a:rPr>
              <a:t>Mohan Pothula</a:t>
            </a:r>
          </a:p>
        </p:txBody>
      </p:sp>
      <p:sp>
        <p:nvSpPr>
          <p:cNvPr id="11" name="TextBox 10"/>
          <p:cNvSpPr txBox="1"/>
          <p:nvPr/>
        </p:nvSpPr>
        <p:spPr>
          <a:xfrm>
            <a:off x="731520" y="4114800"/>
            <a:ext cx="3383280" cy="411480"/>
          </a:xfrm>
          <a:prstGeom prst="rect">
            <a:avLst/>
          </a:prstGeom>
          <a:noFill/>
        </p:spPr>
        <p:txBody>
          <a:bodyPr wrap="square" anchor="t" lIns="0" rIns="0" tIns="0" bIns="0">
            <a:spAutoFit/>
          </a:bodyPr>
          <a:lstStyle/>
          <a:p>
            <a:pPr algn="ctr">
              <a:spcBef>
                <a:spcPts val="0"/>
              </a:spcBef>
              <a:spcAft>
                <a:spcPts val="400"/>
              </a:spcAft>
            </a:pPr>
            <a:r>
              <a:rPr sz="1400" b="1">
                <a:solidFill>
                  <a:srgbClr val="1F6FEB"/>
                </a:solidFill>
                <a:latin typeface="Arial"/>
              </a:rPr>
              <a:t>Kubernetes &amp; Cloud-Native Trainer</a:t>
            </a:r>
          </a:p>
        </p:txBody>
      </p:sp>
      <p:sp>
        <p:nvSpPr>
          <p:cNvPr id="12" name="Oval 11"/>
          <p:cNvSpPr/>
          <p:nvPr/>
        </p:nvSpPr>
        <p:spPr>
          <a:xfrm>
            <a:off x="4434840" y="1828800"/>
            <a:ext cx="640080" cy="64008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ic_grad.png"/>
          <p:cNvPicPr>
            <a:picLocks noChangeAspect="1"/>
          </p:cNvPicPr>
          <p:nvPr/>
        </p:nvPicPr>
        <p:blipFill>
          <a:blip r:embed="rId2"/>
          <a:stretch>
            <a:fillRect/>
          </a:stretch>
        </p:blipFill>
        <p:spPr>
          <a:xfrm>
            <a:off x="4607661" y="2001621"/>
            <a:ext cx="294438" cy="294438"/>
          </a:xfrm>
          <a:prstGeom prst="rect">
            <a:avLst/>
          </a:prstGeom>
        </p:spPr>
      </p:pic>
      <p:sp>
        <p:nvSpPr>
          <p:cNvPr id="14" name="TextBox 13"/>
          <p:cNvSpPr txBox="1"/>
          <p:nvPr/>
        </p:nvSpPr>
        <p:spPr>
          <a:xfrm>
            <a:off x="5349240" y="1783080"/>
            <a:ext cx="6858000" cy="731520"/>
          </a:xfrm>
          <a:prstGeom prst="rect">
            <a:avLst/>
          </a:prstGeom>
          <a:noFill/>
        </p:spPr>
        <p:txBody>
          <a:bodyPr wrap="square" anchor="ctr" lIns="0" rIns="0" tIns="0" bIns="0">
            <a:spAutoFit/>
          </a:bodyPr>
          <a:lstStyle/>
          <a:p>
            <a:pPr algn="l">
              <a:spcBef>
                <a:spcPts val="0"/>
              </a:spcBef>
              <a:spcAft>
                <a:spcPts val="200"/>
              </a:spcAft>
            </a:pPr>
            <a:r>
              <a:rPr sz="1500" b="1">
                <a:solidFill>
                  <a:srgbClr val="161B26"/>
                </a:solidFill>
                <a:latin typeface="Arial"/>
              </a:rPr>
              <a:t>Role</a:t>
            </a:r>
          </a:p>
          <a:p>
            <a:pPr algn="l">
              <a:spcBef>
                <a:spcPts val="0"/>
              </a:spcBef>
              <a:spcAft>
                <a:spcPts val="200"/>
              </a:spcAft>
            </a:pPr>
            <a:r>
              <a:rPr sz="1300" b="0">
                <a:solidFill>
                  <a:srgbClr val="5B6372"/>
                </a:solidFill>
                <a:latin typeface="Arial"/>
              </a:rPr>
              <a:t>Principal Kubernetes &amp; DevOps trainer at Tertiary Infotech Academy.</a:t>
            </a:r>
          </a:p>
        </p:txBody>
      </p:sp>
      <p:sp>
        <p:nvSpPr>
          <p:cNvPr id="15" name="Oval 14"/>
          <p:cNvSpPr/>
          <p:nvPr/>
        </p:nvSpPr>
        <p:spPr>
          <a:xfrm>
            <a:off x="4434840" y="2743200"/>
            <a:ext cx="640080" cy="64008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ic_laptop.png"/>
          <p:cNvPicPr>
            <a:picLocks noChangeAspect="1"/>
          </p:cNvPicPr>
          <p:nvPr/>
        </p:nvPicPr>
        <p:blipFill>
          <a:blip r:embed="rId3"/>
          <a:stretch>
            <a:fillRect/>
          </a:stretch>
        </p:blipFill>
        <p:spPr>
          <a:xfrm>
            <a:off x="4607661" y="2916021"/>
            <a:ext cx="294438" cy="294438"/>
          </a:xfrm>
          <a:prstGeom prst="rect">
            <a:avLst/>
          </a:prstGeom>
        </p:spPr>
      </p:pic>
      <p:sp>
        <p:nvSpPr>
          <p:cNvPr id="17" name="TextBox 16"/>
          <p:cNvSpPr txBox="1"/>
          <p:nvPr/>
        </p:nvSpPr>
        <p:spPr>
          <a:xfrm>
            <a:off x="5349240" y="2697480"/>
            <a:ext cx="6858000" cy="731520"/>
          </a:xfrm>
          <a:prstGeom prst="rect">
            <a:avLst/>
          </a:prstGeom>
          <a:noFill/>
        </p:spPr>
        <p:txBody>
          <a:bodyPr wrap="square" anchor="ctr" lIns="0" rIns="0" tIns="0" bIns="0">
            <a:spAutoFit/>
          </a:bodyPr>
          <a:lstStyle/>
          <a:p>
            <a:pPr algn="l">
              <a:spcBef>
                <a:spcPts val="0"/>
              </a:spcBef>
              <a:spcAft>
                <a:spcPts val="200"/>
              </a:spcAft>
            </a:pPr>
            <a:r>
              <a:rPr sz="1500" b="1">
                <a:solidFill>
                  <a:srgbClr val="161B26"/>
                </a:solidFill>
                <a:latin typeface="Arial"/>
              </a:rPr>
              <a:t>Qualifications</a:t>
            </a:r>
          </a:p>
          <a:p>
            <a:pPr algn="l">
              <a:spcBef>
                <a:spcPts val="0"/>
              </a:spcBef>
              <a:spcAft>
                <a:spcPts val="200"/>
              </a:spcAft>
            </a:pPr>
            <a:r>
              <a:rPr sz="1300" b="0">
                <a:solidFill>
                  <a:srgbClr val="5B6372"/>
                </a:solidFill>
                <a:latin typeface="Arial"/>
              </a:rPr>
              <a:t>Certified Kubernetes Administrator (CKA) · CKAD · CKS · Docker Certified Associate · AWS Solutions Architect.</a:t>
            </a:r>
          </a:p>
        </p:txBody>
      </p:sp>
      <p:sp>
        <p:nvSpPr>
          <p:cNvPr id="18" name="Oval 17"/>
          <p:cNvSpPr/>
          <p:nvPr/>
        </p:nvSpPr>
        <p:spPr>
          <a:xfrm>
            <a:off x="4434840" y="3657600"/>
            <a:ext cx="640080" cy="64008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ic_person.png"/>
          <p:cNvPicPr>
            <a:picLocks noChangeAspect="1"/>
          </p:cNvPicPr>
          <p:nvPr/>
        </p:nvPicPr>
        <p:blipFill>
          <a:blip r:embed="rId4"/>
          <a:stretch>
            <a:fillRect/>
          </a:stretch>
        </p:blipFill>
        <p:spPr>
          <a:xfrm>
            <a:off x="4607661" y="3830421"/>
            <a:ext cx="294438" cy="294438"/>
          </a:xfrm>
          <a:prstGeom prst="rect">
            <a:avLst/>
          </a:prstGeom>
        </p:spPr>
      </p:pic>
      <p:sp>
        <p:nvSpPr>
          <p:cNvPr id="20" name="TextBox 19"/>
          <p:cNvSpPr txBox="1"/>
          <p:nvPr/>
        </p:nvSpPr>
        <p:spPr>
          <a:xfrm>
            <a:off x="5349240" y="3611880"/>
            <a:ext cx="6858000" cy="731520"/>
          </a:xfrm>
          <a:prstGeom prst="rect">
            <a:avLst/>
          </a:prstGeom>
          <a:noFill/>
        </p:spPr>
        <p:txBody>
          <a:bodyPr wrap="square" anchor="ctr" lIns="0" rIns="0" tIns="0" bIns="0">
            <a:spAutoFit/>
          </a:bodyPr>
          <a:lstStyle/>
          <a:p>
            <a:pPr algn="l">
              <a:spcBef>
                <a:spcPts val="0"/>
              </a:spcBef>
              <a:spcAft>
                <a:spcPts val="200"/>
              </a:spcAft>
            </a:pPr>
            <a:r>
              <a:rPr sz="1500" b="1">
                <a:solidFill>
                  <a:srgbClr val="161B26"/>
                </a:solidFill>
                <a:latin typeface="Arial"/>
              </a:rPr>
              <a:t>Expertise</a:t>
            </a:r>
          </a:p>
          <a:p>
            <a:pPr algn="l">
              <a:spcBef>
                <a:spcPts val="0"/>
              </a:spcBef>
              <a:spcAft>
                <a:spcPts val="200"/>
              </a:spcAft>
            </a:pPr>
            <a:r>
              <a:rPr sz="1300" b="0">
                <a:solidFill>
                  <a:srgbClr val="5B6372"/>
                </a:solidFill>
                <a:latin typeface="Arial"/>
              </a:rPr>
              <a:t>Kubernetes cluster administration · Docker · CI/CD · kubeadm · etcd · Helm.</a:t>
            </a:r>
          </a:p>
        </p:txBody>
      </p:sp>
      <p:sp>
        <p:nvSpPr>
          <p:cNvPr id="21" name="Oval 20"/>
          <p:cNvSpPr/>
          <p:nvPr/>
        </p:nvSpPr>
        <p:spPr>
          <a:xfrm>
            <a:off x="4434840" y="4572000"/>
            <a:ext cx="640080" cy="64008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icture 21" descr="ic_brief.png"/>
          <p:cNvPicPr>
            <a:picLocks noChangeAspect="1"/>
          </p:cNvPicPr>
          <p:nvPr/>
        </p:nvPicPr>
        <p:blipFill>
          <a:blip r:embed="rId5"/>
          <a:stretch>
            <a:fillRect/>
          </a:stretch>
        </p:blipFill>
        <p:spPr>
          <a:xfrm>
            <a:off x="4607661" y="4744821"/>
            <a:ext cx="294438" cy="294438"/>
          </a:xfrm>
          <a:prstGeom prst="rect">
            <a:avLst/>
          </a:prstGeom>
        </p:spPr>
      </p:pic>
      <p:sp>
        <p:nvSpPr>
          <p:cNvPr id="23" name="TextBox 22"/>
          <p:cNvSpPr txBox="1"/>
          <p:nvPr/>
        </p:nvSpPr>
        <p:spPr>
          <a:xfrm>
            <a:off x="5349240" y="4526280"/>
            <a:ext cx="6858000" cy="731520"/>
          </a:xfrm>
          <a:prstGeom prst="rect">
            <a:avLst/>
          </a:prstGeom>
          <a:noFill/>
        </p:spPr>
        <p:txBody>
          <a:bodyPr wrap="square" anchor="ctr" lIns="0" rIns="0" tIns="0" bIns="0">
            <a:spAutoFit/>
          </a:bodyPr>
          <a:lstStyle/>
          <a:p>
            <a:pPr algn="l">
              <a:spcBef>
                <a:spcPts val="0"/>
              </a:spcBef>
              <a:spcAft>
                <a:spcPts val="200"/>
              </a:spcAft>
            </a:pPr>
            <a:r>
              <a:rPr sz="1500" b="1">
                <a:solidFill>
                  <a:srgbClr val="161B26"/>
                </a:solidFill>
                <a:latin typeface="Arial"/>
              </a:rPr>
              <a:t>Experience</a:t>
            </a:r>
          </a:p>
          <a:p>
            <a:pPr algn="l">
              <a:spcBef>
                <a:spcPts val="0"/>
              </a:spcBef>
              <a:spcAft>
                <a:spcPts val="200"/>
              </a:spcAft>
            </a:pPr>
            <a:r>
              <a:rPr sz="1300" b="0">
                <a:solidFill>
                  <a:srgbClr val="5B6372"/>
                </a:solidFill>
                <a:latin typeface="Arial"/>
              </a:rPr>
              <a:t>20+ years across DBS Bank, SingTel, Mediacorp and SPH Media.</a:t>
            </a:r>
          </a:p>
        </p:txBody>
      </p:sp>
      <p:sp>
        <p:nvSpPr>
          <p:cNvPr id="24" name="TextBox 23"/>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25" name="TextBox 24"/>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26" name="TextBox 25"/>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3</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YOUR TRAINER</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About the Trainer</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31520" y="1783080"/>
            <a:ext cx="3383280" cy="3657600"/>
          </a:xfrm>
          <a:prstGeom prst="roundRect">
            <a:avLst>
              <a:gd name="adj" fmla="val 5000"/>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851660" y="2194560"/>
            <a:ext cx="1143000" cy="114300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ic_grad.png"/>
          <p:cNvPicPr>
            <a:picLocks noChangeAspect="1"/>
          </p:cNvPicPr>
          <p:nvPr/>
        </p:nvPicPr>
        <p:blipFill>
          <a:blip r:embed="rId2"/>
          <a:stretch>
            <a:fillRect/>
          </a:stretch>
        </p:blipFill>
        <p:spPr>
          <a:xfrm>
            <a:off x="2160270" y="2503170"/>
            <a:ext cx="525780" cy="525780"/>
          </a:xfrm>
          <a:prstGeom prst="rect">
            <a:avLst/>
          </a:prstGeom>
        </p:spPr>
      </p:pic>
      <p:sp>
        <p:nvSpPr>
          <p:cNvPr id="10" name="TextBox 9"/>
          <p:cNvSpPr txBox="1"/>
          <p:nvPr/>
        </p:nvSpPr>
        <p:spPr>
          <a:xfrm>
            <a:off x="731520" y="3611880"/>
            <a:ext cx="3383280" cy="502920"/>
          </a:xfrm>
          <a:prstGeom prst="rect">
            <a:avLst/>
          </a:prstGeom>
          <a:noFill/>
        </p:spPr>
        <p:txBody>
          <a:bodyPr wrap="square" anchor="t" lIns="0" rIns="0" tIns="0" bIns="0">
            <a:spAutoFit/>
          </a:bodyPr>
          <a:lstStyle/>
          <a:p>
            <a:pPr algn="ctr">
              <a:spcBef>
                <a:spcPts val="0"/>
              </a:spcBef>
              <a:spcAft>
                <a:spcPts val="400"/>
              </a:spcAft>
            </a:pPr>
            <a:r>
              <a:rPr sz="2000" b="1">
                <a:solidFill>
                  <a:srgbClr val="FFFFFF"/>
                </a:solidFill>
                <a:latin typeface="Arial"/>
              </a:rPr>
              <a:t>[ Trainer Name ]</a:t>
            </a:r>
          </a:p>
        </p:txBody>
      </p:sp>
      <p:sp>
        <p:nvSpPr>
          <p:cNvPr id="11" name="TextBox 10"/>
          <p:cNvSpPr txBox="1"/>
          <p:nvPr/>
        </p:nvSpPr>
        <p:spPr>
          <a:xfrm>
            <a:off x="731520" y="4114800"/>
            <a:ext cx="3383280" cy="411480"/>
          </a:xfrm>
          <a:prstGeom prst="rect">
            <a:avLst/>
          </a:prstGeom>
          <a:noFill/>
        </p:spPr>
        <p:txBody>
          <a:bodyPr wrap="square" anchor="t" lIns="0" rIns="0" tIns="0" bIns="0">
            <a:spAutoFit/>
          </a:bodyPr>
          <a:lstStyle/>
          <a:p>
            <a:pPr algn="ctr">
              <a:spcBef>
                <a:spcPts val="0"/>
              </a:spcBef>
              <a:spcAft>
                <a:spcPts val="400"/>
              </a:spcAft>
            </a:pPr>
            <a:r>
              <a:rPr sz="1400" b="1">
                <a:solidFill>
                  <a:srgbClr val="1F6FEB"/>
                </a:solidFill>
                <a:latin typeface="Arial"/>
              </a:rPr>
              <a:t>[ Title / Role ]</a:t>
            </a:r>
          </a:p>
        </p:txBody>
      </p:sp>
      <p:sp>
        <p:nvSpPr>
          <p:cNvPr id="12" name="Oval 11"/>
          <p:cNvSpPr/>
          <p:nvPr/>
        </p:nvSpPr>
        <p:spPr>
          <a:xfrm>
            <a:off x="4434840" y="1828800"/>
            <a:ext cx="640080" cy="64008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ic_laptop.png"/>
          <p:cNvPicPr>
            <a:picLocks noChangeAspect="1"/>
          </p:cNvPicPr>
          <p:nvPr/>
        </p:nvPicPr>
        <p:blipFill>
          <a:blip r:embed="rId3"/>
          <a:stretch>
            <a:fillRect/>
          </a:stretch>
        </p:blipFill>
        <p:spPr>
          <a:xfrm>
            <a:off x="4607661" y="2001621"/>
            <a:ext cx="294438" cy="294438"/>
          </a:xfrm>
          <a:prstGeom prst="rect">
            <a:avLst/>
          </a:prstGeom>
        </p:spPr>
      </p:pic>
      <p:sp>
        <p:nvSpPr>
          <p:cNvPr id="14" name="TextBox 13"/>
          <p:cNvSpPr txBox="1"/>
          <p:nvPr/>
        </p:nvSpPr>
        <p:spPr>
          <a:xfrm>
            <a:off x="5349240" y="1828800"/>
            <a:ext cx="2103120" cy="640080"/>
          </a:xfrm>
          <a:prstGeom prst="rect">
            <a:avLst/>
          </a:prstGeom>
          <a:noFill/>
        </p:spPr>
        <p:txBody>
          <a:bodyPr wrap="square" anchor="ctr" lIns="0" rIns="0" tIns="0" bIns="0">
            <a:spAutoFit/>
          </a:bodyPr>
          <a:lstStyle/>
          <a:p>
            <a:pPr algn="l">
              <a:spcBef>
                <a:spcPts val="0"/>
              </a:spcBef>
              <a:spcAft>
                <a:spcPts val="400"/>
              </a:spcAft>
            </a:pPr>
            <a:r>
              <a:rPr sz="1500" b="1">
                <a:solidFill>
                  <a:srgbClr val="161B26"/>
                </a:solidFill>
                <a:latin typeface="Arial"/>
              </a:rPr>
              <a:t>Qualifications:</a:t>
            </a:r>
          </a:p>
        </p:txBody>
      </p:sp>
      <p:sp>
        <p:nvSpPr>
          <p:cNvPr id="15" name="Rectangle 14"/>
          <p:cNvSpPr/>
          <p:nvPr/>
        </p:nvSpPr>
        <p:spPr>
          <a:xfrm>
            <a:off x="7360920" y="2136140"/>
            <a:ext cx="3931920" cy="1905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4434840" y="2743200"/>
            <a:ext cx="640080" cy="64008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ic_person.png"/>
          <p:cNvPicPr>
            <a:picLocks noChangeAspect="1"/>
          </p:cNvPicPr>
          <p:nvPr/>
        </p:nvPicPr>
        <p:blipFill>
          <a:blip r:embed="rId4"/>
          <a:stretch>
            <a:fillRect/>
          </a:stretch>
        </p:blipFill>
        <p:spPr>
          <a:xfrm>
            <a:off x="4607661" y="2916021"/>
            <a:ext cx="294438" cy="294438"/>
          </a:xfrm>
          <a:prstGeom prst="rect">
            <a:avLst/>
          </a:prstGeom>
        </p:spPr>
      </p:pic>
      <p:sp>
        <p:nvSpPr>
          <p:cNvPr id="18" name="TextBox 17"/>
          <p:cNvSpPr txBox="1"/>
          <p:nvPr/>
        </p:nvSpPr>
        <p:spPr>
          <a:xfrm>
            <a:off x="5349240" y="2743200"/>
            <a:ext cx="2103120" cy="640080"/>
          </a:xfrm>
          <a:prstGeom prst="rect">
            <a:avLst/>
          </a:prstGeom>
          <a:noFill/>
        </p:spPr>
        <p:txBody>
          <a:bodyPr wrap="square" anchor="ctr" lIns="0" rIns="0" tIns="0" bIns="0">
            <a:spAutoFit/>
          </a:bodyPr>
          <a:lstStyle/>
          <a:p>
            <a:pPr algn="l">
              <a:spcBef>
                <a:spcPts val="0"/>
              </a:spcBef>
              <a:spcAft>
                <a:spcPts val="400"/>
              </a:spcAft>
            </a:pPr>
            <a:r>
              <a:rPr sz="1500" b="1">
                <a:solidFill>
                  <a:srgbClr val="161B26"/>
                </a:solidFill>
                <a:latin typeface="Arial"/>
              </a:rPr>
              <a:t>Expertise:</a:t>
            </a:r>
          </a:p>
        </p:txBody>
      </p:sp>
      <p:sp>
        <p:nvSpPr>
          <p:cNvPr id="19" name="Rectangle 18"/>
          <p:cNvSpPr/>
          <p:nvPr/>
        </p:nvSpPr>
        <p:spPr>
          <a:xfrm>
            <a:off x="7360920" y="3050540"/>
            <a:ext cx="3931920" cy="1905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4434840" y="3657600"/>
            <a:ext cx="640080" cy="64008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ic_brief.png"/>
          <p:cNvPicPr>
            <a:picLocks noChangeAspect="1"/>
          </p:cNvPicPr>
          <p:nvPr/>
        </p:nvPicPr>
        <p:blipFill>
          <a:blip r:embed="rId5"/>
          <a:stretch>
            <a:fillRect/>
          </a:stretch>
        </p:blipFill>
        <p:spPr>
          <a:xfrm>
            <a:off x="4607661" y="3830421"/>
            <a:ext cx="294438" cy="294438"/>
          </a:xfrm>
          <a:prstGeom prst="rect">
            <a:avLst/>
          </a:prstGeom>
        </p:spPr>
      </p:pic>
      <p:sp>
        <p:nvSpPr>
          <p:cNvPr id="22" name="TextBox 21"/>
          <p:cNvSpPr txBox="1"/>
          <p:nvPr/>
        </p:nvSpPr>
        <p:spPr>
          <a:xfrm>
            <a:off x="5349240" y="3657600"/>
            <a:ext cx="2103120" cy="640080"/>
          </a:xfrm>
          <a:prstGeom prst="rect">
            <a:avLst/>
          </a:prstGeom>
          <a:noFill/>
        </p:spPr>
        <p:txBody>
          <a:bodyPr wrap="square" anchor="ctr" lIns="0" rIns="0" tIns="0" bIns="0">
            <a:spAutoFit/>
          </a:bodyPr>
          <a:lstStyle/>
          <a:p>
            <a:pPr algn="l">
              <a:spcBef>
                <a:spcPts val="0"/>
              </a:spcBef>
              <a:spcAft>
                <a:spcPts val="400"/>
              </a:spcAft>
            </a:pPr>
            <a:r>
              <a:rPr sz="1500" b="1">
                <a:solidFill>
                  <a:srgbClr val="161B26"/>
                </a:solidFill>
                <a:latin typeface="Arial"/>
              </a:rPr>
              <a:t>Experience:</a:t>
            </a:r>
          </a:p>
        </p:txBody>
      </p:sp>
      <p:sp>
        <p:nvSpPr>
          <p:cNvPr id="23" name="Rectangle 22"/>
          <p:cNvSpPr/>
          <p:nvPr/>
        </p:nvSpPr>
        <p:spPr>
          <a:xfrm>
            <a:off x="7360920" y="3964940"/>
            <a:ext cx="3931920" cy="1905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4434840" y="4572000"/>
            <a:ext cx="640080" cy="64008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5" name="Picture 24" descr="ic_link.png"/>
          <p:cNvPicPr>
            <a:picLocks noChangeAspect="1"/>
          </p:cNvPicPr>
          <p:nvPr/>
        </p:nvPicPr>
        <p:blipFill>
          <a:blip r:embed="rId6"/>
          <a:stretch>
            <a:fillRect/>
          </a:stretch>
        </p:blipFill>
        <p:spPr>
          <a:xfrm>
            <a:off x="4607661" y="4744821"/>
            <a:ext cx="294438" cy="294438"/>
          </a:xfrm>
          <a:prstGeom prst="rect">
            <a:avLst/>
          </a:prstGeom>
        </p:spPr>
      </p:pic>
      <p:sp>
        <p:nvSpPr>
          <p:cNvPr id="26" name="TextBox 25"/>
          <p:cNvSpPr txBox="1"/>
          <p:nvPr/>
        </p:nvSpPr>
        <p:spPr>
          <a:xfrm>
            <a:off x="5349240" y="4572000"/>
            <a:ext cx="2103120" cy="640080"/>
          </a:xfrm>
          <a:prstGeom prst="rect">
            <a:avLst/>
          </a:prstGeom>
          <a:noFill/>
        </p:spPr>
        <p:txBody>
          <a:bodyPr wrap="square" anchor="ctr" lIns="0" rIns="0" tIns="0" bIns="0">
            <a:spAutoFit/>
          </a:bodyPr>
          <a:lstStyle/>
          <a:p>
            <a:pPr algn="l">
              <a:spcBef>
                <a:spcPts val="0"/>
              </a:spcBef>
              <a:spcAft>
                <a:spcPts val="400"/>
              </a:spcAft>
            </a:pPr>
            <a:r>
              <a:rPr sz="1500" b="1">
                <a:solidFill>
                  <a:srgbClr val="161B26"/>
                </a:solidFill>
                <a:latin typeface="Arial"/>
              </a:rPr>
              <a:t>Contact / Profile:</a:t>
            </a:r>
          </a:p>
        </p:txBody>
      </p:sp>
      <p:sp>
        <p:nvSpPr>
          <p:cNvPr id="27" name="Rectangle 26"/>
          <p:cNvSpPr/>
          <p:nvPr/>
        </p:nvSpPr>
        <p:spPr>
          <a:xfrm>
            <a:off x="7360920" y="4879340"/>
            <a:ext cx="3931920" cy="1905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29" name="TextBox 28"/>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30" name="TextBox 29"/>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4</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ICE-BREAKER</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Let's Know Each Other</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481328"/>
            <a:ext cx="10607040" cy="310896"/>
          </a:xfrm>
          <a:prstGeom prst="rect">
            <a:avLst/>
          </a:prstGeom>
          <a:noFill/>
        </p:spPr>
        <p:txBody>
          <a:bodyPr wrap="square" anchor="t" lIns="0" rIns="0" tIns="0" bIns="0">
            <a:spAutoFit/>
          </a:bodyPr>
          <a:lstStyle/>
          <a:p>
            <a:pPr algn="l">
              <a:spcBef>
                <a:spcPts val="0"/>
              </a:spcBef>
              <a:spcAft>
                <a:spcPts val="400"/>
              </a:spcAft>
            </a:pPr>
            <a:r>
              <a:rPr sz="1500" b="0">
                <a:solidFill>
                  <a:srgbClr val="5B6372"/>
                </a:solidFill>
                <a:latin typeface="Arial"/>
              </a:rPr>
              <a:t>Take a minute to introduce yourself to the class:</a:t>
            </a:r>
          </a:p>
        </p:txBody>
      </p:sp>
      <p:sp>
        <p:nvSpPr>
          <p:cNvPr id="8" name="Rounded Rectangle 7"/>
          <p:cNvSpPr/>
          <p:nvPr/>
        </p:nvSpPr>
        <p:spPr>
          <a:xfrm>
            <a:off x="777240" y="1920240"/>
            <a:ext cx="3368040" cy="2240280"/>
          </a:xfrm>
          <a:prstGeom prst="roundRect">
            <a:avLst>
              <a:gd name="adj" fmla="val 5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2040636" y="2212848"/>
            <a:ext cx="841248" cy="84124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ic_person2.png"/>
          <p:cNvPicPr>
            <a:picLocks noChangeAspect="1"/>
          </p:cNvPicPr>
          <p:nvPr/>
        </p:nvPicPr>
        <p:blipFill>
          <a:blip r:embed="rId2"/>
          <a:stretch>
            <a:fillRect/>
          </a:stretch>
        </p:blipFill>
        <p:spPr>
          <a:xfrm>
            <a:off x="2267772" y="2439984"/>
            <a:ext cx="386976" cy="386976"/>
          </a:xfrm>
          <a:prstGeom prst="rect">
            <a:avLst/>
          </a:prstGeom>
        </p:spPr>
      </p:pic>
      <p:sp>
        <p:nvSpPr>
          <p:cNvPr id="11" name="TextBox 10"/>
          <p:cNvSpPr txBox="1"/>
          <p:nvPr/>
        </p:nvSpPr>
        <p:spPr>
          <a:xfrm>
            <a:off x="960120" y="3246120"/>
            <a:ext cx="3002280" cy="457200"/>
          </a:xfrm>
          <a:prstGeom prst="rect">
            <a:avLst/>
          </a:prstGeom>
          <a:noFill/>
        </p:spPr>
        <p:txBody>
          <a:bodyPr wrap="square" anchor="t" lIns="0" rIns="0" tIns="0" bIns="0">
            <a:spAutoFit/>
          </a:bodyPr>
          <a:lstStyle/>
          <a:p>
            <a:pPr algn="ctr">
              <a:spcBef>
                <a:spcPts val="0"/>
              </a:spcBef>
              <a:spcAft>
                <a:spcPts val="400"/>
              </a:spcAft>
            </a:pPr>
            <a:r>
              <a:rPr sz="1700" b="1">
                <a:solidFill>
                  <a:srgbClr val="161B26"/>
                </a:solidFill>
                <a:latin typeface="Arial"/>
              </a:rPr>
              <a:t>Your role</a:t>
            </a:r>
          </a:p>
        </p:txBody>
      </p:sp>
      <p:sp>
        <p:nvSpPr>
          <p:cNvPr id="12" name="TextBox 11"/>
          <p:cNvSpPr txBox="1"/>
          <p:nvPr/>
        </p:nvSpPr>
        <p:spPr>
          <a:xfrm>
            <a:off x="1033272" y="3657600"/>
            <a:ext cx="2855976" cy="457200"/>
          </a:xfrm>
          <a:prstGeom prst="rect">
            <a:avLst/>
          </a:prstGeom>
          <a:noFill/>
        </p:spPr>
        <p:txBody>
          <a:bodyPr wrap="square" anchor="t" lIns="0" rIns="0" tIns="0" bIns="0">
            <a:spAutoFit/>
          </a:bodyPr>
          <a:lstStyle/>
          <a:p>
            <a:pPr algn="ctr">
              <a:spcBef>
                <a:spcPts val="0"/>
              </a:spcBef>
              <a:spcAft>
                <a:spcPts val="400"/>
              </a:spcAft>
            </a:pPr>
            <a:r>
              <a:rPr sz="1300" b="0">
                <a:solidFill>
                  <a:srgbClr val="5B6372"/>
                </a:solidFill>
                <a:latin typeface="Arial"/>
              </a:rPr>
              <a:t>Your name and organisation / role.</a:t>
            </a:r>
          </a:p>
        </p:txBody>
      </p:sp>
      <p:sp>
        <p:nvSpPr>
          <p:cNvPr id="13" name="Rounded Rectangle 12"/>
          <p:cNvSpPr/>
          <p:nvPr/>
        </p:nvSpPr>
        <p:spPr>
          <a:xfrm>
            <a:off x="4419600" y="1920240"/>
            <a:ext cx="3368040" cy="2240280"/>
          </a:xfrm>
          <a:prstGeom prst="roundRect">
            <a:avLst>
              <a:gd name="adj" fmla="val 5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5682996" y="2212848"/>
            <a:ext cx="841248" cy="84124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Picture 14" descr="ic_code.png"/>
          <p:cNvPicPr>
            <a:picLocks noChangeAspect="1"/>
          </p:cNvPicPr>
          <p:nvPr/>
        </p:nvPicPr>
        <p:blipFill>
          <a:blip r:embed="rId3"/>
          <a:stretch>
            <a:fillRect/>
          </a:stretch>
        </p:blipFill>
        <p:spPr>
          <a:xfrm>
            <a:off x="5910132" y="2439984"/>
            <a:ext cx="386976" cy="386976"/>
          </a:xfrm>
          <a:prstGeom prst="rect">
            <a:avLst/>
          </a:prstGeom>
        </p:spPr>
      </p:pic>
      <p:sp>
        <p:nvSpPr>
          <p:cNvPr id="16" name="TextBox 15"/>
          <p:cNvSpPr txBox="1"/>
          <p:nvPr/>
        </p:nvSpPr>
        <p:spPr>
          <a:xfrm>
            <a:off x="4602480" y="3246120"/>
            <a:ext cx="3002280" cy="457200"/>
          </a:xfrm>
          <a:prstGeom prst="rect">
            <a:avLst/>
          </a:prstGeom>
          <a:noFill/>
        </p:spPr>
        <p:txBody>
          <a:bodyPr wrap="square" anchor="t" lIns="0" rIns="0" tIns="0" bIns="0">
            <a:spAutoFit/>
          </a:bodyPr>
          <a:lstStyle/>
          <a:p>
            <a:pPr algn="ctr">
              <a:spcBef>
                <a:spcPts val="0"/>
              </a:spcBef>
              <a:spcAft>
                <a:spcPts val="400"/>
              </a:spcAft>
            </a:pPr>
            <a:r>
              <a:rPr sz="1700" b="1">
                <a:solidFill>
                  <a:srgbClr val="161B26"/>
                </a:solidFill>
                <a:latin typeface="Arial"/>
              </a:rPr>
              <a:t>Your experience</a:t>
            </a:r>
          </a:p>
        </p:txBody>
      </p:sp>
      <p:sp>
        <p:nvSpPr>
          <p:cNvPr id="17" name="TextBox 16"/>
          <p:cNvSpPr txBox="1"/>
          <p:nvPr/>
        </p:nvSpPr>
        <p:spPr>
          <a:xfrm>
            <a:off x="4675632" y="3657600"/>
            <a:ext cx="2855976" cy="457200"/>
          </a:xfrm>
          <a:prstGeom prst="rect">
            <a:avLst/>
          </a:prstGeom>
          <a:noFill/>
        </p:spPr>
        <p:txBody>
          <a:bodyPr wrap="square" anchor="t" lIns="0" rIns="0" tIns="0" bIns="0">
            <a:spAutoFit/>
          </a:bodyPr>
          <a:lstStyle/>
          <a:p>
            <a:pPr algn="ctr">
              <a:spcBef>
                <a:spcPts val="0"/>
              </a:spcBef>
              <a:spcAft>
                <a:spcPts val="400"/>
              </a:spcAft>
            </a:pPr>
            <a:r>
              <a:rPr sz="1300" b="0">
                <a:solidFill>
                  <a:srgbClr val="5B6372"/>
                </a:solidFill>
                <a:latin typeface="Arial"/>
              </a:rPr>
              <a:t>Any experience with Docker, Kubernetes or Linux administration.</a:t>
            </a:r>
          </a:p>
        </p:txBody>
      </p:sp>
      <p:sp>
        <p:nvSpPr>
          <p:cNvPr id="18" name="Rounded Rectangle 17"/>
          <p:cNvSpPr/>
          <p:nvPr/>
        </p:nvSpPr>
        <p:spPr>
          <a:xfrm>
            <a:off x="8061960" y="1920240"/>
            <a:ext cx="3368040" cy="2240280"/>
          </a:xfrm>
          <a:prstGeom prst="roundRect">
            <a:avLst>
              <a:gd name="adj" fmla="val 5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325356" y="2212848"/>
            <a:ext cx="841248" cy="84124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ic_target.png"/>
          <p:cNvPicPr>
            <a:picLocks noChangeAspect="1"/>
          </p:cNvPicPr>
          <p:nvPr/>
        </p:nvPicPr>
        <p:blipFill>
          <a:blip r:embed="rId4"/>
          <a:stretch>
            <a:fillRect/>
          </a:stretch>
        </p:blipFill>
        <p:spPr>
          <a:xfrm>
            <a:off x="9552492" y="2439984"/>
            <a:ext cx="386976" cy="386976"/>
          </a:xfrm>
          <a:prstGeom prst="rect">
            <a:avLst/>
          </a:prstGeom>
        </p:spPr>
      </p:pic>
      <p:sp>
        <p:nvSpPr>
          <p:cNvPr id="21" name="TextBox 20"/>
          <p:cNvSpPr txBox="1"/>
          <p:nvPr/>
        </p:nvSpPr>
        <p:spPr>
          <a:xfrm>
            <a:off x="8244840" y="3246120"/>
            <a:ext cx="3002280" cy="457200"/>
          </a:xfrm>
          <a:prstGeom prst="rect">
            <a:avLst/>
          </a:prstGeom>
          <a:noFill/>
        </p:spPr>
        <p:txBody>
          <a:bodyPr wrap="square" anchor="t" lIns="0" rIns="0" tIns="0" bIns="0">
            <a:spAutoFit/>
          </a:bodyPr>
          <a:lstStyle/>
          <a:p>
            <a:pPr algn="ctr">
              <a:spcBef>
                <a:spcPts val="0"/>
              </a:spcBef>
              <a:spcAft>
                <a:spcPts val="400"/>
              </a:spcAft>
            </a:pPr>
            <a:r>
              <a:rPr sz="1700" b="1">
                <a:solidFill>
                  <a:srgbClr val="161B26"/>
                </a:solidFill>
                <a:latin typeface="Arial"/>
              </a:rPr>
              <a:t>Your goal</a:t>
            </a:r>
          </a:p>
        </p:txBody>
      </p:sp>
      <p:sp>
        <p:nvSpPr>
          <p:cNvPr id="22" name="TextBox 21"/>
          <p:cNvSpPr txBox="1"/>
          <p:nvPr/>
        </p:nvSpPr>
        <p:spPr>
          <a:xfrm>
            <a:off x="8317992" y="3657600"/>
            <a:ext cx="2855976" cy="457200"/>
          </a:xfrm>
          <a:prstGeom prst="rect">
            <a:avLst/>
          </a:prstGeom>
          <a:noFill/>
        </p:spPr>
        <p:txBody>
          <a:bodyPr wrap="square" anchor="t" lIns="0" rIns="0" tIns="0" bIns="0">
            <a:spAutoFit/>
          </a:bodyPr>
          <a:lstStyle/>
          <a:p>
            <a:pPr algn="ctr">
              <a:spcBef>
                <a:spcPts val="0"/>
              </a:spcBef>
              <a:spcAft>
                <a:spcPts val="400"/>
              </a:spcAft>
            </a:pPr>
            <a:r>
              <a:rPr sz="1300" b="0">
                <a:solidFill>
                  <a:srgbClr val="5B6372"/>
                </a:solidFill>
                <a:latin typeface="Arial"/>
              </a:rPr>
              <a:t>Whether you are targeting the CKA exam or production cluster skills.</a:t>
            </a:r>
          </a:p>
        </p:txBody>
      </p:sp>
      <p:sp>
        <p:nvSpPr>
          <p:cNvPr id="23" name="TextBox 22"/>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24" name="TextBox 23"/>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25" name="TextBox 24"/>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5</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HOUSE RULES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Ground Rules</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1737360"/>
            <a:ext cx="3368040" cy="1783080"/>
          </a:xfrm>
          <a:prstGeom prst="roundRect">
            <a:avLst>
              <a:gd name="adj" fmla="val 5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24128" y="1984248"/>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ic_gr1.png"/>
          <p:cNvPicPr>
            <a:picLocks noChangeAspect="1"/>
          </p:cNvPicPr>
          <p:nvPr/>
        </p:nvPicPr>
        <p:blipFill>
          <a:blip r:embed="rId2"/>
          <a:stretch>
            <a:fillRect/>
          </a:stretch>
        </p:blipFill>
        <p:spPr>
          <a:xfrm>
            <a:off x="1177198" y="2137318"/>
            <a:ext cx="260788" cy="260788"/>
          </a:xfrm>
          <a:prstGeom prst="rect">
            <a:avLst/>
          </a:prstGeom>
        </p:spPr>
      </p:pic>
      <p:sp>
        <p:nvSpPr>
          <p:cNvPr id="10" name="TextBox 9"/>
          <p:cNvSpPr txBox="1"/>
          <p:nvPr/>
        </p:nvSpPr>
        <p:spPr>
          <a:xfrm>
            <a:off x="1755648" y="1984248"/>
            <a:ext cx="2545080" cy="566928"/>
          </a:xfrm>
          <a:prstGeom prst="rect">
            <a:avLst/>
          </a:prstGeom>
          <a:noFill/>
        </p:spPr>
        <p:txBody>
          <a:bodyPr wrap="square" anchor="ctr" lIns="0" rIns="0" tIns="0" bIns="0">
            <a:spAutoFit/>
          </a:bodyPr>
          <a:lstStyle/>
          <a:p>
            <a:pPr algn="l">
              <a:spcBef>
                <a:spcPts val="0"/>
              </a:spcBef>
              <a:spcAft>
                <a:spcPts val="400"/>
              </a:spcAft>
            </a:pPr>
            <a:r>
              <a:rPr sz="1500" b="1">
                <a:solidFill>
                  <a:srgbClr val="161B26"/>
                </a:solidFill>
                <a:latin typeface="Arial"/>
              </a:rPr>
              <a:t>Phones on silent</a:t>
            </a:r>
          </a:p>
        </p:txBody>
      </p:sp>
      <p:sp>
        <p:nvSpPr>
          <p:cNvPr id="11" name="TextBox 10"/>
          <p:cNvSpPr txBox="1"/>
          <p:nvPr/>
        </p:nvSpPr>
        <p:spPr>
          <a:xfrm>
            <a:off x="1024128" y="2697480"/>
            <a:ext cx="2874264" cy="731520"/>
          </a:xfrm>
          <a:prstGeom prst="rect">
            <a:avLst/>
          </a:prstGeom>
          <a:noFill/>
        </p:spPr>
        <p:txBody>
          <a:bodyPr wrap="square" anchor="t" lIns="0" rIns="0" tIns="0" bIns="0">
            <a:spAutoFit/>
          </a:bodyPr>
          <a:lstStyle/>
          <a:p>
            <a:pPr algn="l">
              <a:spcBef>
                <a:spcPts val="0"/>
              </a:spcBef>
              <a:spcAft>
                <a:spcPts val="400"/>
              </a:spcAft>
            </a:pPr>
            <a:r>
              <a:rPr sz="1200" b="0">
                <a:solidFill>
                  <a:srgbClr val="5B6372"/>
                </a:solidFill>
                <a:latin typeface="Arial"/>
              </a:rPr>
              <a:t>Set your phone to silent mode.</a:t>
            </a:r>
          </a:p>
        </p:txBody>
      </p:sp>
      <p:sp>
        <p:nvSpPr>
          <p:cNvPr id="12" name="Rounded Rectangle 11"/>
          <p:cNvSpPr/>
          <p:nvPr/>
        </p:nvSpPr>
        <p:spPr>
          <a:xfrm>
            <a:off x="4419600" y="1737360"/>
            <a:ext cx="3368040" cy="1783080"/>
          </a:xfrm>
          <a:prstGeom prst="roundRect">
            <a:avLst>
              <a:gd name="adj" fmla="val 5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666488" y="1984248"/>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ic_gr2.png"/>
          <p:cNvPicPr>
            <a:picLocks noChangeAspect="1"/>
          </p:cNvPicPr>
          <p:nvPr/>
        </p:nvPicPr>
        <p:blipFill>
          <a:blip r:embed="rId3"/>
          <a:stretch>
            <a:fillRect/>
          </a:stretch>
        </p:blipFill>
        <p:spPr>
          <a:xfrm>
            <a:off x="4819558" y="2137318"/>
            <a:ext cx="260788" cy="260788"/>
          </a:xfrm>
          <a:prstGeom prst="rect">
            <a:avLst/>
          </a:prstGeom>
        </p:spPr>
      </p:pic>
      <p:sp>
        <p:nvSpPr>
          <p:cNvPr id="15" name="TextBox 14"/>
          <p:cNvSpPr txBox="1"/>
          <p:nvPr/>
        </p:nvSpPr>
        <p:spPr>
          <a:xfrm>
            <a:off x="5398008" y="1984248"/>
            <a:ext cx="2545080" cy="566928"/>
          </a:xfrm>
          <a:prstGeom prst="rect">
            <a:avLst/>
          </a:prstGeom>
          <a:noFill/>
        </p:spPr>
        <p:txBody>
          <a:bodyPr wrap="square" anchor="ctr" lIns="0" rIns="0" tIns="0" bIns="0">
            <a:spAutoFit/>
          </a:bodyPr>
          <a:lstStyle/>
          <a:p>
            <a:pPr algn="l">
              <a:spcBef>
                <a:spcPts val="0"/>
              </a:spcBef>
              <a:spcAft>
                <a:spcPts val="400"/>
              </a:spcAft>
            </a:pPr>
            <a:r>
              <a:rPr sz="1500" b="1">
                <a:solidFill>
                  <a:srgbClr val="161B26"/>
                </a:solidFill>
                <a:latin typeface="Arial"/>
              </a:rPr>
              <a:t>Participate actively</a:t>
            </a:r>
          </a:p>
        </p:txBody>
      </p:sp>
      <p:sp>
        <p:nvSpPr>
          <p:cNvPr id="16" name="TextBox 15"/>
          <p:cNvSpPr txBox="1"/>
          <p:nvPr/>
        </p:nvSpPr>
        <p:spPr>
          <a:xfrm>
            <a:off x="4666488" y="2697480"/>
            <a:ext cx="2874264" cy="731520"/>
          </a:xfrm>
          <a:prstGeom prst="rect">
            <a:avLst/>
          </a:prstGeom>
          <a:noFill/>
        </p:spPr>
        <p:txBody>
          <a:bodyPr wrap="square" anchor="t" lIns="0" rIns="0" tIns="0" bIns="0">
            <a:spAutoFit/>
          </a:bodyPr>
          <a:lstStyle/>
          <a:p>
            <a:pPr algn="l">
              <a:spcBef>
                <a:spcPts val="0"/>
              </a:spcBef>
              <a:spcAft>
                <a:spcPts val="400"/>
              </a:spcAft>
            </a:pPr>
            <a:r>
              <a:rPr sz="1200" b="0">
                <a:solidFill>
                  <a:srgbClr val="5B6372"/>
                </a:solidFill>
                <a:latin typeface="Arial"/>
              </a:rPr>
              <a:t>No question is too small — ask freely.</a:t>
            </a:r>
          </a:p>
        </p:txBody>
      </p:sp>
      <p:sp>
        <p:nvSpPr>
          <p:cNvPr id="17" name="Rounded Rectangle 16"/>
          <p:cNvSpPr/>
          <p:nvPr/>
        </p:nvSpPr>
        <p:spPr>
          <a:xfrm>
            <a:off x="8061960" y="1737360"/>
            <a:ext cx="3368040" cy="1783080"/>
          </a:xfrm>
          <a:prstGeom prst="roundRect">
            <a:avLst>
              <a:gd name="adj" fmla="val 5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8308848" y="1984248"/>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ic_gr3.png"/>
          <p:cNvPicPr>
            <a:picLocks noChangeAspect="1"/>
          </p:cNvPicPr>
          <p:nvPr/>
        </p:nvPicPr>
        <p:blipFill>
          <a:blip r:embed="rId4"/>
          <a:stretch>
            <a:fillRect/>
          </a:stretch>
        </p:blipFill>
        <p:spPr>
          <a:xfrm>
            <a:off x="8461918" y="2137318"/>
            <a:ext cx="260788" cy="260788"/>
          </a:xfrm>
          <a:prstGeom prst="rect">
            <a:avLst/>
          </a:prstGeom>
        </p:spPr>
      </p:pic>
      <p:sp>
        <p:nvSpPr>
          <p:cNvPr id="20" name="TextBox 19"/>
          <p:cNvSpPr txBox="1"/>
          <p:nvPr/>
        </p:nvSpPr>
        <p:spPr>
          <a:xfrm>
            <a:off x="9040368" y="1984248"/>
            <a:ext cx="2545080" cy="566928"/>
          </a:xfrm>
          <a:prstGeom prst="rect">
            <a:avLst/>
          </a:prstGeom>
          <a:noFill/>
        </p:spPr>
        <p:txBody>
          <a:bodyPr wrap="square" anchor="ctr" lIns="0" rIns="0" tIns="0" bIns="0">
            <a:spAutoFit/>
          </a:bodyPr>
          <a:lstStyle/>
          <a:p>
            <a:pPr algn="l">
              <a:spcBef>
                <a:spcPts val="0"/>
              </a:spcBef>
              <a:spcAft>
                <a:spcPts val="400"/>
              </a:spcAft>
            </a:pPr>
            <a:r>
              <a:rPr sz="1500" b="1">
                <a:solidFill>
                  <a:srgbClr val="161B26"/>
                </a:solidFill>
                <a:latin typeface="Arial"/>
              </a:rPr>
              <a:t>Mutual respect</a:t>
            </a:r>
          </a:p>
        </p:txBody>
      </p:sp>
      <p:sp>
        <p:nvSpPr>
          <p:cNvPr id="21" name="TextBox 20"/>
          <p:cNvSpPr txBox="1"/>
          <p:nvPr/>
        </p:nvSpPr>
        <p:spPr>
          <a:xfrm>
            <a:off x="8308848" y="2697480"/>
            <a:ext cx="2874264" cy="731520"/>
          </a:xfrm>
          <a:prstGeom prst="rect">
            <a:avLst/>
          </a:prstGeom>
          <a:noFill/>
        </p:spPr>
        <p:txBody>
          <a:bodyPr wrap="square" anchor="t" lIns="0" rIns="0" tIns="0" bIns="0">
            <a:spAutoFit/>
          </a:bodyPr>
          <a:lstStyle/>
          <a:p>
            <a:pPr algn="l">
              <a:spcBef>
                <a:spcPts val="0"/>
              </a:spcBef>
              <a:spcAft>
                <a:spcPts val="400"/>
              </a:spcAft>
            </a:pPr>
            <a:r>
              <a:rPr sz="1200" b="0">
                <a:solidFill>
                  <a:srgbClr val="5B6372"/>
                </a:solidFill>
                <a:latin typeface="Arial"/>
              </a:rPr>
              <a:t>One conversation at a time.</a:t>
            </a:r>
          </a:p>
        </p:txBody>
      </p:sp>
      <p:sp>
        <p:nvSpPr>
          <p:cNvPr id="22" name="Rounded Rectangle 21"/>
          <p:cNvSpPr/>
          <p:nvPr/>
        </p:nvSpPr>
        <p:spPr>
          <a:xfrm>
            <a:off x="777240" y="3767328"/>
            <a:ext cx="3368040" cy="1783080"/>
          </a:xfrm>
          <a:prstGeom prst="roundRect">
            <a:avLst>
              <a:gd name="adj" fmla="val 5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1024128" y="401421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4" name="Picture 23" descr="ic_gr4.png"/>
          <p:cNvPicPr>
            <a:picLocks noChangeAspect="1"/>
          </p:cNvPicPr>
          <p:nvPr/>
        </p:nvPicPr>
        <p:blipFill>
          <a:blip r:embed="rId5"/>
          <a:stretch>
            <a:fillRect/>
          </a:stretch>
        </p:blipFill>
        <p:spPr>
          <a:xfrm>
            <a:off x="1177198" y="4167286"/>
            <a:ext cx="260788" cy="260788"/>
          </a:xfrm>
          <a:prstGeom prst="rect">
            <a:avLst/>
          </a:prstGeom>
        </p:spPr>
      </p:pic>
      <p:sp>
        <p:nvSpPr>
          <p:cNvPr id="25" name="TextBox 24"/>
          <p:cNvSpPr txBox="1"/>
          <p:nvPr/>
        </p:nvSpPr>
        <p:spPr>
          <a:xfrm>
            <a:off x="1755648" y="4014216"/>
            <a:ext cx="2545080" cy="566928"/>
          </a:xfrm>
          <a:prstGeom prst="rect">
            <a:avLst/>
          </a:prstGeom>
          <a:noFill/>
        </p:spPr>
        <p:txBody>
          <a:bodyPr wrap="square" anchor="ctr" lIns="0" rIns="0" tIns="0" bIns="0">
            <a:spAutoFit/>
          </a:bodyPr>
          <a:lstStyle/>
          <a:p>
            <a:pPr algn="l">
              <a:spcBef>
                <a:spcPts val="0"/>
              </a:spcBef>
              <a:spcAft>
                <a:spcPts val="400"/>
              </a:spcAft>
            </a:pPr>
            <a:r>
              <a:rPr sz="1500" b="1">
                <a:solidFill>
                  <a:srgbClr val="161B26"/>
                </a:solidFill>
                <a:latin typeface="Arial"/>
              </a:rPr>
              <a:t>Be punctual</a:t>
            </a:r>
          </a:p>
        </p:txBody>
      </p:sp>
      <p:sp>
        <p:nvSpPr>
          <p:cNvPr id="26" name="TextBox 25"/>
          <p:cNvSpPr txBox="1"/>
          <p:nvPr/>
        </p:nvSpPr>
        <p:spPr>
          <a:xfrm>
            <a:off x="1024128" y="4727448"/>
            <a:ext cx="2874264" cy="731520"/>
          </a:xfrm>
          <a:prstGeom prst="rect">
            <a:avLst/>
          </a:prstGeom>
          <a:noFill/>
        </p:spPr>
        <p:txBody>
          <a:bodyPr wrap="square" anchor="t" lIns="0" rIns="0" tIns="0" bIns="0">
            <a:spAutoFit/>
          </a:bodyPr>
          <a:lstStyle/>
          <a:p>
            <a:pPr algn="l">
              <a:spcBef>
                <a:spcPts val="0"/>
              </a:spcBef>
              <a:spcAft>
                <a:spcPts val="400"/>
              </a:spcAft>
            </a:pPr>
            <a:r>
              <a:rPr sz="1200" b="0">
                <a:solidFill>
                  <a:srgbClr val="5B6372"/>
                </a:solidFill>
                <a:latin typeface="Arial"/>
              </a:rPr>
              <a:t>Return from breaks on time.</a:t>
            </a:r>
          </a:p>
        </p:txBody>
      </p:sp>
      <p:sp>
        <p:nvSpPr>
          <p:cNvPr id="27" name="Rounded Rectangle 26"/>
          <p:cNvSpPr/>
          <p:nvPr/>
        </p:nvSpPr>
        <p:spPr>
          <a:xfrm>
            <a:off x="4419600" y="3767328"/>
            <a:ext cx="3368040" cy="1783080"/>
          </a:xfrm>
          <a:prstGeom prst="roundRect">
            <a:avLst>
              <a:gd name="adj" fmla="val 5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4666488" y="401421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9" name="Picture 28" descr="ic_gr6.png"/>
          <p:cNvPicPr>
            <a:picLocks noChangeAspect="1"/>
          </p:cNvPicPr>
          <p:nvPr/>
        </p:nvPicPr>
        <p:blipFill>
          <a:blip r:embed="rId6"/>
          <a:stretch>
            <a:fillRect/>
          </a:stretch>
        </p:blipFill>
        <p:spPr>
          <a:xfrm>
            <a:off x="4819558" y="4167286"/>
            <a:ext cx="260788" cy="260788"/>
          </a:xfrm>
          <a:prstGeom prst="rect">
            <a:avLst/>
          </a:prstGeom>
        </p:spPr>
      </p:pic>
      <p:sp>
        <p:nvSpPr>
          <p:cNvPr id="30" name="TextBox 29"/>
          <p:cNvSpPr txBox="1"/>
          <p:nvPr/>
        </p:nvSpPr>
        <p:spPr>
          <a:xfrm>
            <a:off x="5398008" y="4014216"/>
            <a:ext cx="2545080" cy="566928"/>
          </a:xfrm>
          <a:prstGeom prst="rect">
            <a:avLst/>
          </a:prstGeom>
          <a:noFill/>
        </p:spPr>
        <p:txBody>
          <a:bodyPr wrap="square" anchor="ctr" lIns="0" rIns="0" tIns="0" bIns="0">
            <a:spAutoFit/>
          </a:bodyPr>
          <a:lstStyle/>
          <a:p>
            <a:pPr algn="l">
              <a:spcBef>
                <a:spcPts val="0"/>
              </a:spcBef>
              <a:spcAft>
                <a:spcPts val="400"/>
              </a:spcAft>
            </a:pPr>
            <a:r>
              <a:rPr sz="1500" b="1">
                <a:solidFill>
                  <a:srgbClr val="161B26"/>
                </a:solidFill>
                <a:latin typeface="Arial"/>
              </a:rPr>
              <a:t>Step out quietly</a:t>
            </a:r>
          </a:p>
        </p:txBody>
      </p:sp>
      <p:sp>
        <p:nvSpPr>
          <p:cNvPr id="31" name="TextBox 30"/>
          <p:cNvSpPr txBox="1"/>
          <p:nvPr/>
        </p:nvSpPr>
        <p:spPr>
          <a:xfrm>
            <a:off x="4666488" y="4727448"/>
            <a:ext cx="2874264" cy="731520"/>
          </a:xfrm>
          <a:prstGeom prst="rect">
            <a:avLst/>
          </a:prstGeom>
          <a:noFill/>
        </p:spPr>
        <p:txBody>
          <a:bodyPr wrap="square" anchor="t" lIns="0" rIns="0" tIns="0" bIns="0">
            <a:spAutoFit/>
          </a:bodyPr>
          <a:lstStyle/>
          <a:p>
            <a:pPr algn="l">
              <a:spcBef>
                <a:spcPts val="0"/>
              </a:spcBef>
              <a:spcAft>
                <a:spcPts val="400"/>
              </a:spcAft>
            </a:pPr>
            <a:r>
              <a:rPr sz="1200" b="0">
                <a:solidFill>
                  <a:srgbClr val="5B6372"/>
                </a:solidFill>
                <a:latin typeface="Arial"/>
              </a:rPr>
              <a:t>For calls or short breaks.</a:t>
            </a:r>
          </a:p>
        </p:txBody>
      </p:sp>
      <p:sp>
        <p:nvSpPr>
          <p:cNvPr id="32" name="Rounded Rectangle 31"/>
          <p:cNvSpPr/>
          <p:nvPr/>
        </p:nvSpPr>
        <p:spPr>
          <a:xfrm>
            <a:off x="8061960" y="3767328"/>
            <a:ext cx="3368040" cy="1783080"/>
          </a:xfrm>
          <a:prstGeom prst="roundRect">
            <a:avLst>
              <a:gd name="adj" fmla="val 5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8308848" y="401421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4" name="Picture 33" descr="ic_gr5.png"/>
          <p:cNvPicPr>
            <a:picLocks noChangeAspect="1"/>
          </p:cNvPicPr>
          <p:nvPr/>
        </p:nvPicPr>
        <p:blipFill>
          <a:blip r:embed="rId7"/>
          <a:stretch>
            <a:fillRect/>
          </a:stretch>
        </p:blipFill>
        <p:spPr>
          <a:xfrm>
            <a:off x="8461918" y="4167286"/>
            <a:ext cx="260788" cy="260788"/>
          </a:xfrm>
          <a:prstGeom prst="rect">
            <a:avLst/>
          </a:prstGeom>
        </p:spPr>
      </p:pic>
      <p:sp>
        <p:nvSpPr>
          <p:cNvPr id="35" name="TextBox 34"/>
          <p:cNvSpPr txBox="1"/>
          <p:nvPr/>
        </p:nvSpPr>
        <p:spPr>
          <a:xfrm>
            <a:off x="9040368" y="4014216"/>
            <a:ext cx="2545080" cy="566928"/>
          </a:xfrm>
          <a:prstGeom prst="rect">
            <a:avLst/>
          </a:prstGeom>
          <a:noFill/>
        </p:spPr>
        <p:txBody>
          <a:bodyPr wrap="square" anchor="ctr" lIns="0" rIns="0" tIns="0" bIns="0">
            <a:spAutoFit/>
          </a:bodyPr>
          <a:lstStyle/>
          <a:p>
            <a:pPr algn="l">
              <a:spcBef>
                <a:spcPts val="0"/>
              </a:spcBef>
              <a:spcAft>
                <a:spcPts val="400"/>
              </a:spcAft>
            </a:pPr>
            <a:r>
              <a:rPr sz="1500" b="1">
                <a:solidFill>
                  <a:srgbClr val="161B26"/>
                </a:solidFill>
                <a:latin typeface="Arial"/>
              </a:rPr>
              <a:t>75% attendance</a:t>
            </a:r>
          </a:p>
        </p:txBody>
      </p:sp>
      <p:sp>
        <p:nvSpPr>
          <p:cNvPr id="36" name="TextBox 35"/>
          <p:cNvSpPr txBox="1"/>
          <p:nvPr/>
        </p:nvSpPr>
        <p:spPr>
          <a:xfrm>
            <a:off x="8308848" y="4727448"/>
            <a:ext cx="2874264" cy="731520"/>
          </a:xfrm>
          <a:prstGeom prst="rect">
            <a:avLst/>
          </a:prstGeom>
          <a:noFill/>
        </p:spPr>
        <p:txBody>
          <a:bodyPr wrap="square" anchor="t" lIns="0" rIns="0" tIns="0" bIns="0">
            <a:spAutoFit/>
          </a:bodyPr>
          <a:lstStyle/>
          <a:p>
            <a:pPr algn="l">
              <a:spcBef>
                <a:spcPts val="0"/>
              </a:spcBef>
              <a:spcAft>
                <a:spcPts val="400"/>
              </a:spcAft>
            </a:pPr>
            <a:r>
              <a:rPr sz="1200" b="0">
                <a:solidFill>
                  <a:srgbClr val="5B6372"/>
                </a:solidFill>
                <a:latin typeface="Arial"/>
              </a:rPr>
              <a:t>Required for funding eligibility.</a:t>
            </a:r>
          </a:p>
        </p:txBody>
      </p:sp>
      <p:sp>
        <p:nvSpPr>
          <p:cNvPr id="37" name="TextBox 36"/>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38" name="TextBox 37"/>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39" name="TextBox 38"/>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6</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SCHEDULE</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Lesson Plan — 3½ Days, 8 hours/day</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1664208"/>
            <a:ext cx="5143500" cy="2084831"/>
          </a:xfrm>
          <a:prstGeom prst="roundRect">
            <a:avLst>
              <a:gd name="adj" fmla="val 5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33272" y="1920240"/>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2000" b="1">
                <a:solidFill>
                  <a:srgbClr val="FFFFFF"/>
                </a:solidFill>
                <a:latin typeface="Arial"/>
              </a:rPr>
              <a:t>1</a:t>
            </a:r>
          </a:p>
        </p:txBody>
      </p:sp>
      <p:sp>
        <p:nvSpPr>
          <p:cNvPr id="9" name="TextBox 8"/>
          <p:cNvSpPr txBox="1"/>
          <p:nvPr/>
        </p:nvSpPr>
        <p:spPr>
          <a:xfrm>
            <a:off x="1801368" y="1920240"/>
            <a:ext cx="3954780" cy="566928"/>
          </a:xfrm>
          <a:prstGeom prst="rect">
            <a:avLst/>
          </a:prstGeom>
          <a:noFill/>
        </p:spPr>
        <p:txBody>
          <a:bodyPr wrap="square" anchor="ctr" lIns="0" rIns="0" tIns="0" bIns="0">
            <a:spAutoFit/>
          </a:bodyPr>
          <a:lstStyle/>
          <a:p>
            <a:pPr algn="l">
              <a:spcBef>
                <a:spcPts val="0"/>
              </a:spcBef>
              <a:spcAft>
                <a:spcPts val="400"/>
              </a:spcAft>
            </a:pPr>
            <a:r>
              <a:rPr sz="1500" b="1">
                <a:solidFill>
                  <a:srgbClr val="161B26"/>
                </a:solidFill>
                <a:latin typeface="Arial"/>
              </a:rPr>
              <a:t>Day 1 · Domain 1</a:t>
            </a:r>
          </a:p>
        </p:txBody>
      </p:sp>
      <p:sp>
        <p:nvSpPr>
          <p:cNvPr id="10" name="TextBox 9"/>
          <p:cNvSpPr txBox="1"/>
          <p:nvPr/>
        </p:nvSpPr>
        <p:spPr>
          <a:xfrm>
            <a:off x="1051560" y="2651760"/>
            <a:ext cx="4594860" cy="1005840"/>
          </a:xfrm>
          <a:prstGeom prst="rect">
            <a:avLst/>
          </a:prstGeom>
          <a:noFill/>
        </p:spPr>
        <p:txBody>
          <a:bodyPr wrap="square" anchor="t" lIns="0" rIns="0" tIns="0" bIns="0">
            <a:spAutoFit/>
          </a:bodyPr>
          <a:lstStyle/>
          <a:p>
            <a:pPr algn="l">
              <a:spcBef>
                <a:spcPts val="0"/>
              </a:spcBef>
              <a:spcAft>
                <a:spcPts val="500"/>
              </a:spcAft>
            </a:pPr>
            <a:r>
              <a:rPr sz="1200" b="1">
                <a:solidFill>
                  <a:srgbClr val="161B26"/>
                </a:solidFill>
                <a:latin typeface="Arial"/>
              </a:rPr>
              <a:t>Cluster Architecture, Installation &amp; Configuration</a:t>
            </a:r>
          </a:p>
          <a:p>
            <a:pPr algn="l">
              <a:spcBef>
                <a:spcPts val="0"/>
              </a:spcBef>
              <a:spcAft>
                <a:spcPts val="500"/>
              </a:spcAft>
            </a:pPr>
            <a:r>
              <a:rPr sz="1200" b="0">
                <a:solidFill>
                  <a:srgbClr val="5B6372"/>
                </a:solidFill>
                <a:latin typeface="Arial"/>
              </a:rPr>
              <a:t>· kubeadm bootstrap, CNI, cluster upgrade (Labs 1–4)</a:t>
            </a:r>
          </a:p>
          <a:p>
            <a:pPr algn="l">
              <a:spcBef>
                <a:spcPts val="0"/>
              </a:spcBef>
              <a:spcAft>
                <a:spcPts val="500"/>
              </a:spcAft>
            </a:pPr>
            <a:r>
              <a:rPr sz="1200" b="0">
                <a:solidFill>
                  <a:srgbClr val="5B6372"/>
                </a:solidFill>
                <a:latin typeface="Arial"/>
              </a:rPr>
              <a:t>· HA etcd, Helm, Kustomize (Labs 5–7)</a:t>
            </a:r>
          </a:p>
          <a:p>
            <a:pPr algn="l">
              <a:spcBef>
                <a:spcPts val="0"/>
              </a:spcBef>
              <a:spcAft>
                <a:spcPts val="500"/>
              </a:spcAft>
            </a:pPr>
            <a:r>
              <a:rPr sz="1200" b="0">
                <a:solidFill>
                  <a:srgbClr val="5B6372"/>
                </a:solidFill>
                <a:latin typeface="Arial"/>
              </a:rPr>
              <a:t>· RBAC (Lab 8)</a:t>
            </a:r>
          </a:p>
        </p:txBody>
      </p:sp>
      <p:sp>
        <p:nvSpPr>
          <p:cNvPr id="11" name="Rounded Rectangle 10"/>
          <p:cNvSpPr/>
          <p:nvPr/>
        </p:nvSpPr>
        <p:spPr>
          <a:xfrm>
            <a:off x="6286500" y="1664208"/>
            <a:ext cx="5143500" cy="2084831"/>
          </a:xfrm>
          <a:prstGeom prst="roundRect">
            <a:avLst>
              <a:gd name="adj" fmla="val 5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6542532" y="1920240"/>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2000" b="1">
                <a:solidFill>
                  <a:srgbClr val="FFFFFF"/>
                </a:solidFill>
                <a:latin typeface="Arial"/>
              </a:rPr>
              <a:t>2</a:t>
            </a:r>
          </a:p>
        </p:txBody>
      </p:sp>
      <p:sp>
        <p:nvSpPr>
          <p:cNvPr id="13" name="TextBox 12"/>
          <p:cNvSpPr txBox="1"/>
          <p:nvPr/>
        </p:nvSpPr>
        <p:spPr>
          <a:xfrm>
            <a:off x="7310628" y="1920240"/>
            <a:ext cx="3954780" cy="566928"/>
          </a:xfrm>
          <a:prstGeom prst="rect">
            <a:avLst/>
          </a:prstGeom>
          <a:noFill/>
        </p:spPr>
        <p:txBody>
          <a:bodyPr wrap="square" anchor="ctr" lIns="0" rIns="0" tIns="0" bIns="0">
            <a:spAutoFit/>
          </a:bodyPr>
          <a:lstStyle/>
          <a:p>
            <a:pPr algn="l">
              <a:spcBef>
                <a:spcPts val="0"/>
              </a:spcBef>
              <a:spcAft>
                <a:spcPts val="400"/>
              </a:spcAft>
            </a:pPr>
            <a:r>
              <a:rPr sz="1500" b="1">
                <a:solidFill>
                  <a:srgbClr val="161B26"/>
                </a:solidFill>
                <a:latin typeface="Arial"/>
              </a:rPr>
              <a:t>Day 2 · Domains 1+2+3</a:t>
            </a:r>
          </a:p>
        </p:txBody>
      </p:sp>
      <p:sp>
        <p:nvSpPr>
          <p:cNvPr id="14" name="TextBox 13"/>
          <p:cNvSpPr txBox="1"/>
          <p:nvPr/>
        </p:nvSpPr>
        <p:spPr>
          <a:xfrm>
            <a:off x="6560820" y="2651760"/>
            <a:ext cx="4594860" cy="1005840"/>
          </a:xfrm>
          <a:prstGeom prst="rect">
            <a:avLst/>
          </a:prstGeom>
          <a:noFill/>
        </p:spPr>
        <p:txBody>
          <a:bodyPr wrap="square" anchor="t" lIns="0" rIns="0" tIns="0" bIns="0">
            <a:spAutoFit/>
          </a:bodyPr>
          <a:lstStyle/>
          <a:p>
            <a:pPr algn="l">
              <a:spcBef>
                <a:spcPts val="0"/>
              </a:spcBef>
              <a:spcAft>
                <a:spcPts val="500"/>
              </a:spcAft>
            </a:pPr>
            <a:r>
              <a:rPr sz="1200" b="1">
                <a:solidFill>
                  <a:srgbClr val="161B26"/>
                </a:solidFill>
                <a:latin typeface="Arial"/>
              </a:rPr>
              <a:t>CRDs + Workloads &amp; Scheduling + Services start</a:t>
            </a:r>
          </a:p>
          <a:p>
            <a:pPr algn="l">
              <a:spcBef>
                <a:spcPts val="0"/>
              </a:spcBef>
              <a:spcAft>
                <a:spcPts val="500"/>
              </a:spcAft>
            </a:pPr>
            <a:r>
              <a:rPr sz="1200" b="0">
                <a:solidFill>
                  <a:srgbClr val="5B6372"/>
                </a:solidFill>
                <a:latin typeface="Arial"/>
              </a:rPr>
              <a:t>· CRDs, CRI/CNI/CSI, Deployments, ConfigMaps (Labs 9–13)</a:t>
            </a:r>
          </a:p>
          <a:p>
            <a:pPr algn="l">
              <a:spcBef>
                <a:spcPts val="0"/>
              </a:spcBef>
              <a:spcAft>
                <a:spcPts val="500"/>
              </a:spcAft>
            </a:pPr>
            <a:r>
              <a:rPr sz="1200" b="0">
                <a:solidFill>
                  <a:srgbClr val="5B6372"/>
                </a:solidFill>
                <a:latin typeface="Arial"/>
              </a:rPr>
              <a:t>· Secrets, HPA, self-healing, scheduling (Labs 14–16)</a:t>
            </a:r>
          </a:p>
          <a:p>
            <a:pPr algn="l">
              <a:spcBef>
                <a:spcPts val="0"/>
              </a:spcBef>
              <a:spcAft>
                <a:spcPts val="500"/>
              </a:spcAft>
            </a:pPr>
            <a:r>
              <a:rPr sz="1200" b="0">
                <a:solidFill>
                  <a:srgbClr val="5B6372"/>
                </a:solidFill>
                <a:latin typeface="Arial"/>
              </a:rPr>
              <a:t>· Pod connectivity, Service types (Labs 17–18)</a:t>
            </a:r>
          </a:p>
        </p:txBody>
      </p:sp>
      <p:sp>
        <p:nvSpPr>
          <p:cNvPr id="15" name="Rounded Rectangle 14"/>
          <p:cNvSpPr/>
          <p:nvPr/>
        </p:nvSpPr>
        <p:spPr>
          <a:xfrm>
            <a:off x="777240" y="3968495"/>
            <a:ext cx="5143500" cy="2084831"/>
          </a:xfrm>
          <a:prstGeom prst="roundRect">
            <a:avLst>
              <a:gd name="adj" fmla="val 5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033272" y="4224527"/>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2000" b="1">
                <a:solidFill>
                  <a:srgbClr val="FFFFFF"/>
                </a:solidFill>
                <a:latin typeface="Arial"/>
              </a:rPr>
              <a:t>3</a:t>
            </a:r>
          </a:p>
        </p:txBody>
      </p:sp>
      <p:sp>
        <p:nvSpPr>
          <p:cNvPr id="17" name="TextBox 16"/>
          <p:cNvSpPr txBox="1"/>
          <p:nvPr/>
        </p:nvSpPr>
        <p:spPr>
          <a:xfrm>
            <a:off x="1801368" y="4224527"/>
            <a:ext cx="3954780" cy="566928"/>
          </a:xfrm>
          <a:prstGeom prst="rect">
            <a:avLst/>
          </a:prstGeom>
          <a:noFill/>
        </p:spPr>
        <p:txBody>
          <a:bodyPr wrap="square" anchor="ctr" lIns="0" rIns="0" tIns="0" bIns="0">
            <a:spAutoFit/>
          </a:bodyPr>
          <a:lstStyle/>
          <a:p>
            <a:pPr algn="l">
              <a:spcBef>
                <a:spcPts val="0"/>
              </a:spcBef>
              <a:spcAft>
                <a:spcPts val="400"/>
              </a:spcAft>
            </a:pPr>
            <a:r>
              <a:rPr sz="1500" b="1">
                <a:solidFill>
                  <a:srgbClr val="161B26"/>
                </a:solidFill>
                <a:latin typeface="Arial"/>
              </a:rPr>
              <a:t>Day 3 · Domains 3+4+5</a:t>
            </a:r>
          </a:p>
        </p:txBody>
      </p:sp>
      <p:sp>
        <p:nvSpPr>
          <p:cNvPr id="18" name="TextBox 17"/>
          <p:cNvSpPr txBox="1"/>
          <p:nvPr/>
        </p:nvSpPr>
        <p:spPr>
          <a:xfrm>
            <a:off x="1051560" y="4956047"/>
            <a:ext cx="4594860" cy="1005840"/>
          </a:xfrm>
          <a:prstGeom prst="rect">
            <a:avLst/>
          </a:prstGeom>
          <a:noFill/>
        </p:spPr>
        <p:txBody>
          <a:bodyPr wrap="square" anchor="t" lIns="0" rIns="0" tIns="0" bIns="0">
            <a:spAutoFit/>
          </a:bodyPr>
          <a:lstStyle/>
          <a:p>
            <a:pPr algn="l">
              <a:spcBef>
                <a:spcPts val="0"/>
              </a:spcBef>
              <a:spcAft>
                <a:spcPts val="500"/>
              </a:spcAft>
            </a:pPr>
            <a:r>
              <a:rPr sz="1200" b="1">
                <a:solidFill>
                  <a:srgbClr val="161B26"/>
                </a:solidFill>
                <a:latin typeface="Arial"/>
              </a:rPr>
              <a:t>Networking + Storage + Troubleshooting</a:t>
            </a:r>
          </a:p>
          <a:p>
            <a:pPr algn="l">
              <a:spcBef>
                <a:spcPts val="0"/>
              </a:spcBef>
              <a:spcAft>
                <a:spcPts val="500"/>
              </a:spcAft>
            </a:pPr>
            <a:r>
              <a:rPr sz="1200" b="0">
                <a:solidFill>
                  <a:srgbClr val="5B6372"/>
                </a:solidFill>
                <a:latin typeface="Arial"/>
              </a:rPr>
              <a:t>· Ingress, Gateway API, NetworkPolicy, CoreDNS (Labs 19–22)</a:t>
            </a:r>
          </a:p>
          <a:p>
            <a:pPr algn="l">
              <a:spcBef>
                <a:spcPts val="0"/>
              </a:spcBef>
              <a:spcAft>
                <a:spcPts val="500"/>
              </a:spcAft>
            </a:pPr>
            <a:r>
              <a:rPr sz="1200" b="0">
                <a:solidFill>
                  <a:srgbClr val="5B6372"/>
                </a:solidFill>
                <a:latin typeface="Arial"/>
              </a:rPr>
              <a:t>· PV/PVC, StorageClass, volume types (Labs 23–25)</a:t>
            </a:r>
          </a:p>
          <a:p>
            <a:pPr algn="l">
              <a:spcBef>
                <a:spcPts val="0"/>
              </a:spcBef>
              <a:spcAft>
                <a:spcPts val="500"/>
              </a:spcAft>
            </a:pPr>
            <a:r>
              <a:rPr sz="1200" b="0">
                <a:solidFill>
                  <a:srgbClr val="5B6372"/>
                </a:solidFill>
                <a:latin typeface="Arial"/>
              </a:rPr>
              <a:t>· Cluster, node and application troubleshooting (Labs 26–28)</a:t>
            </a:r>
          </a:p>
        </p:txBody>
      </p:sp>
      <p:sp>
        <p:nvSpPr>
          <p:cNvPr id="19" name="Rounded Rectangle 18"/>
          <p:cNvSpPr/>
          <p:nvPr/>
        </p:nvSpPr>
        <p:spPr>
          <a:xfrm>
            <a:off x="6286500" y="3968495"/>
            <a:ext cx="5143500" cy="2084831"/>
          </a:xfrm>
          <a:prstGeom prst="roundRect">
            <a:avLst>
              <a:gd name="adj" fmla="val 5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6542532" y="4224527"/>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2000" b="1">
                <a:solidFill>
                  <a:srgbClr val="FFFFFF"/>
                </a:solidFill>
                <a:latin typeface="Arial"/>
              </a:rPr>
              <a:t>4</a:t>
            </a:r>
          </a:p>
        </p:txBody>
      </p:sp>
      <p:sp>
        <p:nvSpPr>
          <p:cNvPr id="21" name="TextBox 20"/>
          <p:cNvSpPr txBox="1"/>
          <p:nvPr/>
        </p:nvSpPr>
        <p:spPr>
          <a:xfrm>
            <a:off x="7310628" y="4224527"/>
            <a:ext cx="3954780" cy="566928"/>
          </a:xfrm>
          <a:prstGeom prst="rect">
            <a:avLst/>
          </a:prstGeom>
          <a:noFill/>
        </p:spPr>
        <p:txBody>
          <a:bodyPr wrap="square" anchor="ctr" lIns="0" rIns="0" tIns="0" bIns="0">
            <a:spAutoFit/>
          </a:bodyPr>
          <a:lstStyle/>
          <a:p>
            <a:pPr algn="l">
              <a:spcBef>
                <a:spcPts val="0"/>
              </a:spcBef>
              <a:spcAft>
                <a:spcPts val="400"/>
              </a:spcAft>
            </a:pPr>
            <a:r>
              <a:rPr sz="1500" b="1">
                <a:solidFill>
                  <a:srgbClr val="161B26"/>
                </a:solidFill>
                <a:latin typeface="Arial"/>
              </a:rPr>
              <a:t>Day 4 (½ day) · Domain 5</a:t>
            </a:r>
          </a:p>
        </p:txBody>
      </p:sp>
      <p:sp>
        <p:nvSpPr>
          <p:cNvPr id="22" name="TextBox 21"/>
          <p:cNvSpPr txBox="1"/>
          <p:nvPr/>
        </p:nvSpPr>
        <p:spPr>
          <a:xfrm>
            <a:off x="6560820" y="4956047"/>
            <a:ext cx="4594860" cy="1005840"/>
          </a:xfrm>
          <a:prstGeom prst="rect">
            <a:avLst/>
          </a:prstGeom>
          <a:noFill/>
        </p:spPr>
        <p:txBody>
          <a:bodyPr wrap="square" anchor="t" lIns="0" rIns="0" tIns="0" bIns="0">
            <a:spAutoFit/>
          </a:bodyPr>
          <a:lstStyle/>
          <a:p>
            <a:pPr algn="l">
              <a:spcBef>
                <a:spcPts val="0"/>
              </a:spcBef>
              <a:spcAft>
                <a:spcPts val="500"/>
              </a:spcAft>
            </a:pPr>
            <a:r>
              <a:rPr sz="1200" b="1">
                <a:solidFill>
                  <a:srgbClr val="161B26"/>
                </a:solidFill>
                <a:latin typeface="Arial"/>
              </a:rPr>
              <a:t>Monitoring + Service triage + RBAC/scheduling debug</a:t>
            </a:r>
          </a:p>
          <a:p>
            <a:pPr algn="l">
              <a:spcBef>
                <a:spcPts val="0"/>
              </a:spcBef>
              <a:spcAft>
                <a:spcPts val="500"/>
              </a:spcAft>
            </a:pPr>
            <a:r>
              <a:rPr sz="1200" b="0">
                <a:solidFill>
                  <a:srgbClr val="5B6372"/>
                </a:solidFill>
                <a:latin typeface="Arial"/>
              </a:rPr>
              <a:t>· Monitoring, service networking, RBAC failures (Labs 29–31)</a:t>
            </a:r>
          </a:p>
          <a:p>
            <a:pPr algn="l">
              <a:spcBef>
                <a:spcPts val="0"/>
              </a:spcBef>
              <a:spcAft>
                <a:spcPts val="500"/>
              </a:spcAft>
            </a:pPr>
            <a:r>
              <a:rPr sz="1200" b="0">
                <a:solidFill>
                  <a:srgbClr val="5B6372"/>
                </a:solidFill>
                <a:latin typeface="Arial"/>
              </a:rPr>
              <a:t>· 12:00 PM lunch  ·  1:00 PM mock-exam practice</a:t>
            </a:r>
          </a:p>
          <a:p>
            <a:pPr algn="l">
              <a:spcBef>
                <a:spcPts val="0"/>
              </a:spcBef>
              <a:spcAft>
                <a:spcPts val="500"/>
              </a:spcAft>
            </a:pPr>
            <a:r>
              <a:rPr sz="1200" b="0">
                <a:solidFill>
                  <a:srgbClr val="5B6372"/>
                </a:solidFill>
                <a:latin typeface="Arial"/>
              </a:rPr>
              <a:t>· 3:30 PM tea  ·  3:45 PM final assessment</a:t>
            </a:r>
          </a:p>
        </p:txBody>
      </p:sp>
      <p:sp>
        <p:nvSpPr>
          <p:cNvPr id="23" name="Rounded Rectangle 22"/>
          <p:cNvSpPr/>
          <p:nvPr/>
        </p:nvSpPr>
        <p:spPr>
          <a:xfrm>
            <a:off x="777240" y="6089904"/>
            <a:ext cx="10652760" cy="384048"/>
          </a:xfrm>
          <a:prstGeom prst="roundRect">
            <a:avLst>
              <a:gd name="adj" fmla="val 5000"/>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097280" y="6089904"/>
            <a:ext cx="10058400" cy="384048"/>
          </a:xfrm>
          <a:prstGeom prst="rect">
            <a:avLst/>
          </a:prstGeom>
          <a:noFill/>
        </p:spPr>
        <p:txBody>
          <a:bodyPr wrap="square" anchor="ctr" lIns="0" rIns="0" tIns="0" bIns="0">
            <a:spAutoFit/>
          </a:bodyPr>
          <a:lstStyle/>
          <a:p>
            <a:pPr algn="l">
              <a:spcBef>
                <a:spcPts val="0"/>
              </a:spcBef>
              <a:spcAft>
                <a:spcPts val="400"/>
              </a:spcAft>
            </a:pPr>
            <a:r>
              <a:rPr sz="1200" b="1">
                <a:solidFill>
                  <a:srgbClr val="1F6FEB"/>
                </a:solidFill>
                <a:latin typeface="Arial"/>
              </a:rPr>
              <a:t>Daily timing:   </a:t>
            </a:r>
            <a:r>
              <a:rPr sz="1200" b="0">
                <a:solidFill>
                  <a:srgbClr val="161B26"/>
                </a:solidFill>
                <a:latin typeface="Arial"/>
              </a:rPr>
              <a:t>9:00am – 6:00pm   ·   1-hour lunch   ·   short tea breaks within each day</a:t>
            </a:r>
          </a:p>
        </p:txBody>
      </p:sp>
      <p:sp>
        <p:nvSpPr>
          <p:cNvPr id="25" name="TextBox 24"/>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26" name="TextBox 25"/>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27" name="TextBox 26"/>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7</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WHAT YOU'LL ACHIEVE</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Learning Outcomes</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1691640"/>
            <a:ext cx="512064" cy="51206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800" b="1">
                <a:solidFill>
                  <a:srgbClr val="FFFFFF"/>
                </a:solidFill>
                <a:latin typeface="Arial"/>
              </a:rPr>
              <a:t>1</a:t>
            </a:r>
          </a:p>
        </p:txBody>
      </p:sp>
      <p:sp>
        <p:nvSpPr>
          <p:cNvPr id="8" name="TextBox 7"/>
          <p:cNvSpPr txBox="1"/>
          <p:nvPr/>
        </p:nvSpPr>
        <p:spPr>
          <a:xfrm>
            <a:off x="1581912" y="1691640"/>
            <a:ext cx="9875520" cy="512064"/>
          </a:xfrm>
          <a:prstGeom prst="rect">
            <a:avLst/>
          </a:prstGeom>
          <a:noFill/>
        </p:spPr>
        <p:txBody>
          <a:bodyPr wrap="square" anchor="ctr" lIns="0" rIns="0" tIns="0" bIns="0">
            <a:spAutoFit/>
          </a:bodyPr>
          <a:lstStyle/>
          <a:p>
            <a:pPr algn="l">
              <a:spcBef>
                <a:spcPts val="0"/>
              </a:spcBef>
              <a:spcAft>
                <a:spcPts val="400"/>
              </a:spcAft>
            </a:pPr>
            <a:r>
              <a:rPr sz="1500" b="1">
                <a:solidFill>
                  <a:srgbClr val="1F6FEB"/>
                </a:solidFill>
                <a:latin typeface="Arial"/>
              </a:rPr>
              <a:t>LO1   </a:t>
            </a:r>
            <a:r>
              <a:rPr sz="1500" b="0">
                <a:solidFill>
                  <a:srgbClr val="161B26"/>
                </a:solidFill>
                <a:latin typeface="Arial"/>
              </a:rPr>
              <a:t>Bootstrap a Kubernetes cluster with kubeadm, containerd, and a CNI plugin.</a:t>
            </a:r>
          </a:p>
        </p:txBody>
      </p:sp>
      <p:sp>
        <p:nvSpPr>
          <p:cNvPr id="9" name="Oval 8"/>
          <p:cNvSpPr/>
          <p:nvPr/>
        </p:nvSpPr>
        <p:spPr>
          <a:xfrm>
            <a:off x="777240" y="2404872"/>
            <a:ext cx="512064" cy="51206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800" b="1">
                <a:solidFill>
                  <a:srgbClr val="FFFFFF"/>
                </a:solidFill>
                <a:latin typeface="Arial"/>
              </a:rPr>
              <a:t>2</a:t>
            </a:r>
          </a:p>
        </p:txBody>
      </p:sp>
      <p:sp>
        <p:nvSpPr>
          <p:cNvPr id="10" name="TextBox 9"/>
          <p:cNvSpPr txBox="1"/>
          <p:nvPr/>
        </p:nvSpPr>
        <p:spPr>
          <a:xfrm>
            <a:off x="1581912" y="2404872"/>
            <a:ext cx="9875520" cy="512064"/>
          </a:xfrm>
          <a:prstGeom prst="rect">
            <a:avLst/>
          </a:prstGeom>
          <a:noFill/>
        </p:spPr>
        <p:txBody>
          <a:bodyPr wrap="square" anchor="ctr" lIns="0" rIns="0" tIns="0" bIns="0">
            <a:spAutoFit/>
          </a:bodyPr>
          <a:lstStyle/>
          <a:p>
            <a:pPr algn="l">
              <a:spcBef>
                <a:spcPts val="0"/>
              </a:spcBef>
              <a:spcAft>
                <a:spcPts val="400"/>
              </a:spcAft>
            </a:pPr>
            <a:r>
              <a:rPr sz="1500" b="1">
                <a:solidFill>
                  <a:srgbClr val="1F6FEB"/>
                </a:solidFill>
                <a:latin typeface="Arial"/>
              </a:rPr>
              <a:t>LO2   </a:t>
            </a:r>
            <a:r>
              <a:rPr sz="1500" b="0">
                <a:solidFill>
                  <a:srgbClr val="161B26"/>
                </a:solidFill>
                <a:latin typeface="Arial"/>
              </a:rPr>
              <a:t>Perform cluster upgrades, configure HA etcd, and back up/restore cluster state.</a:t>
            </a:r>
          </a:p>
        </p:txBody>
      </p:sp>
      <p:sp>
        <p:nvSpPr>
          <p:cNvPr id="11" name="Oval 10"/>
          <p:cNvSpPr/>
          <p:nvPr/>
        </p:nvSpPr>
        <p:spPr>
          <a:xfrm>
            <a:off x="777240" y="3118104"/>
            <a:ext cx="512064" cy="51206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800" b="1">
                <a:solidFill>
                  <a:srgbClr val="FFFFFF"/>
                </a:solidFill>
                <a:latin typeface="Arial"/>
              </a:rPr>
              <a:t>3</a:t>
            </a:r>
          </a:p>
        </p:txBody>
      </p:sp>
      <p:sp>
        <p:nvSpPr>
          <p:cNvPr id="12" name="TextBox 11"/>
          <p:cNvSpPr txBox="1"/>
          <p:nvPr/>
        </p:nvSpPr>
        <p:spPr>
          <a:xfrm>
            <a:off x="1581912" y="3118104"/>
            <a:ext cx="9875520" cy="512064"/>
          </a:xfrm>
          <a:prstGeom prst="rect">
            <a:avLst/>
          </a:prstGeom>
          <a:noFill/>
        </p:spPr>
        <p:txBody>
          <a:bodyPr wrap="square" anchor="ctr" lIns="0" rIns="0" tIns="0" bIns="0">
            <a:spAutoFit/>
          </a:bodyPr>
          <a:lstStyle/>
          <a:p>
            <a:pPr algn="l">
              <a:spcBef>
                <a:spcPts val="0"/>
              </a:spcBef>
              <a:spcAft>
                <a:spcPts val="400"/>
              </a:spcAft>
            </a:pPr>
            <a:r>
              <a:rPr sz="1500" b="1">
                <a:solidFill>
                  <a:srgbClr val="1F6FEB"/>
                </a:solidFill>
                <a:latin typeface="Arial"/>
              </a:rPr>
              <a:t>LO3   </a:t>
            </a:r>
            <a:r>
              <a:rPr sz="1500" b="0">
                <a:solidFill>
                  <a:srgbClr val="161B26"/>
                </a:solidFill>
                <a:latin typeface="Arial"/>
              </a:rPr>
              <a:t>Configure RBAC, Helm, Kustomize, CRDs, and the CNI/CSI/CRI extension interfaces.</a:t>
            </a:r>
          </a:p>
        </p:txBody>
      </p:sp>
      <p:sp>
        <p:nvSpPr>
          <p:cNvPr id="13" name="Oval 12"/>
          <p:cNvSpPr/>
          <p:nvPr/>
        </p:nvSpPr>
        <p:spPr>
          <a:xfrm>
            <a:off x="777240" y="3831336"/>
            <a:ext cx="512064" cy="51206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800" b="1">
                <a:solidFill>
                  <a:srgbClr val="FFFFFF"/>
                </a:solidFill>
                <a:latin typeface="Arial"/>
              </a:rPr>
              <a:t>4</a:t>
            </a:r>
          </a:p>
        </p:txBody>
      </p:sp>
      <p:sp>
        <p:nvSpPr>
          <p:cNvPr id="14" name="TextBox 13"/>
          <p:cNvSpPr txBox="1"/>
          <p:nvPr/>
        </p:nvSpPr>
        <p:spPr>
          <a:xfrm>
            <a:off x="1581912" y="3831336"/>
            <a:ext cx="9875520" cy="512064"/>
          </a:xfrm>
          <a:prstGeom prst="rect">
            <a:avLst/>
          </a:prstGeom>
          <a:noFill/>
        </p:spPr>
        <p:txBody>
          <a:bodyPr wrap="square" anchor="ctr" lIns="0" rIns="0" tIns="0" bIns="0">
            <a:spAutoFit/>
          </a:bodyPr>
          <a:lstStyle/>
          <a:p>
            <a:pPr algn="l">
              <a:spcBef>
                <a:spcPts val="0"/>
              </a:spcBef>
              <a:spcAft>
                <a:spcPts val="400"/>
              </a:spcAft>
            </a:pPr>
            <a:r>
              <a:rPr sz="1500" b="1">
                <a:solidFill>
                  <a:srgbClr val="1F6FEB"/>
                </a:solidFill>
                <a:latin typeface="Arial"/>
              </a:rPr>
              <a:t>LO4   </a:t>
            </a:r>
            <a:r>
              <a:rPr sz="1500" b="0">
                <a:solidFill>
                  <a:srgbClr val="161B26"/>
                </a:solidFill>
                <a:latin typeface="Arial"/>
              </a:rPr>
              <a:t>Deploy, scale, schedule, and self-heal workloads with HPA, taints, and affinity.</a:t>
            </a:r>
          </a:p>
        </p:txBody>
      </p:sp>
      <p:sp>
        <p:nvSpPr>
          <p:cNvPr id="15" name="Oval 14"/>
          <p:cNvSpPr/>
          <p:nvPr/>
        </p:nvSpPr>
        <p:spPr>
          <a:xfrm>
            <a:off x="777240" y="4544568"/>
            <a:ext cx="512064" cy="51206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800" b="1">
                <a:solidFill>
                  <a:srgbClr val="FFFFFF"/>
                </a:solidFill>
                <a:latin typeface="Arial"/>
              </a:rPr>
              <a:t>5</a:t>
            </a:r>
          </a:p>
        </p:txBody>
      </p:sp>
      <p:sp>
        <p:nvSpPr>
          <p:cNvPr id="16" name="TextBox 15"/>
          <p:cNvSpPr txBox="1"/>
          <p:nvPr/>
        </p:nvSpPr>
        <p:spPr>
          <a:xfrm>
            <a:off x="1581912" y="4544568"/>
            <a:ext cx="9875520" cy="512064"/>
          </a:xfrm>
          <a:prstGeom prst="rect">
            <a:avLst/>
          </a:prstGeom>
          <a:noFill/>
        </p:spPr>
        <p:txBody>
          <a:bodyPr wrap="square" anchor="ctr" lIns="0" rIns="0" tIns="0" bIns="0">
            <a:spAutoFit/>
          </a:bodyPr>
          <a:lstStyle/>
          <a:p>
            <a:pPr algn="l">
              <a:spcBef>
                <a:spcPts val="0"/>
              </a:spcBef>
              <a:spcAft>
                <a:spcPts val="400"/>
              </a:spcAft>
            </a:pPr>
            <a:r>
              <a:rPr sz="1500" b="1">
                <a:solidFill>
                  <a:srgbClr val="1F6FEB"/>
                </a:solidFill>
                <a:latin typeface="Arial"/>
              </a:rPr>
              <a:t>LO5   </a:t>
            </a:r>
            <a:r>
              <a:rPr sz="1500" b="0">
                <a:solidFill>
                  <a:srgbClr val="161B26"/>
                </a:solidFill>
                <a:latin typeface="Arial"/>
              </a:rPr>
              <a:t>Expose services with ClusterIP, NodePort, Ingress, and Gateway API; write NetworkPolicy.</a:t>
            </a:r>
          </a:p>
        </p:txBody>
      </p:sp>
      <p:sp>
        <p:nvSpPr>
          <p:cNvPr id="17" name="Oval 16"/>
          <p:cNvSpPr/>
          <p:nvPr/>
        </p:nvSpPr>
        <p:spPr>
          <a:xfrm>
            <a:off x="777240" y="5257800"/>
            <a:ext cx="512064" cy="51206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800" b="1">
                <a:solidFill>
                  <a:srgbClr val="FFFFFF"/>
                </a:solidFill>
                <a:latin typeface="Arial"/>
              </a:rPr>
              <a:t>6</a:t>
            </a:r>
          </a:p>
        </p:txBody>
      </p:sp>
      <p:sp>
        <p:nvSpPr>
          <p:cNvPr id="18" name="TextBox 17"/>
          <p:cNvSpPr txBox="1"/>
          <p:nvPr/>
        </p:nvSpPr>
        <p:spPr>
          <a:xfrm>
            <a:off x="1581912" y="5257800"/>
            <a:ext cx="9875520" cy="512064"/>
          </a:xfrm>
          <a:prstGeom prst="rect">
            <a:avLst/>
          </a:prstGeom>
          <a:noFill/>
        </p:spPr>
        <p:txBody>
          <a:bodyPr wrap="square" anchor="ctr" lIns="0" rIns="0" tIns="0" bIns="0">
            <a:spAutoFit/>
          </a:bodyPr>
          <a:lstStyle/>
          <a:p>
            <a:pPr algn="l">
              <a:spcBef>
                <a:spcPts val="0"/>
              </a:spcBef>
              <a:spcAft>
                <a:spcPts val="400"/>
              </a:spcAft>
            </a:pPr>
            <a:r>
              <a:rPr sz="1500" b="1">
                <a:solidFill>
                  <a:srgbClr val="1F6FEB"/>
                </a:solidFill>
                <a:latin typeface="Arial"/>
              </a:rPr>
              <a:t>LO6   </a:t>
            </a:r>
            <a:r>
              <a:rPr sz="1500" b="0">
                <a:solidFill>
                  <a:srgbClr val="161B26"/>
                </a:solidFill>
                <a:latin typeface="Arial"/>
              </a:rPr>
              <a:t>Provision persistent storage with PV/PVC, StorageClass, and troubleshoot the full cluster stack.</a:t>
            </a:r>
          </a:p>
        </p:txBody>
      </p:sp>
      <p:sp>
        <p:nvSpPr>
          <p:cNvPr id="19" name="TextBox 18"/>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20" name="TextBox 19"/>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21" name="TextBox 20"/>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8</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FINAL ASSESSMENT</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Assessment</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1783080"/>
            <a:ext cx="5257800" cy="3657600"/>
          </a:xfrm>
          <a:prstGeom prst="roundRect">
            <a:avLst>
              <a:gd name="adj" fmla="val 5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88136" y="2093976"/>
            <a:ext cx="658368" cy="65836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ic_clip.png"/>
          <p:cNvPicPr>
            <a:picLocks noChangeAspect="1"/>
          </p:cNvPicPr>
          <p:nvPr/>
        </p:nvPicPr>
        <p:blipFill>
          <a:blip r:embed="rId2"/>
          <a:stretch>
            <a:fillRect/>
          </a:stretch>
        </p:blipFill>
        <p:spPr>
          <a:xfrm>
            <a:off x="1265895" y="2271735"/>
            <a:ext cx="302850" cy="302850"/>
          </a:xfrm>
          <a:prstGeom prst="rect">
            <a:avLst/>
          </a:prstGeom>
        </p:spPr>
      </p:pic>
      <p:sp>
        <p:nvSpPr>
          <p:cNvPr id="10" name="TextBox 9"/>
          <p:cNvSpPr txBox="1"/>
          <p:nvPr/>
        </p:nvSpPr>
        <p:spPr>
          <a:xfrm>
            <a:off x="1965960" y="2093976"/>
            <a:ext cx="3977640" cy="658368"/>
          </a:xfrm>
          <a:prstGeom prst="rect">
            <a:avLst/>
          </a:prstGeom>
          <a:noFill/>
        </p:spPr>
        <p:txBody>
          <a:bodyPr wrap="square" anchor="ctr" lIns="0" rIns="0" tIns="0" bIns="0">
            <a:spAutoFit/>
          </a:bodyPr>
          <a:lstStyle/>
          <a:p>
            <a:pPr algn="l">
              <a:spcBef>
                <a:spcPts val="0"/>
              </a:spcBef>
              <a:spcAft>
                <a:spcPts val="400"/>
              </a:spcAft>
            </a:pPr>
            <a:r>
              <a:rPr sz="1800" b="1">
                <a:solidFill>
                  <a:srgbClr val="161B26"/>
                </a:solidFill>
                <a:latin typeface="Arial"/>
              </a:rPr>
              <a:t>Final Assessment</a:t>
            </a:r>
          </a:p>
        </p:txBody>
      </p:sp>
      <p:sp>
        <p:nvSpPr>
          <p:cNvPr id="11" name="TextBox 10"/>
          <p:cNvSpPr txBox="1"/>
          <p:nvPr/>
        </p:nvSpPr>
        <p:spPr>
          <a:xfrm>
            <a:off x="1088136" y="3063240"/>
            <a:ext cx="4636008" cy="2194560"/>
          </a:xfrm>
          <a:prstGeom prst="rect">
            <a:avLst/>
          </a:prstGeom>
          <a:noFill/>
        </p:spPr>
        <p:txBody>
          <a:bodyPr wrap="square" lIns="0" rIns="0">
            <a:spAutoFit/>
          </a:bodyPr>
          <a:lstStyle/>
          <a:p>
            <a:pPr>
              <a:spcBef>
                <a:spcPts val="0"/>
              </a:spcBef>
              <a:spcAft>
                <a:spcPts val="1000"/>
              </a:spcAft>
            </a:pPr>
            <a:r>
              <a:rPr sz="1300" b="1">
                <a:solidFill>
                  <a:srgbClr val="1F6FEB"/>
                </a:solidFill>
                <a:latin typeface="Arial"/>
              </a:rPr>
              <a:t>•  </a:t>
            </a:r>
            <a:r>
              <a:rPr sz="1300">
                <a:solidFill>
                  <a:srgbClr val="161B26"/>
                </a:solidFill>
                <a:latin typeface="Arial"/>
              </a:rPr>
              <a:t>Written / MCQ assessment on the LMS</a:t>
            </a:r>
          </a:p>
          <a:p>
            <a:pPr>
              <a:spcBef>
                <a:spcPts val="0"/>
              </a:spcBef>
              <a:spcAft>
                <a:spcPts val="1000"/>
              </a:spcAft>
            </a:pPr>
            <a:r>
              <a:rPr sz="1300" b="1">
                <a:solidFill>
                  <a:srgbClr val="1F6FEB"/>
                </a:solidFill>
                <a:latin typeface="Arial"/>
              </a:rPr>
              <a:t>•  </a:t>
            </a:r>
            <a:r>
              <a:rPr sz="1300">
                <a:solidFill>
                  <a:srgbClr val="161B26"/>
                </a:solidFill>
                <a:latin typeface="Arial"/>
              </a:rPr>
              <a:t>Mock-exam practice from 1:00 PM; final assessment from 3:45 PM</a:t>
            </a:r>
          </a:p>
          <a:p>
            <a:pPr>
              <a:spcBef>
                <a:spcPts val="0"/>
              </a:spcBef>
              <a:spcAft>
                <a:spcPts val="1000"/>
              </a:spcAft>
            </a:pPr>
            <a:r>
              <a:rPr sz="1300" b="1">
                <a:solidFill>
                  <a:srgbClr val="1F6FEB"/>
                </a:solidFill>
                <a:latin typeface="Arial"/>
              </a:rPr>
              <a:t>•  </a:t>
            </a:r>
            <a:r>
              <a:rPr sz="1300">
                <a:solidFill>
                  <a:srgbClr val="161B26"/>
                </a:solidFill>
                <a:latin typeface="Arial"/>
              </a:rPr>
              <a:t>Covers all five CKA domains and the hands-on labs</a:t>
            </a:r>
          </a:p>
          <a:p>
            <a:pPr>
              <a:spcBef>
                <a:spcPts val="0"/>
              </a:spcBef>
              <a:spcAft>
                <a:spcPts val="1000"/>
              </a:spcAft>
            </a:pPr>
            <a:r>
              <a:rPr sz="1300" b="1">
                <a:solidFill>
                  <a:srgbClr val="1F6FEB"/>
                </a:solidFill>
                <a:latin typeface="Arial"/>
              </a:rPr>
              <a:t>•  </a:t>
            </a:r>
            <a:r>
              <a:rPr sz="1300">
                <a:solidFill>
                  <a:srgbClr val="161B26"/>
                </a:solidFill>
                <a:latin typeface="Arial"/>
              </a:rPr>
              <a:t>Open book — slides, Learner Guide &amp; kubernetes.io</a:t>
            </a:r>
          </a:p>
          <a:p>
            <a:pPr>
              <a:spcBef>
                <a:spcPts val="0"/>
              </a:spcBef>
              <a:spcAft>
                <a:spcPts val="1000"/>
              </a:spcAft>
            </a:pPr>
            <a:r>
              <a:rPr sz="1300" b="1">
                <a:solidFill>
                  <a:srgbClr val="1F6FEB"/>
                </a:solidFill>
                <a:latin typeface="Arial"/>
              </a:rPr>
              <a:t>•  </a:t>
            </a:r>
            <a:r>
              <a:rPr sz="1300">
                <a:solidFill>
                  <a:srgbClr val="161B26"/>
                </a:solidFill>
                <a:latin typeface="Arial"/>
              </a:rPr>
              <a:t>Must be attempted for SSG funding</a:t>
            </a:r>
          </a:p>
        </p:txBody>
      </p:sp>
      <p:sp>
        <p:nvSpPr>
          <p:cNvPr id="12" name="Rounded Rectangle 11"/>
          <p:cNvSpPr/>
          <p:nvPr/>
        </p:nvSpPr>
        <p:spPr>
          <a:xfrm>
            <a:off x="6309360" y="1783080"/>
            <a:ext cx="5257800" cy="3657600"/>
          </a:xfrm>
          <a:prstGeom prst="roundRect">
            <a:avLst>
              <a:gd name="adj" fmla="val 5000"/>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620256" y="2093976"/>
            <a:ext cx="658368" cy="658368"/>
          </a:xfrm>
          <a:prstGeom prst="ellipse">
            <a:avLst/>
          </a:prstGeom>
          <a:solidFill>
            <a:srgbClr val="0B4F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498080" y="2093976"/>
            <a:ext cx="3977640" cy="658368"/>
          </a:xfrm>
          <a:prstGeom prst="rect">
            <a:avLst/>
          </a:prstGeom>
          <a:noFill/>
        </p:spPr>
        <p:txBody>
          <a:bodyPr wrap="square" anchor="ctr" lIns="0" rIns="0" tIns="0" bIns="0">
            <a:spAutoFit/>
          </a:bodyPr>
          <a:lstStyle/>
          <a:p>
            <a:pPr algn="l">
              <a:spcBef>
                <a:spcPts val="0"/>
              </a:spcBef>
              <a:spcAft>
                <a:spcPts val="400"/>
              </a:spcAft>
            </a:pPr>
            <a:r>
              <a:rPr sz="1800" b="1">
                <a:solidFill>
                  <a:srgbClr val="FFFFFF"/>
                </a:solidFill>
                <a:latin typeface="Arial"/>
              </a:rPr>
              <a:t>Funding &amp; Competency</a:t>
            </a:r>
          </a:p>
        </p:txBody>
      </p:sp>
      <p:sp>
        <p:nvSpPr>
          <p:cNvPr id="15" name="TextBox 14"/>
          <p:cNvSpPr txBox="1"/>
          <p:nvPr/>
        </p:nvSpPr>
        <p:spPr>
          <a:xfrm>
            <a:off x="6620256" y="3108960"/>
            <a:ext cx="4636008" cy="1188720"/>
          </a:xfrm>
          <a:prstGeom prst="rect">
            <a:avLst/>
          </a:prstGeom>
          <a:noFill/>
        </p:spPr>
        <p:txBody>
          <a:bodyPr wrap="square" anchor="t" lIns="0" rIns="0" tIns="0" bIns="0">
            <a:spAutoFit/>
          </a:bodyPr>
          <a:lstStyle/>
          <a:p>
            <a:pPr algn="l">
              <a:spcBef>
                <a:spcPts val="0"/>
              </a:spcBef>
              <a:spcAft>
                <a:spcPts val="600"/>
              </a:spcAft>
            </a:pPr>
            <a:r>
              <a:rPr sz="1500" b="1">
                <a:solidFill>
                  <a:srgbClr val="FFFFFF"/>
                </a:solidFill>
                <a:latin typeface="Arial"/>
              </a:rPr>
              <a:t>Minimum 75% attendance</a:t>
            </a:r>
          </a:p>
          <a:p>
            <a:pPr algn="l">
              <a:spcBef>
                <a:spcPts val="0"/>
              </a:spcBef>
              <a:spcAft>
                <a:spcPts val="600"/>
              </a:spcAft>
            </a:pPr>
            <a:r>
              <a:rPr sz="1300" b="0">
                <a:solidFill>
                  <a:srgbClr val="CFE0FB"/>
                </a:solidFill>
                <a:latin typeface="Arial"/>
              </a:rPr>
              <a:t>Based on SSG digital attendance records.</a:t>
            </a:r>
          </a:p>
        </p:txBody>
      </p:sp>
      <p:sp>
        <p:nvSpPr>
          <p:cNvPr id="16" name="TextBox 15"/>
          <p:cNvSpPr txBox="1"/>
          <p:nvPr/>
        </p:nvSpPr>
        <p:spPr>
          <a:xfrm>
            <a:off x="6620256" y="4297680"/>
            <a:ext cx="4636008" cy="1188720"/>
          </a:xfrm>
          <a:prstGeom prst="rect">
            <a:avLst/>
          </a:prstGeom>
          <a:noFill/>
        </p:spPr>
        <p:txBody>
          <a:bodyPr wrap="square" anchor="t" lIns="0" rIns="0" tIns="0" bIns="0">
            <a:spAutoFit/>
          </a:bodyPr>
          <a:lstStyle/>
          <a:p>
            <a:pPr algn="l">
              <a:spcBef>
                <a:spcPts val="0"/>
              </a:spcBef>
              <a:spcAft>
                <a:spcPts val="600"/>
              </a:spcAft>
            </a:pPr>
            <a:r>
              <a:rPr sz="1500" b="1">
                <a:solidFill>
                  <a:srgbClr val="FFFFFF"/>
                </a:solidFill>
                <a:latin typeface="Arial"/>
              </a:rPr>
              <a:t>Assessed as Competent</a:t>
            </a:r>
          </a:p>
          <a:p>
            <a:pPr algn="l">
              <a:spcBef>
                <a:spcPts val="0"/>
              </a:spcBef>
              <a:spcAft>
                <a:spcPts val="600"/>
              </a:spcAft>
            </a:pPr>
            <a:r>
              <a:rPr sz="1300" b="0">
                <a:solidFill>
                  <a:srgbClr val="CFE0FB"/>
                </a:solidFill>
                <a:latin typeface="Arial"/>
              </a:rPr>
              <a:t>Pass the written / MCQ assessment.</a:t>
            </a:r>
          </a:p>
        </p:txBody>
      </p:sp>
      <p:sp>
        <p:nvSpPr>
          <p:cNvPr id="17" name="TextBox 16"/>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8" name="TextBox 17"/>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9" name="TextBox 18"/>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9</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ASSESSMENT RULES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Briefing for Assessment</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1737360"/>
            <a:ext cx="3368040" cy="1783080"/>
          </a:xfrm>
          <a:prstGeom prst="roundRect">
            <a:avLst>
              <a:gd name="adj" fmla="val 5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24128" y="1984248"/>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ic_br1.png"/>
          <p:cNvPicPr>
            <a:picLocks noChangeAspect="1"/>
          </p:cNvPicPr>
          <p:nvPr/>
        </p:nvPicPr>
        <p:blipFill>
          <a:blip r:embed="rId2"/>
          <a:stretch>
            <a:fillRect/>
          </a:stretch>
        </p:blipFill>
        <p:spPr>
          <a:xfrm>
            <a:off x="1177198" y="2137318"/>
            <a:ext cx="260788" cy="260788"/>
          </a:xfrm>
          <a:prstGeom prst="rect">
            <a:avLst/>
          </a:prstGeom>
        </p:spPr>
      </p:pic>
      <p:sp>
        <p:nvSpPr>
          <p:cNvPr id="10" name="TextBox 9"/>
          <p:cNvSpPr txBox="1"/>
          <p:nvPr/>
        </p:nvSpPr>
        <p:spPr>
          <a:xfrm>
            <a:off x="1755648" y="1984248"/>
            <a:ext cx="2545080" cy="566928"/>
          </a:xfrm>
          <a:prstGeom prst="rect">
            <a:avLst/>
          </a:prstGeom>
          <a:noFill/>
        </p:spPr>
        <p:txBody>
          <a:bodyPr wrap="square" anchor="ctr" lIns="0" rIns="0" tIns="0" bIns="0">
            <a:spAutoFit/>
          </a:bodyPr>
          <a:lstStyle/>
          <a:p>
            <a:pPr algn="l">
              <a:spcBef>
                <a:spcPts val="0"/>
              </a:spcBef>
              <a:spcAft>
                <a:spcPts val="400"/>
              </a:spcAft>
            </a:pPr>
            <a:r>
              <a:rPr sz="1500" b="1">
                <a:solidFill>
                  <a:srgbClr val="161B26"/>
                </a:solidFill>
                <a:latin typeface="Arial"/>
              </a:rPr>
              <a:t>Clear your space</a:t>
            </a:r>
          </a:p>
        </p:txBody>
      </p:sp>
      <p:sp>
        <p:nvSpPr>
          <p:cNvPr id="11" name="TextBox 10"/>
          <p:cNvSpPr txBox="1"/>
          <p:nvPr/>
        </p:nvSpPr>
        <p:spPr>
          <a:xfrm>
            <a:off x="1024128" y="2697480"/>
            <a:ext cx="2874264" cy="731520"/>
          </a:xfrm>
          <a:prstGeom prst="rect">
            <a:avLst/>
          </a:prstGeom>
          <a:noFill/>
        </p:spPr>
        <p:txBody>
          <a:bodyPr wrap="square" anchor="t" lIns="0" rIns="0" tIns="0" bIns="0">
            <a:spAutoFit/>
          </a:bodyPr>
          <a:lstStyle/>
          <a:p>
            <a:pPr algn="l">
              <a:spcBef>
                <a:spcPts val="0"/>
              </a:spcBef>
              <a:spcAft>
                <a:spcPts val="400"/>
              </a:spcAft>
            </a:pPr>
            <a:r>
              <a:rPr sz="1200" b="0">
                <a:solidFill>
                  <a:srgbClr val="5B6372"/>
                </a:solidFill>
                <a:latin typeface="Arial"/>
              </a:rPr>
              <a:t>Keep only approved materials on the table.</a:t>
            </a:r>
          </a:p>
        </p:txBody>
      </p:sp>
      <p:sp>
        <p:nvSpPr>
          <p:cNvPr id="12" name="Rounded Rectangle 11"/>
          <p:cNvSpPr/>
          <p:nvPr/>
        </p:nvSpPr>
        <p:spPr>
          <a:xfrm>
            <a:off x="4419600" y="1737360"/>
            <a:ext cx="3368040" cy="1783080"/>
          </a:xfrm>
          <a:prstGeom prst="roundRect">
            <a:avLst>
              <a:gd name="adj" fmla="val 5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666488" y="1984248"/>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ic_br2.png"/>
          <p:cNvPicPr>
            <a:picLocks noChangeAspect="1"/>
          </p:cNvPicPr>
          <p:nvPr/>
        </p:nvPicPr>
        <p:blipFill>
          <a:blip r:embed="rId3"/>
          <a:stretch>
            <a:fillRect/>
          </a:stretch>
        </p:blipFill>
        <p:spPr>
          <a:xfrm>
            <a:off x="4819558" y="2137318"/>
            <a:ext cx="260788" cy="260788"/>
          </a:xfrm>
          <a:prstGeom prst="rect">
            <a:avLst/>
          </a:prstGeom>
        </p:spPr>
      </p:pic>
      <p:sp>
        <p:nvSpPr>
          <p:cNvPr id="15" name="TextBox 14"/>
          <p:cNvSpPr txBox="1"/>
          <p:nvPr/>
        </p:nvSpPr>
        <p:spPr>
          <a:xfrm>
            <a:off x="5398008" y="1984248"/>
            <a:ext cx="2545080" cy="566928"/>
          </a:xfrm>
          <a:prstGeom prst="rect">
            <a:avLst/>
          </a:prstGeom>
          <a:noFill/>
        </p:spPr>
        <p:txBody>
          <a:bodyPr wrap="square" anchor="ctr" lIns="0" rIns="0" tIns="0" bIns="0">
            <a:spAutoFit/>
          </a:bodyPr>
          <a:lstStyle/>
          <a:p>
            <a:pPr algn="l">
              <a:spcBef>
                <a:spcPts val="0"/>
              </a:spcBef>
              <a:spcAft>
                <a:spcPts val="400"/>
              </a:spcAft>
            </a:pPr>
            <a:r>
              <a:rPr sz="1500" b="1">
                <a:solidFill>
                  <a:srgbClr val="161B26"/>
                </a:solidFill>
                <a:latin typeface="Arial"/>
              </a:rPr>
              <a:t>No recording</a:t>
            </a:r>
          </a:p>
        </p:txBody>
      </p:sp>
      <p:sp>
        <p:nvSpPr>
          <p:cNvPr id="16" name="TextBox 15"/>
          <p:cNvSpPr txBox="1"/>
          <p:nvPr/>
        </p:nvSpPr>
        <p:spPr>
          <a:xfrm>
            <a:off x="4666488" y="2697480"/>
            <a:ext cx="2874264" cy="731520"/>
          </a:xfrm>
          <a:prstGeom prst="rect">
            <a:avLst/>
          </a:prstGeom>
          <a:noFill/>
        </p:spPr>
        <p:txBody>
          <a:bodyPr wrap="square" anchor="t" lIns="0" rIns="0" tIns="0" bIns="0">
            <a:spAutoFit/>
          </a:bodyPr>
          <a:lstStyle/>
          <a:p>
            <a:pPr algn="l">
              <a:spcBef>
                <a:spcPts val="0"/>
              </a:spcBef>
              <a:spcAft>
                <a:spcPts val="400"/>
              </a:spcAft>
            </a:pPr>
            <a:r>
              <a:rPr sz="1200" b="0">
                <a:solidFill>
                  <a:srgbClr val="5B6372"/>
                </a:solidFill>
                <a:latin typeface="Arial"/>
              </a:rPr>
              <a:t>No photos of the assessment.</a:t>
            </a:r>
          </a:p>
        </p:txBody>
      </p:sp>
      <p:sp>
        <p:nvSpPr>
          <p:cNvPr id="17" name="Rounded Rectangle 16"/>
          <p:cNvSpPr/>
          <p:nvPr/>
        </p:nvSpPr>
        <p:spPr>
          <a:xfrm>
            <a:off x="8061960" y="1737360"/>
            <a:ext cx="3368040" cy="1783080"/>
          </a:xfrm>
          <a:prstGeom prst="roundRect">
            <a:avLst>
              <a:gd name="adj" fmla="val 5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8308848" y="1984248"/>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ic_br3.png"/>
          <p:cNvPicPr>
            <a:picLocks noChangeAspect="1"/>
          </p:cNvPicPr>
          <p:nvPr/>
        </p:nvPicPr>
        <p:blipFill>
          <a:blip r:embed="rId4"/>
          <a:stretch>
            <a:fillRect/>
          </a:stretch>
        </p:blipFill>
        <p:spPr>
          <a:xfrm>
            <a:off x="8461918" y="2137318"/>
            <a:ext cx="260788" cy="260788"/>
          </a:xfrm>
          <a:prstGeom prst="rect">
            <a:avLst/>
          </a:prstGeom>
        </p:spPr>
      </p:pic>
      <p:sp>
        <p:nvSpPr>
          <p:cNvPr id="20" name="TextBox 19"/>
          <p:cNvSpPr txBox="1"/>
          <p:nvPr/>
        </p:nvSpPr>
        <p:spPr>
          <a:xfrm>
            <a:off x="9040368" y="1984248"/>
            <a:ext cx="2545080" cy="566928"/>
          </a:xfrm>
          <a:prstGeom prst="rect">
            <a:avLst/>
          </a:prstGeom>
          <a:noFill/>
        </p:spPr>
        <p:txBody>
          <a:bodyPr wrap="square" anchor="ctr" lIns="0" rIns="0" tIns="0" bIns="0">
            <a:spAutoFit/>
          </a:bodyPr>
          <a:lstStyle/>
          <a:p>
            <a:pPr algn="l">
              <a:spcBef>
                <a:spcPts val="0"/>
              </a:spcBef>
              <a:spcAft>
                <a:spcPts val="400"/>
              </a:spcAft>
            </a:pPr>
            <a:r>
              <a:rPr sz="1500" b="1">
                <a:solidFill>
                  <a:srgbClr val="161B26"/>
                </a:solidFill>
                <a:latin typeface="Arial"/>
              </a:rPr>
              <a:t>Work individually</a:t>
            </a:r>
          </a:p>
        </p:txBody>
      </p:sp>
      <p:sp>
        <p:nvSpPr>
          <p:cNvPr id="21" name="TextBox 20"/>
          <p:cNvSpPr txBox="1"/>
          <p:nvPr/>
        </p:nvSpPr>
        <p:spPr>
          <a:xfrm>
            <a:off x="8308848" y="2697480"/>
            <a:ext cx="2874264" cy="731520"/>
          </a:xfrm>
          <a:prstGeom prst="rect">
            <a:avLst/>
          </a:prstGeom>
          <a:noFill/>
        </p:spPr>
        <p:txBody>
          <a:bodyPr wrap="square" anchor="t" lIns="0" rIns="0" tIns="0" bIns="0">
            <a:spAutoFit/>
          </a:bodyPr>
          <a:lstStyle/>
          <a:p>
            <a:pPr algn="l">
              <a:spcBef>
                <a:spcPts val="0"/>
              </a:spcBef>
              <a:spcAft>
                <a:spcPts val="400"/>
              </a:spcAft>
            </a:pPr>
            <a:r>
              <a:rPr sz="1200" b="0">
                <a:solidFill>
                  <a:srgbClr val="5B6372"/>
                </a:solidFill>
                <a:latin typeface="Arial"/>
              </a:rPr>
              <a:t>No discussion during the assessment.</a:t>
            </a:r>
          </a:p>
        </p:txBody>
      </p:sp>
      <p:sp>
        <p:nvSpPr>
          <p:cNvPr id="22" name="Rounded Rectangle 21"/>
          <p:cNvSpPr/>
          <p:nvPr/>
        </p:nvSpPr>
        <p:spPr>
          <a:xfrm>
            <a:off x="777240" y="3767328"/>
            <a:ext cx="3368040" cy="1783080"/>
          </a:xfrm>
          <a:prstGeom prst="roundRect">
            <a:avLst>
              <a:gd name="adj" fmla="val 5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1024128" y="401421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4" name="Picture 23" descr="ic_br4.png"/>
          <p:cNvPicPr>
            <a:picLocks noChangeAspect="1"/>
          </p:cNvPicPr>
          <p:nvPr/>
        </p:nvPicPr>
        <p:blipFill>
          <a:blip r:embed="rId5"/>
          <a:stretch>
            <a:fillRect/>
          </a:stretch>
        </p:blipFill>
        <p:spPr>
          <a:xfrm>
            <a:off x="1177198" y="4167286"/>
            <a:ext cx="260788" cy="260788"/>
          </a:xfrm>
          <a:prstGeom prst="rect">
            <a:avLst/>
          </a:prstGeom>
        </p:spPr>
      </p:pic>
      <p:sp>
        <p:nvSpPr>
          <p:cNvPr id="25" name="TextBox 24"/>
          <p:cNvSpPr txBox="1"/>
          <p:nvPr/>
        </p:nvSpPr>
        <p:spPr>
          <a:xfrm>
            <a:off x="1755648" y="4014216"/>
            <a:ext cx="2545080" cy="566928"/>
          </a:xfrm>
          <a:prstGeom prst="rect">
            <a:avLst/>
          </a:prstGeom>
          <a:noFill/>
        </p:spPr>
        <p:txBody>
          <a:bodyPr wrap="square" anchor="ctr" lIns="0" rIns="0" tIns="0" bIns="0">
            <a:spAutoFit/>
          </a:bodyPr>
          <a:lstStyle/>
          <a:p>
            <a:pPr algn="l">
              <a:spcBef>
                <a:spcPts val="0"/>
              </a:spcBef>
              <a:spcAft>
                <a:spcPts val="400"/>
              </a:spcAft>
            </a:pPr>
            <a:r>
              <a:rPr sz="1500" b="1">
                <a:solidFill>
                  <a:srgbClr val="161B26"/>
                </a:solidFill>
                <a:latin typeface="Arial"/>
              </a:rPr>
              <a:t>Use the LMS</a:t>
            </a:r>
          </a:p>
        </p:txBody>
      </p:sp>
      <p:sp>
        <p:nvSpPr>
          <p:cNvPr id="26" name="TextBox 25"/>
          <p:cNvSpPr txBox="1"/>
          <p:nvPr/>
        </p:nvSpPr>
        <p:spPr>
          <a:xfrm>
            <a:off x="1024128" y="4727448"/>
            <a:ext cx="2874264" cy="731520"/>
          </a:xfrm>
          <a:prstGeom prst="rect">
            <a:avLst/>
          </a:prstGeom>
          <a:noFill/>
        </p:spPr>
        <p:txBody>
          <a:bodyPr wrap="square" anchor="t" lIns="0" rIns="0" tIns="0" bIns="0">
            <a:spAutoFit/>
          </a:bodyPr>
          <a:lstStyle/>
          <a:p>
            <a:pPr algn="l">
              <a:spcBef>
                <a:spcPts val="0"/>
              </a:spcBef>
              <a:spcAft>
                <a:spcPts val="400"/>
              </a:spcAft>
            </a:pPr>
            <a:r>
              <a:rPr sz="1200" b="0">
                <a:solidFill>
                  <a:srgbClr val="5B6372"/>
                </a:solidFill>
                <a:latin typeface="Arial"/>
              </a:rPr>
              <a:t>The assessment is delivered online.</a:t>
            </a:r>
          </a:p>
        </p:txBody>
      </p:sp>
      <p:sp>
        <p:nvSpPr>
          <p:cNvPr id="27" name="Rounded Rectangle 26"/>
          <p:cNvSpPr/>
          <p:nvPr/>
        </p:nvSpPr>
        <p:spPr>
          <a:xfrm>
            <a:off x="4419600" y="3767328"/>
            <a:ext cx="3368040" cy="1783080"/>
          </a:xfrm>
          <a:prstGeom prst="roundRect">
            <a:avLst>
              <a:gd name="adj" fmla="val 5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4666488" y="401421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9" name="Picture 28" descr="ic_gr4.png"/>
          <p:cNvPicPr>
            <a:picLocks noChangeAspect="1"/>
          </p:cNvPicPr>
          <p:nvPr/>
        </p:nvPicPr>
        <p:blipFill>
          <a:blip r:embed="rId6"/>
          <a:stretch>
            <a:fillRect/>
          </a:stretch>
        </p:blipFill>
        <p:spPr>
          <a:xfrm>
            <a:off x="4819558" y="4167286"/>
            <a:ext cx="260788" cy="260788"/>
          </a:xfrm>
          <a:prstGeom prst="rect">
            <a:avLst/>
          </a:prstGeom>
        </p:spPr>
      </p:pic>
      <p:sp>
        <p:nvSpPr>
          <p:cNvPr id="30" name="TextBox 29"/>
          <p:cNvSpPr txBox="1"/>
          <p:nvPr/>
        </p:nvSpPr>
        <p:spPr>
          <a:xfrm>
            <a:off x="5398008" y="4014216"/>
            <a:ext cx="2545080" cy="566928"/>
          </a:xfrm>
          <a:prstGeom prst="rect">
            <a:avLst/>
          </a:prstGeom>
          <a:noFill/>
        </p:spPr>
        <p:txBody>
          <a:bodyPr wrap="square" anchor="ctr" lIns="0" rIns="0" tIns="0" bIns="0">
            <a:spAutoFit/>
          </a:bodyPr>
          <a:lstStyle/>
          <a:p>
            <a:pPr algn="l">
              <a:spcBef>
                <a:spcPts val="0"/>
              </a:spcBef>
              <a:spcAft>
                <a:spcPts val="400"/>
              </a:spcAft>
            </a:pPr>
            <a:r>
              <a:rPr sz="1500" b="1">
                <a:solidFill>
                  <a:srgbClr val="161B26"/>
                </a:solidFill>
                <a:latin typeface="Arial"/>
              </a:rPr>
              <a:t>Open book</a:t>
            </a:r>
          </a:p>
        </p:txBody>
      </p:sp>
      <p:sp>
        <p:nvSpPr>
          <p:cNvPr id="31" name="TextBox 30"/>
          <p:cNvSpPr txBox="1"/>
          <p:nvPr/>
        </p:nvSpPr>
        <p:spPr>
          <a:xfrm>
            <a:off x="4666488" y="4727448"/>
            <a:ext cx="2874264" cy="731520"/>
          </a:xfrm>
          <a:prstGeom prst="rect">
            <a:avLst/>
          </a:prstGeom>
          <a:noFill/>
        </p:spPr>
        <p:txBody>
          <a:bodyPr wrap="square" anchor="t" lIns="0" rIns="0" tIns="0" bIns="0">
            <a:spAutoFit/>
          </a:bodyPr>
          <a:lstStyle/>
          <a:p>
            <a:pPr algn="l">
              <a:spcBef>
                <a:spcPts val="0"/>
              </a:spcBef>
              <a:spcAft>
                <a:spcPts val="400"/>
              </a:spcAft>
            </a:pPr>
            <a:r>
              <a:rPr sz="1200" b="0">
                <a:solidFill>
                  <a:srgbClr val="5B6372"/>
                </a:solidFill>
                <a:latin typeface="Arial"/>
              </a:rPr>
              <a:t>Slides, Learner Guide &amp; kubernetes.io are allowed.</a:t>
            </a:r>
          </a:p>
        </p:txBody>
      </p:sp>
      <p:sp>
        <p:nvSpPr>
          <p:cNvPr id="32" name="Rounded Rectangle 31"/>
          <p:cNvSpPr/>
          <p:nvPr/>
        </p:nvSpPr>
        <p:spPr>
          <a:xfrm>
            <a:off x="8061960" y="3767328"/>
            <a:ext cx="3368040" cy="1783080"/>
          </a:xfrm>
          <a:prstGeom prst="roundRect">
            <a:avLst>
              <a:gd name="adj" fmla="val 5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8308848" y="401421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4" name="Picture 33" descr="ic_br6.png"/>
          <p:cNvPicPr>
            <a:picLocks noChangeAspect="1"/>
          </p:cNvPicPr>
          <p:nvPr/>
        </p:nvPicPr>
        <p:blipFill>
          <a:blip r:embed="rId7"/>
          <a:stretch>
            <a:fillRect/>
          </a:stretch>
        </p:blipFill>
        <p:spPr>
          <a:xfrm>
            <a:off x="8461918" y="4167286"/>
            <a:ext cx="260788" cy="260788"/>
          </a:xfrm>
          <a:prstGeom prst="rect">
            <a:avLst/>
          </a:prstGeom>
        </p:spPr>
      </p:pic>
      <p:sp>
        <p:nvSpPr>
          <p:cNvPr id="35" name="TextBox 34"/>
          <p:cNvSpPr txBox="1"/>
          <p:nvPr/>
        </p:nvSpPr>
        <p:spPr>
          <a:xfrm>
            <a:off x="9040368" y="4014216"/>
            <a:ext cx="2545080" cy="566928"/>
          </a:xfrm>
          <a:prstGeom prst="rect">
            <a:avLst/>
          </a:prstGeom>
          <a:noFill/>
        </p:spPr>
        <p:txBody>
          <a:bodyPr wrap="square" anchor="ctr" lIns="0" rIns="0" tIns="0" bIns="0">
            <a:spAutoFit/>
          </a:bodyPr>
          <a:lstStyle/>
          <a:p>
            <a:pPr algn="l">
              <a:spcBef>
                <a:spcPts val="0"/>
              </a:spcBef>
              <a:spcAft>
                <a:spcPts val="400"/>
              </a:spcAft>
            </a:pPr>
            <a:r>
              <a:rPr sz="1500" b="1">
                <a:solidFill>
                  <a:srgbClr val="161B26"/>
                </a:solidFill>
                <a:latin typeface="Arial"/>
              </a:rPr>
              <a:t>Time's up</a:t>
            </a:r>
          </a:p>
        </p:txBody>
      </p:sp>
      <p:sp>
        <p:nvSpPr>
          <p:cNvPr id="36" name="TextBox 35"/>
          <p:cNvSpPr txBox="1"/>
          <p:nvPr/>
        </p:nvSpPr>
        <p:spPr>
          <a:xfrm>
            <a:off x="8308848" y="4727448"/>
            <a:ext cx="2874264" cy="731520"/>
          </a:xfrm>
          <a:prstGeom prst="rect">
            <a:avLst/>
          </a:prstGeom>
          <a:noFill/>
        </p:spPr>
        <p:txBody>
          <a:bodyPr wrap="square" anchor="t" lIns="0" rIns="0" tIns="0" bIns="0">
            <a:spAutoFit/>
          </a:bodyPr>
          <a:lstStyle/>
          <a:p>
            <a:pPr algn="l">
              <a:spcBef>
                <a:spcPts val="0"/>
              </a:spcBef>
              <a:spcAft>
                <a:spcPts val="400"/>
              </a:spcAft>
            </a:pPr>
            <a:r>
              <a:rPr sz="1200" b="0">
                <a:solidFill>
                  <a:srgbClr val="5B6372"/>
                </a:solidFill>
                <a:latin typeface="Arial"/>
              </a:rPr>
              <a:t>Submit when time is up.</a:t>
            </a:r>
          </a:p>
        </p:txBody>
      </p:sp>
      <p:sp>
        <p:nvSpPr>
          <p:cNvPr id="37" name="TextBox 36"/>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38" name="TextBox 37"/>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39" name="TextBox 38"/>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lIns="0" rIns="0" tIns="0" bIns="0">
            <a:spAutoFit/>
          </a:bodyPr>
          <a:lstStyle/>
          <a:p>
            <a:pPr algn="l">
              <a:spcBef>
                <a:spcPts val="0"/>
              </a:spcBef>
              <a:spcAft>
                <a:spcPts val="400"/>
              </a:spcAft>
            </a:pPr>
            <a:r>
              <a:rPr sz="1800" b="1">
                <a:solidFill>
                  <a:srgbClr val="1F6FEB"/>
                </a:solidFill>
                <a:latin typeface="Arial"/>
              </a:rPr>
              <a:t>DAY 1</a:t>
            </a:r>
          </a:p>
        </p:txBody>
      </p:sp>
      <p:sp>
        <p:nvSpPr>
          <p:cNvPr id="6" name="TextBox 5"/>
          <p:cNvSpPr txBox="1"/>
          <p:nvPr/>
        </p:nvSpPr>
        <p:spPr>
          <a:xfrm>
            <a:off x="1143000" y="2743200"/>
            <a:ext cx="10424160" cy="1463040"/>
          </a:xfrm>
          <a:prstGeom prst="rect">
            <a:avLst/>
          </a:prstGeom>
          <a:noFill/>
        </p:spPr>
        <p:txBody>
          <a:bodyPr wrap="square" anchor="t" lIns="0" rIns="0" tIns="0" bIns="0">
            <a:spAutoFit/>
          </a:bodyPr>
          <a:lstStyle/>
          <a:p>
            <a:pPr algn="l">
              <a:spcBef>
                <a:spcPts val="0"/>
              </a:spcBef>
              <a:spcAft>
                <a:spcPts val="400"/>
              </a:spcAft>
            </a:pPr>
            <a:r>
              <a:rPr sz="4000" b="1">
                <a:solidFill>
                  <a:srgbClr val="161B26"/>
                </a:solidFill>
                <a:latin typeface="Arial"/>
              </a:rPr>
              <a:t>Cluster Architecture, Installation &amp; Configuration</a:t>
            </a:r>
          </a:p>
        </p:txBody>
      </p:sp>
      <p:sp>
        <p:nvSpPr>
          <p:cNvPr id="7" name="TextBox 6"/>
          <p:cNvSpPr txBox="1"/>
          <p:nvPr/>
        </p:nvSpPr>
        <p:spPr>
          <a:xfrm>
            <a:off x="1161288" y="4114800"/>
            <a:ext cx="10058400" cy="731520"/>
          </a:xfrm>
          <a:prstGeom prst="rect">
            <a:avLst/>
          </a:prstGeom>
          <a:noFill/>
        </p:spPr>
        <p:txBody>
          <a:bodyPr wrap="square" anchor="t" lIns="0" rIns="0" tIns="0" bIns="0">
            <a:spAutoFit/>
          </a:bodyPr>
          <a:lstStyle/>
          <a:p>
            <a:pPr algn="l">
              <a:spcBef>
                <a:spcPts val="0"/>
              </a:spcBef>
              <a:spcAft>
                <a:spcPts val="400"/>
              </a:spcAft>
            </a:pPr>
            <a:r>
              <a:rPr sz="1600" b="0">
                <a:solidFill>
                  <a:srgbClr val="5B6372"/>
                </a:solidFill>
                <a:latin typeface="Arial"/>
              </a:rPr>
              <a:t>Domain 1 (25%) — Labs 1–8  ·  kubeadm · CNI · upgrade · HA · Helm · Kustomize · RBAC</a:t>
            </a:r>
          </a:p>
        </p:txBody>
      </p:sp>
      <p:sp>
        <p:nvSpPr>
          <p:cNvPr id="8" name="TextBox 7"/>
          <p:cNvSpPr txBox="1"/>
          <p:nvPr/>
        </p:nvSpPr>
        <p:spPr>
          <a:xfrm>
            <a:off x="9418320" y="640080"/>
            <a:ext cx="2286000" cy="1463040"/>
          </a:xfrm>
          <a:prstGeom prst="rect">
            <a:avLst/>
          </a:prstGeom>
          <a:noFill/>
        </p:spPr>
        <p:txBody>
          <a:bodyPr wrap="square" anchor="t" lIns="0" rIns="0" tIns="0" bIns="0">
            <a:spAutoFit/>
          </a:bodyPr>
          <a:lstStyle/>
          <a:p>
            <a:pPr algn="r">
              <a:spcBef>
                <a:spcPts val="0"/>
              </a:spcBef>
              <a:spcAft>
                <a:spcPts val="400"/>
              </a:spcAft>
            </a:pPr>
            <a:r>
              <a:rPr sz="7200" b="1">
                <a:solidFill>
                  <a:srgbClr val="E2E8F0"/>
                </a:solidFill>
                <a:latin typeface="Arial"/>
              </a:rPr>
              <a:t>01</a:t>
            </a:r>
          </a:p>
        </p:txBody>
      </p:sp>
      <p:sp>
        <p:nvSpPr>
          <p:cNvPr id="9" name="TextBox 8"/>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0" name="TextBox 9"/>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1" name="TextBox 10"/>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11</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lIns="0" rIns="0" tIns="0" bIns="0">
            <a:spAutoFit/>
          </a:bodyPr>
          <a:lstStyle/>
          <a:p>
            <a:pPr algn="l">
              <a:spcBef>
                <a:spcPts val="0"/>
              </a:spcBef>
              <a:spcAft>
                <a:spcPts val="400"/>
              </a:spcAft>
            </a:pPr>
            <a:r>
              <a:rPr sz="1800" b="1">
                <a:solidFill>
                  <a:srgbClr val="1F6FEB"/>
                </a:solidFill>
                <a:latin typeface="Arial"/>
              </a:rPr>
              <a:t>TOPIC 1</a:t>
            </a:r>
          </a:p>
        </p:txBody>
      </p:sp>
      <p:sp>
        <p:nvSpPr>
          <p:cNvPr id="6" name="TextBox 5"/>
          <p:cNvSpPr txBox="1"/>
          <p:nvPr/>
        </p:nvSpPr>
        <p:spPr>
          <a:xfrm>
            <a:off x="1143000" y="2743200"/>
            <a:ext cx="10424160" cy="1463040"/>
          </a:xfrm>
          <a:prstGeom prst="rect">
            <a:avLst/>
          </a:prstGeom>
          <a:noFill/>
        </p:spPr>
        <p:txBody>
          <a:bodyPr wrap="square" anchor="t" lIns="0" rIns="0" tIns="0" bIns="0">
            <a:spAutoFit/>
          </a:bodyPr>
          <a:lstStyle/>
          <a:p>
            <a:pPr algn="l">
              <a:spcBef>
                <a:spcPts val="0"/>
              </a:spcBef>
              <a:spcAft>
                <a:spcPts val="400"/>
              </a:spcAft>
            </a:pPr>
            <a:r>
              <a:rPr sz="4000" b="1">
                <a:solidFill>
                  <a:srgbClr val="161B26"/>
                </a:solidFill>
                <a:latin typeface="Arial"/>
              </a:rPr>
              <a:t>Kubernetes Architecture</a:t>
            </a:r>
          </a:p>
        </p:txBody>
      </p:sp>
      <p:sp>
        <p:nvSpPr>
          <p:cNvPr id="7" name="TextBox 6"/>
          <p:cNvSpPr txBox="1"/>
          <p:nvPr/>
        </p:nvSpPr>
        <p:spPr>
          <a:xfrm>
            <a:off x="1161288" y="4114800"/>
            <a:ext cx="10058400" cy="731520"/>
          </a:xfrm>
          <a:prstGeom prst="rect">
            <a:avLst/>
          </a:prstGeom>
          <a:noFill/>
        </p:spPr>
        <p:txBody>
          <a:bodyPr wrap="square" anchor="t" lIns="0" rIns="0" tIns="0" bIns="0">
            <a:spAutoFit/>
          </a:bodyPr>
          <a:lstStyle/>
          <a:p>
            <a:pPr algn="l">
              <a:spcBef>
                <a:spcPts val="0"/>
              </a:spcBef>
              <a:spcAft>
                <a:spcPts val="400"/>
              </a:spcAft>
            </a:pPr>
            <a:r>
              <a:rPr sz="1600" b="0">
                <a:solidFill>
                  <a:srgbClr val="5B6372"/>
                </a:solidFill>
                <a:latin typeface="Arial"/>
              </a:rPr>
              <a:t>The control plane, worker nodes and their components</a:t>
            </a:r>
          </a:p>
        </p:txBody>
      </p:sp>
      <p:sp>
        <p:nvSpPr>
          <p:cNvPr id="8" name="TextBox 7"/>
          <p:cNvSpPr txBox="1"/>
          <p:nvPr/>
        </p:nvSpPr>
        <p:spPr>
          <a:xfrm>
            <a:off x="9418320" y="640080"/>
            <a:ext cx="2286000" cy="1463040"/>
          </a:xfrm>
          <a:prstGeom prst="rect">
            <a:avLst/>
          </a:prstGeom>
          <a:noFill/>
        </p:spPr>
        <p:txBody>
          <a:bodyPr wrap="square" anchor="t" lIns="0" rIns="0" tIns="0" bIns="0">
            <a:spAutoFit/>
          </a:bodyPr>
          <a:lstStyle/>
          <a:p>
            <a:pPr algn="r">
              <a:spcBef>
                <a:spcPts val="0"/>
              </a:spcBef>
              <a:spcAft>
                <a:spcPts val="400"/>
              </a:spcAft>
            </a:pPr>
            <a:r>
              <a:rPr sz="7200" b="1">
                <a:solidFill>
                  <a:srgbClr val="E2E8F0"/>
                </a:solidFill>
                <a:latin typeface="Arial"/>
              </a:rPr>
              <a:t/>
            </a:r>
          </a:p>
        </p:txBody>
      </p:sp>
      <p:sp>
        <p:nvSpPr>
          <p:cNvPr id="9" name="TextBox 8"/>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0" name="TextBox 9"/>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1" name="TextBox 10"/>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12</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CLUSTER ANATOMY</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What Makes a Kubernetes Cluster?</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07040" cy="4480560"/>
          </a:xfrm>
          <a:prstGeom prst="rect">
            <a:avLst/>
          </a:prstGeom>
          <a:noFill/>
        </p:spPr>
        <p:txBody>
          <a:bodyPr wrap="square" lIns="0" rIns="0">
            <a:spAutoFit/>
          </a:bodyPr>
          <a:lstStyle/>
          <a:p>
            <a:pPr>
              <a:spcBef>
                <a:spcPts val="0"/>
              </a:spcBef>
              <a:spcAft>
                <a:spcPts val="1000"/>
              </a:spcAft>
            </a:pPr>
            <a:r>
              <a:rPr sz="1900" b="1">
                <a:solidFill>
                  <a:srgbClr val="1F6FEB"/>
                </a:solidFill>
                <a:latin typeface="Arial"/>
              </a:rPr>
              <a:t>•  </a:t>
            </a:r>
            <a:r>
              <a:rPr sz="1900">
                <a:solidFill>
                  <a:srgbClr val="161B26"/>
                </a:solidFill>
                <a:latin typeface="Arial"/>
              </a:rPr>
              <a:t>A Kubernetes cluster is a set of nodes: one or more control-plane nodes and worker nodes.</a:t>
            </a:r>
          </a:p>
          <a:p>
            <a:pPr>
              <a:spcBef>
                <a:spcPts val="0"/>
              </a:spcBef>
              <a:spcAft>
                <a:spcPts val="1000"/>
              </a:spcAft>
            </a:pPr>
            <a:r>
              <a:rPr sz="1900" b="1">
                <a:solidFill>
                  <a:srgbClr val="1F6FEB"/>
                </a:solidFill>
                <a:latin typeface="Arial"/>
              </a:rPr>
              <a:t>•  </a:t>
            </a:r>
            <a:r>
              <a:rPr sz="1900">
                <a:solidFill>
                  <a:srgbClr val="161B26"/>
                </a:solidFill>
                <a:latin typeface="Arial"/>
              </a:rPr>
              <a:t>The control plane stores cluster state in etcd and runs the scheduler and controller loops.</a:t>
            </a:r>
          </a:p>
          <a:p>
            <a:pPr>
              <a:spcBef>
                <a:spcPts val="0"/>
              </a:spcBef>
              <a:spcAft>
                <a:spcPts val="1000"/>
              </a:spcAft>
            </a:pPr>
            <a:r>
              <a:rPr sz="1900" b="1">
                <a:solidFill>
                  <a:srgbClr val="1F6FEB"/>
                </a:solidFill>
                <a:latin typeface="Arial"/>
              </a:rPr>
              <a:t>•  </a:t>
            </a:r>
            <a:r>
              <a:rPr sz="1900">
                <a:solidFill>
                  <a:srgbClr val="161B26"/>
                </a:solidFill>
                <a:latin typeface="Arial"/>
              </a:rPr>
              <a:t>Worker nodes run the kubelet (node agent), kube-proxy (service routing), container runtime and CNI plugin.</a:t>
            </a:r>
          </a:p>
          <a:p>
            <a:pPr>
              <a:spcBef>
                <a:spcPts val="0"/>
              </a:spcBef>
              <a:spcAft>
                <a:spcPts val="1000"/>
              </a:spcAft>
            </a:pPr>
            <a:r>
              <a:rPr sz="1900" b="1">
                <a:solidFill>
                  <a:srgbClr val="1F6FEB"/>
                </a:solidFill>
                <a:latin typeface="Arial"/>
              </a:rPr>
              <a:t>•  </a:t>
            </a:r>
            <a:r>
              <a:rPr sz="1900">
                <a:solidFill>
                  <a:srgbClr val="161B26"/>
                </a:solidFill>
                <a:latin typeface="Arial"/>
              </a:rPr>
              <a:t>The kube-apiserver is the single entry point — all tools (kubectl, controllers, kubelets) talk to it.</a:t>
            </a:r>
          </a:p>
        </p:txBody>
      </p:sp>
      <p:sp>
        <p:nvSpPr>
          <p:cNvPr id="8" name="TextBox 7"/>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9" name="TextBox 8"/>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13</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THE BRAIN OF THE CLUSTER</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Control Plane Components</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1783080"/>
            <a:ext cx="3337560" cy="4206240"/>
          </a:xfrm>
          <a:prstGeom prst="roundRect">
            <a:avLst>
              <a:gd name="adj" fmla="val 5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57400"/>
            <a:ext cx="2926080" cy="548640"/>
          </a:xfrm>
          <a:prstGeom prst="rect">
            <a:avLst/>
          </a:prstGeom>
          <a:noFill/>
        </p:spPr>
        <p:txBody>
          <a:bodyPr wrap="square" anchor="t" lIns="0" rIns="0" tIns="0" bIns="0">
            <a:spAutoFit/>
          </a:bodyPr>
          <a:lstStyle/>
          <a:p>
            <a:pPr algn="l">
              <a:spcBef>
                <a:spcPts val="0"/>
              </a:spcBef>
              <a:spcAft>
                <a:spcPts val="400"/>
              </a:spcAft>
            </a:pPr>
            <a:r>
              <a:rPr sz="1900" b="1">
                <a:solidFill>
                  <a:srgbClr val="1F6FEB"/>
                </a:solidFill>
                <a:latin typeface="Arial"/>
              </a:rPr>
              <a:t>kube-apiserver</a:t>
            </a:r>
          </a:p>
        </p:txBody>
      </p:sp>
      <p:sp>
        <p:nvSpPr>
          <p:cNvPr id="10" name="TextBox 9"/>
          <p:cNvSpPr txBox="1"/>
          <p:nvPr/>
        </p:nvSpPr>
        <p:spPr>
          <a:xfrm>
            <a:off x="1005840" y="2697480"/>
            <a:ext cx="2926080" cy="3108960"/>
          </a:xfrm>
          <a:prstGeom prst="rect">
            <a:avLst/>
          </a:prstGeom>
          <a:noFill/>
        </p:spPr>
        <p:txBody>
          <a:bodyPr wrap="square" lIns="0" rIns="0">
            <a:spAutoFit/>
          </a:bodyPr>
          <a:lstStyle/>
          <a:p>
            <a:pPr>
              <a:spcBef>
                <a:spcPts val="0"/>
              </a:spcBef>
              <a:spcAft>
                <a:spcPts val="900"/>
              </a:spcAft>
            </a:pPr>
            <a:r>
              <a:rPr sz="1400" b="1">
                <a:solidFill>
                  <a:srgbClr val="1F6FEB"/>
                </a:solidFill>
                <a:latin typeface="Arial"/>
              </a:rPr>
              <a:t>•  </a:t>
            </a:r>
            <a:r>
              <a:rPr sz="1400">
                <a:solidFill>
                  <a:srgbClr val="161B26"/>
                </a:solidFill>
                <a:latin typeface="Arial"/>
              </a:rPr>
              <a:t>REST gateway to etcd</a:t>
            </a:r>
          </a:p>
          <a:p>
            <a:pPr>
              <a:spcBef>
                <a:spcPts val="0"/>
              </a:spcBef>
              <a:spcAft>
                <a:spcPts val="900"/>
              </a:spcAft>
            </a:pPr>
            <a:r>
              <a:rPr sz="1400" b="1">
                <a:solidFill>
                  <a:srgbClr val="1F6FEB"/>
                </a:solidFill>
                <a:latin typeface="Arial"/>
              </a:rPr>
              <a:t>•  </a:t>
            </a:r>
            <a:r>
              <a:rPr sz="1400">
                <a:solidFill>
                  <a:srgbClr val="161B26"/>
                </a:solidFill>
                <a:latin typeface="Arial"/>
              </a:rPr>
              <a:t>AuthN + AuthZ + admission</a:t>
            </a:r>
          </a:p>
          <a:p>
            <a:pPr>
              <a:spcBef>
                <a:spcPts val="0"/>
              </a:spcBef>
              <a:spcAft>
                <a:spcPts val="900"/>
              </a:spcAft>
            </a:pPr>
            <a:r>
              <a:rPr sz="1400" b="1">
                <a:solidFill>
                  <a:srgbClr val="1F6FEB"/>
                </a:solidFill>
                <a:latin typeface="Arial"/>
              </a:rPr>
              <a:t>•  </a:t>
            </a:r>
            <a:r>
              <a:rPr sz="1400">
                <a:solidFill>
                  <a:srgbClr val="161B26"/>
                </a:solidFill>
                <a:latin typeface="Arial"/>
              </a:rPr>
              <a:t>All state changes go here</a:t>
            </a:r>
          </a:p>
        </p:txBody>
      </p:sp>
      <p:sp>
        <p:nvSpPr>
          <p:cNvPr id="11" name="Rounded Rectangle 10"/>
          <p:cNvSpPr/>
          <p:nvPr/>
        </p:nvSpPr>
        <p:spPr>
          <a:xfrm>
            <a:off x="4572000" y="1783080"/>
            <a:ext cx="3337560" cy="4206240"/>
          </a:xfrm>
          <a:prstGeom prst="roundRect">
            <a:avLst>
              <a:gd name="adj" fmla="val 5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57400"/>
            <a:ext cx="2926080" cy="548640"/>
          </a:xfrm>
          <a:prstGeom prst="rect">
            <a:avLst/>
          </a:prstGeom>
          <a:noFill/>
        </p:spPr>
        <p:txBody>
          <a:bodyPr wrap="square" anchor="t" lIns="0" rIns="0" tIns="0" bIns="0">
            <a:spAutoFit/>
          </a:bodyPr>
          <a:lstStyle/>
          <a:p>
            <a:pPr algn="l">
              <a:spcBef>
                <a:spcPts val="0"/>
              </a:spcBef>
              <a:spcAft>
                <a:spcPts val="400"/>
              </a:spcAft>
            </a:pPr>
            <a:r>
              <a:rPr sz="1900" b="1">
                <a:solidFill>
                  <a:srgbClr val="10B981"/>
                </a:solidFill>
                <a:latin typeface="Arial"/>
              </a:rPr>
              <a:t>kube-scheduler</a:t>
            </a:r>
          </a:p>
        </p:txBody>
      </p:sp>
      <p:sp>
        <p:nvSpPr>
          <p:cNvPr id="14" name="TextBox 13"/>
          <p:cNvSpPr txBox="1"/>
          <p:nvPr/>
        </p:nvSpPr>
        <p:spPr>
          <a:xfrm>
            <a:off x="4800600" y="2697480"/>
            <a:ext cx="2926080" cy="3108960"/>
          </a:xfrm>
          <a:prstGeom prst="rect">
            <a:avLst/>
          </a:prstGeom>
          <a:noFill/>
        </p:spPr>
        <p:txBody>
          <a:bodyPr wrap="square" lIns="0" rIns="0">
            <a:spAutoFit/>
          </a:bodyPr>
          <a:lstStyle/>
          <a:p>
            <a:pPr>
              <a:spcBef>
                <a:spcPts val="0"/>
              </a:spcBef>
              <a:spcAft>
                <a:spcPts val="900"/>
              </a:spcAft>
            </a:pPr>
            <a:r>
              <a:rPr sz="1400" b="1">
                <a:solidFill>
                  <a:srgbClr val="10B981"/>
                </a:solidFill>
                <a:latin typeface="Arial"/>
              </a:rPr>
              <a:t>•  </a:t>
            </a:r>
            <a:r>
              <a:rPr sz="1400">
                <a:solidFill>
                  <a:srgbClr val="161B26"/>
                </a:solidFill>
                <a:latin typeface="Arial"/>
              </a:rPr>
              <a:t>Selects a node for each pod</a:t>
            </a:r>
          </a:p>
          <a:p>
            <a:pPr>
              <a:spcBef>
                <a:spcPts val="0"/>
              </a:spcBef>
              <a:spcAft>
                <a:spcPts val="900"/>
              </a:spcAft>
            </a:pPr>
            <a:r>
              <a:rPr sz="1400" b="1">
                <a:solidFill>
                  <a:srgbClr val="10B981"/>
                </a:solidFill>
                <a:latin typeface="Arial"/>
              </a:rPr>
              <a:t>•  </a:t>
            </a:r>
            <a:r>
              <a:rPr sz="1400">
                <a:solidFill>
                  <a:srgbClr val="161B26"/>
                </a:solidFill>
                <a:latin typeface="Arial"/>
              </a:rPr>
              <a:t>Evaluates resource requests</a:t>
            </a:r>
          </a:p>
          <a:p>
            <a:pPr>
              <a:spcBef>
                <a:spcPts val="0"/>
              </a:spcBef>
              <a:spcAft>
                <a:spcPts val="900"/>
              </a:spcAft>
            </a:pPr>
            <a:r>
              <a:rPr sz="1400" b="1">
                <a:solidFill>
                  <a:srgbClr val="10B981"/>
                </a:solidFill>
                <a:latin typeface="Arial"/>
              </a:rPr>
              <a:t>•  </a:t>
            </a:r>
            <a:r>
              <a:rPr sz="1400">
                <a:solidFill>
                  <a:srgbClr val="161B26"/>
                </a:solidFill>
                <a:latin typeface="Arial"/>
              </a:rPr>
              <a:t>taints, affinity, topology</a:t>
            </a:r>
          </a:p>
        </p:txBody>
      </p:sp>
      <p:sp>
        <p:nvSpPr>
          <p:cNvPr id="15" name="Rounded Rectangle 14"/>
          <p:cNvSpPr/>
          <p:nvPr/>
        </p:nvSpPr>
        <p:spPr>
          <a:xfrm>
            <a:off x="8366760" y="1783080"/>
            <a:ext cx="3337560" cy="4206240"/>
          </a:xfrm>
          <a:prstGeom prst="roundRect">
            <a:avLst>
              <a:gd name="adj" fmla="val 5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57400"/>
            <a:ext cx="2926080" cy="548640"/>
          </a:xfrm>
          <a:prstGeom prst="rect">
            <a:avLst/>
          </a:prstGeom>
          <a:noFill/>
        </p:spPr>
        <p:txBody>
          <a:bodyPr wrap="square" anchor="t" lIns="0" rIns="0" tIns="0" bIns="0">
            <a:spAutoFit/>
          </a:bodyPr>
          <a:lstStyle/>
          <a:p>
            <a:pPr algn="l">
              <a:spcBef>
                <a:spcPts val="0"/>
              </a:spcBef>
              <a:spcAft>
                <a:spcPts val="400"/>
              </a:spcAft>
            </a:pPr>
            <a:r>
              <a:rPr sz="1900" b="1">
                <a:solidFill>
                  <a:srgbClr val="7C3AED"/>
                </a:solidFill>
                <a:latin typeface="Arial"/>
              </a:rPr>
              <a:t>kube-controller-manager</a:t>
            </a:r>
          </a:p>
        </p:txBody>
      </p:sp>
      <p:sp>
        <p:nvSpPr>
          <p:cNvPr id="18" name="TextBox 17"/>
          <p:cNvSpPr txBox="1"/>
          <p:nvPr/>
        </p:nvSpPr>
        <p:spPr>
          <a:xfrm>
            <a:off x="8595360" y="2697480"/>
            <a:ext cx="2926080" cy="3108960"/>
          </a:xfrm>
          <a:prstGeom prst="rect">
            <a:avLst/>
          </a:prstGeom>
          <a:noFill/>
        </p:spPr>
        <p:txBody>
          <a:bodyPr wrap="square" lIns="0" rIns="0">
            <a:spAutoFit/>
          </a:bodyPr>
          <a:lstStyle/>
          <a:p>
            <a:pPr>
              <a:spcBef>
                <a:spcPts val="0"/>
              </a:spcBef>
              <a:spcAft>
                <a:spcPts val="900"/>
              </a:spcAft>
            </a:pPr>
            <a:r>
              <a:rPr sz="1400" b="1">
                <a:solidFill>
                  <a:srgbClr val="7C3AED"/>
                </a:solidFill>
                <a:latin typeface="Arial"/>
              </a:rPr>
              <a:t>•  </a:t>
            </a:r>
            <a:r>
              <a:rPr sz="1400">
                <a:solidFill>
                  <a:srgbClr val="161B26"/>
                </a:solidFill>
                <a:latin typeface="Arial"/>
              </a:rPr>
              <a:t>Reconciliation loops</a:t>
            </a:r>
          </a:p>
          <a:p>
            <a:pPr>
              <a:spcBef>
                <a:spcPts val="0"/>
              </a:spcBef>
              <a:spcAft>
                <a:spcPts val="900"/>
              </a:spcAft>
            </a:pPr>
            <a:r>
              <a:rPr sz="1400" b="1">
                <a:solidFill>
                  <a:srgbClr val="7C3AED"/>
                </a:solidFill>
                <a:latin typeface="Arial"/>
              </a:rPr>
              <a:t>•  </a:t>
            </a:r>
            <a:r>
              <a:rPr sz="1400">
                <a:solidFill>
                  <a:srgbClr val="161B26"/>
                </a:solidFill>
                <a:latin typeface="Arial"/>
              </a:rPr>
              <a:t>Node, ReplicaSet, Job</a:t>
            </a:r>
          </a:p>
          <a:p>
            <a:pPr>
              <a:spcBef>
                <a:spcPts val="0"/>
              </a:spcBef>
              <a:spcAft>
                <a:spcPts val="900"/>
              </a:spcAft>
            </a:pPr>
            <a:r>
              <a:rPr sz="1400" b="1">
                <a:solidFill>
                  <a:srgbClr val="7C3AED"/>
                </a:solidFill>
                <a:latin typeface="Arial"/>
              </a:rPr>
              <a:t>•  </a:t>
            </a:r>
            <a:r>
              <a:rPr sz="1400">
                <a:solidFill>
                  <a:srgbClr val="161B26"/>
                </a:solidFill>
                <a:latin typeface="Arial"/>
              </a:rPr>
              <a:t>Drives actual → desired state</a:t>
            </a:r>
          </a:p>
        </p:txBody>
      </p:sp>
      <p:sp>
        <p:nvSpPr>
          <p:cNvPr id="19" name="TextBox 18"/>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20" name="TextBox 19"/>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21" name="TextBox 20"/>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14</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DOMAIN 1  ·  CLUSTER COMPONENTS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Kubernetes Architecture</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1691640"/>
            <a:ext cx="5303520" cy="3474720"/>
          </a:xfrm>
          <a:prstGeom prst="roundRect">
            <a:avLst>
              <a:gd name="adj" fmla="val 5000"/>
            </a:avLst>
          </a:prstGeom>
          <a:solidFill>
            <a:srgbClr val="EAF1FE"/>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691640"/>
            <a:ext cx="5303520" cy="292608"/>
          </a:xfrm>
          <a:prstGeom prst="rect">
            <a:avLst/>
          </a:prstGeom>
          <a:noFill/>
        </p:spPr>
        <p:txBody>
          <a:bodyPr wrap="square" anchor="ctr" lIns="0" rIns="0" tIns="0" bIns="0">
            <a:spAutoFit/>
          </a:bodyPr>
          <a:lstStyle/>
          <a:p>
            <a:pPr algn="ctr">
              <a:spcBef>
                <a:spcPts val="0"/>
              </a:spcBef>
              <a:spcAft>
                <a:spcPts val="400"/>
              </a:spcAft>
            </a:pPr>
            <a:r>
              <a:rPr sz="1400" b="1">
                <a:solidFill>
                  <a:srgbClr val="1F6FEB"/>
                </a:solidFill>
                <a:latin typeface="Arial"/>
              </a:rPr>
              <a:t>Control Plane</a:t>
            </a:r>
          </a:p>
        </p:txBody>
      </p:sp>
      <p:sp>
        <p:nvSpPr>
          <p:cNvPr id="9" name="Rounded Rectangle 8"/>
          <p:cNvSpPr/>
          <p:nvPr/>
        </p:nvSpPr>
        <p:spPr>
          <a:xfrm>
            <a:off x="1005840" y="2148840"/>
            <a:ext cx="4846320" cy="585216"/>
          </a:xfrm>
          <a:prstGeom prst="roundRect">
            <a:avLst>
              <a:gd name="adj" fmla="val 5000"/>
            </a:avLst>
          </a:prstGeom>
          <a:solidFill>
            <a:srgbClr val="FFFFFF"/>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15568" y="2148840"/>
            <a:ext cx="4626864" cy="585216"/>
          </a:xfrm>
          <a:prstGeom prst="rect">
            <a:avLst/>
          </a:prstGeom>
          <a:noFill/>
        </p:spPr>
        <p:txBody>
          <a:bodyPr wrap="square" anchor="ctr" lIns="0" rIns="0" tIns="0" bIns="0">
            <a:spAutoFit/>
          </a:bodyPr>
          <a:lstStyle/>
          <a:p>
            <a:pPr algn="ctr">
              <a:spcBef>
                <a:spcPts val="0"/>
              </a:spcBef>
              <a:spcAft>
                <a:spcPts val="300"/>
              </a:spcAft>
            </a:pPr>
            <a:r>
              <a:rPr sz="1300" b="1">
                <a:solidFill>
                  <a:srgbClr val="1F6FEB"/>
                </a:solidFill>
                <a:latin typeface="Arial"/>
              </a:rPr>
              <a:t>kube-apiserver</a:t>
            </a:r>
          </a:p>
          <a:p>
            <a:pPr algn="ctr">
              <a:spcBef>
                <a:spcPts val="0"/>
              </a:spcBef>
              <a:spcAft>
                <a:spcPts val="300"/>
              </a:spcAft>
            </a:pPr>
            <a:r>
              <a:rPr sz="1000" b="0">
                <a:solidFill>
                  <a:srgbClr val="5B6372"/>
                </a:solidFill>
                <a:latin typeface="Arial"/>
              </a:rPr>
              <a:t>REST gateway, auth, admission</a:t>
            </a:r>
          </a:p>
        </p:txBody>
      </p:sp>
      <p:sp>
        <p:nvSpPr>
          <p:cNvPr id="11" name="Rounded Rectangle 10"/>
          <p:cNvSpPr/>
          <p:nvPr/>
        </p:nvSpPr>
        <p:spPr>
          <a:xfrm>
            <a:off x="1005840" y="2843784"/>
            <a:ext cx="4846320" cy="585216"/>
          </a:xfrm>
          <a:prstGeom prst="roundRect">
            <a:avLst>
              <a:gd name="adj" fmla="val 5000"/>
            </a:avLst>
          </a:prstGeom>
          <a:solidFill>
            <a:srgbClr val="FFFFFF"/>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115568" y="2843784"/>
            <a:ext cx="4626864" cy="585216"/>
          </a:xfrm>
          <a:prstGeom prst="rect">
            <a:avLst/>
          </a:prstGeom>
          <a:noFill/>
        </p:spPr>
        <p:txBody>
          <a:bodyPr wrap="square" anchor="ctr" lIns="0" rIns="0" tIns="0" bIns="0">
            <a:spAutoFit/>
          </a:bodyPr>
          <a:lstStyle/>
          <a:p>
            <a:pPr algn="ctr">
              <a:spcBef>
                <a:spcPts val="0"/>
              </a:spcBef>
              <a:spcAft>
                <a:spcPts val="300"/>
              </a:spcAft>
            </a:pPr>
            <a:r>
              <a:rPr sz="1300" b="1">
                <a:solidFill>
                  <a:srgbClr val="1F6FEB"/>
                </a:solidFill>
                <a:latin typeface="Arial"/>
              </a:rPr>
              <a:t>kube-scheduler</a:t>
            </a:r>
          </a:p>
          <a:p>
            <a:pPr algn="ctr">
              <a:spcBef>
                <a:spcPts val="0"/>
              </a:spcBef>
              <a:spcAft>
                <a:spcPts val="300"/>
              </a:spcAft>
            </a:pPr>
            <a:r>
              <a:rPr sz="1000" b="0">
                <a:solidFill>
                  <a:srgbClr val="5B6372"/>
                </a:solidFill>
                <a:latin typeface="Arial"/>
              </a:rPr>
              <a:t>chooses which node for each pod</a:t>
            </a:r>
          </a:p>
        </p:txBody>
      </p:sp>
      <p:sp>
        <p:nvSpPr>
          <p:cNvPr id="13" name="Rounded Rectangle 12"/>
          <p:cNvSpPr/>
          <p:nvPr/>
        </p:nvSpPr>
        <p:spPr>
          <a:xfrm>
            <a:off x="1005840" y="3538728"/>
            <a:ext cx="4846320" cy="585216"/>
          </a:xfrm>
          <a:prstGeom prst="roundRect">
            <a:avLst>
              <a:gd name="adj" fmla="val 5000"/>
            </a:avLst>
          </a:prstGeom>
          <a:solidFill>
            <a:srgbClr val="FFFFFF"/>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115568" y="3538728"/>
            <a:ext cx="4626864" cy="585216"/>
          </a:xfrm>
          <a:prstGeom prst="rect">
            <a:avLst/>
          </a:prstGeom>
          <a:noFill/>
        </p:spPr>
        <p:txBody>
          <a:bodyPr wrap="square" anchor="ctr" lIns="0" rIns="0" tIns="0" bIns="0">
            <a:spAutoFit/>
          </a:bodyPr>
          <a:lstStyle/>
          <a:p>
            <a:pPr algn="ctr">
              <a:spcBef>
                <a:spcPts val="0"/>
              </a:spcBef>
              <a:spcAft>
                <a:spcPts val="300"/>
              </a:spcAft>
            </a:pPr>
            <a:r>
              <a:rPr sz="1300" b="1">
                <a:solidFill>
                  <a:srgbClr val="1F6FEB"/>
                </a:solidFill>
                <a:latin typeface="Arial"/>
              </a:rPr>
              <a:t>kube-controller-manager</a:t>
            </a:r>
          </a:p>
          <a:p>
            <a:pPr algn="ctr">
              <a:spcBef>
                <a:spcPts val="0"/>
              </a:spcBef>
              <a:spcAft>
                <a:spcPts val="300"/>
              </a:spcAft>
            </a:pPr>
            <a:r>
              <a:rPr sz="1000" b="0">
                <a:solidFill>
                  <a:srgbClr val="5B6372"/>
                </a:solidFill>
                <a:latin typeface="Arial"/>
              </a:rPr>
              <a:t>reconciliation loops</a:t>
            </a:r>
          </a:p>
        </p:txBody>
      </p:sp>
      <p:sp>
        <p:nvSpPr>
          <p:cNvPr id="15" name="Rounded Rectangle 14"/>
          <p:cNvSpPr/>
          <p:nvPr/>
        </p:nvSpPr>
        <p:spPr>
          <a:xfrm>
            <a:off x="1005840" y="4233672"/>
            <a:ext cx="4846320" cy="585216"/>
          </a:xfrm>
          <a:prstGeom prst="roundRect">
            <a:avLst>
              <a:gd name="adj" fmla="val 5000"/>
            </a:avLst>
          </a:prstGeom>
          <a:solidFill>
            <a:srgbClr val="FFFFFF"/>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115568" y="4233672"/>
            <a:ext cx="4626864" cy="585216"/>
          </a:xfrm>
          <a:prstGeom prst="rect">
            <a:avLst/>
          </a:prstGeom>
          <a:noFill/>
        </p:spPr>
        <p:txBody>
          <a:bodyPr wrap="square" anchor="ctr" lIns="0" rIns="0" tIns="0" bIns="0">
            <a:spAutoFit/>
          </a:bodyPr>
          <a:lstStyle/>
          <a:p>
            <a:pPr algn="ctr">
              <a:spcBef>
                <a:spcPts val="0"/>
              </a:spcBef>
              <a:spcAft>
                <a:spcPts val="300"/>
              </a:spcAft>
            </a:pPr>
            <a:r>
              <a:rPr sz="1300" b="1">
                <a:solidFill>
                  <a:srgbClr val="1F6FEB"/>
                </a:solidFill>
                <a:latin typeface="Arial"/>
              </a:rPr>
              <a:t>etcd</a:t>
            </a:r>
          </a:p>
          <a:p>
            <a:pPr algn="ctr">
              <a:spcBef>
                <a:spcPts val="0"/>
              </a:spcBef>
              <a:spcAft>
                <a:spcPts val="300"/>
              </a:spcAft>
            </a:pPr>
            <a:r>
              <a:rPr sz="1000" b="0">
                <a:solidFill>
                  <a:srgbClr val="5B6372"/>
                </a:solidFill>
                <a:latin typeface="Arial"/>
              </a:rPr>
              <a:t>key-value store — cluster state</a:t>
            </a:r>
          </a:p>
        </p:txBody>
      </p:sp>
      <p:sp>
        <p:nvSpPr>
          <p:cNvPr id="17" name="Rounded Rectangle 16"/>
          <p:cNvSpPr/>
          <p:nvPr/>
        </p:nvSpPr>
        <p:spPr>
          <a:xfrm>
            <a:off x="6492240" y="1691640"/>
            <a:ext cx="4937760" cy="3474720"/>
          </a:xfrm>
          <a:prstGeom prst="roundRect">
            <a:avLst>
              <a:gd name="adj" fmla="val 5000"/>
            </a:avLst>
          </a:prstGeom>
          <a:solidFill>
            <a:srgbClr val="E8F7EE"/>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92240" y="1691640"/>
            <a:ext cx="4937760" cy="292608"/>
          </a:xfrm>
          <a:prstGeom prst="rect">
            <a:avLst/>
          </a:prstGeom>
          <a:noFill/>
        </p:spPr>
        <p:txBody>
          <a:bodyPr wrap="square" anchor="ctr" lIns="0" rIns="0" tIns="0" bIns="0">
            <a:spAutoFit/>
          </a:bodyPr>
          <a:lstStyle/>
          <a:p>
            <a:pPr algn="ctr">
              <a:spcBef>
                <a:spcPts val="0"/>
              </a:spcBef>
              <a:spcAft>
                <a:spcPts val="400"/>
              </a:spcAft>
            </a:pPr>
            <a:r>
              <a:rPr sz="1400" b="1">
                <a:solidFill>
                  <a:srgbClr val="10B981"/>
                </a:solidFill>
                <a:latin typeface="Arial"/>
              </a:rPr>
              <a:t>Worker Node</a:t>
            </a:r>
          </a:p>
        </p:txBody>
      </p:sp>
      <p:sp>
        <p:nvSpPr>
          <p:cNvPr id="19" name="Rounded Rectangle 18"/>
          <p:cNvSpPr/>
          <p:nvPr/>
        </p:nvSpPr>
        <p:spPr>
          <a:xfrm>
            <a:off x="6720840" y="2148840"/>
            <a:ext cx="4480560" cy="585216"/>
          </a:xfrm>
          <a:prstGeom prst="roundRect">
            <a:avLst>
              <a:gd name="adj" fmla="val 5000"/>
            </a:avLst>
          </a:prstGeom>
          <a:solidFill>
            <a:srgbClr val="FFFFF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30568" y="2148840"/>
            <a:ext cx="4261104" cy="585216"/>
          </a:xfrm>
          <a:prstGeom prst="rect">
            <a:avLst/>
          </a:prstGeom>
          <a:noFill/>
        </p:spPr>
        <p:txBody>
          <a:bodyPr wrap="square" anchor="ctr" lIns="0" rIns="0" tIns="0" bIns="0">
            <a:spAutoFit/>
          </a:bodyPr>
          <a:lstStyle/>
          <a:p>
            <a:pPr algn="ctr">
              <a:spcBef>
                <a:spcPts val="0"/>
              </a:spcBef>
              <a:spcAft>
                <a:spcPts val="300"/>
              </a:spcAft>
            </a:pPr>
            <a:r>
              <a:rPr sz="1300" b="1">
                <a:solidFill>
                  <a:srgbClr val="10B981"/>
                </a:solidFill>
                <a:latin typeface="Arial"/>
              </a:rPr>
              <a:t>kubelet</a:t>
            </a:r>
          </a:p>
          <a:p>
            <a:pPr algn="ctr">
              <a:spcBef>
                <a:spcPts val="0"/>
              </a:spcBef>
              <a:spcAft>
                <a:spcPts val="300"/>
              </a:spcAft>
            </a:pPr>
            <a:r>
              <a:rPr sz="1000" b="0">
                <a:solidFill>
                  <a:srgbClr val="5B6372"/>
                </a:solidFill>
                <a:latin typeface="Arial"/>
              </a:rPr>
              <a:t>manages pods on this node</a:t>
            </a:r>
          </a:p>
        </p:txBody>
      </p:sp>
      <p:sp>
        <p:nvSpPr>
          <p:cNvPr id="21" name="Rounded Rectangle 20"/>
          <p:cNvSpPr/>
          <p:nvPr/>
        </p:nvSpPr>
        <p:spPr>
          <a:xfrm>
            <a:off x="6720840" y="2843784"/>
            <a:ext cx="4480560" cy="585216"/>
          </a:xfrm>
          <a:prstGeom prst="roundRect">
            <a:avLst>
              <a:gd name="adj" fmla="val 5000"/>
            </a:avLst>
          </a:prstGeom>
          <a:solidFill>
            <a:srgbClr val="FFFFF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30568" y="2843784"/>
            <a:ext cx="4261104" cy="585216"/>
          </a:xfrm>
          <a:prstGeom prst="rect">
            <a:avLst/>
          </a:prstGeom>
          <a:noFill/>
        </p:spPr>
        <p:txBody>
          <a:bodyPr wrap="square" anchor="ctr" lIns="0" rIns="0" tIns="0" bIns="0">
            <a:spAutoFit/>
          </a:bodyPr>
          <a:lstStyle/>
          <a:p>
            <a:pPr algn="ctr">
              <a:spcBef>
                <a:spcPts val="0"/>
              </a:spcBef>
              <a:spcAft>
                <a:spcPts val="300"/>
              </a:spcAft>
            </a:pPr>
            <a:r>
              <a:rPr sz="1300" b="1">
                <a:solidFill>
                  <a:srgbClr val="10B981"/>
                </a:solidFill>
                <a:latin typeface="Arial"/>
              </a:rPr>
              <a:t>kube-proxy</a:t>
            </a:r>
          </a:p>
          <a:p>
            <a:pPr algn="ctr">
              <a:spcBef>
                <a:spcPts val="0"/>
              </a:spcBef>
              <a:spcAft>
                <a:spcPts val="300"/>
              </a:spcAft>
            </a:pPr>
            <a:r>
              <a:rPr sz="1000" b="0">
                <a:solidFill>
                  <a:srgbClr val="5B6372"/>
                </a:solidFill>
                <a:latin typeface="Arial"/>
              </a:rPr>
              <a:t>iptables / IPVS service routing</a:t>
            </a:r>
          </a:p>
        </p:txBody>
      </p:sp>
      <p:sp>
        <p:nvSpPr>
          <p:cNvPr id="23" name="Rounded Rectangle 22"/>
          <p:cNvSpPr/>
          <p:nvPr/>
        </p:nvSpPr>
        <p:spPr>
          <a:xfrm>
            <a:off x="6720840" y="3538728"/>
            <a:ext cx="4480560" cy="585216"/>
          </a:xfrm>
          <a:prstGeom prst="roundRect">
            <a:avLst>
              <a:gd name="adj" fmla="val 5000"/>
            </a:avLst>
          </a:prstGeom>
          <a:solidFill>
            <a:srgbClr val="FFFFF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830568" y="3538728"/>
            <a:ext cx="4261104" cy="585216"/>
          </a:xfrm>
          <a:prstGeom prst="rect">
            <a:avLst/>
          </a:prstGeom>
          <a:noFill/>
        </p:spPr>
        <p:txBody>
          <a:bodyPr wrap="square" anchor="ctr" lIns="0" rIns="0" tIns="0" bIns="0">
            <a:spAutoFit/>
          </a:bodyPr>
          <a:lstStyle/>
          <a:p>
            <a:pPr algn="ctr">
              <a:spcBef>
                <a:spcPts val="0"/>
              </a:spcBef>
              <a:spcAft>
                <a:spcPts val="300"/>
              </a:spcAft>
            </a:pPr>
            <a:r>
              <a:rPr sz="1300" b="1">
                <a:solidFill>
                  <a:srgbClr val="10B981"/>
                </a:solidFill>
                <a:latin typeface="Arial"/>
              </a:rPr>
              <a:t>container runtime</a:t>
            </a:r>
          </a:p>
          <a:p>
            <a:pPr algn="ctr">
              <a:spcBef>
                <a:spcPts val="0"/>
              </a:spcBef>
              <a:spcAft>
                <a:spcPts val="300"/>
              </a:spcAft>
            </a:pPr>
            <a:r>
              <a:rPr sz="1000" b="0">
                <a:solidFill>
                  <a:srgbClr val="5B6372"/>
                </a:solidFill>
                <a:latin typeface="Arial"/>
              </a:rPr>
              <a:t>containerd / CRI-O</a:t>
            </a:r>
          </a:p>
        </p:txBody>
      </p:sp>
      <p:sp>
        <p:nvSpPr>
          <p:cNvPr id="25" name="Rounded Rectangle 24"/>
          <p:cNvSpPr/>
          <p:nvPr/>
        </p:nvSpPr>
        <p:spPr>
          <a:xfrm>
            <a:off x="6720840" y="4233672"/>
            <a:ext cx="4480560" cy="585216"/>
          </a:xfrm>
          <a:prstGeom prst="roundRect">
            <a:avLst>
              <a:gd name="adj" fmla="val 5000"/>
            </a:avLst>
          </a:prstGeom>
          <a:solidFill>
            <a:srgbClr val="FFFFF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30568" y="4233672"/>
            <a:ext cx="4261104" cy="585216"/>
          </a:xfrm>
          <a:prstGeom prst="rect">
            <a:avLst/>
          </a:prstGeom>
          <a:noFill/>
        </p:spPr>
        <p:txBody>
          <a:bodyPr wrap="square" anchor="ctr" lIns="0" rIns="0" tIns="0" bIns="0">
            <a:spAutoFit/>
          </a:bodyPr>
          <a:lstStyle/>
          <a:p>
            <a:pPr algn="ctr">
              <a:spcBef>
                <a:spcPts val="0"/>
              </a:spcBef>
              <a:spcAft>
                <a:spcPts val="300"/>
              </a:spcAft>
            </a:pPr>
            <a:r>
              <a:rPr sz="1300" b="1">
                <a:solidFill>
                  <a:srgbClr val="10B981"/>
                </a:solidFill>
                <a:latin typeface="Arial"/>
              </a:rPr>
              <a:t>CNI plugin</a:t>
            </a:r>
          </a:p>
          <a:p>
            <a:pPr algn="ctr">
              <a:spcBef>
                <a:spcPts val="0"/>
              </a:spcBef>
              <a:spcAft>
                <a:spcPts val="300"/>
              </a:spcAft>
            </a:pPr>
            <a:r>
              <a:rPr sz="1000" b="0">
                <a:solidFill>
                  <a:srgbClr val="5B6372"/>
                </a:solidFill>
                <a:latin typeface="Arial"/>
              </a:rPr>
              <a:t>pod networking (Calico, Cilium)</a:t>
            </a:r>
          </a:p>
        </p:txBody>
      </p:sp>
      <p:sp>
        <p:nvSpPr>
          <p:cNvPr id="27" name="Right Arrow 26"/>
          <p:cNvSpPr/>
          <p:nvPr/>
        </p:nvSpPr>
        <p:spPr>
          <a:xfrm>
            <a:off x="2880360" y="5440680"/>
            <a:ext cx="1371600" cy="384048"/>
          </a:xfrm>
          <a:prstGeom prst="rightArrow">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2743200" y="5166360"/>
            <a:ext cx="1645920" cy="292608"/>
          </a:xfrm>
          <a:prstGeom prst="rect">
            <a:avLst/>
          </a:prstGeom>
          <a:noFill/>
        </p:spPr>
        <p:txBody>
          <a:bodyPr wrap="square" anchor="ctr" lIns="0" rIns="0" tIns="0" bIns="0">
            <a:spAutoFit/>
          </a:bodyPr>
          <a:lstStyle/>
          <a:p>
            <a:pPr algn="ctr">
              <a:spcBef>
                <a:spcPts val="0"/>
              </a:spcBef>
              <a:spcAft>
                <a:spcPts val="400"/>
              </a:spcAft>
            </a:pPr>
            <a:r>
              <a:rPr sz="1200" b="1">
                <a:solidFill>
                  <a:srgbClr val="1F6FEB"/>
                </a:solidFill>
                <a:latin typeface="Arial"/>
              </a:rPr>
              <a:t>kubectl</a:t>
            </a:r>
          </a:p>
        </p:txBody>
      </p:sp>
      <p:sp>
        <p:nvSpPr>
          <p:cNvPr id="29" name="TextBox 28"/>
          <p:cNvSpPr txBox="1"/>
          <p:nvPr/>
        </p:nvSpPr>
        <p:spPr>
          <a:xfrm>
            <a:off x="777240" y="5349240"/>
            <a:ext cx="2011680" cy="457200"/>
          </a:xfrm>
          <a:prstGeom prst="rect">
            <a:avLst/>
          </a:prstGeom>
          <a:noFill/>
        </p:spPr>
        <p:txBody>
          <a:bodyPr wrap="square" anchor="t" lIns="0" rIns="0" tIns="0" bIns="0">
            <a:spAutoFit/>
          </a:bodyPr>
          <a:lstStyle/>
          <a:p>
            <a:pPr algn="ctr">
              <a:spcBef>
                <a:spcPts val="0"/>
              </a:spcBef>
              <a:spcAft>
                <a:spcPts val="400"/>
              </a:spcAft>
            </a:pPr>
            <a:r>
              <a:rPr sz="1400" b="1">
                <a:solidFill>
                  <a:srgbClr val="161B26"/>
                </a:solidFill>
                <a:latin typeface="Arial"/>
              </a:rPr>
              <a:t>client</a:t>
            </a:r>
          </a:p>
        </p:txBody>
      </p:sp>
      <p:sp>
        <p:nvSpPr>
          <p:cNvPr id="30" name="TextBox 29"/>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31" name="TextBox 30"/>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32" name="TextBox 31"/>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15</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CLUSTER ANATOMY</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Kubernetes Architecture — Control Plane &amp; Worker Nodes</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day1a_s004_p1.png"/>
          <p:cNvPicPr>
            <a:picLocks noChangeAspect="1"/>
          </p:cNvPicPr>
          <p:nvPr/>
        </p:nvPicPr>
        <p:blipFill>
          <a:blip r:embed="rId2"/>
          <a:stretch>
            <a:fillRect/>
          </a:stretch>
        </p:blipFill>
        <p:spPr>
          <a:xfrm>
            <a:off x="2067326" y="1627632"/>
            <a:ext cx="8072587" cy="4544568"/>
          </a:xfrm>
          <a:prstGeom prst="rect">
            <a:avLst/>
          </a:prstGeom>
        </p:spPr>
      </p:pic>
      <p:sp>
        <p:nvSpPr>
          <p:cNvPr id="8" name="TextBox 7"/>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9" name="TextBox 8"/>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16</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WHERE WORKLOADS RUN</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Worker Node Components</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07040" cy="4480560"/>
          </a:xfrm>
          <a:prstGeom prst="rect">
            <a:avLst/>
          </a:prstGeom>
          <a:noFill/>
        </p:spPr>
        <p:txBody>
          <a:bodyPr wrap="square" lIns="0" rIns="0">
            <a:spAutoFit/>
          </a:bodyPr>
          <a:lstStyle/>
          <a:p>
            <a:pPr>
              <a:spcBef>
                <a:spcPts val="0"/>
              </a:spcBef>
              <a:spcAft>
                <a:spcPts val="1000"/>
              </a:spcAft>
            </a:pPr>
            <a:r>
              <a:rPr sz="1900" b="1">
                <a:solidFill>
                  <a:srgbClr val="1F6FEB"/>
                </a:solidFill>
                <a:latin typeface="Arial"/>
              </a:rPr>
              <a:t>•  </a:t>
            </a:r>
            <a:r>
              <a:rPr sz="1900">
                <a:solidFill>
                  <a:srgbClr val="161B26"/>
                </a:solidFill>
                <a:latin typeface="Arial"/>
              </a:rPr>
              <a:t>kubelet: the node agent — watches the API server for pods assigned to this node and starts/stops containers.</a:t>
            </a:r>
          </a:p>
          <a:p>
            <a:pPr>
              <a:spcBef>
                <a:spcPts val="0"/>
              </a:spcBef>
              <a:spcAft>
                <a:spcPts val="1000"/>
              </a:spcAft>
            </a:pPr>
            <a:r>
              <a:rPr sz="1900" b="1">
                <a:solidFill>
                  <a:srgbClr val="1F6FEB"/>
                </a:solidFill>
                <a:latin typeface="Arial"/>
              </a:rPr>
              <a:t>•  </a:t>
            </a:r>
            <a:r>
              <a:rPr sz="1900">
                <a:solidFill>
                  <a:srgbClr val="161B26"/>
                </a:solidFill>
                <a:latin typeface="Arial"/>
              </a:rPr>
              <a:t>kube-proxy: programs iptables or IPVS rules to implement Service ClusterIP and NodePort routing.</a:t>
            </a:r>
          </a:p>
          <a:p>
            <a:pPr>
              <a:spcBef>
                <a:spcPts val="0"/>
              </a:spcBef>
              <a:spcAft>
                <a:spcPts val="1000"/>
              </a:spcAft>
            </a:pPr>
            <a:r>
              <a:rPr sz="1900" b="1">
                <a:solidFill>
                  <a:srgbClr val="1F6FEB"/>
                </a:solidFill>
                <a:latin typeface="Arial"/>
              </a:rPr>
              <a:t>•  </a:t>
            </a:r>
            <a:r>
              <a:rPr sz="1900">
                <a:solidFill>
                  <a:srgbClr val="161B26"/>
                </a:solidFill>
                <a:latin typeface="Arial"/>
              </a:rPr>
              <a:t>Container runtime: containerd (default) or CRI-O; communicates with kubelet via the CRI gRPC interface.</a:t>
            </a:r>
          </a:p>
          <a:p>
            <a:pPr>
              <a:spcBef>
                <a:spcPts val="0"/>
              </a:spcBef>
              <a:spcAft>
                <a:spcPts val="1000"/>
              </a:spcAft>
            </a:pPr>
            <a:r>
              <a:rPr sz="1900" b="1">
                <a:solidFill>
                  <a:srgbClr val="1F6FEB"/>
                </a:solidFill>
                <a:latin typeface="Arial"/>
              </a:rPr>
              <a:t>•  </a:t>
            </a:r>
            <a:r>
              <a:rPr sz="1900">
                <a:solidFill>
                  <a:srgbClr val="161B26"/>
                </a:solidFill>
                <a:latin typeface="Arial"/>
              </a:rPr>
              <a:t>CNI plugin: called on every pod create/delete to assign an IP; Calico and Cilium are the most common CKA choices.</a:t>
            </a:r>
          </a:p>
        </p:txBody>
      </p:sp>
      <p:sp>
        <p:nvSpPr>
          <p:cNvPr id="8" name="TextBox 7"/>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9" name="TextBox 8"/>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17</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lIns="0" rIns="0" tIns="0" bIns="0">
            <a:spAutoFit/>
          </a:bodyPr>
          <a:lstStyle/>
          <a:p>
            <a:pPr algn="l">
              <a:spcBef>
                <a:spcPts val="0"/>
              </a:spcBef>
              <a:spcAft>
                <a:spcPts val="400"/>
              </a:spcAft>
            </a:pPr>
            <a:r>
              <a:rPr sz="1800" b="1">
                <a:solidFill>
                  <a:srgbClr val="1F6FEB"/>
                </a:solidFill>
                <a:latin typeface="Arial"/>
              </a:rPr>
              <a:t>TOPIC 2</a:t>
            </a:r>
          </a:p>
        </p:txBody>
      </p:sp>
      <p:sp>
        <p:nvSpPr>
          <p:cNvPr id="6" name="TextBox 5"/>
          <p:cNvSpPr txBox="1"/>
          <p:nvPr/>
        </p:nvSpPr>
        <p:spPr>
          <a:xfrm>
            <a:off x="1143000" y="2743200"/>
            <a:ext cx="10424160" cy="1463040"/>
          </a:xfrm>
          <a:prstGeom prst="rect">
            <a:avLst/>
          </a:prstGeom>
          <a:noFill/>
        </p:spPr>
        <p:txBody>
          <a:bodyPr wrap="square" anchor="t" lIns="0" rIns="0" tIns="0" bIns="0">
            <a:spAutoFit/>
          </a:bodyPr>
          <a:lstStyle/>
          <a:p>
            <a:pPr algn="l">
              <a:spcBef>
                <a:spcPts val="0"/>
              </a:spcBef>
              <a:spcAft>
                <a:spcPts val="400"/>
              </a:spcAft>
            </a:pPr>
            <a:r>
              <a:rPr sz="4000" b="1">
                <a:solidFill>
                  <a:srgbClr val="161B26"/>
                </a:solidFill>
                <a:latin typeface="Arial"/>
              </a:rPr>
              <a:t>kubeadm Installation</a:t>
            </a:r>
          </a:p>
        </p:txBody>
      </p:sp>
      <p:sp>
        <p:nvSpPr>
          <p:cNvPr id="7" name="TextBox 6"/>
          <p:cNvSpPr txBox="1"/>
          <p:nvPr/>
        </p:nvSpPr>
        <p:spPr>
          <a:xfrm>
            <a:off x="1161288" y="4114800"/>
            <a:ext cx="10058400" cy="731520"/>
          </a:xfrm>
          <a:prstGeom prst="rect">
            <a:avLst/>
          </a:prstGeom>
          <a:noFill/>
        </p:spPr>
        <p:txBody>
          <a:bodyPr wrap="square" anchor="t" lIns="0" rIns="0" tIns="0" bIns="0">
            <a:spAutoFit/>
          </a:bodyPr>
          <a:lstStyle/>
          <a:p>
            <a:pPr algn="l">
              <a:spcBef>
                <a:spcPts val="0"/>
              </a:spcBef>
              <a:spcAft>
                <a:spcPts val="400"/>
              </a:spcAft>
            </a:pPr>
            <a:r>
              <a:rPr sz="1600" b="0">
                <a:solidFill>
                  <a:srgbClr val="5B6372"/>
                </a:solidFill>
                <a:latin typeface="Arial"/>
              </a:rPr>
              <a:t>Bootstrap a production-grade cluster in minutes</a:t>
            </a:r>
          </a:p>
        </p:txBody>
      </p:sp>
      <p:sp>
        <p:nvSpPr>
          <p:cNvPr id="8" name="TextBox 7"/>
          <p:cNvSpPr txBox="1"/>
          <p:nvPr/>
        </p:nvSpPr>
        <p:spPr>
          <a:xfrm>
            <a:off x="9418320" y="640080"/>
            <a:ext cx="2286000" cy="1463040"/>
          </a:xfrm>
          <a:prstGeom prst="rect">
            <a:avLst/>
          </a:prstGeom>
          <a:noFill/>
        </p:spPr>
        <p:txBody>
          <a:bodyPr wrap="square" anchor="t" lIns="0" rIns="0" tIns="0" bIns="0">
            <a:spAutoFit/>
          </a:bodyPr>
          <a:lstStyle/>
          <a:p>
            <a:pPr algn="r">
              <a:spcBef>
                <a:spcPts val="0"/>
              </a:spcBef>
              <a:spcAft>
                <a:spcPts val="400"/>
              </a:spcAft>
            </a:pPr>
            <a:r>
              <a:rPr sz="7200" b="1">
                <a:solidFill>
                  <a:srgbClr val="E2E8F0"/>
                </a:solidFill>
                <a:latin typeface="Arial"/>
              </a:rPr>
              <a:t/>
            </a:r>
          </a:p>
        </p:txBody>
      </p:sp>
      <p:sp>
        <p:nvSpPr>
          <p:cNvPr id="9" name="TextBox 8"/>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0" name="TextBox 9"/>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1" name="TextBox 10"/>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18</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STEP BY STEP</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Install Sequence</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07040" cy="4480560"/>
          </a:xfrm>
          <a:prstGeom prst="rect">
            <a:avLst/>
          </a:prstGeom>
          <a:noFill/>
        </p:spPr>
        <p:txBody>
          <a:bodyPr wrap="square" lIns="0" rIns="0">
            <a:spAutoFit/>
          </a:bodyPr>
          <a:lstStyle/>
          <a:p>
            <a:pPr>
              <a:spcBef>
                <a:spcPts val="0"/>
              </a:spcBef>
              <a:spcAft>
                <a:spcPts val="1000"/>
              </a:spcAft>
            </a:pPr>
            <a:r>
              <a:rPr sz="1900" b="1">
                <a:solidFill>
                  <a:srgbClr val="1F6FEB"/>
                </a:solidFill>
                <a:latin typeface="Arial"/>
              </a:rPr>
              <a:t>•  </a:t>
            </a:r>
            <a:r>
              <a:rPr sz="1900">
                <a:solidFill>
                  <a:srgbClr val="161B26"/>
                </a:solidFill>
                <a:latin typeface="Arial"/>
              </a:rPr>
              <a:t>Pre-flight: load overlay + br_netfilter kernel modules; set net.ipv4.ip_forward=1 sysctl; swap off.</a:t>
            </a:r>
          </a:p>
          <a:p>
            <a:pPr>
              <a:spcBef>
                <a:spcPts val="0"/>
              </a:spcBef>
              <a:spcAft>
                <a:spcPts val="1000"/>
              </a:spcAft>
            </a:pPr>
            <a:r>
              <a:rPr sz="1900" b="1">
                <a:solidFill>
                  <a:srgbClr val="1F6FEB"/>
                </a:solidFill>
                <a:latin typeface="Arial"/>
              </a:rPr>
              <a:t>•  </a:t>
            </a:r>
            <a:r>
              <a:rPr sz="1900">
                <a:solidFill>
                  <a:srgbClr val="161B26"/>
                </a:solidFill>
                <a:latin typeface="Arial"/>
              </a:rPr>
              <a:t>Install containerd with SystemdCgroup=true; then install kubeadm, kubelet and kubectl from pkgs.k8s.io.</a:t>
            </a:r>
          </a:p>
          <a:p>
            <a:pPr>
              <a:spcBef>
                <a:spcPts val="0"/>
              </a:spcBef>
              <a:spcAft>
                <a:spcPts val="1000"/>
              </a:spcAft>
            </a:pPr>
            <a:r>
              <a:rPr sz="1900" b="1">
                <a:solidFill>
                  <a:srgbClr val="1F6FEB"/>
                </a:solidFill>
                <a:latin typeface="Arial"/>
              </a:rPr>
              <a:t>•  </a:t>
            </a:r>
            <a:r>
              <a:rPr sz="1900">
                <a:solidFill>
                  <a:srgbClr val="161B26"/>
                </a:solidFill>
                <a:latin typeface="Arial"/>
              </a:rPr>
              <a:t>kubeadm init generates the PKI under /etc/kubernetes/pki/, writes static pod manifests and prints the join command.</a:t>
            </a:r>
          </a:p>
          <a:p>
            <a:pPr>
              <a:spcBef>
                <a:spcPts val="0"/>
              </a:spcBef>
              <a:spcAft>
                <a:spcPts val="1000"/>
              </a:spcAft>
            </a:pPr>
            <a:r>
              <a:rPr sz="1900" b="1">
                <a:solidFill>
                  <a:srgbClr val="1F6FEB"/>
                </a:solidFill>
                <a:latin typeface="Arial"/>
              </a:rPr>
              <a:t>•  </a:t>
            </a:r>
            <a:r>
              <a:rPr sz="1900">
                <a:solidFill>
                  <a:srgbClr val="161B26"/>
                </a:solidFill>
                <a:latin typeface="Arial"/>
              </a:rPr>
              <a:t>Copy /etc/kubernetes/admin.conf to ~/.kube/config; apply a CNI manifest (Calico/Cilium); then kubeadm join on workers.</a:t>
            </a:r>
          </a:p>
        </p:txBody>
      </p:sp>
      <p:sp>
        <p:nvSpPr>
          <p:cNvPr id="8" name="TextBox 7"/>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9" name="TextBox 8"/>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19</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DOMAIN 1  ·  KUBEADM INIT THEN JOIN</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kubeadm Bootstrap Flow</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468880"/>
            <a:ext cx="3063240" cy="1645920"/>
          </a:xfrm>
          <a:prstGeom prst="roundRect">
            <a:avLst>
              <a:gd name="adj" fmla="val 5000"/>
            </a:avLst>
          </a:prstGeom>
          <a:solidFill>
            <a:srgbClr val="EAF1FE"/>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468880"/>
            <a:ext cx="3063240"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86968" y="2578608"/>
            <a:ext cx="2843784" cy="1536192"/>
          </a:xfrm>
          <a:prstGeom prst="rect">
            <a:avLst/>
          </a:prstGeom>
          <a:noFill/>
        </p:spPr>
        <p:txBody>
          <a:bodyPr wrap="square" anchor="ctr" lIns="0" rIns="0" tIns="0" bIns="0">
            <a:spAutoFit/>
          </a:bodyPr>
          <a:lstStyle/>
          <a:p>
            <a:pPr algn="ctr">
              <a:spcBef>
                <a:spcPts val="0"/>
              </a:spcBef>
              <a:spcAft>
                <a:spcPts val="300"/>
              </a:spcAft>
            </a:pPr>
            <a:r>
              <a:rPr sz="1500" b="1">
                <a:solidFill>
                  <a:srgbClr val="161B26"/>
                </a:solidFill>
                <a:latin typeface="Arial"/>
              </a:rPr>
              <a:t>kubeadm init</a:t>
            </a:r>
          </a:p>
          <a:p>
            <a:pPr algn="ctr">
              <a:spcBef>
                <a:spcPts val="0"/>
              </a:spcBef>
              <a:spcAft>
                <a:spcPts val="300"/>
              </a:spcAft>
            </a:pPr>
            <a:r>
              <a:rPr sz="1100" b="0">
                <a:solidFill>
                  <a:srgbClr val="5B6372"/>
                </a:solidFill>
                <a:latin typeface="Arial"/>
              </a:rPr>
              <a:t>generates PKI (pki/)</a:t>
            </a:r>
          </a:p>
          <a:p>
            <a:pPr algn="ctr">
              <a:spcBef>
                <a:spcPts val="0"/>
              </a:spcBef>
              <a:spcAft>
                <a:spcPts val="300"/>
              </a:spcAft>
            </a:pPr>
            <a:r>
              <a:rPr sz="1100" b="0">
                <a:solidFill>
                  <a:srgbClr val="5B6372"/>
                </a:solidFill>
                <a:latin typeface="Arial"/>
              </a:rPr>
              <a:t>writes static pod manifests</a:t>
            </a:r>
          </a:p>
          <a:p>
            <a:pPr algn="ctr">
              <a:spcBef>
                <a:spcPts val="0"/>
              </a:spcBef>
              <a:spcAft>
                <a:spcPts val="300"/>
              </a:spcAft>
            </a:pPr>
            <a:r>
              <a:rPr sz="1100" b="0">
                <a:solidFill>
                  <a:srgbClr val="5B6372"/>
                </a:solidFill>
                <a:latin typeface="Arial"/>
              </a:rPr>
              <a:t>prints bootstrap token</a:t>
            </a:r>
          </a:p>
        </p:txBody>
      </p:sp>
      <p:sp>
        <p:nvSpPr>
          <p:cNvPr id="10" name="Right Arrow 9"/>
          <p:cNvSpPr/>
          <p:nvPr/>
        </p:nvSpPr>
        <p:spPr>
          <a:xfrm>
            <a:off x="3840480" y="3090672"/>
            <a:ext cx="731520" cy="402336"/>
          </a:xfrm>
          <a:prstGeom prst="rightArrow">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611880" y="2157984"/>
            <a:ext cx="1188720" cy="292608"/>
          </a:xfrm>
          <a:prstGeom prst="rect">
            <a:avLst/>
          </a:prstGeom>
          <a:noFill/>
        </p:spPr>
        <p:txBody>
          <a:bodyPr wrap="square" anchor="ctr" lIns="0" rIns="0" tIns="0" bIns="0">
            <a:spAutoFit/>
          </a:bodyPr>
          <a:lstStyle/>
          <a:p>
            <a:pPr algn="ctr">
              <a:spcBef>
                <a:spcPts val="0"/>
              </a:spcBef>
              <a:spcAft>
                <a:spcPts val="400"/>
              </a:spcAft>
            </a:pPr>
            <a:r>
              <a:rPr sz="1000" b="1">
                <a:solidFill>
                  <a:srgbClr val="1F6FEB"/>
                </a:solidFill>
                <a:latin typeface="Arial"/>
              </a:rPr>
              <a:t>control plane ready</a:t>
            </a:r>
          </a:p>
        </p:txBody>
      </p:sp>
      <p:sp>
        <p:nvSpPr>
          <p:cNvPr id="12" name="Rounded Rectangle 11"/>
          <p:cNvSpPr/>
          <p:nvPr/>
        </p:nvSpPr>
        <p:spPr>
          <a:xfrm>
            <a:off x="4572000" y="2468880"/>
            <a:ext cx="3063240" cy="1645920"/>
          </a:xfrm>
          <a:prstGeom prst="roundRect">
            <a:avLst>
              <a:gd name="adj" fmla="val 5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681728" y="2468880"/>
            <a:ext cx="2843784" cy="1645920"/>
          </a:xfrm>
          <a:prstGeom prst="rect">
            <a:avLst/>
          </a:prstGeom>
          <a:noFill/>
        </p:spPr>
        <p:txBody>
          <a:bodyPr wrap="square" anchor="ctr" lIns="0" rIns="0" tIns="0" bIns="0">
            <a:spAutoFit/>
          </a:bodyPr>
          <a:lstStyle/>
          <a:p>
            <a:pPr algn="ctr">
              <a:spcBef>
                <a:spcPts val="0"/>
              </a:spcBef>
              <a:spcAft>
                <a:spcPts val="300"/>
              </a:spcAft>
            </a:pPr>
            <a:r>
              <a:rPr sz="1500" b="1">
                <a:solidFill>
                  <a:srgbClr val="161B26"/>
                </a:solidFill>
                <a:latin typeface="Arial"/>
              </a:rPr>
              <a:t>kubectl apply CNI</a:t>
            </a:r>
          </a:p>
          <a:p>
            <a:pPr algn="ctr">
              <a:spcBef>
                <a:spcPts val="0"/>
              </a:spcBef>
              <a:spcAft>
                <a:spcPts val="300"/>
              </a:spcAft>
            </a:pPr>
            <a:r>
              <a:rPr sz="1100" b="0">
                <a:solidFill>
                  <a:srgbClr val="5B6372"/>
                </a:solidFill>
                <a:latin typeface="Arial"/>
              </a:rPr>
              <a:t>e.g. Calico or Cilium</a:t>
            </a:r>
          </a:p>
          <a:p>
            <a:pPr algn="ctr">
              <a:spcBef>
                <a:spcPts val="0"/>
              </a:spcBef>
              <a:spcAft>
                <a:spcPts val="300"/>
              </a:spcAft>
            </a:pPr>
            <a:r>
              <a:rPr sz="1100" b="0">
                <a:solidFill>
                  <a:srgbClr val="5B6372"/>
                </a:solidFill>
                <a:latin typeface="Arial"/>
              </a:rPr>
              <a:t>nodes go Ready</a:t>
            </a:r>
          </a:p>
        </p:txBody>
      </p:sp>
      <p:sp>
        <p:nvSpPr>
          <p:cNvPr id="14" name="Right Arrow 13"/>
          <p:cNvSpPr/>
          <p:nvPr/>
        </p:nvSpPr>
        <p:spPr>
          <a:xfrm>
            <a:off x="7635240" y="3090672"/>
            <a:ext cx="731520" cy="402336"/>
          </a:xfrm>
          <a:prstGeom prst="rightArrow">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406640" y="2157984"/>
            <a:ext cx="1188720" cy="292608"/>
          </a:xfrm>
          <a:prstGeom prst="rect">
            <a:avLst/>
          </a:prstGeom>
          <a:noFill/>
        </p:spPr>
        <p:txBody>
          <a:bodyPr wrap="square" anchor="ctr" lIns="0" rIns="0" tIns="0" bIns="0">
            <a:spAutoFit/>
          </a:bodyPr>
          <a:lstStyle/>
          <a:p>
            <a:pPr algn="ctr">
              <a:spcBef>
                <a:spcPts val="0"/>
              </a:spcBef>
              <a:spcAft>
                <a:spcPts val="400"/>
              </a:spcAft>
            </a:pPr>
            <a:r>
              <a:rPr sz="1000" b="1">
                <a:solidFill>
                  <a:srgbClr val="1F6FEB"/>
                </a:solidFill>
                <a:latin typeface="Arial"/>
              </a:rPr>
              <a:t>cluster usable</a:t>
            </a:r>
          </a:p>
        </p:txBody>
      </p:sp>
      <p:sp>
        <p:nvSpPr>
          <p:cNvPr id="16" name="Rounded Rectangle 15"/>
          <p:cNvSpPr/>
          <p:nvPr/>
        </p:nvSpPr>
        <p:spPr>
          <a:xfrm>
            <a:off x="8366760" y="2468880"/>
            <a:ext cx="3063240" cy="1645920"/>
          </a:xfrm>
          <a:prstGeom prst="roundRect">
            <a:avLst>
              <a:gd name="adj" fmla="val 5000"/>
            </a:avLst>
          </a:prstGeom>
          <a:solidFill>
            <a:srgbClr val="E8F7EE"/>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366760" y="2468880"/>
            <a:ext cx="3063240"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76488" y="2578608"/>
            <a:ext cx="2843784" cy="1536192"/>
          </a:xfrm>
          <a:prstGeom prst="rect">
            <a:avLst/>
          </a:prstGeom>
          <a:noFill/>
        </p:spPr>
        <p:txBody>
          <a:bodyPr wrap="square" anchor="ctr" lIns="0" rIns="0" tIns="0" bIns="0">
            <a:spAutoFit/>
          </a:bodyPr>
          <a:lstStyle/>
          <a:p>
            <a:pPr algn="ctr">
              <a:spcBef>
                <a:spcPts val="0"/>
              </a:spcBef>
              <a:spcAft>
                <a:spcPts val="300"/>
              </a:spcAft>
            </a:pPr>
            <a:r>
              <a:rPr sz="1500" b="1">
                <a:solidFill>
                  <a:srgbClr val="161B26"/>
                </a:solidFill>
                <a:latin typeface="Arial"/>
              </a:rPr>
              <a:t>kubeadm join</a:t>
            </a:r>
          </a:p>
          <a:p>
            <a:pPr algn="ctr">
              <a:spcBef>
                <a:spcPts val="0"/>
              </a:spcBef>
              <a:spcAft>
                <a:spcPts val="300"/>
              </a:spcAft>
            </a:pPr>
            <a:r>
              <a:rPr sz="1100" b="0">
                <a:solidFill>
                  <a:srgbClr val="5B6372"/>
                </a:solidFill>
                <a:latin typeface="Arial"/>
              </a:rPr>
              <a:t>worker uses token + CA hash</a:t>
            </a:r>
          </a:p>
          <a:p>
            <a:pPr algn="ctr">
              <a:spcBef>
                <a:spcPts val="0"/>
              </a:spcBef>
              <a:spcAft>
                <a:spcPts val="300"/>
              </a:spcAft>
            </a:pPr>
            <a:r>
              <a:rPr sz="1100" b="0">
                <a:solidFill>
                  <a:srgbClr val="5B6372"/>
                </a:solidFill>
                <a:latin typeface="Arial"/>
              </a:rPr>
              <a:t>kubelet registers node</a:t>
            </a:r>
          </a:p>
        </p:txBody>
      </p:sp>
      <p:sp>
        <p:nvSpPr>
          <p:cNvPr id="19" name="Rounded Rectangle 18"/>
          <p:cNvSpPr/>
          <p:nvPr/>
        </p:nvSpPr>
        <p:spPr>
          <a:xfrm>
            <a:off x="777240" y="5943600"/>
            <a:ext cx="10652760" cy="502920"/>
          </a:xfrm>
          <a:prstGeom prst="roundRect">
            <a:avLst>
              <a:gd name="adj" fmla="val 5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51560" y="5943600"/>
            <a:ext cx="10149840" cy="502920"/>
          </a:xfrm>
          <a:prstGeom prst="rect">
            <a:avLst/>
          </a:prstGeom>
          <a:noFill/>
        </p:spPr>
        <p:txBody>
          <a:bodyPr wrap="square" anchor="ctr" lIns="0" rIns="0" tIns="0" bIns="0">
            <a:spAutoFit/>
          </a:bodyPr>
          <a:lstStyle/>
          <a:p>
            <a:pPr algn="l">
              <a:spcBef>
                <a:spcPts val="0"/>
              </a:spcBef>
              <a:spcAft>
                <a:spcPts val="400"/>
              </a:spcAft>
            </a:pPr>
            <a:r>
              <a:rPr sz="1300" b="0">
                <a:solidFill>
                  <a:srgbClr val="5B6372"/>
                </a:solidFill>
                <a:latin typeface="Arial"/>
              </a:rPr>
              <a:t>Manifests: </a:t>
            </a:r>
            <a:r>
              <a:rPr sz="1300" b="1">
                <a:solidFill>
                  <a:srgbClr val="161B26"/>
                </a:solidFill>
                <a:latin typeface="Arial"/>
              </a:rPr>
              <a:t>/etc/kubernetes/manifests/</a:t>
            </a:r>
            <a:r>
              <a:rPr sz="1300" b="0">
                <a:solidFill>
                  <a:srgbClr val="5B6372"/>
                </a:solidFill>
                <a:latin typeface="Arial"/>
              </a:rPr>
              <a:t>  ·  PKI: </a:t>
            </a:r>
            <a:r>
              <a:rPr sz="1300" b="1">
                <a:solidFill>
                  <a:srgbClr val="161B26"/>
                </a:solidFill>
                <a:latin typeface="Arial"/>
              </a:rPr>
              <a:t>/etc/kubernetes/pki/</a:t>
            </a:r>
            <a:r>
              <a:rPr sz="1300" b="0">
                <a:solidFill>
                  <a:srgbClr val="5B6372"/>
                </a:solidFill>
                <a:latin typeface="Arial"/>
              </a:rPr>
              <a:t>  ·  kubeconfig: ~/.kube/config</a:t>
            </a:r>
          </a:p>
        </p:txBody>
      </p:sp>
      <p:sp>
        <p:nvSpPr>
          <p:cNvPr id="21" name="TextBox 20"/>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22" name="TextBox 2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23" name="TextBox 2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20</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DAY 1 · CLUSTER ARCHITECTURE</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kubeadm Prerequisites and Container Runtime</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64208"/>
            <a:ext cx="169164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09928"/>
            <a:ext cx="1691640" cy="365760"/>
          </a:xfrm>
          <a:prstGeom prst="rect">
            <a:avLst/>
          </a:prstGeom>
          <a:noFill/>
        </p:spPr>
        <p:txBody>
          <a:bodyPr wrap="square" anchor="t" lIns="0" rIns="0" tIns="0" bIns="0">
            <a:spAutoFit/>
          </a:bodyPr>
          <a:lstStyle/>
          <a:p>
            <a:pPr algn="ctr">
              <a:spcBef>
                <a:spcPts val="0"/>
              </a:spcBef>
              <a:spcAft>
                <a:spcPts val="400"/>
              </a:spcAft>
            </a:pPr>
            <a:r>
              <a:rPr sz="1600" b="1">
                <a:solidFill>
                  <a:srgbClr val="FFFFFF"/>
                </a:solidFill>
                <a:latin typeface="Arial"/>
              </a:rPr>
              <a:t>LAB 1</a:t>
            </a:r>
          </a:p>
        </p:txBody>
      </p:sp>
      <p:sp>
        <p:nvSpPr>
          <p:cNvPr id="9" name="TextBox 8"/>
          <p:cNvSpPr txBox="1"/>
          <p:nvPr/>
        </p:nvSpPr>
        <p:spPr>
          <a:xfrm>
            <a:off x="2697480" y="1691640"/>
            <a:ext cx="8778240" cy="411480"/>
          </a:xfrm>
          <a:prstGeom prst="rect">
            <a:avLst/>
          </a:prstGeom>
          <a:noFill/>
        </p:spPr>
        <p:txBody>
          <a:bodyPr wrap="square" anchor="ctr" lIns="0" rIns="0" tIns="0" bIns="0">
            <a:spAutoFit/>
          </a:bodyPr>
          <a:lstStyle/>
          <a:p>
            <a:pPr algn="l">
              <a:spcBef>
                <a:spcPts val="0"/>
              </a:spcBef>
              <a:spcAft>
                <a:spcPts val="400"/>
              </a:spcAft>
            </a:pPr>
            <a:r>
              <a:rPr sz="1400" b="1">
                <a:solidFill>
                  <a:srgbClr val="5B6372"/>
                </a:solidFill>
                <a:latin typeface="Arial"/>
              </a:rPr>
              <a:t>Cluster installation</a:t>
            </a:r>
          </a:p>
        </p:txBody>
      </p:sp>
      <p:sp>
        <p:nvSpPr>
          <p:cNvPr id="10" name="TextBox 9"/>
          <p:cNvSpPr txBox="1"/>
          <p:nvPr/>
        </p:nvSpPr>
        <p:spPr>
          <a:xfrm>
            <a:off x="777240" y="2286000"/>
            <a:ext cx="10698480" cy="1554480"/>
          </a:xfrm>
          <a:prstGeom prst="rect">
            <a:avLst/>
          </a:prstGeom>
          <a:noFill/>
        </p:spPr>
        <p:txBody>
          <a:bodyPr wrap="square" anchor="t" lIns="0" rIns="0" tIns="0" bIns="0">
            <a:spAutoFit/>
          </a:bodyPr>
          <a:lstStyle/>
          <a:p>
            <a:pPr algn="l">
              <a:spcBef>
                <a:spcPts val="0"/>
              </a:spcBef>
              <a:spcAft>
                <a:spcPts val="400"/>
              </a:spcAft>
            </a:pPr>
            <a:r>
              <a:rPr sz="1900" b="0">
                <a:solidFill>
                  <a:srgbClr val="161B26"/>
                </a:solidFill>
                <a:latin typeface="Arial"/>
              </a:rPr>
              <a:t>Prepare two clean Ubuntu nodes for a Kubernetes cluster install: load kernel modules, configure sysctls, install containerd as the CRI, and install kubeadm/kubelet/kubectl from the official pkgs.k8s.io repository. CKA tests this sequence in troubleshooting questions where a node is NotReady due to a misconfigured runtime.</a:t>
            </a:r>
          </a:p>
        </p:txBody>
      </p:sp>
      <p:sp>
        <p:nvSpPr>
          <p:cNvPr id="11" name="Rounded Rectangle 10"/>
          <p:cNvSpPr/>
          <p:nvPr/>
        </p:nvSpPr>
        <p:spPr>
          <a:xfrm>
            <a:off x="777240" y="4069080"/>
            <a:ext cx="10698480" cy="1783080"/>
          </a:xfrm>
          <a:prstGeom prst="roundRect">
            <a:avLst>
              <a:gd name="adj" fmla="val 5000"/>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05840" y="4251960"/>
            <a:ext cx="10058400" cy="365760"/>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You'll build</a:t>
            </a:r>
          </a:p>
        </p:txBody>
      </p:sp>
      <p:sp>
        <p:nvSpPr>
          <p:cNvPr id="13" name="TextBox 12"/>
          <p:cNvSpPr txBox="1"/>
          <p:nvPr/>
        </p:nvSpPr>
        <p:spPr>
          <a:xfrm>
            <a:off x="1005840" y="4617720"/>
            <a:ext cx="10241280" cy="640080"/>
          </a:xfrm>
          <a:prstGeom prst="rect">
            <a:avLst/>
          </a:prstGeom>
          <a:noFill/>
        </p:spPr>
        <p:txBody>
          <a:bodyPr wrap="square" anchor="t" lIns="0" rIns="0" tIns="0" bIns="0">
            <a:spAutoFit/>
          </a:bodyPr>
          <a:lstStyle/>
          <a:p>
            <a:pPr algn="l">
              <a:spcBef>
                <a:spcPts val="0"/>
              </a:spcBef>
              <a:spcAft>
                <a:spcPts val="400"/>
              </a:spcAft>
            </a:pPr>
            <a:r>
              <a:rPr sz="1700" b="1">
                <a:solidFill>
                  <a:srgbClr val="161B26"/>
                </a:solidFill>
                <a:latin typeface="Arial"/>
              </a:rPr>
              <a:t>Configure kernel modules, sysctls, containerd (SystemdCgroup=true), and install pinned Kubernetes packages on both nodes.</a:t>
            </a:r>
          </a:p>
        </p:txBody>
      </p:sp>
      <p:sp>
        <p:nvSpPr>
          <p:cNvPr id="14" name="TextBox 13"/>
          <p:cNvSpPr txBox="1"/>
          <p:nvPr/>
        </p:nvSpPr>
        <p:spPr>
          <a:xfrm>
            <a:off x="1005840" y="5349240"/>
            <a:ext cx="10058400" cy="457200"/>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Key commands:  </a:t>
            </a:r>
            <a:r>
              <a:rPr sz="1300" b="0">
                <a:solidFill>
                  <a:srgbClr val="5B6372"/>
                </a:solidFill>
                <a:latin typeface="Arial"/>
              </a:rPr>
              <a:t>cat &lt;&lt;EOF · sudo swapoff · sudo apt · » SystemdCgroup · kubeadm version</a:t>
            </a:r>
          </a:p>
        </p:txBody>
      </p:sp>
      <p:sp>
        <p:nvSpPr>
          <p:cNvPr id="15" name="TextBox 14"/>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6" name="TextBox 15"/>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7" name="TextBox 16"/>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21</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1  ·  COMMANDS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kubeadm Prerequisites and Container Runtime</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91640"/>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Step 1 -- Load kernel modules</a:t>
            </a:r>
          </a:p>
        </p:txBody>
      </p:sp>
      <p:sp>
        <p:nvSpPr>
          <p:cNvPr id="8" name="Rounded Rectangle 7"/>
          <p:cNvSpPr/>
          <p:nvPr/>
        </p:nvSpPr>
        <p:spPr>
          <a:xfrm>
            <a:off x="777240" y="2075688"/>
            <a:ext cx="10652760" cy="1271016"/>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075688"/>
            <a:ext cx="82296" cy="127101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6" y="2139696"/>
            <a:ext cx="10323576" cy="1179576"/>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cat &lt;&lt;EOF | sudo tee /etc/modules-load.d/k8s.conf</a:t>
            </a:r>
          </a:p>
          <a:p>
            <a:pPr>
              <a:spcBef>
                <a:spcPts val="0"/>
              </a:spcBef>
              <a:spcAft>
                <a:spcPts val="0"/>
              </a:spcAft>
            </a:pPr>
            <a:r>
              <a:rPr sz="1050">
                <a:solidFill>
                  <a:srgbClr val="161B26"/>
                </a:solidFill>
                <a:latin typeface="Consolas"/>
              </a:rPr>
              <a:t>overlay</a:t>
            </a:r>
          </a:p>
          <a:p>
            <a:pPr>
              <a:spcBef>
                <a:spcPts val="0"/>
              </a:spcBef>
              <a:spcAft>
                <a:spcPts val="0"/>
              </a:spcAft>
            </a:pPr>
            <a:r>
              <a:rPr sz="1050">
                <a:solidFill>
                  <a:srgbClr val="161B26"/>
                </a:solidFill>
                <a:latin typeface="Consolas"/>
              </a:rPr>
              <a:t>br_netfilter</a:t>
            </a:r>
          </a:p>
          <a:p>
            <a:pPr>
              <a:spcBef>
                <a:spcPts val="0"/>
              </a:spcBef>
              <a:spcAft>
                <a:spcPts val="0"/>
              </a:spcAft>
            </a:pPr>
            <a:r>
              <a:rPr sz="1050">
                <a:solidFill>
                  <a:srgbClr val="161B26"/>
                </a:solidFill>
                <a:latin typeface="Consolas"/>
              </a:rPr>
              <a:t>EOF</a:t>
            </a:r>
          </a:p>
          <a:p>
            <a:pPr>
              <a:spcBef>
                <a:spcPts val="0"/>
              </a:spcBef>
              <a:spcAft>
                <a:spcPts val="0"/>
              </a:spcAft>
            </a:pPr>
            <a:r>
              <a:rPr sz="1050">
                <a:solidFill>
                  <a:srgbClr val="161B26"/>
                </a:solidFill>
                <a:latin typeface="Consolas"/>
              </a:rPr>
              <a:t>sudo modprobe overlay</a:t>
            </a:r>
          </a:p>
          <a:p>
            <a:pPr>
              <a:spcBef>
                <a:spcPts val="0"/>
              </a:spcBef>
              <a:spcAft>
                <a:spcPts val="0"/>
              </a:spcAft>
            </a:pPr>
            <a:r>
              <a:rPr sz="1050">
                <a:solidFill>
                  <a:srgbClr val="161B26"/>
                </a:solidFill>
                <a:latin typeface="Consolas"/>
              </a:rPr>
              <a:t>sudo modprobe br_netfilter</a:t>
            </a:r>
          </a:p>
        </p:txBody>
      </p:sp>
      <p:sp>
        <p:nvSpPr>
          <p:cNvPr id="11" name="TextBox 10"/>
          <p:cNvSpPr txBox="1"/>
          <p:nvPr/>
        </p:nvSpPr>
        <p:spPr>
          <a:xfrm>
            <a:off x="777240" y="3529584"/>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Step 2 -- Set required sysctls</a:t>
            </a:r>
          </a:p>
        </p:txBody>
      </p:sp>
      <p:sp>
        <p:nvSpPr>
          <p:cNvPr id="12" name="Rounded Rectangle 11"/>
          <p:cNvSpPr/>
          <p:nvPr/>
        </p:nvSpPr>
        <p:spPr>
          <a:xfrm>
            <a:off x="777240" y="3913632"/>
            <a:ext cx="10652760" cy="1271016"/>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3913632"/>
            <a:ext cx="82296" cy="127101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3977640"/>
            <a:ext cx="10323576" cy="1179576"/>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cat &lt;&lt;EOF | sudo tee /etc/sysctl.d/k8s.conf</a:t>
            </a:r>
          </a:p>
          <a:p>
            <a:pPr>
              <a:spcBef>
                <a:spcPts val="0"/>
              </a:spcBef>
              <a:spcAft>
                <a:spcPts val="0"/>
              </a:spcAft>
            </a:pPr>
            <a:r>
              <a:rPr sz="1050">
                <a:solidFill>
                  <a:srgbClr val="161B26"/>
                </a:solidFill>
                <a:latin typeface="Consolas"/>
              </a:rPr>
              <a:t>net.bridge.bridge-nf-call-iptables  = 1</a:t>
            </a:r>
          </a:p>
          <a:p>
            <a:pPr>
              <a:spcBef>
                <a:spcPts val="0"/>
              </a:spcBef>
              <a:spcAft>
                <a:spcPts val="0"/>
              </a:spcAft>
            </a:pPr>
            <a:r>
              <a:rPr sz="1050">
                <a:solidFill>
                  <a:srgbClr val="161B26"/>
                </a:solidFill>
                <a:latin typeface="Consolas"/>
              </a:rPr>
              <a:t>net.bridge.bridge-nf-call-ip6tables = 1</a:t>
            </a:r>
          </a:p>
          <a:p>
            <a:pPr>
              <a:spcBef>
                <a:spcPts val="0"/>
              </a:spcBef>
              <a:spcAft>
                <a:spcPts val="0"/>
              </a:spcAft>
            </a:pPr>
            <a:r>
              <a:rPr sz="1050">
                <a:solidFill>
                  <a:srgbClr val="161B26"/>
                </a:solidFill>
                <a:latin typeface="Consolas"/>
              </a:rPr>
              <a:t>net.ipv4.ip_forward                 = 1</a:t>
            </a:r>
          </a:p>
          <a:p>
            <a:pPr>
              <a:spcBef>
                <a:spcPts val="0"/>
              </a:spcBef>
              <a:spcAft>
                <a:spcPts val="0"/>
              </a:spcAft>
            </a:pPr>
            <a:r>
              <a:rPr sz="1050">
                <a:solidFill>
                  <a:srgbClr val="161B26"/>
                </a:solidFill>
                <a:latin typeface="Consolas"/>
              </a:rPr>
              <a:t>EOF</a:t>
            </a:r>
          </a:p>
          <a:p>
            <a:pPr>
              <a:spcBef>
                <a:spcPts val="0"/>
              </a:spcBef>
              <a:spcAft>
                <a:spcPts val="0"/>
              </a:spcAft>
            </a:pPr>
            <a:r>
              <a:rPr sz="1050">
                <a:solidFill>
                  <a:srgbClr val="161B26"/>
                </a:solidFill>
                <a:latin typeface="Consolas"/>
              </a:rPr>
              <a:t>sudo sysctl --system</a:t>
            </a:r>
          </a:p>
        </p:txBody>
      </p:sp>
      <p:sp>
        <p:nvSpPr>
          <p:cNvPr id="15" name="TextBox 14"/>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6" name="TextBox 15"/>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7" name="TextBox 16"/>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22</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1  ·  COMMANDS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kubeadm Prerequisites and Container Runtime (cont.)</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91640"/>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Step 3 -- Disable swap</a:t>
            </a:r>
          </a:p>
        </p:txBody>
      </p:sp>
      <p:sp>
        <p:nvSpPr>
          <p:cNvPr id="8" name="Rounded Rectangle 7"/>
          <p:cNvSpPr/>
          <p:nvPr/>
        </p:nvSpPr>
        <p:spPr>
          <a:xfrm>
            <a:off x="777240" y="2075688"/>
            <a:ext cx="10652760" cy="521207"/>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075688"/>
            <a:ext cx="82296" cy="521207"/>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6" y="2139696"/>
            <a:ext cx="10323576" cy="429767"/>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sudo swapoff -a</a:t>
            </a:r>
          </a:p>
          <a:p>
            <a:pPr>
              <a:spcBef>
                <a:spcPts val="0"/>
              </a:spcBef>
              <a:spcAft>
                <a:spcPts val="0"/>
              </a:spcAft>
            </a:pPr>
            <a:r>
              <a:rPr sz="1050">
                <a:solidFill>
                  <a:srgbClr val="161B26"/>
                </a:solidFill>
                <a:latin typeface="Consolas"/>
              </a:rPr>
              <a:t>sudo sed -i '/ swap / s/^(.*)$/#\1/g' /etc/fstab</a:t>
            </a:r>
          </a:p>
        </p:txBody>
      </p:sp>
      <p:sp>
        <p:nvSpPr>
          <p:cNvPr id="11" name="TextBox 10"/>
          <p:cNvSpPr txBox="1"/>
          <p:nvPr/>
        </p:nvSpPr>
        <p:spPr>
          <a:xfrm>
            <a:off x="777240" y="2779775"/>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Step 4 -- Install containerd</a:t>
            </a:r>
          </a:p>
        </p:txBody>
      </p:sp>
      <p:sp>
        <p:nvSpPr>
          <p:cNvPr id="12" name="Rounded Rectangle 11"/>
          <p:cNvSpPr/>
          <p:nvPr/>
        </p:nvSpPr>
        <p:spPr>
          <a:xfrm>
            <a:off x="777240" y="3163823"/>
            <a:ext cx="10652760" cy="1083563"/>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3163823"/>
            <a:ext cx="82296" cy="1083563"/>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3227831"/>
            <a:ext cx="10323576" cy="992123"/>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sudo apt update &amp;&amp; sudo apt install -y containerd</a:t>
            </a:r>
          </a:p>
          <a:p>
            <a:pPr>
              <a:spcBef>
                <a:spcPts val="0"/>
              </a:spcBef>
              <a:spcAft>
                <a:spcPts val="0"/>
              </a:spcAft>
            </a:pPr>
            <a:r>
              <a:rPr sz="1050">
                <a:solidFill>
                  <a:srgbClr val="161B26"/>
                </a:solidFill>
                <a:latin typeface="Consolas"/>
              </a:rPr>
              <a:t>sudo mkdir -p /etc/containerd</a:t>
            </a:r>
          </a:p>
          <a:p>
            <a:pPr>
              <a:spcBef>
                <a:spcPts val="0"/>
              </a:spcBef>
              <a:spcAft>
                <a:spcPts val="0"/>
              </a:spcAft>
            </a:pPr>
            <a:r>
              <a:rPr sz="1050">
                <a:solidFill>
                  <a:srgbClr val="161B26"/>
                </a:solidFill>
                <a:latin typeface="Consolas"/>
              </a:rPr>
              <a:t>containerd config default | sudo tee /etc/containerd/config.toml</a:t>
            </a:r>
          </a:p>
          <a:p>
            <a:pPr>
              <a:spcBef>
                <a:spcPts val="0"/>
              </a:spcBef>
              <a:spcAft>
                <a:spcPts val="0"/>
              </a:spcAft>
            </a:pPr>
            <a:r>
              <a:rPr sz="1050">
                <a:solidFill>
                  <a:srgbClr val="161B26"/>
                </a:solidFill>
                <a:latin typeface="Consolas"/>
              </a:rPr>
              <a:t>sudo sed -i 's/SystemdCgroup = false/SystemdCgroup = true/' /etc/containerd/config.toml</a:t>
            </a:r>
          </a:p>
          <a:p>
            <a:pPr>
              <a:spcBef>
                <a:spcPts val="0"/>
              </a:spcBef>
              <a:spcAft>
                <a:spcPts val="0"/>
              </a:spcAft>
            </a:pPr>
            <a:r>
              <a:rPr sz="1050">
                <a:solidFill>
                  <a:srgbClr val="161B26"/>
                </a:solidFill>
                <a:latin typeface="Consolas"/>
              </a:rPr>
              <a:t>sudo systemctl restart containerd &amp;&amp; sudo systemctl enable containerd</a:t>
            </a:r>
          </a:p>
        </p:txBody>
      </p:sp>
      <p:sp>
        <p:nvSpPr>
          <p:cNvPr id="15" name="TextBox 14"/>
          <p:cNvSpPr txBox="1"/>
          <p:nvPr/>
        </p:nvSpPr>
        <p:spPr>
          <a:xfrm>
            <a:off x="777240" y="4430266"/>
            <a:ext cx="10652760" cy="310896"/>
          </a:xfrm>
          <a:prstGeom prst="rect">
            <a:avLst/>
          </a:prstGeom>
          <a:noFill/>
        </p:spPr>
        <p:txBody>
          <a:bodyPr wrap="square" anchor="t" lIns="0" rIns="0" tIns="0" bIns="0">
            <a:spAutoFit/>
          </a:bodyPr>
          <a:lstStyle/>
          <a:p>
            <a:pPr algn="l">
              <a:spcBef>
                <a:spcPts val="0"/>
              </a:spcBef>
              <a:spcAft>
                <a:spcPts val="400"/>
              </a:spcAft>
            </a:pPr>
            <a:r>
              <a:rPr sz="1300" b="1">
                <a:solidFill>
                  <a:srgbClr val="F59E0B"/>
                </a:solidFill>
                <a:latin typeface="Arial"/>
              </a:rPr>
              <a:t>Note   </a:t>
            </a:r>
            <a:r>
              <a:rPr sz="1300" b="0">
                <a:solidFill>
                  <a:srgbClr val="5B6372"/>
                </a:solidFill>
                <a:latin typeface="Arial"/>
              </a:rPr>
              <a:t>SystemdCgroup = true aligns containerd's cgroup driver with kubelet. A mismatch is the #1 cause of 'node NotReady' in fresh clusters.</a:t>
            </a:r>
          </a:p>
        </p:txBody>
      </p:sp>
      <p:sp>
        <p:nvSpPr>
          <p:cNvPr id="16" name="TextBox 15"/>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7" name="TextBox 16"/>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8" name="TextBox 17"/>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23</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1  ·  COMMANDS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kubeadm Prerequisites and Container Runtime (cont.)</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91640"/>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Step 5 -- Install kubeadm, kubelet, kubectl</a:t>
            </a:r>
          </a:p>
        </p:txBody>
      </p:sp>
      <p:sp>
        <p:nvSpPr>
          <p:cNvPr id="8" name="Rounded Rectangle 7"/>
          <p:cNvSpPr/>
          <p:nvPr/>
        </p:nvSpPr>
        <p:spPr>
          <a:xfrm>
            <a:off x="777240" y="2075688"/>
            <a:ext cx="10652760" cy="1645919"/>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075688"/>
            <a:ext cx="82296" cy="1645919"/>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6" y="2139696"/>
            <a:ext cx="10323576" cy="1554479"/>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sudo apt install -y apt-transport-https ca-certificates curl gpg</a:t>
            </a:r>
          </a:p>
          <a:p>
            <a:pPr>
              <a:spcBef>
                <a:spcPts val="0"/>
              </a:spcBef>
              <a:spcAft>
                <a:spcPts val="0"/>
              </a:spcAft>
            </a:pPr>
            <a:r>
              <a:rPr sz="1050">
                <a:solidFill>
                  <a:srgbClr val="161B26"/>
                </a:solidFill>
                <a:latin typeface="Consolas"/>
              </a:rPr>
              <a:t>sudo mkdir -p /etc/apt/keyrings</a:t>
            </a:r>
          </a:p>
          <a:p>
            <a:pPr>
              <a:spcBef>
                <a:spcPts val="0"/>
              </a:spcBef>
              <a:spcAft>
                <a:spcPts val="0"/>
              </a:spcAft>
            </a:pPr>
            <a:r>
              <a:rPr sz="1050">
                <a:solidFill>
                  <a:srgbClr val="161B26"/>
                </a:solidFill>
                <a:latin typeface="Consolas"/>
              </a:rPr>
              <a:t>curl -fsSL https://pkgs.k8s.io/core:/stable:/v1.31/deb/Release.key | \</a:t>
            </a:r>
          </a:p>
          <a:p>
            <a:pPr>
              <a:spcBef>
                <a:spcPts val="0"/>
              </a:spcBef>
              <a:spcAft>
                <a:spcPts val="0"/>
              </a:spcAft>
            </a:pPr>
            <a:r>
              <a:rPr sz="1050">
                <a:solidFill>
                  <a:srgbClr val="161B26"/>
                </a:solidFill>
                <a:latin typeface="Consolas"/>
              </a:rPr>
              <a:t>  sudo gpg --dearmor -o /etc/apt/keyrings/kubernetes-apt-keyring.gpg</a:t>
            </a:r>
          </a:p>
          <a:p>
            <a:pPr>
              <a:spcBef>
                <a:spcPts val="0"/>
              </a:spcBef>
              <a:spcAft>
                <a:spcPts val="0"/>
              </a:spcAft>
            </a:pPr>
            <a:r>
              <a:rPr sz="1050">
                <a:solidFill>
                  <a:srgbClr val="161B26"/>
                </a:solidFill>
                <a:latin typeface="Consolas"/>
              </a:rPr>
              <a:t>echo 'deb [signed-by=/etc/apt/keyrings/kubernetes-apt-keyring.gpg] https://pkgs.k8s.io/core:/stable:/v1.31/deb/ /' | \</a:t>
            </a:r>
          </a:p>
          <a:p>
            <a:pPr>
              <a:spcBef>
                <a:spcPts val="0"/>
              </a:spcBef>
              <a:spcAft>
                <a:spcPts val="0"/>
              </a:spcAft>
            </a:pPr>
            <a:r>
              <a:rPr sz="1050">
                <a:solidFill>
                  <a:srgbClr val="161B26"/>
                </a:solidFill>
                <a:latin typeface="Consolas"/>
              </a:rPr>
              <a:t>  sudo tee /etc/apt/sources.list.d/kubernetes.list</a:t>
            </a:r>
          </a:p>
          <a:p>
            <a:pPr>
              <a:spcBef>
                <a:spcPts val="0"/>
              </a:spcBef>
              <a:spcAft>
                <a:spcPts val="0"/>
              </a:spcAft>
            </a:pPr>
            <a:r>
              <a:rPr sz="1050">
                <a:solidFill>
                  <a:srgbClr val="161B26"/>
                </a:solidFill>
                <a:latin typeface="Consolas"/>
              </a:rPr>
              <a:t>sudo apt update &amp;&amp; sudo apt install -y kubelet kubeadm kubectl</a:t>
            </a:r>
          </a:p>
          <a:p>
            <a:pPr>
              <a:spcBef>
                <a:spcPts val="0"/>
              </a:spcBef>
              <a:spcAft>
                <a:spcPts val="0"/>
              </a:spcAft>
            </a:pPr>
            <a:r>
              <a:rPr sz="1050">
                <a:solidFill>
                  <a:srgbClr val="161B26"/>
                </a:solidFill>
                <a:latin typeface="Consolas"/>
              </a:rPr>
              <a:t>sudo apt-mark hold kubelet kubeadm kubectl</a:t>
            </a:r>
          </a:p>
        </p:txBody>
      </p:sp>
      <p:sp>
        <p:nvSpPr>
          <p:cNvPr id="11" name="TextBox 10"/>
          <p:cNvSpPr txBox="1"/>
          <p:nvPr/>
        </p:nvSpPr>
        <p:spPr>
          <a:xfrm>
            <a:off x="777240" y="3904487"/>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Step 6 -- Verify</a:t>
            </a:r>
          </a:p>
        </p:txBody>
      </p:sp>
      <p:sp>
        <p:nvSpPr>
          <p:cNvPr id="12" name="Rounded Rectangle 11"/>
          <p:cNvSpPr/>
          <p:nvPr/>
        </p:nvSpPr>
        <p:spPr>
          <a:xfrm>
            <a:off x="777240" y="4288535"/>
            <a:ext cx="10652760" cy="708660"/>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288535"/>
            <a:ext cx="82296" cy="7086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352543"/>
            <a:ext cx="10323576" cy="617220"/>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kubeadm version</a:t>
            </a:r>
          </a:p>
          <a:p>
            <a:pPr>
              <a:spcBef>
                <a:spcPts val="0"/>
              </a:spcBef>
              <a:spcAft>
                <a:spcPts val="0"/>
              </a:spcAft>
            </a:pPr>
            <a:r>
              <a:rPr sz="1050">
                <a:solidFill>
                  <a:srgbClr val="161B26"/>
                </a:solidFill>
                <a:latin typeface="Consolas"/>
              </a:rPr>
              <a:t>kubectl version --client</a:t>
            </a:r>
          </a:p>
          <a:p>
            <a:pPr>
              <a:spcBef>
                <a:spcPts val="0"/>
              </a:spcBef>
              <a:spcAft>
                <a:spcPts val="0"/>
              </a:spcAft>
            </a:pPr>
            <a:r>
              <a:rPr sz="1050">
                <a:solidFill>
                  <a:srgbClr val="161B26"/>
                </a:solidFill>
                <a:latin typeface="Consolas"/>
              </a:rPr>
              <a:t>sudo systemctl status containerd --no-pager | head</a:t>
            </a:r>
          </a:p>
        </p:txBody>
      </p:sp>
      <p:sp>
        <p:nvSpPr>
          <p:cNvPr id="15" name="TextBox 14"/>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6" name="TextBox 15"/>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7" name="TextBox 16"/>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24</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1  ·  TEST IT</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kubeadm Prerequisites and Container Runtime</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03120"/>
            <a:ext cx="10698480" cy="2560320"/>
          </a:xfrm>
          <a:prstGeom prst="roundRect">
            <a:avLst>
              <a:gd name="adj" fmla="val 5000"/>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lIns="0" rIns="0" tIns="0" bIns="0">
            <a:spAutoFit/>
          </a:bodyPr>
          <a:lstStyle/>
          <a:p>
            <a:pPr algn="l">
              <a:spcBef>
                <a:spcPts val="0"/>
              </a:spcBef>
              <a:spcAft>
                <a:spcPts val="400"/>
              </a:spcAft>
            </a:pPr>
            <a:r>
              <a:rPr sz="2200" b="1">
                <a:solidFill>
                  <a:srgbClr val="127A3E"/>
                </a:solidFill>
                <a:latin typeface="Arial"/>
              </a:rPr>
              <a:t>✅  Test it</a:t>
            </a:r>
          </a:p>
        </p:txBody>
      </p:sp>
      <p:sp>
        <p:nvSpPr>
          <p:cNvPr id="9" name="TextBox 8"/>
          <p:cNvSpPr txBox="1"/>
          <p:nvPr/>
        </p:nvSpPr>
        <p:spPr>
          <a:xfrm>
            <a:off x="1097280" y="3017520"/>
            <a:ext cx="10149840" cy="1463040"/>
          </a:xfrm>
          <a:prstGeom prst="rect">
            <a:avLst/>
          </a:prstGeom>
          <a:noFill/>
        </p:spPr>
        <p:txBody>
          <a:bodyPr wrap="square" anchor="t" lIns="0" rIns="0" tIns="0" bIns="0">
            <a:spAutoFit/>
          </a:bodyPr>
          <a:lstStyle/>
          <a:p>
            <a:pPr algn="l">
              <a:spcBef>
                <a:spcPts val="0"/>
              </a:spcBef>
              <a:spcAft>
                <a:spcPts val="400"/>
              </a:spcAft>
            </a:pPr>
            <a:r>
              <a:rPr sz="1800" b="0">
                <a:solidFill>
                  <a:srgbClr val="161B26"/>
                </a:solidFill>
                <a:latin typeface="Arial"/>
              </a:rPr>
              <a:t>kubeadm version shows v1.31.x, containerd is active, and crictl reports the runtime version.</a:t>
            </a:r>
          </a:p>
        </p:txBody>
      </p:sp>
      <p:sp>
        <p:nvSpPr>
          <p:cNvPr id="10" name="TextBox 9"/>
          <p:cNvSpPr txBox="1"/>
          <p:nvPr/>
        </p:nvSpPr>
        <p:spPr>
          <a:xfrm>
            <a:off x="777240" y="4983480"/>
            <a:ext cx="10698480" cy="365760"/>
          </a:xfrm>
          <a:prstGeom prst="rect">
            <a:avLst/>
          </a:prstGeom>
          <a:noFill/>
        </p:spPr>
        <p:txBody>
          <a:bodyPr wrap="square" anchor="t" lIns="0" rIns="0" tIns="0" bIns="0">
            <a:spAutoFit/>
          </a:bodyPr>
          <a:lstStyle/>
          <a:p>
            <a:pPr algn="l">
              <a:spcBef>
                <a:spcPts val="0"/>
              </a:spcBef>
              <a:spcAft>
                <a:spcPts val="400"/>
              </a:spcAft>
            </a:pPr>
            <a:r>
              <a:rPr sz="1300" b="1">
                <a:solidFill>
                  <a:srgbClr val="10B981"/>
                </a:solidFill>
                <a:latin typeface="Arial"/>
              </a:rPr>
              <a:t>Killercoda:  </a:t>
            </a:r>
            <a:r>
              <a:rPr sz="1300" b="0">
                <a:solidFill>
                  <a:srgbClr val="5B6372"/>
                </a:solidFill>
                <a:latin typeface="Arial"/>
              </a:rPr>
              <a:t>https://killercoda.com/playgrounds/scenario/kubeadm</a:t>
            </a:r>
          </a:p>
        </p:txBody>
      </p:sp>
      <p:sp>
        <p:nvSpPr>
          <p:cNvPr id="11" name="TextBox 10"/>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25</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DAY 1 · CLUSTER ARCHITECTURE</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kubeadm Bootstrap: init, kubeconfig, Worker Join, Cluster PKI</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64208"/>
            <a:ext cx="169164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09928"/>
            <a:ext cx="1691640" cy="365760"/>
          </a:xfrm>
          <a:prstGeom prst="rect">
            <a:avLst/>
          </a:prstGeom>
          <a:noFill/>
        </p:spPr>
        <p:txBody>
          <a:bodyPr wrap="square" anchor="t" lIns="0" rIns="0" tIns="0" bIns="0">
            <a:spAutoFit/>
          </a:bodyPr>
          <a:lstStyle/>
          <a:p>
            <a:pPr algn="ctr">
              <a:spcBef>
                <a:spcPts val="0"/>
              </a:spcBef>
              <a:spcAft>
                <a:spcPts val="400"/>
              </a:spcAft>
            </a:pPr>
            <a:r>
              <a:rPr sz="1600" b="1">
                <a:solidFill>
                  <a:srgbClr val="FFFFFF"/>
                </a:solidFill>
                <a:latin typeface="Arial"/>
              </a:rPr>
              <a:t>LAB 2</a:t>
            </a:r>
          </a:p>
        </p:txBody>
      </p:sp>
      <p:sp>
        <p:nvSpPr>
          <p:cNvPr id="9" name="TextBox 8"/>
          <p:cNvSpPr txBox="1"/>
          <p:nvPr/>
        </p:nvSpPr>
        <p:spPr>
          <a:xfrm>
            <a:off x="2697480" y="1691640"/>
            <a:ext cx="8778240" cy="411480"/>
          </a:xfrm>
          <a:prstGeom prst="rect">
            <a:avLst/>
          </a:prstGeom>
          <a:noFill/>
        </p:spPr>
        <p:txBody>
          <a:bodyPr wrap="square" anchor="ctr" lIns="0" rIns="0" tIns="0" bIns="0">
            <a:spAutoFit/>
          </a:bodyPr>
          <a:lstStyle/>
          <a:p>
            <a:pPr algn="l">
              <a:spcBef>
                <a:spcPts val="0"/>
              </a:spcBef>
              <a:spcAft>
                <a:spcPts val="400"/>
              </a:spcAft>
            </a:pPr>
            <a:r>
              <a:rPr sz="1400" b="1">
                <a:solidFill>
                  <a:srgbClr val="5B6372"/>
                </a:solidFill>
                <a:latin typeface="Arial"/>
              </a:rPr>
              <a:t>Cluster installation</a:t>
            </a:r>
          </a:p>
        </p:txBody>
      </p:sp>
      <p:sp>
        <p:nvSpPr>
          <p:cNvPr id="10" name="TextBox 9"/>
          <p:cNvSpPr txBox="1"/>
          <p:nvPr/>
        </p:nvSpPr>
        <p:spPr>
          <a:xfrm>
            <a:off x="777240" y="2286000"/>
            <a:ext cx="10698480" cy="1554480"/>
          </a:xfrm>
          <a:prstGeom prst="rect">
            <a:avLst/>
          </a:prstGeom>
          <a:noFill/>
        </p:spPr>
        <p:txBody>
          <a:bodyPr wrap="square" anchor="t" lIns="0" rIns="0" tIns="0" bIns="0">
            <a:spAutoFit/>
          </a:bodyPr>
          <a:lstStyle/>
          <a:p>
            <a:pPr algn="l">
              <a:spcBef>
                <a:spcPts val="0"/>
              </a:spcBef>
              <a:spcAft>
                <a:spcPts val="400"/>
              </a:spcAft>
            </a:pPr>
            <a:r>
              <a:rPr sz="1900" b="0">
                <a:solidFill>
                  <a:srgbClr val="161B26"/>
                </a:solidFill>
                <a:latin typeface="Arial"/>
              </a:rPr>
              <a:t>Run kubeadm init to create the control plane, configure kubectl access via kubeconfig, join a worker node using the bootstrap token, explore the PKI certificates under /etc/kubernetes/pki/, take an etcd snapshot, and inspect static pod manifests. The CKA exam always includes an etcd backup/restore question.</a:t>
            </a:r>
          </a:p>
        </p:txBody>
      </p:sp>
      <p:sp>
        <p:nvSpPr>
          <p:cNvPr id="11" name="Rounded Rectangle 10"/>
          <p:cNvSpPr/>
          <p:nvPr/>
        </p:nvSpPr>
        <p:spPr>
          <a:xfrm>
            <a:off x="777240" y="4069080"/>
            <a:ext cx="10698480" cy="1783080"/>
          </a:xfrm>
          <a:prstGeom prst="roundRect">
            <a:avLst>
              <a:gd name="adj" fmla="val 5000"/>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05840" y="4251960"/>
            <a:ext cx="10058400" cy="365760"/>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You'll build</a:t>
            </a:r>
          </a:p>
        </p:txBody>
      </p:sp>
      <p:sp>
        <p:nvSpPr>
          <p:cNvPr id="13" name="TextBox 12"/>
          <p:cNvSpPr txBox="1"/>
          <p:nvPr/>
        </p:nvSpPr>
        <p:spPr>
          <a:xfrm>
            <a:off x="1005840" y="4617720"/>
            <a:ext cx="10241280" cy="640080"/>
          </a:xfrm>
          <a:prstGeom prst="rect">
            <a:avLst/>
          </a:prstGeom>
          <a:noFill/>
        </p:spPr>
        <p:txBody>
          <a:bodyPr wrap="square" anchor="t" lIns="0" rIns="0" tIns="0" bIns="0">
            <a:spAutoFit/>
          </a:bodyPr>
          <a:lstStyle/>
          <a:p>
            <a:pPr algn="l">
              <a:spcBef>
                <a:spcPts val="0"/>
              </a:spcBef>
              <a:spcAft>
                <a:spcPts val="400"/>
              </a:spcAft>
            </a:pPr>
            <a:r>
              <a:rPr sz="1700" b="1">
                <a:solidFill>
                  <a:srgbClr val="161B26"/>
                </a:solidFill>
                <a:latin typeface="Arial"/>
              </a:rPr>
              <a:t>Run kubeadm init, copy admin.conf, join worker, explore PKI, take etcd snapshot with etcdctl.</a:t>
            </a:r>
          </a:p>
        </p:txBody>
      </p:sp>
      <p:sp>
        <p:nvSpPr>
          <p:cNvPr id="14" name="TextBox 13"/>
          <p:cNvSpPr txBox="1"/>
          <p:nvPr/>
        </p:nvSpPr>
        <p:spPr>
          <a:xfrm>
            <a:off x="1005840" y="5349240"/>
            <a:ext cx="10058400" cy="457200"/>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Key commands:  </a:t>
            </a:r>
            <a:r>
              <a:rPr sz="1300" b="0">
                <a:solidFill>
                  <a:srgbClr val="5B6372"/>
                </a:solidFill>
                <a:latin typeface="Arial"/>
              </a:rPr>
              <a:t>kubeadm init · mkdir -p · ls /etc/kubernetes/manifests/ · ls /etc/kubernetes/pki/ · export ETCDCTL_API=3 · » Always · kubeadm toke</a:t>
            </a:r>
          </a:p>
        </p:txBody>
      </p:sp>
      <p:sp>
        <p:nvSpPr>
          <p:cNvPr id="15" name="TextBox 14"/>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6" name="TextBox 15"/>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7" name="TextBox 16"/>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26</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2  ·  COMMANDS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kubeadm Bootstrap: init, kubeconfig, Worker Join, Cluster PKI</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91640"/>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Step 1 -- Initialize the control plane</a:t>
            </a:r>
          </a:p>
        </p:txBody>
      </p:sp>
      <p:sp>
        <p:nvSpPr>
          <p:cNvPr id="8" name="Rounded Rectangle 7"/>
          <p:cNvSpPr/>
          <p:nvPr/>
        </p:nvSpPr>
        <p:spPr>
          <a:xfrm>
            <a:off x="777240" y="2075688"/>
            <a:ext cx="10652760" cy="1083563"/>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075688"/>
            <a:ext cx="82296" cy="1083563"/>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6" y="2139696"/>
            <a:ext cx="10323576" cy="992123"/>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kubeadm init \</a:t>
            </a:r>
          </a:p>
          <a:p>
            <a:pPr>
              <a:spcBef>
                <a:spcPts val="0"/>
              </a:spcBef>
              <a:spcAft>
                <a:spcPts val="0"/>
              </a:spcAft>
            </a:pPr>
            <a:r>
              <a:rPr sz="1050">
                <a:solidFill>
                  <a:srgbClr val="161B26"/>
                </a:solidFill>
                <a:latin typeface="Consolas"/>
              </a:rPr>
              <a:t>  --kubernetes-version=v1.35.0 \</a:t>
            </a:r>
          </a:p>
          <a:p>
            <a:pPr>
              <a:spcBef>
                <a:spcPts val="0"/>
              </a:spcBef>
              <a:spcAft>
                <a:spcPts val="0"/>
              </a:spcAft>
            </a:pPr>
            <a:r>
              <a:rPr sz="1050">
                <a:solidFill>
                  <a:srgbClr val="161B26"/>
                </a:solidFill>
                <a:latin typeface="Consolas"/>
              </a:rPr>
              <a:t>  --pod-network-cidr=192.168.0.0/16 \</a:t>
            </a:r>
          </a:p>
          <a:p>
            <a:pPr>
              <a:spcBef>
                <a:spcPts val="0"/>
              </a:spcBef>
              <a:spcAft>
                <a:spcPts val="0"/>
              </a:spcAft>
            </a:pPr>
            <a:r>
              <a:rPr sz="1050">
                <a:solidFill>
                  <a:srgbClr val="161B26"/>
                </a:solidFill>
                <a:latin typeface="Consolas"/>
              </a:rPr>
              <a:t>  --service-cidr=10.96.0.0/12 \</a:t>
            </a:r>
          </a:p>
          <a:p>
            <a:pPr>
              <a:spcBef>
                <a:spcPts val="0"/>
              </a:spcBef>
              <a:spcAft>
                <a:spcPts val="0"/>
              </a:spcAft>
            </a:pPr>
            <a:r>
              <a:rPr sz="1050">
                <a:solidFill>
                  <a:srgbClr val="161B26"/>
                </a:solidFill>
                <a:latin typeface="Consolas"/>
              </a:rPr>
              <a:t>  --apiserver-advertise-address=$(hostname -I | awk '{print $1}')</a:t>
            </a:r>
          </a:p>
        </p:txBody>
      </p:sp>
      <p:sp>
        <p:nvSpPr>
          <p:cNvPr id="11" name="TextBox 10"/>
          <p:cNvSpPr txBox="1"/>
          <p:nvPr/>
        </p:nvSpPr>
        <p:spPr>
          <a:xfrm>
            <a:off x="777240" y="3342131"/>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Step 2 -- Configure kubectl</a:t>
            </a:r>
          </a:p>
        </p:txBody>
      </p:sp>
      <p:sp>
        <p:nvSpPr>
          <p:cNvPr id="12" name="Rounded Rectangle 11"/>
          <p:cNvSpPr/>
          <p:nvPr/>
        </p:nvSpPr>
        <p:spPr>
          <a:xfrm>
            <a:off x="777240" y="3726179"/>
            <a:ext cx="10652760" cy="896112"/>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3726179"/>
            <a:ext cx="82296" cy="896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3790187"/>
            <a:ext cx="10323576" cy="804672"/>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mkdir -p $HOME/.kube</a:t>
            </a:r>
          </a:p>
          <a:p>
            <a:pPr>
              <a:spcBef>
                <a:spcPts val="0"/>
              </a:spcBef>
              <a:spcAft>
                <a:spcPts val="0"/>
              </a:spcAft>
            </a:pPr>
            <a:r>
              <a:rPr sz="1050">
                <a:solidFill>
                  <a:srgbClr val="161B26"/>
                </a:solidFill>
                <a:latin typeface="Consolas"/>
              </a:rPr>
              <a:t>cp -i /etc/kubernetes/admin.conf $HOME/.kube/config</a:t>
            </a:r>
          </a:p>
          <a:p>
            <a:pPr>
              <a:spcBef>
                <a:spcPts val="0"/>
              </a:spcBef>
              <a:spcAft>
                <a:spcPts val="0"/>
              </a:spcAft>
            </a:pPr>
            <a:r>
              <a:rPr sz="1050">
                <a:solidFill>
                  <a:srgbClr val="161B26"/>
                </a:solidFill>
                <a:latin typeface="Consolas"/>
              </a:rPr>
              <a:t>chown $(id -u):$(id -g) $HOME/.kube/config</a:t>
            </a:r>
          </a:p>
          <a:p>
            <a:pPr>
              <a:spcBef>
                <a:spcPts val="0"/>
              </a:spcBef>
              <a:spcAft>
                <a:spcPts val="0"/>
              </a:spcAft>
            </a:pPr>
            <a:r>
              <a:rPr sz="1050">
                <a:solidFill>
                  <a:srgbClr val="161B26"/>
                </a:solidFill>
                <a:latin typeface="Consolas"/>
              </a:rPr>
              <a:t>kubectl get nodes</a:t>
            </a:r>
          </a:p>
        </p:txBody>
      </p:sp>
      <p:sp>
        <p:nvSpPr>
          <p:cNvPr id="15" name="TextBox 14"/>
          <p:cNvSpPr txBox="1"/>
          <p:nvPr/>
        </p:nvSpPr>
        <p:spPr>
          <a:xfrm>
            <a:off x="777240" y="4805171"/>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Step 3 -- Explore static pod manifests</a:t>
            </a:r>
          </a:p>
        </p:txBody>
      </p:sp>
      <p:sp>
        <p:nvSpPr>
          <p:cNvPr id="16" name="Rounded Rectangle 15"/>
          <p:cNvSpPr/>
          <p:nvPr/>
        </p:nvSpPr>
        <p:spPr>
          <a:xfrm>
            <a:off x="777240" y="5189219"/>
            <a:ext cx="10652760" cy="521207"/>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77240" y="5189219"/>
            <a:ext cx="82296" cy="521207"/>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96696" y="5253227"/>
            <a:ext cx="10323576" cy="429767"/>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ls /etc/kubernetes/manifests/</a:t>
            </a:r>
          </a:p>
          <a:p>
            <a:pPr>
              <a:spcBef>
                <a:spcPts val="0"/>
              </a:spcBef>
              <a:spcAft>
                <a:spcPts val="0"/>
              </a:spcAft>
            </a:pPr>
            <a:r>
              <a:rPr sz="1050">
                <a:solidFill>
                  <a:srgbClr val="161B26"/>
                </a:solidFill>
                <a:latin typeface="Consolas"/>
              </a:rPr>
              <a:t>grep 'image:' /etc/kubernetes/manifests/kube-apiserver.yaml</a:t>
            </a:r>
          </a:p>
        </p:txBody>
      </p:sp>
      <p:sp>
        <p:nvSpPr>
          <p:cNvPr id="19" name="TextBox 18"/>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20" name="TextBox 19"/>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21" name="TextBox 20"/>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27</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2  ·  COMMANDS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kubeadm Bootstrap: init, kubeconfig, Worker Join, Cluster PKI (cont.)</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91640"/>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Step 4 -- Explore cluster PKI</a:t>
            </a:r>
          </a:p>
        </p:txBody>
      </p:sp>
      <p:sp>
        <p:nvSpPr>
          <p:cNvPr id="8" name="Rounded Rectangle 7"/>
          <p:cNvSpPr/>
          <p:nvPr/>
        </p:nvSpPr>
        <p:spPr>
          <a:xfrm>
            <a:off x="777240" y="2075688"/>
            <a:ext cx="10652760" cy="708660"/>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075688"/>
            <a:ext cx="82296" cy="7086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6" y="2139696"/>
            <a:ext cx="10323576" cy="617220"/>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ls /etc/kubernetes/pki/</a:t>
            </a:r>
          </a:p>
          <a:p>
            <a:pPr>
              <a:spcBef>
                <a:spcPts val="0"/>
              </a:spcBef>
              <a:spcAft>
                <a:spcPts val="0"/>
              </a:spcAft>
            </a:pPr>
            <a:r>
              <a:rPr sz="1050">
                <a:solidFill>
                  <a:srgbClr val="161B26"/>
                </a:solidFill>
                <a:latin typeface="Consolas"/>
              </a:rPr>
              <a:t>kubeadm certs check-expiration</a:t>
            </a:r>
          </a:p>
          <a:p>
            <a:pPr>
              <a:spcBef>
                <a:spcPts val="0"/>
              </a:spcBef>
              <a:spcAft>
                <a:spcPts val="0"/>
              </a:spcAft>
            </a:pPr>
            <a:r>
              <a:rPr sz="1050">
                <a:solidFill>
                  <a:srgbClr val="161B26"/>
                </a:solidFill>
                <a:latin typeface="Consolas"/>
              </a:rPr>
              <a:t>openssl x509 -in /etc/kubernetes/pki/ca.crt -noout -dates</a:t>
            </a:r>
          </a:p>
        </p:txBody>
      </p:sp>
      <p:sp>
        <p:nvSpPr>
          <p:cNvPr id="11" name="TextBox 10"/>
          <p:cNvSpPr txBox="1"/>
          <p:nvPr/>
        </p:nvSpPr>
        <p:spPr>
          <a:xfrm>
            <a:off x="777240" y="2967228"/>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Step 5 -- Take an etcd snapshot</a:t>
            </a:r>
          </a:p>
        </p:txBody>
      </p:sp>
      <p:sp>
        <p:nvSpPr>
          <p:cNvPr id="12" name="Rounded Rectangle 11"/>
          <p:cNvSpPr/>
          <p:nvPr/>
        </p:nvSpPr>
        <p:spPr>
          <a:xfrm>
            <a:off x="777240" y="3351276"/>
            <a:ext cx="10652760" cy="1458467"/>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3351276"/>
            <a:ext cx="82296" cy="1458467"/>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3415284"/>
            <a:ext cx="10323576" cy="1367027"/>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export ETCDCTL_API=3</a:t>
            </a:r>
          </a:p>
          <a:p>
            <a:pPr>
              <a:spcBef>
                <a:spcPts val="0"/>
              </a:spcBef>
              <a:spcAft>
                <a:spcPts val="0"/>
              </a:spcAft>
            </a:pPr>
            <a:r>
              <a:rPr sz="1050">
                <a:solidFill>
                  <a:srgbClr val="161B26"/>
                </a:solidFill>
                <a:latin typeface="Consolas"/>
              </a:rPr>
              <a:t>export ETCDCTL_ENDPOINTS=https://127.0.0.1:2379</a:t>
            </a:r>
          </a:p>
          <a:p>
            <a:pPr>
              <a:spcBef>
                <a:spcPts val="0"/>
              </a:spcBef>
              <a:spcAft>
                <a:spcPts val="0"/>
              </a:spcAft>
            </a:pPr>
            <a:r>
              <a:rPr sz="1050">
                <a:solidFill>
                  <a:srgbClr val="161B26"/>
                </a:solidFill>
                <a:latin typeface="Consolas"/>
              </a:rPr>
              <a:t>export ETCDCTL_CACERT=/etc/kubernetes/pki/etcd/ca.crt</a:t>
            </a:r>
          </a:p>
          <a:p>
            <a:pPr>
              <a:spcBef>
                <a:spcPts val="0"/>
              </a:spcBef>
              <a:spcAft>
                <a:spcPts val="0"/>
              </a:spcAft>
            </a:pPr>
            <a:r>
              <a:rPr sz="1050">
                <a:solidFill>
                  <a:srgbClr val="161B26"/>
                </a:solidFill>
                <a:latin typeface="Consolas"/>
              </a:rPr>
              <a:t>export ETCDCTL_CERT=/etc/kubernetes/pki/etcd/server.crt</a:t>
            </a:r>
          </a:p>
          <a:p>
            <a:pPr>
              <a:spcBef>
                <a:spcPts val="0"/>
              </a:spcBef>
              <a:spcAft>
                <a:spcPts val="0"/>
              </a:spcAft>
            </a:pPr>
            <a:r>
              <a:rPr sz="1050">
                <a:solidFill>
                  <a:srgbClr val="161B26"/>
                </a:solidFill>
                <a:latin typeface="Consolas"/>
              </a:rPr>
              <a:t>export ETCDCTL_KEY=/etc/kubernetes/pki/etcd/server.key</a:t>
            </a:r>
          </a:p>
          <a:p>
            <a:pPr>
              <a:spcBef>
                <a:spcPts val="0"/>
              </a:spcBef>
              <a:spcAft>
                <a:spcPts val="0"/>
              </a:spcAft>
            </a:pPr>
            <a:r>
              <a:rPr sz="1050">
                <a:solidFill>
                  <a:srgbClr val="161B26"/>
                </a:solidFill>
                <a:latin typeface="Consolas"/>
              </a:rPr>
              <a:t>etcdctl snapshot save /opt/etcd-backup-$(date +%Y%m%d).db</a:t>
            </a:r>
          </a:p>
          <a:p>
            <a:pPr>
              <a:spcBef>
                <a:spcPts val="0"/>
              </a:spcBef>
              <a:spcAft>
                <a:spcPts val="0"/>
              </a:spcAft>
            </a:pPr>
            <a:r>
              <a:rPr sz="1050">
                <a:solidFill>
                  <a:srgbClr val="161B26"/>
                </a:solidFill>
                <a:latin typeface="Consolas"/>
              </a:rPr>
              <a:t>etcdctl snapshot status /opt/etcd-backup-$(date +%Y%m%d).db --write-out=table</a:t>
            </a:r>
          </a:p>
        </p:txBody>
      </p:sp>
      <p:sp>
        <p:nvSpPr>
          <p:cNvPr id="15" name="TextBox 14"/>
          <p:cNvSpPr txBox="1"/>
          <p:nvPr/>
        </p:nvSpPr>
        <p:spPr>
          <a:xfrm>
            <a:off x="777240" y="4992623"/>
            <a:ext cx="10652760" cy="310896"/>
          </a:xfrm>
          <a:prstGeom prst="rect">
            <a:avLst/>
          </a:prstGeom>
          <a:noFill/>
        </p:spPr>
        <p:txBody>
          <a:bodyPr wrap="square" anchor="t" lIns="0" rIns="0" tIns="0" bIns="0">
            <a:spAutoFit/>
          </a:bodyPr>
          <a:lstStyle/>
          <a:p>
            <a:pPr algn="l">
              <a:spcBef>
                <a:spcPts val="0"/>
              </a:spcBef>
              <a:spcAft>
                <a:spcPts val="400"/>
              </a:spcAft>
            </a:pPr>
            <a:r>
              <a:rPr sz="1300" b="1">
                <a:solidFill>
                  <a:srgbClr val="F59E0B"/>
                </a:solidFill>
                <a:latin typeface="Arial"/>
              </a:rPr>
              <a:t>Note   </a:t>
            </a:r>
            <a:r>
              <a:rPr sz="1300" b="0">
                <a:solidFill>
                  <a:srgbClr val="5B6372"/>
                </a:solidFill>
                <a:latin typeface="Arial"/>
              </a:rPr>
              <a:t>Always set ETCDCTL_API=3. etcd backup/restore is guaranteed to appear on the CKA exam.</a:t>
            </a:r>
          </a:p>
        </p:txBody>
      </p:sp>
      <p:sp>
        <p:nvSpPr>
          <p:cNvPr id="16" name="TextBox 15"/>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7" name="TextBox 16"/>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8" name="TextBox 17"/>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28</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2  ·  COMMANDS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kubeadm Bootstrap: init, kubeconfig, Worker Join, Cluster PKI (cont.)</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91640"/>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Step 6 -- Join worker node</a:t>
            </a:r>
          </a:p>
        </p:txBody>
      </p:sp>
      <p:sp>
        <p:nvSpPr>
          <p:cNvPr id="8" name="Rounded Rectangle 7"/>
          <p:cNvSpPr/>
          <p:nvPr/>
        </p:nvSpPr>
        <p:spPr>
          <a:xfrm>
            <a:off x="777240" y="2075688"/>
            <a:ext cx="10652760" cy="1083563"/>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075688"/>
            <a:ext cx="82296" cy="1083563"/>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6" y="2139696"/>
            <a:ext cx="10323576" cy="992123"/>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 On control plane -- generate join command</a:t>
            </a:r>
          </a:p>
          <a:p>
            <a:pPr>
              <a:spcBef>
                <a:spcPts val="0"/>
              </a:spcBef>
              <a:spcAft>
                <a:spcPts val="0"/>
              </a:spcAft>
            </a:pPr>
            <a:r>
              <a:rPr sz="1050">
                <a:solidFill>
                  <a:srgbClr val="161B26"/>
                </a:solidFill>
                <a:latin typeface="Consolas"/>
              </a:rPr>
              <a:t>kubeadm token create --print-join-command</a:t>
            </a:r>
          </a:p>
          <a:p>
            <a:pPr>
              <a:spcBef>
                <a:spcPts val="0"/>
              </a:spcBef>
              <a:spcAft>
                <a:spcPts val="0"/>
              </a:spcAft>
            </a:pPr>
            <a:r>
              <a:rPr sz="1050">
                <a:solidFill>
                  <a:srgbClr val="161B26"/>
                </a:solidFill>
                <a:latin typeface="Consolas"/>
              </a:rPr>
              <a:t># Run the output on WORKER NODE</a:t>
            </a:r>
          </a:p>
          <a:p>
            <a:pPr>
              <a:spcBef>
                <a:spcPts val="0"/>
              </a:spcBef>
              <a:spcAft>
                <a:spcPts val="0"/>
              </a:spcAft>
            </a:pPr>
            <a:r>
              <a:rPr sz="1050">
                <a:solidFill>
                  <a:srgbClr val="161B26"/>
                </a:solidFill>
                <a:latin typeface="Consolas"/>
              </a:rPr>
              <a:t># Back on control plane:</a:t>
            </a:r>
          </a:p>
          <a:p>
            <a:pPr>
              <a:spcBef>
                <a:spcPts val="0"/>
              </a:spcBef>
              <a:spcAft>
                <a:spcPts val="0"/>
              </a:spcAft>
            </a:pPr>
            <a:r>
              <a:rPr sz="1050">
                <a:solidFill>
                  <a:srgbClr val="161B26"/>
                </a:solidFill>
                <a:latin typeface="Consolas"/>
              </a:rPr>
              <a:t>kubectl get nodes -o wide</a:t>
            </a:r>
          </a:p>
        </p:txBody>
      </p:sp>
      <p:sp>
        <p:nvSpPr>
          <p:cNvPr id="11" name="TextBox 10"/>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29</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2  ·  TEST IT</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kubeadm Bootstrap: init, kubeconfig, Worker Join, Cluster PKI</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03120"/>
            <a:ext cx="10698480" cy="2560320"/>
          </a:xfrm>
          <a:prstGeom prst="roundRect">
            <a:avLst>
              <a:gd name="adj" fmla="val 5000"/>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lIns="0" rIns="0" tIns="0" bIns="0">
            <a:spAutoFit/>
          </a:bodyPr>
          <a:lstStyle/>
          <a:p>
            <a:pPr algn="l">
              <a:spcBef>
                <a:spcPts val="0"/>
              </a:spcBef>
              <a:spcAft>
                <a:spcPts val="400"/>
              </a:spcAft>
            </a:pPr>
            <a:r>
              <a:rPr sz="2200" b="1">
                <a:solidFill>
                  <a:srgbClr val="127A3E"/>
                </a:solidFill>
                <a:latin typeface="Arial"/>
              </a:rPr>
              <a:t>✅  Test it</a:t>
            </a:r>
          </a:p>
        </p:txBody>
      </p:sp>
      <p:sp>
        <p:nvSpPr>
          <p:cNvPr id="9" name="TextBox 8"/>
          <p:cNvSpPr txBox="1"/>
          <p:nvPr/>
        </p:nvSpPr>
        <p:spPr>
          <a:xfrm>
            <a:off x="1097280" y="3017520"/>
            <a:ext cx="10149840" cy="1463040"/>
          </a:xfrm>
          <a:prstGeom prst="rect">
            <a:avLst/>
          </a:prstGeom>
          <a:noFill/>
        </p:spPr>
        <p:txBody>
          <a:bodyPr wrap="square" anchor="t" lIns="0" rIns="0" tIns="0" bIns="0">
            <a:spAutoFit/>
          </a:bodyPr>
          <a:lstStyle/>
          <a:p>
            <a:pPr algn="l">
              <a:spcBef>
                <a:spcPts val="0"/>
              </a:spcBef>
              <a:spcAft>
                <a:spcPts val="400"/>
              </a:spcAft>
            </a:pPr>
            <a:r>
              <a:rPr sz="1800" b="0">
                <a:solidFill>
                  <a:srgbClr val="161B26"/>
                </a:solidFill>
                <a:latin typeface="Arial"/>
              </a:rPr>
              <a:t>kubectl get nodes shows both nodes (NotReady until CNI installed). etcd snapshot file exists at /opt/.</a:t>
            </a:r>
          </a:p>
        </p:txBody>
      </p:sp>
      <p:sp>
        <p:nvSpPr>
          <p:cNvPr id="10" name="TextBox 9"/>
          <p:cNvSpPr txBox="1"/>
          <p:nvPr/>
        </p:nvSpPr>
        <p:spPr>
          <a:xfrm>
            <a:off x="777240" y="4983480"/>
            <a:ext cx="10698480" cy="365760"/>
          </a:xfrm>
          <a:prstGeom prst="rect">
            <a:avLst/>
          </a:prstGeom>
          <a:noFill/>
        </p:spPr>
        <p:txBody>
          <a:bodyPr wrap="square" anchor="t" lIns="0" rIns="0" tIns="0" bIns="0">
            <a:spAutoFit/>
          </a:bodyPr>
          <a:lstStyle/>
          <a:p>
            <a:pPr algn="l">
              <a:spcBef>
                <a:spcPts val="0"/>
              </a:spcBef>
              <a:spcAft>
                <a:spcPts val="400"/>
              </a:spcAft>
            </a:pPr>
            <a:r>
              <a:rPr sz="1300" b="1">
                <a:solidFill>
                  <a:srgbClr val="10B981"/>
                </a:solidFill>
                <a:latin typeface="Arial"/>
              </a:rPr>
              <a:t>Killercoda:  </a:t>
            </a:r>
            <a:r>
              <a:rPr sz="1300" b="0">
                <a:solidFill>
                  <a:srgbClr val="5B6372"/>
                </a:solidFill>
                <a:latin typeface="Arial"/>
              </a:rPr>
              <a:t>https://killercoda.com/playgrounds/scenario/kubeadm</a:t>
            </a:r>
          </a:p>
        </p:txBody>
      </p:sp>
      <p:sp>
        <p:nvSpPr>
          <p:cNvPr id="11" name="TextBox 10"/>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30</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56832"/>
            <a:ext cx="12191695" cy="2011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937760" y="2148840"/>
            <a:ext cx="2313432"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0" y="2514600"/>
            <a:ext cx="12191695" cy="1097280"/>
          </a:xfrm>
          <a:prstGeom prst="rect">
            <a:avLst/>
          </a:prstGeom>
          <a:noFill/>
        </p:spPr>
        <p:txBody>
          <a:bodyPr wrap="square" anchor="t" lIns="0" rIns="0" tIns="0" bIns="0">
            <a:spAutoFit/>
          </a:bodyPr>
          <a:lstStyle/>
          <a:p>
            <a:pPr algn="ctr">
              <a:spcBef>
                <a:spcPts val="0"/>
              </a:spcBef>
              <a:spcAft>
                <a:spcPts val="400"/>
              </a:spcAft>
            </a:pPr>
            <a:r>
              <a:rPr sz="4800" b="1">
                <a:solidFill>
                  <a:srgbClr val="161B26"/>
                </a:solidFill>
                <a:latin typeface="Arial"/>
              </a:rPr>
              <a:t>Tea Break</a:t>
            </a:r>
          </a:p>
        </p:txBody>
      </p:sp>
      <p:sp>
        <p:nvSpPr>
          <p:cNvPr id="7" name="TextBox 6"/>
          <p:cNvSpPr txBox="1"/>
          <p:nvPr/>
        </p:nvSpPr>
        <p:spPr>
          <a:xfrm>
            <a:off x="0" y="3703320"/>
            <a:ext cx="12191695" cy="731520"/>
          </a:xfrm>
          <a:prstGeom prst="rect">
            <a:avLst/>
          </a:prstGeom>
          <a:noFill/>
        </p:spPr>
        <p:txBody>
          <a:bodyPr wrap="square" anchor="t" lIns="0" rIns="0" tIns="0" bIns="0">
            <a:spAutoFit/>
          </a:bodyPr>
          <a:lstStyle/>
          <a:p>
            <a:pPr algn="ctr">
              <a:spcBef>
                <a:spcPts val="0"/>
              </a:spcBef>
              <a:spcAft>
                <a:spcPts val="400"/>
              </a:spcAft>
            </a:pPr>
            <a:r>
              <a:rPr sz="2200" b="1">
                <a:solidFill>
                  <a:srgbClr val="10B981"/>
                </a:solidFill>
                <a:latin typeface="Arial"/>
              </a:rPr>
              <a:t>15 minutes</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lIns="0" rIns="0" tIns="0" bIns="0">
            <a:spAutoFit/>
          </a:bodyPr>
          <a:lstStyle/>
          <a:p>
            <a:pPr algn="l">
              <a:spcBef>
                <a:spcPts val="0"/>
              </a:spcBef>
              <a:spcAft>
                <a:spcPts val="400"/>
              </a:spcAft>
            </a:pPr>
            <a:r>
              <a:rPr sz="1800" b="1">
                <a:solidFill>
                  <a:srgbClr val="1F6FEB"/>
                </a:solidFill>
                <a:latin typeface="Arial"/>
              </a:rPr>
              <a:t>TOPIC 3</a:t>
            </a:r>
          </a:p>
        </p:txBody>
      </p:sp>
      <p:sp>
        <p:nvSpPr>
          <p:cNvPr id="6" name="TextBox 5"/>
          <p:cNvSpPr txBox="1"/>
          <p:nvPr/>
        </p:nvSpPr>
        <p:spPr>
          <a:xfrm>
            <a:off x="1143000" y="2743200"/>
            <a:ext cx="10424160" cy="1463040"/>
          </a:xfrm>
          <a:prstGeom prst="rect">
            <a:avLst/>
          </a:prstGeom>
          <a:noFill/>
        </p:spPr>
        <p:txBody>
          <a:bodyPr wrap="square" anchor="t" lIns="0" rIns="0" tIns="0" bIns="0">
            <a:spAutoFit/>
          </a:bodyPr>
          <a:lstStyle/>
          <a:p>
            <a:pPr algn="l">
              <a:spcBef>
                <a:spcPts val="0"/>
              </a:spcBef>
              <a:spcAft>
                <a:spcPts val="400"/>
              </a:spcAft>
            </a:pPr>
            <a:r>
              <a:rPr sz="4000" b="1">
                <a:solidFill>
                  <a:srgbClr val="161B26"/>
                </a:solidFill>
                <a:latin typeface="Arial"/>
              </a:rPr>
              <a:t>CNI — Container Network Interface</a:t>
            </a:r>
          </a:p>
        </p:txBody>
      </p:sp>
      <p:sp>
        <p:nvSpPr>
          <p:cNvPr id="7" name="TextBox 6"/>
          <p:cNvSpPr txBox="1"/>
          <p:nvPr/>
        </p:nvSpPr>
        <p:spPr>
          <a:xfrm>
            <a:off x="1161288" y="4114800"/>
            <a:ext cx="10058400" cy="731520"/>
          </a:xfrm>
          <a:prstGeom prst="rect">
            <a:avLst/>
          </a:prstGeom>
          <a:noFill/>
        </p:spPr>
        <p:txBody>
          <a:bodyPr wrap="square" anchor="t" lIns="0" rIns="0" tIns="0" bIns="0">
            <a:spAutoFit/>
          </a:bodyPr>
          <a:lstStyle/>
          <a:p>
            <a:pPr algn="l">
              <a:spcBef>
                <a:spcPts val="0"/>
              </a:spcBef>
              <a:spcAft>
                <a:spcPts val="400"/>
              </a:spcAft>
            </a:pPr>
            <a:r>
              <a:rPr sz="1600" b="0">
                <a:solidFill>
                  <a:srgbClr val="5B6372"/>
                </a:solidFill>
                <a:latin typeface="Arial"/>
              </a:rPr>
              <a:t>Pod networking with Calico and Cilium</a:t>
            </a:r>
          </a:p>
        </p:txBody>
      </p:sp>
      <p:sp>
        <p:nvSpPr>
          <p:cNvPr id="8" name="TextBox 7"/>
          <p:cNvSpPr txBox="1"/>
          <p:nvPr/>
        </p:nvSpPr>
        <p:spPr>
          <a:xfrm>
            <a:off x="9418320" y="640080"/>
            <a:ext cx="2286000" cy="1463040"/>
          </a:xfrm>
          <a:prstGeom prst="rect">
            <a:avLst/>
          </a:prstGeom>
          <a:noFill/>
        </p:spPr>
        <p:txBody>
          <a:bodyPr wrap="square" anchor="t" lIns="0" rIns="0" tIns="0" bIns="0">
            <a:spAutoFit/>
          </a:bodyPr>
          <a:lstStyle/>
          <a:p>
            <a:pPr algn="r">
              <a:spcBef>
                <a:spcPts val="0"/>
              </a:spcBef>
              <a:spcAft>
                <a:spcPts val="400"/>
              </a:spcAft>
            </a:pPr>
            <a:r>
              <a:rPr sz="7200" b="1">
                <a:solidFill>
                  <a:srgbClr val="E2E8F0"/>
                </a:solidFill>
                <a:latin typeface="Arial"/>
              </a:rPr>
              <a:t/>
            </a:r>
          </a:p>
        </p:txBody>
      </p:sp>
      <p:sp>
        <p:nvSpPr>
          <p:cNvPr id="9" name="TextBox 8"/>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0" name="TextBox 9"/>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1" name="TextBox 10"/>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32</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POD NETWORKING</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How Pods Get IPs</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07040" cy="4480560"/>
          </a:xfrm>
          <a:prstGeom prst="rect">
            <a:avLst/>
          </a:prstGeom>
          <a:noFill/>
        </p:spPr>
        <p:txBody>
          <a:bodyPr wrap="square" lIns="0" rIns="0">
            <a:spAutoFit/>
          </a:bodyPr>
          <a:lstStyle/>
          <a:p>
            <a:pPr>
              <a:spcBef>
                <a:spcPts val="0"/>
              </a:spcBef>
              <a:spcAft>
                <a:spcPts val="1000"/>
              </a:spcAft>
            </a:pPr>
            <a:r>
              <a:rPr sz="1900" b="1">
                <a:solidFill>
                  <a:srgbClr val="1F6FEB"/>
                </a:solidFill>
                <a:latin typeface="Arial"/>
              </a:rPr>
              <a:t>•  </a:t>
            </a:r>
            <a:r>
              <a:rPr sz="1900">
                <a:solidFill>
                  <a:srgbClr val="161B26"/>
                </a:solidFill>
                <a:latin typeface="Arial"/>
              </a:rPr>
              <a:t>CNI is called by the kubelet on every pod creation — the plugin assigns an IP from the pod CIDR.</a:t>
            </a:r>
          </a:p>
          <a:p>
            <a:pPr>
              <a:spcBef>
                <a:spcPts val="0"/>
              </a:spcBef>
              <a:spcAft>
                <a:spcPts val="1000"/>
              </a:spcAft>
            </a:pPr>
            <a:r>
              <a:rPr sz="1900" b="1">
                <a:solidFill>
                  <a:srgbClr val="1F6FEB"/>
                </a:solidFill>
                <a:latin typeface="Arial"/>
              </a:rPr>
              <a:t>•  </a:t>
            </a:r>
            <a:r>
              <a:rPr sz="1900">
                <a:solidFill>
                  <a:srgbClr val="161B26"/>
                </a:solidFill>
                <a:latin typeface="Arial"/>
              </a:rPr>
              <a:t>Calico uses BGP or VXLAN; Cilium uses eBPF for high-performance networking and advanced observability.</a:t>
            </a:r>
          </a:p>
          <a:p>
            <a:pPr>
              <a:spcBef>
                <a:spcPts val="0"/>
              </a:spcBef>
              <a:spcAft>
                <a:spcPts val="1000"/>
              </a:spcAft>
            </a:pPr>
            <a:r>
              <a:rPr sz="1900" b="1">
                <a:solidFill>
                  <a:srgbClr val="1F6FEB"/>
                </a:solidFill>
                <a:latin typeface="Arial"/>
              </a:rPr>
              <a:t>•  </a:t>
            </a:r>
            <a:r>
              <a:rPr sz="1900">
                <a:solidFill>
                  <a:srgbClr val="161B26"/>
                </a:solidFill>
                <a:latin typeface="Arial"/>
              </a:rPr>
              <a:t>CNI binaries live in /opt/cni/bin/; configuration files live in /etc/cni/net.d/.</a:t>
            </a:r>
          </a:p>
          <a:p>
            <a:pPr>
              <a:spcBef>
                <a:spcPts val="0"/>
              </a:spcBef>
              <a:spcAft>
                <a:spcPts val="1000"/>
              </a:spcAft>
            </a:pPr>
            <a:r>
              <a:rPr sz="1900" b="1">
                <a:solidFill>
                  <a:srgbClr val="1F6FEB"/>
                </a:solidFill>
                <a:latin typeface="Arial"/>
              </a:rPr>
              <a:t>•  </a:t>
            </a:r>
            <a:r>
              <a:rPr sz="1900">
                <a:solidFill>
                  <a:srgbClr val="161B26"/>
                </a:solidFill>
                <a:latin typeface="Arial"/>
              </a:rPr>
              <a:t>Without a CNI plugin nodes stay NotReady — applying the CNI manifest is a mandatory post-init step.</a:t>
            </a:r>
          </a:p>
        </p:txBody>
      </p:sp>
      <p:sp>
        <p:nvSpPr>
          <p:cNvPr id="8" name="TextBox 7"/>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9" name="TextBox 8"/>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33</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PICK YOUR CNI</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CNI Plugin Choices</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1783080"/>
            <a:ext cx="3337560" cy="4206240"/>
          </a:xfrm>
          <a:prstGeom prst="roundRect">
            <a:avLst>
              <a:gd name="adj" fmla="val 5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57400"/>
            <a:ext cx="2926080" cy="548640"/>
          </a:xfrm>
          <a:prstGeom prst="rect">
            <a:avLst/>
          </a:prstGeom>
          <a:noFill/>
        </p:spPr>
        <p:txBody>
          <a:bodyPr wrap="square" anchor="t" lIns="0" rIns="0" tIns="0" bIns="0">
            <a:spAutoFit/>
          </a:bodyPr>
          <a:lstStyle/>
          <a:p>
            <a:pPr algn="l">
              <a:spcBef>
                <a:spcPts val="0"/>
              </a:spcBef>
              <a:spcAft>
                <a:spcPts val="400"/>
              </a:spcAft>
            </a:pPr>
            <a:r>
              <a:rPr sz="1900" b="1">
                <a:solidFill>
                  <a:srgbClr val="1F6FEB"/>
                </a:solidFill>
                <a:latin typeface="Arial"/>
              </a:rPr>
              <a:t>Calico</a:t>
            </a:r>
          </a:p>
        </p:txBody>
      </p:sp>
      <p:sp>
        <p:nvSpPr>
          <p:cNvPr id="10" name="TextBox 9"/>
          <p:cNvSpPr txBox="1"/>
          <p:nvPr/>
        </p:nvSpPr>
        <p:spPr>
          <a:xfrm>
            <a:off x="1005840" y="2697480"/>
            <a:ext cx="2926080" cy="3108960"/>
          </a:xfrm>
          <a:prstGeom prst="rect">
            <a:avLst/>
          </a:prstGeom>
          <a:noFill/>
        </p:spPr>
        <p:txBody>
          <a:bodyPr wrap="square" lIns="0" rIns="0">
            <a:spAutoFit/>
          </a:bodyPr>
          <a:lstStyle/>
          <a:p>
            <a:pPr>
              <a:spcBef>
                <a:spcPts val="0"/>
              </a:spcBef>
              <a:spcAft>
                <a:spcPts val="900"/>
              </a:spcAft>
            </a:pPr>
            <a:r>
              <a:rPr sz="1400" b="1">
                <a:solidFill>
                  <a:srgbClr val="1F6FEB"/>
                </a:solidFill>
                <a:latin typeface="Arial"/>
              </a:rPr>
              <a:t>•  </a:t>
            </a:r>
            <a:r>
              <a:rPr sz="1400">
                <a:solidFill>
                  <a:srgbClr val="161B26"/>
                </a:solidFill>
                <a:latin typeface="Arial"/>
              </a:rPr>
              <a:t>BGP or VXLAN</a:t>
            </a:r>
          </a:p>
          <a:p>
            <a:pPr>
              <a:spcBef>
                <a:spcPts val="0"/>
              </a:spcBef>
              <a:spcAft>
                <a:spcPts val="900"/>
              </a:spcAft>
            </a:pPr>
            <a:r>
              <a:rPr sz="1400" b="1">
                <a:solidFill>
                  <a:srgbClr val="1F6FEB"/>
                </a:solidFill>
                <a:latin typeface="Arial"/>
              </a:rPr>
              <a:t>•  </a:t>
            </a:r>
            <a:r>
              <a:rPr sz="1400">
                <a:solidFill>
                  <a:srgbClr val="161B26"/>
                </a:solidFill>
                <a:latin typeface="Arial"/>
              </a:rPr>
              <a:t>NetworkPolicy support</a:t>
            </a:r>
          </a:p>
          <a:p>
            <a:pPr>
              <a:spcBef>
                <a:spcPts val="0"/>
              </a:spcBef>
              <a:spcAft>
                <a:spcPts val="900"/>
              </a:spcAft>
            </a:pPr>
            <a:r>
              <a:rPr sz="1400" b="1">
                <a:solidFill>
                  <a:srgbClr val="1F6FEB"/>
                </a:solidFill>
                <a:latin typeface="Arial"/>
              </a:rPr>
              <a:t>•  </a:t>
            </a:r>
            <a:r>
              <a:rPr sz="1400">
                <a:solidFill>
                  <a:srgbClr val="161B26"/>
                </a:solidFill>
                <a:latin typeface="Arial"/>
              </a:rPr>
              <a:t>Most popular CKA choice</a:t>
            </a:r>
          </a:p>
        </p:txBody>
      </p:sp>
      <p:sp>
        <p:nvSpPr>
          <p:cNvPr id="11" name="Rounded Rectangle 10"/>
          <p:cNvSpPr/>
          <p:nvPr/>
        </p:nvSpPr>
        <p:spPr>
          <a:xfrm>
            <a:off x="4572000" y="1783080"/>
            <a:ext cx="3337560" cy="4206240"/>
          </a:xfrm>
          <a:prstGeom prst="roundRect">
            <a:avLst>
              <a:gd name="adj" fmla="val 5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57400"/>
            <a:ext cx="2926080" cy="548640"/>
          </a:xfrm>
          <a:prstGeom prst="rect">
            <a:avLst/>
          </a:prstGeom>
          <a:noFill/>
        </p:spPr>
        <p:txBody>
          <a:bodyPr wrap="square" anchor="t" lIns="0" rIns="0" tIns="0" bIns="0">
            <a:spAutoFit/>
          </a:bodyPr>
          <a:lstStyle/>
          <a:p>
            <a:pPr algn="l">
              <a:spcBef>
                <a:spcPts val="0"/>
              </a:spcBef>
              <a:spcAft>
                <a:spcPts val="400"/>
              </a:spcAft>
            </a:pPr>
            <a:r>
              <a:rPr sz="1900" b="1">
                <a:solidFill>
                  <a:srgbClr val="10B981"/>
                </a:solidFill>
                <a:latin typeface="Arial"/>
              </a:rPr>
              <a:t>Cilium</a:t>
            </a:r>
          </a:p>
        </p:txBody>
      </p:sp>
      <p:sp>
        <p:nvSpPr>
          <p:cNvPr id="14" name="TextBox 13"/>
          <p:cNvSpPr txBox="1"/>
          <p:nvPr/>
        </p:nvSpPr>
        <p:spPr>
          <a:xfrm>
            <a:off x="4800600" y="2697480"/>
            <a:ext cx="2926080" cy="3108960"/>
          </a:xfrm>
          <a:prstGeom prst="rect">
            <a:avLst/>
          </a:prstGeom>
          <a:noFill/>
        </p:spPr>
        <p:txBody>
          <a:bodyPr wrap="square" lIns="0" rIns="0">
            <a:spAutoFit/>
          </a:bodyPr>
          <a:lstStyle/>
          <a:p>
            <a:pPr>
              <a:spcBef>
                <a:spcPts val="0"/>
              </a:spcBef>
              <a:spcAft>
                <a:spcPts val="900"/>
              </a:spcAft>
            </a:pPr>
            <a:r>
              <a:rPr sz="1400" b="1">
                <a:solidFill>
                  <a:srgbClr val="10B981"/>
                </a:solidFill>
                <a:latin typeface="Arial"/>
              </a:rPr>
              <a:t>•  </a:t>
            </a:r>
            <a:r>
              <a:rPr sz="1400">
                <a:solidFill>
                  <a:srgbClr val="161B26"/>
                </a:solidFill>
                <a:latin typeface="Arial"/>
              </a:rPr>
              <a:t>eBPF dataplane</a:t>
            </a:r>
          </a:p>
          <a:p>
            <a:pPr>
              <a:spcBef>
                <a:spcPts val="0"/>
              </a:spcBef>
              <a:spcAft>
                <a:spcPts val="900"/>
              </a:spcAft>
            </a:pPr>
            <a:r>
              <a:rPr sz="1400" b="1">
                <a:solidFill>
                  <a:srgbClr val="10B981"/>
                </a:solidFill>
                <a:latin typeface="Arial"/>
              </a:rPr>
              <a:t>•  </a:t>
            </a:r>
            <a:r>
              <a:rPr sz="1400">
                <a:solidFill>
                  <a:srgbClr val="161B26"/>
                </a:solidFill>
                <a:latin typeface="Arial"/>
              </a:rPr>
              <a:t>Advanced observability</a:t>
            </a:r>
          </a:p>
          <a:p>
            <a:pPr>
              <a:spcBef>
                <a:spcPts val="0"/>
              </a:spcBef>
              <a:spcAft>
                <a:spcPts val="900"/>
              </a:spcAft>
            </a:pPr>
            <a:r>
              <a:rPr sz="1400" b="1">
                <a:solidFill>
                  <a:srgbClr val="10B981"/>
                </a:solidFill>
                <a:latin typeface="Arial"/>
              </a:rPr>
              <a:t>•  </a:t>
            </a:r>
            <a:r>
              <a:rPr sz="1400">
                <a:solidFill>
                  <a:srgbClr val="161B26"/>
                </a:solidFill>
                <a:latin typeface="Arial"/>
              </a:rPr>
              <a:t>Kubernetes 1.21+ native</a:t>
            </a:r>
          </a:p>
        </p:txBody>
      </p:sp>
      <p:sp>
        <p:nvSpPr>
          <p:cNvPr id="15" name="Rounded Rectangle 14"/>
          <p:cNvSpPr/>
          <p:nvPr/>
        </p:nvSpPr>
        <p:spPr>
          <a:xfrm>
            <a:off x="8366760" y="1783080"/>
            <a:ext cx="3337560" cy="4206240"/>
          </a:xfrm>
          <a:prstGeom prst="roundRect">
            <a:avLst>
              <a:gd name="adj" fmla="val 5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57400"/>
            <a:ext cx="2926080" cy="548640"/>
          </a:xfrm>
          <a:prstGeom prst="rect">
            <a:avLst/>
          </a:prstGeom>
          <a:noFill/>
        </p:spPr>
        <p:txBody>
          <a:bodyPr wrap="square" anchor="t" lIns="0" rIns="0" tIns="0" bIns="0">
            <a:spAutoFit/>
          </a:bodyPr>
          <a:lstStyle/>
          <a:p>
            <a:pPr algn="l">
              <a:spcBef>
                <a:spcPts val="0"/>
              </a:spcBef>
              <a:spcAft>
                <a:spcPts val="400"/>
              </a:spcAft>
            </a:pPr>
            <a:r>
              <a:rPr sz="1900" b="1">
                <a:solidFill>
                  <a:srgbClr val="7C3AED"/>
                </a:solidFill>
                <a:latin typeface="Arial"/>
              </a:rPr>
              <a:t>Flannel</a:t>
            </a:r>
          </a:p>
        </p:txBody>
      </p:sp>
      <p:sp>
        <p:nvSpPr>
          <p:cNvPr id="18" name="TextBox 17"/>
          <p:cNvSpPr txBox="1"/>
          <p:nvPr/>
        </p:nvSpPr>
        <p:spPr>
          <a:xfrm>
            <a:off x="8595360" y="2697480"/>
            <a:ext cx="2926080" cy="3108960"/>
          </a:xfrm>
          <a:prstGeom prst="rect">
            <a:avLst/>
          </a:prstGeom>
          <a:noFill/>
        </p:spPr>
        <p:txBody>
          <a:bodyPr wrap="square" lIns="0" rIns="0">
            <a:spAutoFit/>
          </a:bodyPr>
          <a:lstStyle/>
          <a:p>
            <a:pPr>
              <a:spcBef>
                <a:spcPts val="0"/>
              </a:spcBef>
              <a:spcAft>
                <a:spcPts val="900"/>
              </a:spcAft>
            </a:pPr>
            <a:r>
              <a:rPr sz="1400" b="1">
                <a:solidFill>
                  <a:srgbClr val="7C3AED"/>
                </a:solidFill>
                <a:latin typeface="Arial"/>
              </a:rPr>
              <a:t>•  </a:t>
            </a:r>
            <a:r>
              <a:rPr sz="1400">
                <a:solidFill>
                  <a:srgbClr val="161B26"/>
                </a:solidFill>
                <a:latin typeface="Arial"/>
              </a:rPr>
              <a:t>VXLAN overlay</a:t>
            </a:r>
          </a:p>
          <a:p>
            <a:pPr>
              <a:spcBef>
                <a:spcPts val="0"/>
              </a:spcBef>
              <a:spcAft>
                <a:spcPts val="900"/>
              </a:spcAft>
            </a:pPr>
            <a:r>
              <a:rPr sz="1400" b="1">
                <a:solidFill>
                  <a:srgbClr val="7C3AED"/>
                </a:solidFill>
                <a:latin typeface="Arial"/>
              </a:rPr>
              <a:t>•  </a:t>
            </a:r>
            <a:r>
              <a:rPr sz="1400">
                <a:solidFill>
                  <a:srgbClr val="161B26"/>
                </a:solidFill>
                <a:latin typeface="Arial"/>
              </a:rPr>
              <a:t>Simple, no NetworkPolicy</a:t>
            </a:r>
          </a:p>
          <a:p>
            <a:pPr>
              <a:spcBef>
                <a:spcPts val="0"/>
              </a:spcBef>
              <a:spcAft>
                <a:spcPts val="900"/>
              </a:spcAft>
            </a:pPr>
            <a:r>
              <a:rPr sz="1400" b="1">
                <a:solidFill>
                  <a:srgbClr val="7C3AED"/>
                </a:solidFill>
                <a:latin typeface="Arial"/>
              </a:rPr>
              <a:t>•  </a:t>
            </a:r>
            <a:r>
              <a:rPr sz="1400">
                <a:solidFill>
                  <a:srgbClr val="161B26"/>
                </a:solidFill>
                <a:latin typeface="Arial"/>
              </a:rPr>
              <a:t>Development / lab only</a:t>
            </a:r>
          </a:p>
        </p:txBody>
      </p:sp>
      <p:sp>
        <p:nvSpPr>
          <p:cNvPr id="19" name="TextBox 18"/>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20" name="TextBox 19"/>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21" name="TextBox 20"/>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34</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DOMAIN 1  ·  CONTAINER NETWORK INTERFACE</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CNI — How Pods Get Their IP</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468880"/>
            <a:ext cx="3063240" cy="1737360"/>
          </a:xfrm>
          <a:prstGeom prst="roundRect">
            <a:avLst>
              <a:gd name="adj" fmla="val 5000"/>
            </a:avLst>
          </a:prstGeom>
          <a:solidFill>
            <a:srgbClr val="EAF1FE"/>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468880"/>
            <a:ext cx="3063240"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86968" y="2578608"/>
            <a:ext cx="2843784" cy="1627632"/>
          </a:xfrm>
          <a:prstGeom prst="rect">
            <a:avLst/>
          </a:prstGeom>
          <a:noFill/>
        </p:spPr>
        <p:txBody>
          <a:bodyPr wrap="square" anchor="ctr" lIns="0" rIns="0" tIns="0" bIns="0">
            <a:spAutoFit/>
          </a:bodyPr>
          <a:lstStyle/>
          <a:p>
            <a:pPr algn="ctr">
              <a:spcBef>
                <a:spcPts val="0"/>
              </a:spcBef>
              <a:spcAft>
                <a:spcPts val="300"/>
              </a:spcAft>
            </a:pPr>
            <a:r>
              <a:rPr sz="1500" b="1">
                <a:solidFill>
                  <a:srgbClr val="161B26"/>
                </a:solidFill>
                <a:latin typeface="Arial"/>
              </a:rPr>
              <a:t>kubelet</a:t>
            </a:r>
          </a:p>
          <a:p>
            <a:pPr algn="ctr">
              <a:spcBef>
                <a:spcPts val="0"/>
              </a:spcBef>
              <a:spcAft>
                <a:spcPts val="300"/>
              </a:spcAft>
            </a:pPr>
            <a:r>
              <a:rPr sz="1100" b="0">
                <a:solidFill>
                  <a:srgbClr val="5B6372"/>
                </a:solidFill>
                <a:latin typeface="Arial"/>
              </a:rPr>
              <a:t>Pod assigned to node</a:t>
            </a:r>
          </a:p>
          <a:p>
            <a:pPr algn="ctr">
              <a:spcBef>
                <a:spcPts val="0"/>
              </a:spcBef>
              <a:spcAft>
                <a:spcPts val="300"/>
              </a:spcAft>
            </a:pPr>
            <a:r>
              <a:rPr sz="1100" b="0">
                <a:solidFill>
                  <a:srgbClr val="5B6372"/>
                </a:solidFill>
                <a:latin typeface="Arial"/>
              </a:rPr>
              <a:t>calls CNI plugin via gRPC socket</a:t>
            </a:r>
          </a:p>
        </p:txBody>
      </p:sp>
      <p:sp>
        <p:nvSpPr>
          <p:cNvPr id="10" name="Right Arrow 9"/>
          <p:cNvSpPr/>
          <p:nvPr/>
        </p:nvSpPr>
        <p:spPr>
          <a:xfrm>
            <a:off x="3840480" y="3136392"/>
            <a:ext cx="731520" cy="402336"/>
          </a:xfrm>
          <a:prstGeom prst="rightArrow">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611880" y="2157984"/>
            <a:ext cx="1188720" cy="292608"/>
          </a:xfrm>
          <a:prstGeom prst="rect">
            <a:avLst/>
          </a:prstGeom>
          <a:noFill/>
        </p:spPr>
        <p:txBody>
          <a:bodyPr wrap="square" anchor="ctr" lIns="0" rIns="0" tIns="0" bIns="0">
            <a:spAutoFit/>
          </a:bodyPr>
          <a:lstStyle/>
          <a:p>
            <a:pPr algn="ctr">
              <a:spcBef>
                <a:spcPts val="0"/>
              </a:spcBef>
              <a:spcAft>
                <a:spcPts val="400"/>
              </a:spcAft>
            </a:pPr>
            <a:r>
              <a:rPr sz="1000" b="1">
                <a:solidFill>
                  <a:srgbClr val="10B981"/>
                </a:solidFill>
                <a:latin typeface="Arial"/>
              </a:rPr>
              <a:t>CNI ADD call</a:t>
            </a:r>
          </a:p>
        </p:txBody>
      </p:sp>
      <p:sp>
        <p:nvSpPr>
          <p:cNvPr id="12" name="Rounded Rectangle 11"/>
          <p:cNvSpPr/>
          <p:nvPr/>
        </p:nvSpPr>
        <p:spPr>
          <a:xfrm>
            <a:off x="4572000" y="2468880"/>
            <a:ext cx="3063240" cy="1737360"/>
          </a:xfrm>
          <a:prstGeom prst="roundRect">
            <a:avLst>
              <a:gd name="adj" fmla="val 5000"/>
            </a:avLst>
          </a:prstGeom>
          <a:solidFill>
            <a:srgbClr val="E8F7EE"/>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572000" y="2468880"/>
            <a:ext cx="3063240"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681728" y="2578608"/>
            <a:ext cx="2843784" cy="1627632"/>
          </a:xfrm>
          <a:prstGeom prst="rect">
            <a:avLst/>
          </a:prstGeom>
          <a:noFill/>
        </p:spPr>
        <p:txBody>
          <a:bodyPr wrap="square" anchor="ctr" lIns="0" rIns="0" tIns="0" bIns="0">
            <a:spAutoFit/>
          </a:bodyPr>
          <a:lstStyle/>
          <a:p>
            <a:pPr algn="ctr">
              <a:spcBef>
                <a:spcPts val="0"/>
              </a:spcBef>
              <a:spcAft>
                <a:spcPts val="300"/>
              </a:spcAft>
            </a:pPr>
            <a:r>
              <a:rPr sz="1500" b="1">
                <a:solidFill>
                  <a:srgbClr val="161B26"/>
                </a:solidFill>
                <a:latin typeface="Arial"/>
              </a:rPr>
              <a:t>CNI plugin</a:t>
            </a:r>
          </a:p>
          <a:p>
            <a:pPr algn="ctr">
              <a:spcBef>
                <a:spcPts val="0"/>
              </a:spcBef>
              <a:spcAft>
                <a:spcPts val="300"/>
              </a:spcAft>
            </a:pPr>
            <a:r>
              <a:rPr sz="1100" b="0">
                <a:solidFill>
                  <a:srgbClr val="5B6372"/>
                </a:solidFill>
                <a:latin typeface="Arial"/>
              </a:rPr>
              <a:t>/opt/cni/bin/ · /etc/cni/net.d/</a:t>
            </a:r>
          </a:p>
          <a:p>
            <a:pPr algn="ctr">
              <a:spcBef>
                <a:spcPts val="0"/>
              </a:spcBef>
              <a:spcAft>
                <a:spcPts val="300"/>
              </a:spcAft>
            </a:pPr>
            <a:r>
              <a:rPr sz="1100" b="0">
                <a:solidFill>
                  <a:srgbClr val="5B6372"/>
                </a:solidFill>
                <a:latin typeface="Arial"/>
              </a:rPr>
              <a:t>Calico · Cilium · Flannel</a:t>
            </a:r>
          </a:p>
        </p:txBody>
      </p:sp>
      <p:sp>
        <p:nvSpPr>
          <p:cNvPr id="15" name="Right Arrow 14"/>
          <p:cNvSpPr/>
          <p:nvPr/>
        </p:nvSpPr>
        <p:spPr>
          <a:xfrm>
            <a:off x="7635240" y="3136392"/>
            <a:ext cx="731520" cy="402336"/>
          </a:xfrm>
          <a:prstGeom prst="rightArrow">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406640" y="2157984"/>
            <a:ext cx="1188720" cy="292608"/>
          </a:xfrm>
          <a:prstGeom prst="rect">
            <a:avLst/>
          </a:prstGeom>
          <a:noFill/>
        </p:spPr>
        <p:txBody>
          <a:bodyPr wrap="square" anchor="ctr" lIns="0" rIns="0" tIns="0" bIns="0">
            <a:spAutoFit/>
          </a:bodyPr>
          <a:lstStyle/>
          <a:p>
            <a:pPr algn="ctr">
              <a:spcBef>
                <a:spcPts val="0"/>
              </a:spcBef>
              <a:spcAft>
                <a:spcPts val="400"/>
              </a:spcAft>
            </a:pPr>
            <a:r>
              <a:rPr sz="1000" b="1">
                <a:solidFill>
                  <a:srgbClr val="10B981"/>
                </a:solidFill>
                <a:latin typeface="Arial"/>
              </a:rPr>
              <a:t>IP assigned</a:t>
            </a:r>
          </a:p>
        </p:txBody>
      </p:sp>
      <p:sp>
        <p:nvSpPr>
          <p:cNvPr id="17" name="Rounded Rectangle 16"/>
          <p:cNvSpPr/>
          <p:nvPr/>
        </p:nvSpPr>
        <p:spPr>
          <a:xfrm>
            <a:off x="8366760" y="2468880"/>
            <a:ext cx="3063240" cy="1737360"/>
          </a:xfrm>
          <a:prstGeom prst="roundRect">
            <a:avLst>
              <a:gd name="adj" fmla="val 5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76488" y="2468880"/>
            <a:ext cx="2843784" cy="1737360"/>
          </a:xfrm>
          <a:prstGeom prst="rect">
            <a:avLst/>
          </a:prstGeom>
          <a:noFill/>
        </p:spPr>
        <p:txBody>
          <a:bodyPr wrap="square" anchor="ctr" lIns="0" rIns="0" tIns="0" bIns="0">
            <a:spAutoFit/>
          </a:bodyPr>
          <a:lstStyle/>
          <a:p>
            <a:pPr algn="ctr">
              <a:spcBef>
                <a:spcPts val="0"/>
              </a:spcBef>
              <a:spcAft>
                <a:spcPts val="300"/>
              </a:spcAft>
            </a:pPr>
            <a:r>
              <a:rPr sz="1500" b="1">
                <a:solidFill>
                  <a:srgbClr val="161B26"/>
                </a:solidFill>
                <a:latin typeface="Arial"/>
              </a:rPr>
              <a:t>Pod</a:t>
            </a:r>
          </a:p>
          <a:p>
            <a:pPr algn="ctr">
              <a:spcBef>
                <a:spcPts val="0"/>
              </a:spcBef>
              <a:spcAft>
                <a:spcPts val="300"/>
              </a:spcAft>
            </a:pPr>
            <a:r>
              <a:rPr sz="1100" b="0">
                <a:solidFill>
                  <a:srgbClr val="5B6372"/>
                </a:solidFill>
                <a:latin typeface="Arial"/>
              </a:rPr>
              <a:t>IP from pod CIDR</a:t>
            </a:r>
          </a:p>
          <a:p>
            <a:pPr algn="ctr">
              <a:spcBef>
                <a:spcPts val="0"/>
              </a:spcBef>
              <a:spcAft>
                <a:spcPts val="300"/>
              </a:spcAft>
            </a:pPr>
            <a:r>
              <a:rPr sz="1100" b="0">
                <a:solidFill>
                  <a:srgbClr val="5B6372"/>
                </a:solidFill>
                <a:latin typeface="Arial"/>
              </a:rPr>
              <a:t>veth pair to node bridge</a:t>
            </a:r>
          </a:p>
          <a:p>
            <a:pPr algn="ctr">
              <a:spcBef>
                <a:spcPts val="0"/>
              </a:spcBef>
              <a:spcAft>
                <a:spcPts val="300"/>
              </a:spcAft>
            </a:pPr>
            <a:r>
              <a:rPr sz="1100" b="0">
                <a:solidFill>
                  <a:srgbClr val="5B6372"/>
                </a:solidFill>
                <a:latin typeface="Arial"/>
              </a:rPr>
              <a:t>flat L3 — no NAT</a:t>
            </a:r>
          </a:p>
        </p:txBody>
      </p:sp>
      <p:sp>
        <p:nvSpPr>
          <p:cNvPr id="19" name="Rounded Rectangle 18"/>
          <p:cNvSpPr/>
          <p:nvPr/>
        </p:nvSpPr>
        <p:spPr>
          <a:xfrm>
            <a:off x="777240" y="5943600"/>
            <a:ext cx="10652760" cy="502920"/>
          </a:xfrm>
          <a:prstGeom prst="roundRect">
            <a:avLst>
              <a:gd name="adj" fmla="val 5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51560" y="5943600"/>
            <a:ext cx="10149840" cy="502920"/>
          </a:xfrm>
          <a:prstGeom prst="rect">
            <a:avLst/>
          </a:prstGeom>
          <a:noFill/>
        </p:spPr>
        <p:txBody>
          <a:bodyPr wrap="square" anchor="ctr" lIns="0" rIns="0" tIns="0" bIns="0">
            <a:spAutoFit/>
          </a:bodyPr>
          <a:lstStyle/>
          <a:p>
            <a:pPr algn="l">
              <a:spcBef>
                <a:spcPts val="0"/>
              </a:spcBef>
              <a:spcAft>
                <a:spcPts val="400"/>
              </a:spcAft>
            </a:pPr>
            <a:r>
              <a:rPr sz="1300" b="0">
                <a:solidFill>
                  <a:srgbClr val="5B6372"/>
                </a:solidFill>
                <a:latin typeface="Arial"/>
              </a:rPr>
              <a:t>Without a CNI manifest the node stays </a:t>
            </a:r>
            <a:r>
              <a:rPr sz="1300" b="1">
                <a:solidFill>
                  <a:srgbClr val="DC2626"/>
                </a:solidFill>
                <a:latin typeface="Arial"/>
              </a:rPr>
              <a:t>NotReady</a:t>
            </a:r>
            <a:r>
              <a:rPr sz="1300" b="0">
                <a:solidFill>
                  <a:srgbClr val="5B6372"/>
                </a:solidFill>
                <a:latin typeface="Arial"/>
              </a:rPr>
              <a:t> — applying it is mandatory after kubeadm init.</a:t>
            </a:r>
          </a:p>
        </p:txBody>
      </p:sp>
      <p:sp>
        <p:nvSpPr>
          <p:cNvPr id="21" name="TextBox 20"/>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22" name="TextBox 2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23" name="TextBox 2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35</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DAY 1 · CNI</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Install Calico CNI and Verify Cross-Node Pod Ping</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64208"/>
            <a:ext cx="169164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09928"/>
            <a:ext cx="1691640" cy="365760"/>
          </a:xfrm>
          <a:prstGeom prst="rect">
            <a:avLst/>
          </a:prstGeom>
          <a:noFill/>
        </p:spPr>
        <p:txBody>
          <a:bodyPr wrap="square" anchor="t" lIns="0" rIns="0" tIns="0" bIns="0">
            <a:spAutoFit/>
          </a:bodyPr>
          <a:lstStyle/>
          <a:p>
            <a:pPr algn="ctr">
              <a:spcBef>
                <a:spcPts val="0"/>
              </a:spcBef>
              <a:spcAft>
                <a:spcPts val="400"/>
              </a:spcAft>
            </a:pPr>
            <a:r>
              <a:rPr sz="1600" b="1">
                <a:solidFill>
                  <a:srgbClr val="FFFFFF"/>
                </a:solidFill>
                <a:latin typeface="Arial"/>
              </a:rPr>
              <a:t>LAB 3</a:t>
            </a:r>
          </a:p>
        </p:txBody>
      </p:sp>
      <p:sp>
        <p:nvSpPr>
          <p:cNvPr id="9" name="TextBox 8"/>
          <p:cNvSpPr txBox="1"/>
          <p:nvPr/>
        </p:nvSpPr>
        <p:spPr>
          <a:xfrm>
            <a:off x="2697480" y="1691640"/>
            <a:ext cx="8778240" cy="411480"/>
          </a:xfrm>
          <a:prstGeom prst="rect">
            <a:avLst/>
          </a:prstGeom>
          <a:noFill/>
        </p:spPr>
        <p:txBody>
          <a:bodyPr wrap="square" anchor="ctr" lIns="0" rIns="0" tIns="0" bIns="0">
            <a:spAutoFit/>
          </a:bodyPr>
          <a:lstStyle/>
          <a:p>
            <a:pPr algn="l">
              <a:spcBef>
                <a:spcPts val="0"/>
              </a:spcBef>
              <a:spcAft>
                <a:spcPts val="400"/>
              </a:spcAft>
            </a:pPr>
            <a:r>
              <a:rPr sz="1400" b="1">
                <a:solidFill>
                  <a:srgbClr val="5B6372"/>
                </a:solidFill>
                <a:latin typeface="Arial"/>
              </a:rPr>
              <a:t>CNI networking</a:t>
            </a:r>
          </a:p>
        </p:txBody>
      </p:sp>
      <p:sp>
        <p:nvSpPr>
          <p:cNvPr id="10" name="TextBox 9"/>
          <p:cNvSpPr txBox="1"/>
          <p:nvPr/>
        </p:nvSpPr>
        <p:spPr>
          <a:xfrm>
            <a:off x="777240" y="2286000"/>
            <a:ext cx="10698480" cy="1554480"/>
          </a:xfrm>
          <a:prstGeom prst="rect">
            <a:avLst/>
          </a:prstGeom>
          <a:noFill/>
        </p:spPr>
        <p:txBody>
          <a:bodyPr wrap="square" anchor="t" lIns="0" rIns="0" tIns="0" bIns="0">
            <a:spAutoFit/>
          </a:bodyPr>
          <a:lstStyle/>
          <a:p>
            <a:pPr algn="l">
              <a:spcBef>
                <a:spcPts val="0"/>
              </a:spcBef>
              <a:spcAft>
                <a:spcPts val="400"/>
              </a:spcAft>
            </a:pPr>
            <a:r>
              <a:rPr sz="1900" b="0">
                <a:solidFill>
                  <a:srgbClr val="161B26"/>
                </a:solidFill>
                <a:latin typeface="Arial"/>
              </a:rPr>
              <a:t>Install Calico as the CNI plugin using the Tigera Operator pattern, watch nodes transition to Ready, deploy test pods on different nodes, and validate cross-node pod-to-pod communication. The pod CIDR in Calico must match the --pod-network-cidr from kubeadm init.</a:t>
            </a:r>
          </a:p>
        </p:txBody>
      </p:sp>
      <p:sp>
        <p:nvSpPr>
          <p:cNvPr id="11" name="Rounded Rectangle 10"/>
          <p:cNvSpPr/>
          <p:nvPr/>
        </p:nvSpPr>
        <p:spPr>
          <a:xfrm>
            <a:off x="777240" y="4069080"/>
            <a:ext cx="10698480" cy="1783080"/>
          </a:xfrm>
          <a:prstGeom prst="roundRect">
            <a:avLst>
              <a:gd name="adj" fmla="val 5000"/>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05840" y="4251960"/>
            <a:ext cx="10058400" cy="365760"/>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You'll build</a:t>
            </a:r>
          </a:p>
        </p:txBody>
      </p:sp>
      <p:sp>
        <p:nvSpPr>
          <p:cNvPr id="13" name="TextBox 12"/>
          <p:cNvSpPr txBox="1"/>
          <p:nvPr/>
        </p:nvSpPr>
        <p:spPr>
          <a:xfrm>
            <a:off x="1005840" y="4617720"/>
            <a:ext cx="10241280" cy="640080"/>
          </a:xfrm>
          <a:prstGeom prst="rect">
            <a:avLst/>
          </a:prstGeom>
          <a:noFill/>
        </p:spPr>
        <p:txBody>
          <a:bodyPr wrap="square" anchor="t" lIns="0" rIns="0" tIns="0" bIns="0">
            <a:spAutoFit/>
          </a:bodyPr>
          <a:lstStyle/>
          <a:p>
            <a:pPr algn="l">
              <a:spcBef>
                <a:spcPts val="0"/>
              </a:spcBef>
              <a:spcAft>
                <a:spcPts val="400"/>
              </a:spcAft>
            </a:pPr>
            <a:r>
              <a:rPr sz="1700" b="1">
                <a:solidFill>
                  <a:srgbClr val="161B26"/>
                </a:solidFill>
                <a:latin typeface="Arial"/>
              </a:rPr>
              <a:t>Apply tigera-operator.yaml + custom-resources.yaml, watch nodes go Ready, ping across nodes.</a:t>
            </a:r>
          </a:p>
        </p:txBody>
      </p:sp>
      <p:sp>
        <p:nvSpPr>
          <p:cNvPr id="14" name="TextBox 13"/>
          <p:cNvSpPr txBox="1"/>
          <p:nvPr/>
        </p:nvSpPr>
        <p:spPr>
          <a:xfrm>
            <a:off x="1005840" y="5349240"/>
            <a:ext cx="10058400" cy="457200"/>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Key commands:  </a:t>
            </a:r>
            <a:r>
              <a:rPr sz="1300" b="0">
                <a:solidFill>
                  <a:srgbClr val="5B6372"/>
                </a:solidFill>
                <a:latin typeface="Arial"/>
              </a:rPr>
              <a:t>kubectl get · curl -O · kubectl run · » Kubernetes</a:t>
            </a:r>
          </a:p>
        </p:txBody>
      </p:sp>
      <p:sp>
        <p:nvSpPr>
          <p:cNvPr id="15" name="TextBox 14"/>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6" name="TextBox 15"/>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7" name="TextBox 16"/>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36</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3  ·  COMMANDS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Install Calico CNI and Verify Cross-Node Pod Ping</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91640"/>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Step 1 -- Confirm nodes are NotReady before CNI</a:t>
            </a:r>
          </a:p>
        </p:txBody>
      </p:sp>
      <p:sp>
        <p:nvSpPr>
          <p:cNvPr id="8" name="Rounded Rectangle 7"/>
          <p:cNvSpPr/>
          <p:nvPr/>
        </p:nvSpPr>
        <p:spPr>
          <a:xfrm>
            <a:off x="777240" y="2075688"/>
            <a:ext cx="10652760" cy="521207"/>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075688"/>
            <a:ext cx="82296" cy="521207"/>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6" y="2139696"/>
            <a:ext cx="10323576" cy="429767"/>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kubectl get nodes -o wide</a:t>
            </a:r>
          </a:p>
          <a:p>
            <a:pPr>
              <a:spcBef>
                <a:spcPts val="0"/>
              </a:spcBef>
              <a:spcAft>
                <a:spcPts val="0"/>
              </a:spcAft>
            </a:pPr>
            <a:r>
              <a:rPr sz="1050">
                <a:solidFill>
                  <a:srgbClr val="161B26"/>
                </a:solidFill>
                <a:latin typeface="Consolas"/>
              </a:rPr>
              <a:t>kubectl get pods -n kube-system</a:t>
            </a:r>
          </a:p>
        </p:txBody>
      </p:sp>
      <p:sp>
        <p:nvSpPr>
          <p:cNvPr id="11" name="TextBox 10"/>
          <p:cNvSpPr txBox="1"/>
          <p:nvPr/>
        </p:nvSpPr>
        <p:spPr>
          <a:xfrm>
            <a:off x="777240" y="2779775"/>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Step 2 -- Install Calico Operator</a:t>
            </a:r>
          </a:p>
        </p:txBody>
      </p:sp>
      <p:sp>
        <p:nvSpPr>
          <p:cNvPr id="12" name="Rounded Rectangle 11"/>
          <p:cNvSpPr/>
          <p:nvPr/>
        </p:nvSpPr>
        <p:spPr>
          <a:xfrm>
            <a:off x="777240" y="3163823"/>
            <a:ext cx="10652760" cy="896112"/>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3163823"/>
            <a:ext cx="82296" cy="896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3227831"/>
            <a:ext cx="10323576" cy="804672"/>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curl -O https://raw.githubusercontent.com/projectcalico/calico/v3.29.0/manifests/tigera-operator.yaml</a:t>
            </a:r>
          </a:p>
          <a:p>
            <a:pPr>
              <a:spcBef>
                <a:spcPts val="0"/>
              </a:spcBef>
              <a:spcAft>
                <a:spcPts val="0"/>
              </a:spcAft>
            </a:pPr>
            <a:r>
              <a:rPr sz="1050">
                <a:solidFill>
                  <a:srgbClr val="161B26"/>
                </a:solidFill>
                <a:latin typeface="Consolas"/>
              </a:rPr>
              <a:t>curl -O https://raw.githubusercontent.com/projectcalico/calico/v3.29.0/manifests/custom-resources.yaml</a:t>
            </a:r>
          </a:p>
          <a:p>
            <a:pPr>
              <a:spcBef>
                <a:spcPts val="0"/>
              </a:spcBef>
              <a:spcAft>
                <a:spcPts val="0"/>
              </a:spcAft>
            </a:pPr>
            <a:r>
              <a:rPr sz="1050">
                <a:solidFill>
                  <a:srgbClr val="161B26"/>
                </a:solidFill>
                <a:latin typeface="Consolas"/>
              </a:rPr>
              <a:t>kubectl apply -f tigera-operator.yaml</a:t>
            </a:r>
          </a:p>
          <a:p>
            <a:pPr>
              <a:spcBef>
                <a:spcPts val="0"/>
              </a:spcBef>
              <a:spcAft>
                <a:spcPts val="0"/>
              </a:spcAft>
            </a:pPr>
            <a:r>
              <a:rPr sz="1050">
                <a:solidFill>
                  <a:srgbClr val="161B26"/>
                </a:solidFill>
                <a:latin typeface="Consolas"/>
              </a:rPr>
              <a:t>kubectl apply -f custom-resources.yaml</a:t>
            </a:r>
          </a:p>
        </p:txBody>
      </p:sp>
      <p:sp>
        <p:nvSpPr>
          <p:cNvPr id="15" name="TextBox 14"/>
          <p:cNvSpPr txBox="1"/>
          <p:nvPr/>
        </p:nvSpPr>
        <p:spPr>
          <a:xfrm>
            <a:off x="777240" y="4242815"/>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Step 3 -- Watch nodes transition to Ready</a:t>
            </a:r>
          </a:p>
        </p:txBody>
      </p:sp>
      <p:sp>
        <p:nvSpPr>
          <p:cNvPr id="16" name="Rounded Rectangle 15"/>
          <p:cNvSpPr/>
          <p:nvPr/>
        </p:nvSpPr>
        <p:spPr>
          <a:xfrm>
            <a:off x="777240" y="4626863"/>
            <a:ext cx="10652760" cy="521207"/>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77240" y="4626863"/>
            <a:ext cx="82296" cy="521207"/>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96696" y="4690871"/>
            <a:ext cx="10323576" cy="429767"/>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kubectl get nodes -w</a:t>
            </a:r>
          </a:p>
          <a:p>
            <a:pPr>
              <a:spcBef>
                <a:spcPts val="0"/>
              </a:spcBef>
              <a:spcAft>
                <a:spcPts val="0"/>
              </a:spcAft>
            </a:pPr>
            <a:r>
              <a:rPr sz="1050">
                <a:solidFill>
                  <a:srgbClr val="161B26"/>
                </a:solidFill>
                <a:latin typeface="Consolas"/>
              </a:rPr>
              <a:t>kubectl get pods -n calico-system</a:t>
            </a:r>
          </a:p>
        </p:txBody>
      </p:sp>
      <p:sp>
        <p:nvSpPr>
          <p:cNvPr id="19" name="TextBox 18"/>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20" name="TextBox 19"/>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21" name="TextBox 20"/>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37</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3  ·  COMMANDS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Install Calico CNI and Verify Cross-Node Pod Ping (cont.)</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91640"/>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Step 4 -- Test cross-node pod ping</a:t>
            </a:r>
          </a:p>
        </p:txBody>
      </p:sp>
      <p:sp>
        <p:nvSpPr>
          <p:cNvPr id="8" name="Rounded Rectangle 7"/>
          <p:cNvSpPr/>
          <p:nvPr/>
        </p:nvSpPr>
        <p:spPr>
          <a:xfrm>
            <a:off x="777240" y="2075688"/>
            <a:ext cx="10652760" cy="1083563"/>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075688"/>
            <a:ext cx="82296" cy="1083563"/>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6" y="2139696"/>
            <a:ext cx="10323576" cy="992123"/>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kubectl run pod-cp --image=nicolaka/netshoot -- sleep infinity</a:t>
            </a:r>
          </a:p>
          <a:p>
            <a:pPr>
              <a:spcBef>
                <a:spcPts val="0"/>
              </a:spcBef>
              <a:spcAft>
                <a:spcPts val="0"/>
              </a:spcAft>
            </a:pPr>
            <a:r>
              <a:rPr sz="1050">
                <a:solidFill>
                  <a:srgbClr val="161B26"/>
                </a:solidFill>
                <a:latin typeface="Consolas"/>
              </a:rPr>
              <a:t>kubectl run pod-worker --image=nicolaka/netshoot -- sleep infinity</a:t>
            </a:r>
          </a:p>
          <a:p>
            <a:pPr>
              <a:spcBef>
                <a:spcPts val="0"/>
              </a:spcBef>
              <a:spcAft>
                <a:spcPts val="0"/>
              </a:spcAft>
            </a:pPr>
            <a:r>
              <a:rPr sz="1050">
                <a:solidFill>
                  <a:srgbClr val="161B26"/>
                </a:solidFill>
                <a:latin typeface="Consolas"/>
              </a:rPr>
              <a:t>kubectl get pods -o wide</a:t>
            </a:r>
          </a:p>
          <a:p>
            <a:pPr>
              <a:spcBef>
                <a:spcPts val="0"/>
              </a:spcBef>
              <a:spcAft>
                <a:spcPts val="0"/>
              </a:spcAft>
            </a:pPr>
            <a:r>
              <a:rPr sz="1050">
                <a:solidFill>
                  <a:srgbClr val="161B26"/>
                </a:solidFill>
                <a:latin typeface="Consolas"/>
              </a:rPr>
              <a:t>POD_WORKER_IP=$(kubectl get pod pod-worker -o jsonpath='{.status.podIP}')</a:t>
            </a:r>
          </a:p>
          <a:p>
            <a:pPr>
              <a:spcBef>
                <a:spcPts val="0"/>
              </a:spcBef>
              <a:spcAft>
                <a:spcPts val="0"/>
              </a:spcAft>
            </a:pPr>
            <a:r>
              <a:rPr sz="1050">
                <a:solidFill>
                  <a:srgbClr val="161B26"/>
                </a:solidFill>
                <a:latin typeface="Consolas"/>
              </a:rPr>
              <a:t>kubectl exec pod-cp -- ping -c 4 $POD_WORKER_IP</a:t>
            </a:r>
          </a:p>
        </p:txBody>
      </p:sp>
      <p:sp>
        <p:nvSpPr>
          <p:cNvPr id="11" name="TextBox 10"/>
          <p:cNvSpPr txBox="1"/>
          <p:nvPr/>
        </p:nvSpPr>
        <p:spPr>
          <a:xfrm>
            <a:off x="777240" y="3342131"/>
            <a:ext cx="10652760" cy="310896"/>
          </a:xfrm>
          <a:prstGeom prst="rect">
            <a:avLst/>
          </a:prstGeom>
          <a:noFill/>
        </p:spPr>
        <p:txBody>
          <a:bodyPr wrap="square" anchor="t" lIns="0" rIns="0" tIns="0" bIns="0">
            <a:spAutoFit/>
          </a:bodyPr>
          <a:lstStyle/>
          <a:p>
            <a:pPr algn="l">
              <a:spcBef>
                <a:spcPts val="0"/>
              </a:spcBef>
              <a:spcAft>
                <a:spcPts val="400"/>
              </a:spcAft>
            </a:pPr>
            <a:r>
              <a:rPr sz="1300" b="1">
                <a:solidFill>
                  <a:srgbClr val="F59E0B"/>
                </a:solidFill>
                <a:latin typeface="Arial"/>
              </a:rPr>
              <a:t>Note   </a:t>
            </a:r>
            <a:r>
              <a:rPr sz="1300" b="0">
                <a:solidFill>
                  <a:srgbClr val="5B6372"/>
                </a:solidFill>
                <a:latin typeface="Arial"/>
              </a:rPr>
              <a:t>Kubernetes requires a flat pod network -- cross-node pod-to-pod communication without NAT. A failed ping indicates CNI misconfiguration.</a:t>
            </a:r>
          </a:p>
        </p:txBody>
      </p:sp>
      <p:sp>
        <p:nvSpPr>
          <p:cNvPr id="12" name="TextBox 11"/>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3" name="TextBox 12"/>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4" name="TextBox 13"/>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38</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3  ·  TEST IT</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Install Calico CNI and Verify Cross-Node Pod Ping</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03120"/>
            <a:ext cx="10698480" cy="2560320"/>
          </a:xfrm>
          <a:prstGeom prst="roundRect">
            <a:avLst>
              <a:gd name="adj" fmla="val 5000"/>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lIns="0" rIns="0" tIns="0" bIns="0">
            <a:spAutoFit/>
          </a:bodyPr>
          <a:lstStyle/>
          <a:p>
            <a:pPr algn="l">
              <a:spcBef>
                <a:spcPts val="0"/>
              </a:spcBef>
              <a:spcAft>
                <a:spcPts val="400"/>
              </a:spcAft>
            </a:pPr>
            <a:r>
              <a:rPr sz="2200" b="1">
                <a:solidFill>
                  <a:srgbClr val="127A3E"/>
                </a:solidFill>
                <a:latin typeface="Arial"/>
              </a:rPr>
              <a:t>✅  Test it</a:t>
            </a:r>
          </a:p>
        </p:txBody>
      </p:sp>
      <p:sp>
        <p:nvSpPr>
          <p:cNvPr id="9" name="TextBox 8"/>
          <p:cNvSpPr txBox="1"/>
          <p:nvPr/>
        </p:nvSpPr>
        <p:spPr>
          <a:xfrm>
            <a:off x="1097280" y="3017520"/>
            <a:ext cx="10149840" cy="1463040"/>
          </a:xfrm>
          <a:prstGeom prst="rect">
            <a:avLst/>
          </a:prstGeom>
          <a:noFill/>
        </p:spPr>
        <p:txBody>
          <a:bodyPr wrap="square" anchor="t" lIns="0" rIns="0" tIns="0" bIns="0">
            <a:spAutoFit/>
          </a:bodyPr>
          <a:lstStyle/>
          <a:p>
            <a:pPr algn="l">
              <a:spcBef>
                <a:spcPts val="0"/>
              </a:spcBef>
              <a:spcAft>
                <a:spcPts val="400"/>
              </a:spcAft>
            </a:pPr>
            <a:r>
              <a:rPr sz="1800" b="0">
                <a:solidFill>
                  <a:srgbClr val="161B26"/>
                </a:solidFill>
                <a:latin typeface="Arial"/>
              </a:rPr>
              <a:t>Both nodes are Ready. Cross-node ping returns 0% packet loss. coredns pods are Running.</a:t>
            </a:r>
          </a:p>
        </p:txBody>
      </p:sp>
      <p:sp>
        <p:nvSpPr>
          <p:cNvPr id="10" name="TextBox 9"/>
          <p:cNvSpPr txBox="1"/>
          <p:nvPr/>
        </p:nvSpPr>
        <p:spPr>
          <a:xfrm>
            <a:off x="777240" y="4983480"/>
            <a:ext cx="10698480" cy="365760"/>
          </a:xfrm>
          <a:prstGeom prst="rect">
            <a:avLst/>
          </a:prstGeom>
          <a:noFill/>
        </p:spPr>
        <p:txBody>
          <a:bodyPr wrap="square" anchor="t" lIns="0" rIns="0" tIns="0" bIns="0">
            <a:spAutoFit/>
          </a:bodyPr>
          <a:lstStyle/>
          <a:p>
            <a:pPr algn="l">
              <a:spcBef>
                <a:spcPts val="0"/>
              </a:spcBef>
              <a:spcAft>
                <a:spcPts val="400"/>
              </a:spcAft>
            </a:pPr>
            <a:r>
              <a:rPr sz="1300" b="1">
                <a:solidFill>
                  <a:srgbClr val="10B981"/>
                </a:solidFill>
                <a:latin typeface="Arial"/>
              </a:rPr>
              <a:t>Killercoda:  </a:t>
            </a:r>
            <a:r>
              <a:rPr sz="1300" b="0">
                <a:solidFill>
                  <a:srgbClr val="5B6372"/>
                </a:solidFill>
                <a:latin typeface="Arial"/>
              </a:rPr>
              <a:t>https://killercoda.com/playgrounds/scenario/kubeadm</a:t>
            </a:r>
          </a:p>
        </p:txBody>
      </p:sp>
      <p:sp>
        <p:nvSpPr>
          <p:cNvPr id="11" name="TextBox 10"/>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39</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lIns="0" rIns="0" tIns="0" bIns="0">
            <a:spAutoFit/>
          </a:bodyPr>
          <a:lstStyle/>
          <a:p>
            <a:pPr algn="l">
              <a:spcBef>
                <a:spcPts val="0"/>
              </a:spcBef>
              <a:spcAft>
                <a:spcPts val="400"/>
              </a:spcAft>
            </a:pPr>
            <a:r>
              <a:rPr sz="1800" b="1">
                <a:solidFill>
                  <a:srgbClr val="1F6FEB"/>
                </a:solidFill>
                <a:latin typeface="Arial"/>
              </a:rPr>
              <a:t>TOPIC 4</a:t>
            </a:r>
          </a:p>
        </p:txBody>
      </p:sp>
      <p:sp>
        <p:nvSpPr>
          <p:cNvPr id="6" name="TextBox 5"/>
          <p:cNvSpPr txBox="1"/>
          <p:nvPr/>
        </p:nvSpPr>
        <p:spPr>
          <a:xfrm>
            <a:off x="1143000" y="2743200"/>
            <a:ext cx="10424160" cy="1463040"/>
          </a:xfrm>
          <a:prstGeom prst="rect">
            <a:avLst/>
          </a:prstGeom>
          <a:noFill/>
        </p:spPr>
        <p:txBody>
          <a:bodyPr wrap="square" anchor="t" lIns="0" rIns="0" tIns="0" bIns="0">
            <a:spAutoFit/>
          </a:bodyPr>
          <a:lstStyle/>
          <a:p>
            <a:pPr algn="l">
              <a:spcBef>
                <a:spcPts val="0"/>
              </a:spcBef>
              <a:spcAft>
                <a:spcPts val="400"/>
              </a:spcAft>
            </a:pPr>
            <a:r>
              <a:rPr sz="4000" b="1">
                <a:solidFill>
                  <a:srgbClr val="161B26"/>
                </a:solidFill>
                <a:latin typeface="Arial"/>
              </a:rPr>
              <a:t>Cluster Upgrade</a:t>
            </a:r>
          </a:p>
        </p:txBody>
      </p:sp>
      <p:sp>
        <p:nvSpPr>
          <p:cNvPr id="7" name="TextBox 6"/>
          <p:cNvSpPr txBox="1"/>
          <p:nvPr/>
        </p:nvSpPr>
        <p:spPr>
          <a:xfrm>
            <a:off x="1161288" y="4114800"/>
            <a:ext cx="10058400" cy="731520"/>
          </a:xfrm>
          <a:prstGeom prst="rect">
            <a:avLst/>
          </a:prstGeom>
          <a:noFill/>
        </p:spPr>
        <p:txBody>
          <a:bodyPr wrap="square" anchor="t" lIns="0" rIns="0" tIns="0" bIns="0">
            <a:spAutoFit/>
          </a:bodyPr>
          <a:lstStyle/>
          <a:p>
            <a:pPr algn="l">
              <a:spcBef>
                <a:spcPts val="0"/>
              </a:spcBef>
              <a:spcAft>
                <a:spcPts val="400"/>
              </a:spcAft>
            </a:pPr>
            <a:r>
              <a:rPr sz="1600" b="0">
                <a:solidFill>
                  <a:srgbClr val="5B6372"/>
                </a:solidFill>
                <a:latin typeface="Arial"/>
              </a:rPr>
              <a:t>Upgrade control plane then workers with kubeadm</a:t>
            </a:r>
          </a:p>
        </p:txBody>
      </p:sp>
      <p:sp>
        <p:nvSpPr>
          <p:cNvPr id="8" name="TextBox 7"/>
          <p:cNvSpPr txBox="1"/>
          <p:nvPr/>
        </p:nvSpPr>
        <p:spPr>
          <a:xfrm>
            <a:off x="9418320" y="640080"/>
            <a:ext cx="2286000" cy="1463040"/>
          </a:xfrm>
          <a:prstGeom prst="rect">
            <a:avLst/>
          </a:prstGeom>
          <a:noFill/>
        </p:spPr>
        <p:txBody>
          <a:bodyPr wrap="square" anchor="t" lIns="0" rIns="0" tIns="0" bIns="0">
            <a:spAutoFit/>
          </a:bodyPr>
          <a:lstStyle/>
          <a:p>
            <a:pPr algn="r">
              <a:spcBef>
                <a:spcPts val="0"/>
              </a:spcBef>
              <a:spcAft>
                <a:spcPts val="400"/>
              </a:spcAft>
            </a:pPr>
            <a:r>
              <a:rPr sz="7200" b="1">
                <a:solidFill>
                  <a:srgbClr val="E2E8F0"/>
                </a:solidFill>
                <a:latin typeface="Arial"/>
              </a:rPr>
              <a:t/>
            </a:r>
          </a:p>
        </p:txBody>
      </p:sp>
      <p:sp>
        <p:nvSpPr>
          <p:cNvPr id="9" name="TextBox 8"/>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0" name="TextBox 9"/>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1" name="TextBox 10"/>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40</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UPGRADE STRATEGY</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Upgrade Strategy</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07040" cy="4480560"/>
          </a:xfrm>
          <a:prstGeom prst="rect">
            <a:avLst/>
          </a:prstGeom>
          <a:noFill/>
        </p:spPr>
        <p:txBody>
          <a:bodyPr wrap="square" lIns="0" rIns="0">
            <a:spAutoFit/>
          </a:bodyPr>
          <a:lstStyle/>
          <a:p>
            <a:pPr>
              <a:spcBef>
                <a:spcPts val="0"/>
              </a:spcBef>
              <a:spcAft>
                <a:spcPts val="1000"/>
              </a:spcAft>
            </a:pPr>
            <a:r>
              <a:rPr sz="1900" b="1">
                <a:solidFill>
                  <a:srgbClr val="1F6FEB"/>
                </a:solidFill>
                <a:latin typeface="Arial"/>
              </a:rPr>
              <a:t>•  </a:t>
            </a:r>
            <a:r>
              <a:rPr sz="1900">
                <a:solidFill>
                  <a:srgbClr val="161B26"/>
                </a:solidFill>
                <a:latin typeface="Arial"/>
              </a:rPr>
              <a:t>Upgrades are one minor version at a time — you cannot skip from 1.29 to 1.31 directly.</a:t>
            </a:r>
          </a:p>
          <a:p>
            <a:pPr>
              <a:spcBef>
                <a:spcPts val="0"/>
              </a:spcBef>
              <a:spcAft>
                <a:spcPts val="1000"/>
              </a:spcAft>
            </a:pPr>
            <a:r>
              <a:rPr sz="1900" b="1">
                <a:solidFill>
                  <a:srgbClr val="1F6FEB"/>
                </a:solidFill>
                <a:latin typeface="Arial"/>
              </a:rPr>
              <a:t>•  </a:t>
            </a:r>
            <a:r>
              <a:rPr sz="1900">
                <a:solidFill>
                  <a:srgbClr val="161B26"/>
                </a:solidFill>
                <a:latin typeface="Arial"/>
              </a:rPr>
              <a:t>Always upgrade the control plane first; then drain, upgrade and uncordon each worker node.</a:t>
            </a:r>
          </a:p>
          <a:p>
            <a:pPr>
              <a:spcBef>
                <a:spcPts val="0"/>
              </a:spcBef>
              <a:spcAft>
                <a:spcPts val="1000"/>
              </a:spcAft>
            </a:pPr>
            <a:r>
              <a:rPr sz="1900" b="1">
                <a:solidFill>
                  <a:srgbClr val="1F6FEB"/>
                </a:solidFill>
                <a:latin typeface="Arial"/>
              </a:rPr>
              <a:t>•  </a:t>
            </a:r>
            <a:r>
              <a:rPr sz="1900">
                <a:solidFill>
                  <a:srgbClr val="161B26"/>
                </a:solidFill>
                <a:latin typeface="Arial"/>
              </a:rPr>
              <a:t>Use apt-mark unhold / hold around the install step to manage package pins.</a:t>
            </a:r>
          </a:p>
          <a:p>
            <a:pPr>
              <a:spcBef>
                <a:spcPts val="0"/>
              </a:spcBef>
              <a:spcAft>
                <a:spcPts val="1000"/>
              </a:spcAft>
            </a:pPr>
            <a:r>
              <a:rPr sz="1900" b="1">
                <a:solidFill>
                  <a:srgbClr val="1F6FEB"/>
                </a:solidFill>
                <a:latin typeface="Arial"/>
              </a:rPr>
              <a:t>•  </a:t>
            </a:r>
            <a:r>
              <a:rPr sz="1900">
                <a:solidFill>
                  <a:srgbClr val="161B26"/>
                </a:solidFill>
                <a:latin typeface="Arial"/>
              </a:rPr>
              <a:t>kubeadm upgrade apply for the control plane; kubeadm upgrade node for each worker.</a:t>
            </a:r>
          </a:p>
        </p:txBody>
      </p:sp>
      <p:sp>
        <p:nvSpPr>
          <p:cNvPr id="8" name="TextBox 7"/>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9" name="TextBox 8"/>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41</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DOMAIN 1  ·  CLUSTER UPGRADE</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Cluster Upgrade — Step by Step</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1874519"/>
            <a:ext cx="10652760" cy="841248"/>
          </a:xfrm>
          <a:prstGeom prst="roundRect">
            <a:avLst>
              <a:gd name="adj" fmla="val 5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74519"/>
            <a:ext cx="109728" cy="8412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874519"/>
            <a:ext cx="3840480" cy="841248"/>
          </a:xfrm>
          <a:prstGeom prst="rect">
            <a:avLst/>
          </a:prstGeom>
          <a:noFill/>
        </p:spPr>
        <p:txBody>
          <a:bodyPr wrap="square" anchor="ctr" lIns="0" rIns="0" tIns="0" bIns="0">
            <a:spAutoFit/>
          </a:bodyPr>
          <a:lstStyle/>
          <a:p>
            <a:pPr algn="l">
              <a:spcBef>
                <a:spcPts val="0"/>
              </a:spcBef>
              <a:spcAft>
                <a:spcPts val="300"/>
              </a:spcAft>
            </a:pPr>
            <a:r>
              <a:rPr sz="1500" b="1">
                <a:solidFill>
                  <a:srgbClr val="F59E0B"/>
                </a:solidFill>
                <a:latin typeface="Arial"/>
              </a:rPr>
              <a:t>drain the node</a:t>
            </a:r>
          </a:p>
          <a:p>
            <a:pPr algn="l">
              <a:spcBef>
                <a:spcPts val="0"/>
              </a:spcBef>
              <a:spcAft>
                <a:spcPts val="300"/>
              </a:spcAft>
            </a:pPr>
            <a:r>
              <a:rPr sz="1200" b="0">
                <a:solidFill>
                  <a:srgbClr val="5B6372"/>
                </a:solidFill>
                <a:latin typeface="Arial"/>
              </a:rPr>
              <a:t>kubectl drain &lt;node&gt; --ignore-daemonsets --delete-emptydir-data</a:t>
            </a:r>
          </a:p>
        </p:txBody>
      </p:sp>
      <p:sp>
        <p:nvSpPr>
          <p:cNvPr id="10" name="Right Arrow 9"/>
          <p:cNvSpPr/>
          <p:nvPr/>
        </p:nvSpPr>
        <p:spPr>
          <a:xfrm>
            <a:off x="5074920" y="2130551"/>
            <a:ext cx="640080" cy="329184"/>
          </a:xfrm>
          <a:prstGeom prst="rightArrow">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989320" y="1874519"/>
            <a:ext cx="5349240" cy="841248"/>
          </a:xfrm>
          <a:prstGeom prst="rect">
            <a:avLst/>
          </a:prstGeom>
          <a:noFill/>
        </p:spPr>
        <p:txBody>
          <a:bodyPr wrap="square" anchor="ctr" lIns="0" rIns="0" tIns="0" bIns="0">
            <a:spAutoFit/>
          </a:bodyPr>
          <a:lstStyle/>
          <a:p>
            <a:pPr algn="l">
              <a:spcBef>
                <a:spcPts val="0"/>
              </a:spcBef>
              <a:spcAft>
                <a:spcPts val="400"/>
              </a:spcAft>
            </a:pPr>
            <a:r>
              <a:rPr sz="1400" b="0">
                <a:solidFill>
                  <a:srgbClr val="161B26"/>
                </a:solidFill>
                <a:latin typeface="Arial"/>
              </a:rPr>
              <a:t>Cordons the node (no new pods) and evicts existing pods safely before upgrade.</a:t>
            </a:r>
          </a:p>
        </p:txBody>
      </p:sp>
      <p:sp>
        <p:nvSpPr>
          <p:cNvPr id="12" name="Rounded Rectangle 11"/>
          <p:cNvSpPr/>
          <p:nvPr/>
        </p:nvSpPr>
        <p:spPr>
          <a:xfrm>
            <a:off x="777240" y="2807207"/>
            <a:ext cx="10652760" cy="841248"/>
          </a:xfrm>
          <a:prstGeom prst="roundRect">
            <a:avLst>
              <a:gd name="adj" fmla="val 5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807207"/>
            <a:ext cx="109728" cy="8412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97280" y="2807207"/>
            <a:ext cx="3840480" cy="841248"/>
          </a:xfrm>
          <a:prstGeom prst="rect">
            <a:avLst/>
          </a:prstGeom>
          <a:noFill/>
        </p:spPr>
        <p:txBody>
          <a:bodyPr wrap="square" anchor="ctr" lIns="0" rIns="0" tIns="0" bIns="0">
            <a:spAutoFit/>
          </a:bodyPr>
          <a:lstStyle/>
          <a:p>
            <a:pPr algn="l">
              <a:spcBef>
                <a:spcPts val="0"/>
              </a:spcBef>
              <a:spcAft>
                <a:spcPts val="300"/>
              </a:spcAft>
            </a:pPr>
            <a:r>
              <a:rPr sz="1500" b="1">
                <a:solidFill>
                  <a:srgbClr val="1F6FEB"/>
                </a:solidFill>
                <a:latin typeface="Arial"/>
              </a:rPr>
              <a:t>upgrade kubeadm</a:t>
            </a:r>
          </a:p>
          <a:p>
            <a:pPr algn="l">
              <a:spcBef>
                <a:spcPts val="0"/>
              </a:spcBef>
              <a:spcAft>
                <a:spcPts val="300"/>
              </a:spcAft>
            </a:pPr>
            <a:r>
              <a:rPr sz="1200" b="0">
                <a:solidFill>
                  <a:srgbClr val="5B6372"/>
                </a:solidFill>
                <a:latin typeface="Arial"/>
              </a:rPr>
              <a:t>apt-mark unhold kubeadm &amp;&amp; apt install kubeadm=v1.31.0-1.1</a:t>
            </a:r>
          </a:p>
        </p:txBody>
      </p:sp>
      <p:sp>
        <p:nvSpPr>
          <p:cNvPr id="15" name="Right Arrow 14"/>
          <p:cNvSpPr/>
          <p:nvPr/>
        </p:nvSpPr>
        <p:spPr>
          <a:xfrm>
            <a:off x="5074920" y="3063239"/>
            <a:ext cx="640080" cy="329184"/>
          </a:xfrm>
          <a:prstGeom prst="rightArrow">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989320" y="2807207"/>
            <a:ext cx="5349240" cy="841248"/>
          </a:xfrm>
          <a:prstGeom prst="rect">
            <a:avLst/>
          </a:prstGeom>
          <a:noFill/>
        </p:spPr>
        <p:txBody>
          <a:bodyPr wrap="square" anchor="ctr" lIns="0" rIns="0" tIns="0" bIns="0">
            <a:spAutoFit/>
          </a:bodyPr>
          <a:lstStyle/>
          <a:p>
            <a:pPr algn="l">
              <a:spcBef>
                <a:spcPts val="0"/>
              </a:spcBef>
              <a:spcAft>
                <a:spcPts val="400"/>
              </a:spcAft>
            </a:pPr>
            <a:r>
              <a:rPr sz="1400" b="0">
                <a:solidFill>
                  <a:srgbClr val="161B26"/>
                </a:solidFill>
                <a:latin typeface="Arial"/>
              </a:rPr>
              <a:t>Run kubeadm upgrade apply v1.31.0 on the control plane; kubeadm upgrade node on workers.</a:t>
            </a:r>
          </a:p>
        </p:txBody>
      </p:sp>
      <p:sp>
        <p:nvSpPr>
          <p:cNvPr id="17" name="Rounded Rectangle 16"/>
          <p:cNvSpPr/>
          <p:nvPr/>
        </p:nvSpPr>
        <p:spPr>
          <a:xfrm>
            <a:off x="777240" y="3739895"/>
            <a:ext cx="10652760" cy="841248"/>
          </a:xfrm>
          <a:prstGeom prst="roundRect">
            <a:avLst>
              <a:gd name="adj" fmla="val 5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739895"/>
            <a:ext cx="109728" cy="8412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97280" y="3739895"/>
            <a:ext cx="3840480" cy="841248"/>
          </a:xfrm>
          <a:prstGeom prst="rect">
            <a:avLst/>
          </a:prstGeom>
          <a:noFill/>
        </p:spPr>
        <p:txBody>
          <a:bodyPr wrap="square" anchor="ctr" lIns="0" rIns="0" tIns="0" bIns="0">
            <a:spAutoFit/>
          </a:bodyPr>
          <a:lstStyle/>
          <a:p>
            <a:pPr algn="l">
              <a:spcBef>
                <a:spcPts val="0"/>
              </a:spcBef>
              <a:spcAft>
                <a:spcPts val="300"/>
              </a:spcAft>
            </a:pPr>
            <a:r>
              <a:rPr sz="1500" b="1">
                <a:solidFill>
                  <a:srgbClr val="10B981"/>
                </a:solidFill>
                <a:latin typeface="Arial"/>
              </a:rPr>
              <a:t>upgrade kubelet + kubectl</a:t>
            </a:r>
          </a:p>
          <a:p>
            <a:pPr algn="l">
              <a:spcBef>
                <a:spcPts val="0"/>
              </a:spcBef>
              <a:spcAft>
                <a:spcPts val="300"/>
              </a:spcAft>
            </a:pPr>
            <a:r>
              <a:rPr sz="1200" b="0">
                <a:solidFill>
                  <a:srgbClr val="5B6372"/>
                </a:solidFill>
                <a:latin typeface="Arial"/>
              </a:rPr>
              <a:t>apt install kubelet=v1.31.0-1.1 kubectl=v1.31.0-1.1 &amp;&amp; systemctl restart kubelet</a:t>
            </a:r>
          </a:p>
        </p:txBody>
      </p:sp>
      <p:sp>
        <p:nvSpPr>
          <p:cNvPr id="20" name="Right Arrow 19"/>
          <p:cNvSpPr/>
          <p:nvPr/>
        </p:nvSpPr>
        <p:spPr>
          <a:xfrm>
            <a:off x="5074920" y="3995927"/>
            <a:ext cx="640080" cy="329184"/>
          </a:xfrm>
          <a:prstGeom prst="rightArrow">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989320" y="3739895"/>
            <a:ext cx="5349240" cy="841248"/>
          </a:xfrm>
          <a:prstGeom prst="rect">
            <a:avLst/>
          </a:prstGeom>
          <a:noFill/>
        </p:spPr>
        <p:txBody>
          <a:bodyPr wrap="square" anchor="ctr" lIns="0" rIns="0" tIns="0" bIns="0">
            <a:spAutoFit/>
          </a:bodyPr>
          <a:lstStyle/>
          <a:p>
            <a:pPr algn="l">
              <a:spcBef>
                <a:spcPts val="0"/>
              </a:spcBef>
              <a:spcAft>
                <a:spcPts val="400"/>
              </a:spcAft>
            </a:pPr>
            <a:r>
              <a:rPr sz="1400" b="0">
                <a:solidFill>
                  <a:srgbClr val="161B26"/>
                </a:solidFill>
                <a:latin typeface="Arial"/>
              </a:rPr>
              <a:t>Verify: kubectl get nodes — the node shows the new version after kubelet restart.</a:t>
            </a:r>
          </a:p>
        </p:txBody>
      </p:sp>
      <p:sp>
        <p:nvSpPr>
          <p:cNvPr id="22" name="Rounded Rectangle 21"/>
          <p:cNvSpPr/>
          <p:nvPr/>
        </p:nvSpPr>
        <p:spPr>
          <a:xfrm>
            <a:off x="777240" y="4672583"/>
            <a:ext cx="10652760" cy="841248"/>
          </a:xfrm>
          <a:prstGeom prst="roundRect">
            <a:avLst>
              <a:gd name="adj" fmla="val 5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4672583"/>
            <a:ext cx="109728" cy="8412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097280" y="4672583"/>
            <a:ext cx="3840480" cy="841248"/>
          </a:xfrm>
          <a:prstGeom prst="rect">
            <a:avLst/>
          </a:prstGeom>
          <a:noFill/>
        </p:spPr>
        <p:txBody>
          <a:bodyPr wrap="square" anchor="ctr" lIns="0" rIns="0" tIns="0" bIns="0">
            <a:spAutoFit/>
          </a:bodyPr>
          <a:lstStyle/>
          <a:p>
            <a:pPr algn="l">
              <a:spcBef>
                <a:spcPts val="0"/>
              </a:spcBef>
              <a:spcAft>
                <a:spcPts val="300"/>
              </a:spcAft>
            </a:pPr>
            <a:r>
              <a:rPr sz="1500" b="1">
                <a:solidFill>
                  <a:srgbClr val="7C3AED"/>
                </a:solidFill>
                <a:latin typeface="Arial"/>
              </a:rPr>
              <a:t>uncordon</a:t>
            </a:r>
          </a:p>
          <a:p>
            <a:pPr algn="l">
              <a:spcBef>
                <a:spcPts val="0"/>
              </a:spcBef>
              <a:spcAft>
                <a:spcPts val="300"/>
              </a:spcAft>
            </a:pPr>
            <a:r>
              <a:rPr sz="1200" b="0">
                <a:solidFill>
                  <a:srgbClr val="5B6372"/>
                </a:solidFill>
                <a:latin typeface="Arial"/>
              </a:rPr>
              <a:t>kubectl uncordon &lt;node&gt;</a:t>
            </a:r>
          </a:p>
        </p:txBody>
      </p:sp>
      <p:sp>
        <p:nvSpPr>
          <p:cNvPr id="25" name="Right Arrow 24"/>
          <p:cNvSpPr/>
          <p:nvPr/>
        </p:nvSpPr>
        <p:spPr>
          <a:xfrm>
            <a:off x="5074920" y="4928615"/>
            <a:ext cx="640080" cy="329184"/>
          </a:xfrm>
          <a:prstGeom prst="rightArrow">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989320" y="4672583"/>
            <a:ext cx="5349240" cy="841248"/>
          </a:xfrm>
          <a:prstGeom prst="rect">
            <a:avLst/>
          </a:prstGeom>
          <a:noFill/>
        </p:spPr>
        <p:txBody>
          <a:bodyPr wrap="square" anchor="ctr" lIns="0" rIns="0" tIns="0" bIns="0">
            <a:spAutoFit/>
          </a:bodyPr>
          <a:lstStyle/>
          <a:p>
            <a:pPr algn="l">
              <a:spcBef>
                <a:spcPts val="0"/>
              </a:spcBef>
              <a:spcAft>
                <a:spcPts val="400"/>
              </a:spcAft>
            </a:pPr>
            <a:r>
              <a:rPr sz="1400" b="0">
                <a:solidFill>
                  <a:srgbClr val="161B26"/>
                </a:solidFill>
                <a:latin typeface="Arial"/>
              </a:rPr>
              <a:t>Restores scheduling. Repeat drain → upgrade → uncordon for each worker node in turn.</a:t>
            </a:r>
          </a:p>
        </p:txBody>
      </p:sp>
      <p:sp>
        <p:nvSpPr>
          <p:cNvPr id="27" name="Rounded Rectangle 26"/>
          <p:cNvSpPr/>
          <p:nvPr/>
        </p:nvSpPr>
        <p:spPr>
          <a:xfrm>
            <a:off x="777240" y="5943600"/>
            <a:ext cx="10652760" cy="502920"/>
          </a:xfrm>
          <a:prstGeom prst="roundRect">
            <a:avLst>
              <a:gd name="adj" fmla="val 5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51560" y="5943600"/>
            <a:ext cx="10149840" cy="502920"/>
          </a:xfrm>
          <a:prstGeom prst="rect">
            <a:avLst/>
          </a:prstGeom>
          <a:noFill/>
        </p:spPr>
        <p:txBody>
          <a:bodyPr wrap="square" anchor="ctr" lIns="0" rIns="0" tIns="0" bIns="0">
            <a:spAutoFit/>
          </a:bodyPr>
          <a:lstStyle/>
          <a:p>
            <a:pPr algn="l">
              <a:spcBef>
                <a:spcPts val="0"/>
              </a:spcBef>
              <a:spcAft>
                <a:spcPts val="400"/>
              </a:spcAft>
            </a:pPr>
            <a:r>
              <a:rPr sz="1300" b="0">
                <a:solidFill>
                  <a:srgbClr val="5B6372"/>
                </a:solidFill>
                <a:latin typeface="Arial"/>
              </a:rPr>
              <a:t>Upgrade </a:t>
            </a:r>
            <a:r>
              <a:rPr sz="1300" b="1">
                <a:solidFill>
                  <a:srgbClr val="161B26"/>
                </a:solidFill>
                <a:latin typeface="Arial"/>
              </a:rPr>
              <a:t>control plane first</a:t>
            </a:r>
            <a:r>
              <a:rPr sz="1300" b="0">
                <a:solidFill>
                  <a:srgbClr val="5B6372"/>
                </a:solidFill>
                <a:latin typeface="Arial"/>
              </a:rPr>
              <a:t>, then each worker. apt-mark hold/unhold kubeadm kubelet kubectl around each step.</a:t>
            </a:r>
          </a:p>
        </p:txBody>
      </p:sp>
      <p:sp>
        <p:nvSpPr>
          <p:cNvPr id="29" name="TextBox 28"/>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30" name="TextBox 29"/>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31" name="TextBox 30"/>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42</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DAY 1 · CLUSTER UPGRADE</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Cluster Upgrade: v1.34 to v1.35 with kubeadm drain/uncordon</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64208"/>
            <a:ext cx="169164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09928"/>
            <a:ext cx="1691640" cy="365760"/>
          </a:xfrm>
          <a:prstGeom prst="rect">
            <a:avLst/>
          </a:prstGeom>
          <a:noFill/>
        </p:spPr>
        <p:txBody>
          <a:bodyPr wrap="square" anchor="t" lIns="0" rIns="0" tIns="0" bIns="0">
            <a:spAutoFit/>
          </a:bodyPr>
          <a:lstStyle/>
          <a:p>
            <a:pPr algn="ctr">
              <a:spcBef>
                <a:spcPts val="0"/>
              </a:spcBef>
              <a:spcAft>
                <a:spcPts val="400"/>
              </a:spcAft>
            </a:pPr>
            <a:r>
              <a:rPr sz="1600" b="1">
                <a:solidFill>
                  <a:srgbClr val="FFFFFF"/>
                </a:solidFill>
                <a:latin typeface="Arial"/>
              </a:rPr>
              <a:t>LAB 4</a:t>
            </a:r>
          </a:p>
        </p:txBody>
      </p:sp>
      <p:sp>
        <p:nvSpPr>
          <p:cNvPr id="9" name="TextBox 8"/>
          <p:cNvSpPr txBox="1"/>
          <p:nvPr/>
        </p:nvSpPr>
        <p:spPr>
          <a:xfrm>
            <a:off x="2697480" y="1691640"/>
            <a:ext cx="8778240" cy="411480"/>
          </a:xfrm>
          <a:prstGeom prst="rect">
            <a:avLst/>
          </a:prstGeom>
          <a:noFill/>
        </p:spPr>
        <p:txBody>
          <a:bodyPr wrap="square" anchor="ctr" lIns="0" rIns="0" tIns="0" bIns="0">
            <a:spAutoFit/>
          </a:bodyPr>
          <a:lstStyle/>
          <a:p>
            <a:pPr algn="l">
              <a:spcBef>
                <a:spcPts val="0"/>
              </a:spcBef>
              <a:spcAft>
                <a:spcPts val="400"/>
              </a:spcAft>
            </a:pPr>
            <a:r>
              <a:rPr sz="1400" b="1">
                <a:solidFill>
                  <a:srgbClr val="5B6372"/>
                </a:solidFill>
                <a:latin typeface="Arial"/>
              </a:rPr>
              <a:t>Cluster upgrade</a:t>
            </a:r>
          </a:p>
        </p:txBody>
      </p:sp>
      <p:sp>
        <p:nvSpPr>
          <p:cNvPr id="10" name="TextBox 9"/>
          <p:cNvSpPr txBox="1"/>
          <p:nvPr/>
        </p:nvSpPr>
        <p:spPr>
          <a:xfrm>
            <a:off x="777240" y="2286000"/>
            <a:ext cx="10698480" cy="1554480"/>
          </a:xfrm>
          <a:prstGeom prst="rect">
            <a:avLst/>
          </a:prstGeom>
          <a:noFill/>
        </p:spPr>
        <p:txBody>
          <a:bodyPr wrap="square" anchor="t" lIns="0" rIns="0" tIns="0" bIns="0">
            <a:spAutoFit/>
          </a:bodyPr>
          <a:lstStyle/>
          <a:p>
            <a:pPr algn="l">
              <a:spcBef>
                <a:spcPts val="0"/>
              </a:spcBef>
              <a:spcAft>
                <a:spcPts val="400"/>
              </a:spcAft>
            </a:pPr>
            <a:r>
              <a:rPr sz="1900" b="0">
                <a:solidFill>
                  <a:srgbClr val="161B26"/>
                </a:solidFill>
                <a:latin typeface="Arial"/>
              </a:rPr>
              <a:t>Upgrade a two-node cluster from v1.34 to v1.35 following the official kubeadm upgrade procedure. The exact sequence: unhold, install kubeadm, upgrade plan, upgrade apply, drain, upgrade kubelet/kubectl, uncordon. Missing any step is a common exam mistake.</a:t>
            </a:r>
          </a:p>
        </p:txBody>
      </p:sp>
      <p:sp>
        <p:nvSpPr>
          <p:cNvPr id="11" name="Rounded Rectangle 10"/>
          <p:cNvSpPr/>
          <p:nvPr/>
        </p:nvSpPr>
        <p:spPr>
          <a:xfrm>
            <a:off x="777240" y="4069080"/>
            <a:ext cx="10698480" cy="1783080"/>
          </a:xfrm>
          <a:prstGeom prst="roundRect">
            <a:avLst>
              <a:gd name="adj" fmla="val 5000"/>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05840" y="4251960"/>
            <a:ext cx="10058400" cy="365760"/>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You'll build</a:t>
            </a:r>
          </a:p>
        </p:txBody>
      </p:sp>
      <p:sp>
        <p:nvSpPr>
          <p:cNvPr id="13" name="TextBox 12"/>
          <p:cNvSpPr txBox="1"/>
          <p:nvPr/>
        </p:nvSpPr>
        <p:spPr>
          <a:xfrm>
            <a:off x="1005840" y="4617720"/>
            <a:ext cx="10241280" cy="640080"/>
          </a:xfrm>
          <a:prstGeom prst="rect">
            <a:avLst/>
          </a:prstGeom>
          <a:noFill/>
        </p:spPr>
        <p:txBody>
          <a:bodyPr wrap="square" anchor="t" lIns="0" rIns="0" tIns="0" bIns="0">
            <a:spAutoFit/>
          </a:bodyPr>
          <a:lstStyle/>
          <a:p>
            <a:pPr algn="l">
              <a:spcBef>
                <a:spcPts val="0"/>
              </a:spcBef>
              <a:spcAft>
                <a:spcPts val="400"/>
              </a:spcAft>
            </a:pPr>
            <a:r>
              <a:rPr sz="1700" b="1">
                <a:solidFill>
                  <a:srgbClr val="161B26"/>
                </a:solidFill>
                <a:latin typeface="Arial"/>
              </a:rPr>
              <a:t>Upgrade control plane with kubeadm upgrade apply, drain node, upgrade kubelet, uncordon. Repeat for worker.</a:t>
            </a:r>
          </a:p>
        </p:txBody>
      </p:sp>
      <p:sp>
        <p:nvSpPr>
          <p:cNvPr id="14" name="TextBox 13"/>
          <p:cNvSpPr txBox="1"/>
          <p:nvPr/>
        </p:nvSpPr>
        <p:spPr>
          <a:xfrm>
            <a:off x="1005840" y="5349240"/>
            <a:ext cx="10058400" cy="457200"/>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Key commands:  </a:t>
            </a:r>
            <a:r>
              <a:rPr sz="1300" b="0">
                <a:solidFill>
                  <a:srgbClr val="5B6372"/>
                </a:solidFill>
                <a:latin typeface="Arial"/>
              </a:rPr>
              <a:t>curl -fsSL · apt-mark unhold · kubeadm upgrade · kubectl drain · » The</a:t>
            </a:r>
          </a:p>
        </p:txBody>
      </p:sp>
      <p:sp>
        <p:nvSpPr>
          <p:cNvPr id="15" name="TextBox 14"/>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6" name="TextBox 15"/>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7" name="TextBox 16"/>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43</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4  ·  COMMANDS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Cluster Upgrade: v1.34 to v1.35 with kubeadm drain/uncordon</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91640"/>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Step 1 -- Add v1.35 apt repository</a:t>
            </a:r>
          </a:p>
        </p:txBody>
      </p:sp>
      <p:sp>
        <p:nvSpPr>
          <p:cNvPr id="8" name="Rounded Rectangle 7"/>
          <p:cNvSpPr/>
          <p:nvPr/>
        </p:nvSpPr>
        <p:spPr>
          <a:xfrm>
            <a:off x="777240" y="2075688"/>
            <a:ext cx="10652760" cy="708660"/>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075688"/>
            <a:ext cx="82296" cy="7086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6" y="2139696"/>
            <a:ext cx="10323576" cy="617220"/>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curl -fsSL https://pkgs.k8s.io/core:/stable:/v1.35/deb/Release.key | \</a:t>
            </a:r>
          </a:p>
          <a:p>
            <a:pPr>
              <a:spcBef>
                <a:spcPts val="0"/>
              </a:spcBef>
              <a:spcAft>
                <a:spcPts val="0"/>
              </a:spcAft>
            </a:pPr>
            <a:r>
              <a:rPr sz="1050">
                <a:solidFill>
                  <a:srgbClr val="161B26"/>
                </a:solidFill>
                <a:latin typeface="Consolas"/>
              </a:rPr>
              <a:t>  gpg --dearmor -o /etc/apt/keyrings/kubernetes-apt-keyring.gpg</a:t>
            </a:r>
          </a:p>
          <a:p>
            <a:pPr>
              <a:spcBef>
                <a:spcPts val="0"/>
              </a:spcBef>
              <a:spcAft>
                <a:spcPts val="0"/>
              </a:spcAft>
            </a:pPr>
            <a:r>
              <a:rPr sz="1050">
                <a:solidFill>
                  <a:srgbClr val="161B26"/>
                </a:solidFill>
                <a:latin typeface="Consolas"/>
              </a:rPr>
              <a:t>apt-get update</a:t>
            </a:r>
          </a:p>
        </p:txBody>
      </p:sp>
      <p:sp>
        <p:nvSpPr>
          <p:cNvPr id="11" name="TextBox 10"/>
          <p:cNvSpPr txBox="1"/>
          <p:nvPr/>
        </p:nvSpPr>
        <p:spPr>
          <a:xfrm>
            <a:off x="777240" y="2967228"/>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Step 2 -- Upgrade kubeadm on control plane</a:t>
            </a:r>
          </a:p>
        </p:txBody>
      </p:sp>
      <p:sp>
        <p:nvSpPr>
          <p:cNvPr id="12" name="Rounded Rectangle 11"/>
          <p:cNvSpPr/>
          <p:nvPr/>
        </p:nvSpPr>
        <p:spPr>
          <a:xfrm>
            <a:off x="777240" y="3351276"/>
            <a:ext cx="10652760" cy="896112"/>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3351276"/>
            <a:ext cx="82296" cy="896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3415284"/>
            <a:ext cx="10323576" cy="804672"/>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apt-mark unhold kubeadm</a:t>
            </a:r>
          </a:p>
          <a:p>
            <a:pPr>
              <a:spcBef>
                <a:spcPts val="0"/>
              </a:spcBef>
              <a:spcAft>
                <a:spcPts val="0"/>
              </a:spcAft>
            </a:pPr>
            <a:r>
              <a:rPr sz="1050">
                <a:solidFill>
                  <a:srgbClr val="161B26"/>
                </a:solidFill>
                <a:latin typeface="Consolas"/>
              </a:rPr>
              <a:t>apt-get install -y kubeadm=1.35.0-*</a:t>
            </a:r>
          </a:p>
          <a:p>
            <a:pPr>
              <a:spcBef>
                <a:spcPts val="0"/>
              </a:spcBef>
              <a:spcAft>
                <a:spcPts val="0"/>
              </a:spcAft>
            </a:pPr>
            <a:r>
              <a:rPr sz="1050">
                <a:solidFill>
                  <a:srgbClr val="161B26"/>
                </a:solidFill>
                <a:latin typeface="Consolas"/>
              </a:rPr>
              <a:t>apt-mark hold kubeadm</a:t>
            </a:r>
          </a:p>
          <a:p>
            <a:pPr>
              <a:spcBef>
                <a:spcPts val="0"/>
              </a:spcBef>
              <a:spcAft>
                <a:spcPts val="0"/>
              </a:spcAft>
            </a:pPr>
            <a:r>
              <a:rPr sz="1050">
                <a:solidFill>
                  <a:srgbClr val="161B26"/>
                </a:solidFill>
                <a:latin typeface="Consolas"/>
              </a:rPr>
              <a:t>kubeadm version</a:t>
            </a:r>
          </a:p>
        </p:txBody>
      </p:sp>
      <p:sp>
        <p:nvSpPr>
          <p:cNvPr id="15" name="TextBox 14"/>
          <p:cNvSpPr txBox="1"/>
          <p:nvPr/>
        </p:nvSpPr>
        <p:spPr>
          <a:xfrm>
            <a:off x="777240" y="4430268"/>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Step 3 -- Run upgrade plan and apply</a:t>
            </a:r>
          </a:p>
        </p:txBody>
      </p:sp>
      <p:sp>
        <p:nvSpPr>
          <p:cNvPr id="16" name="Rounded Rectangle 15"/>
          <p:cNvSpPr/>
          <p:nvPr/>
        </p:nvSpPr>
        <p:spPr>
          <a:xfrm>
            <a:off x="777240" y="4814316"/>
            <a:ext cx="10652760" cy="521207"/>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77240" y="4814316"/>
            <a:ext cx="82296" cy="521207"/>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96696" y="4878324"/>
            <a:ext cx="10323576" cy="429767"/>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kubeadm upgrade plan</a:t>
            </a:r>
          </a:p>
          <a:p>
            <a:pPr>
              <a:spcBef>
                <a:spcPts val="0"/>
              </a:spcBef>
              <a:spcAft>
                <a:spcPts val="0"/>
              </a:spcAft>
            </a:pPr>
            <a:r>
              <a:rPr sz="1050">
                <a:solidFill>
                  <a:srgbClr val="161B26"/>
                </a:solidFill>
                <a:latin typeface="Consolas"/>
              </a:rPr>
              <a:t>kubeadm upgrade apply v1.35.0</a:t>
            </a:r>
          </a:p>
        </p:txBody>
      </p:sp>
      <p:sp>
        <p:nvSpPr>
          <p:cNvPr id="19" name="TextBox 18"/>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20" name="TextBox 19"/>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21" name="TextBox 20"/>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44</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4  ·  COMMANDS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Cluster Upgrade: v1.34 to v1.35 with kubeadm drain/uncordon (cont.)</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91640"/>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Step 4 -- Drain, upgrade kubelet, uncordon control plane</a:t>
            </a:r>
          </a:p>
        </p:txBody>
      </p:sp>
      <p:sp>
        <p:nvSpPr>
          <p:cNvPr id="8" name="Rounded Rectangle 7"/>
          <p:cNvSpPr/>
          <p:nvPr/>
        </p:nvSpPr>
        <p:spPr>
          <a:xfrm>
            <a:off x="777240" y="2075688"/>
            <a:ext cx="10652760" cy="1271016"/>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075688"/>
            <a:ext cx="82296" cy="127101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6" y="2139696"/>
            <a:ext cx="10323576" cy="1179576"/>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kubectl drain controlplane --ignore-daemonsets --delete-emptydir-data</a:t>
            </a:r>
          </a:p>
          <a:p>
            <a:pPr>
              <a:spcBef>
                <a:spcPts val="0"/>
              </a:spcBef>
              <a:spcAft>
                <a:spcPts val="0"/>
              </a:spcAft>
            </a:pPr>
            <a:r>
              <a:rPr sz="1050">
                <a:solidFill>
                  <a:srgbClr val="161B26"/>
                </a:solidFill>
                <a:latin typeface="Consolas"/>
              </a:rPr>
              <a:t>apt-mark unhold kubelet kubectl</a:t>
            </a:r>
          </a:p>
          <a:p>
            <a:pPr>
              <a:spcBef>
                <a:spcPts val="0"/>
              </a:spcBef>
              <a:spcAft>
                <a:spcPts val="0"/>
              </a:spcAft>
            </a:pPr>
            <a:r>
              <a:rPr sz="1050">
                <a:solidFill>
                  <a:srgbClr val="161B26"/>
                </a:solidFill>
                <a:latin typeface="Consolas"/>
              </a:rPr>
              <a:t>apt-get install -y kubelet=1.35.0-* kubectl=1.35.0-*</a:t>
            </a:r>
          </a:p>
          <a:p>
            <a:pPr>
              <a:spcBef>
                <a:spcPts val="0"/>
              </a:spcBef>
              <a:spcAft>
                <a:spcPts val="0"/>
              </a:spcAft>
            </a:pPr>
            <a:r>
              <a:rPr sz="1050">
                <a:solidFill>
                  <a:srgbClr val="161B26"/>
                </a:solidFill>
                <a:latin typeface="Consolas"/>
              </a:rPr>
              <a:t>apt-mark hold kubelet kubectl</a:t>
            </a:r>
          </a:p>
          <a:p>
            <a:pPr>
              <a:spcBef>
                <a:spcPts val="0"/>
              </a:spcBef>
              <a:spcAft>
                <a:spcPts val="0"/>
              </a:spcAft>
            </a:pPr>
            <a:r>
              <a:rPr sz="1050">
                <a:solidFill>
                  <a:srgbClr val="161B26"/>
                </a:solidFill>
                <a:latin typeface="Consolas"/>
              </a:rPr>
              <a:t>systemctl daemon-reload &amp;&amp; systemctl restart kubelet</a:t>
            </a:r>
          </a:p>
          <a:p>
            <a:pPr>
              <a:spcBef>
                <a:spcPts val="0"/>
              </a:spcBef>
              <a:spcAft>
                <a:spcPts val="0"/>
              </a:spcAft>
            </a:pPr>
            <a:r>
              <a:rPr sz="1050">
                <a:solidFill>
                  <a:srgbClr val="161B26"/>
                </a:solidFill>
                <a:latin typeface="Consolas"/>
              </a:rPr>
              <a:t>kubectl uncordon controlplane</a:t>
            </a:r>
          </a:p>
        </p:txBody>
      </p:sp>
      <p:sp>
        <p:nvSpPr>
          <p:cNvPr id="11" name="TextBox 10"/>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45</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4  ·  COMMANDS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Cluster Upgrade: v1.34 to v1.35 with kubeadm drain/uncordon (cont.)</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91640"/>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Step 5 -- Upgrade worker node</a:t>
            </a:r>
          </a:p>
        </p:txBody>
      </p:sp>
      <p:sp>
        <p:nvSpPr>
          <p:cNvPr id="8" name="Rounded Rectangle 7"/>
          <p:cNvSpPr/>
          <p:nvPr/>
        </p:nvSpPr>
        <p:spPr>
          <a:xfrm>
            <a:off x="777240" y="2075688"/>
            <a:ext cx="10652760" cy="2208276"/>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075688"/>
            <a:ext cx="82296" cy="220827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6" y="2139696"/>
            <a:ext cx="10323576" cy="2116836"/>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 On WORKER NODE:</a:t>
            </a:r>
          </a:p>
          <a:p>
            <a:pPr>
              <a:spcBef>
                <a:spcPts val="0"/>
              </a:spcBef>
              <a:spcAft>
                <a:spcPts val="0"/>
              </a:spcAft>
            </a:pPr>
            <a:r>
              <a:rPr sz="1050">
                <a:solidFill>
                  <a:srgbClr val="161B26"/>
                </a:solidFill>
                <a:latin typeface="Consolas"/>
              </a:rPr>
              <a:t>apt-mark unhold kubeadm &amp;&amp; apt-get install -y kubeadm=1.35.0-*</a:t>
            </a:r>
          </a:p>
          <a:p>
            <a:pPr>
              <a:spcBef>
                <a:spcPts val="0"/>
              </a:spcBef>
              <a:spcAft>
                <a:spcPts val="0"/>
              </a:spcAft>
            </a:pPr>
            <a:r>
              <a:rPr sz="1050">
                <a:solidFill>
                  <a:srgbClr val="161B26"/>
                </a:solidFill>
                <a:latin typeface="Consolas"/>
              </a:rPr>
              <a:t>kubeadm upgrade node</a:t>
            </a:r>
          </a:p>
          <a:p>
            <a:pPr>
              <a:spcBef>
                <a:spcPts val="0"/>
              </a:spcBef>
              <a:spcAft>
                <a:spcPts val="0"/>
              </a:spcAft>
            </a:pPr>
            <a:r>
              <a:rPr sz="1050">
                <a:solidFill>
                  <a:srgbClr val="161B26"/>
                </a:solidFill>
                <a:latin typeface="Consolas"/>
              </a:rPr>
              <a:t># On CONTROL PLANE:</a:t>
            </a:r>
          </a:p>
          <a:p>
            <a:pPr>
              <a:spcBef>
                <a:spcPts val="0"/>
              </a:spcBef>
              <a:spcAft>
                <a:spcPts val="0"/>
              </a:spcAft>
            </a:pPr>
            <a:r>
              <a:rPr sz="1050">
                <a:solidFill>
                  <a:srgbClr val="161B26"/>
                </a:solidFill>
                <a:latin typeface="Consolas"/>
              </a:rPr>
              <a:t>kubectl drain worker01 --ignore-daemonsets --delete-emptydir-data</a:t>
            </a:r>
          </a:p>
          <a:p>
            <a:pPr>
              <a:spcBef>
                <a:spcPts val="0"/>
              </a:spcBef>
              <a:spcAft>
                <a:spcPts val="0"/>
              </a:spcAft>
            </a:pPr>
            <a:r>
              <a:rPr sz="1050">
                <a:solidFill>
                  <a:srgbClr val="161B26"/>
                </a:solidFill>
                <a:latin typeface="Consolas"/>
              </a:rPr>
              <a:t># Back on WORKER:</a:t>
            </a:r>
          </a:p>
          <a:p>
            <a:pPr>
              <a:spcBef>
                <a:spcPts val="0"/>
              </a:spcBef>
              <a:spcAft>
                <a:spcPts val="0"/>
              </a:spcAft>
            </a:pPr>
            <a:r>
              <a:rPr sz="1050">
                <a:solidFill>
                  <a:srgbClr val="161B26"/>
                </a:solidFill>
                <a:latin typeface="Consolas"/>
              </a:rPr>
              <a:t>apt-mark unhold kubelet kubectl</a:t>
            </a:r>
          </a:p>
          <a:p>
            <a:pPr>
              <a:spcBef>
                <a:spcPts val="0"/>
              </a:spcBef>
              <a:spcAft>
                <a:spcPts val="0"/>
              </a:spcAft>
            </a:pPr>
            <a:r>
              <a:rPr sz="1050">
                <a:solidFill>
                  <a:srgbClr val="161B26"/>
                </a:solidFill>
                <a:latin typeface="Consolas"/>
              </a:rPr>
              <a:t>apt-get install -y kubelet=1.35.0-* kubectl=1.35.0-*</a:t>
            </a:r>
          </a:p>
          <a:p>
            <a:pPr>
              <a:spcBef>
                <a:spcPts val="0"/>
              </a:spcBef>
              <a:spcAft>
                <a:spcPts val="0"/>
              </a:spcAft>
            </a:pPr>
            <a:r>
              <a:rPr sz="1050">
                <a:solidFill>
                  <a:srgbClr val="161B26"/>
                </a:solidFill>
                <a:latin typeface="Consolas"/>
              </a:rPr>
              <a:t>systemctl daemon-reload &amp;&amp; systemctl restart kubelet</a:t>
            </a:r>
          </a:p>
          <a:p>
            <a:pPr>
              <a:spcBef>
                <a:spcPts val="0"/>
              </a:spcBef>
              <a:spcAft>
                <a:spcPts val="0"/>
              </a:spcAft>
            </a:pPr>
            <a:r>
              <a:rPr sz="1050">
                <a:solidFill>
                  <a:srgbClr val="161B26"/>
                </a:solidFill>
                <a:latin typeface="Consolas"/>
              </a:rPr>
              <a:t># On CONTROL PLANE:</a:t>
            </a:r>
          </a:p>
          <a:p>
            <a:pPr>
              <a:spcBef>
                <a:spcPts val="0"/>
              </a:spcBef>
              <a:spcAft>
                <a:spcPts val="0"/>
              </a:spcAft>
            </a:pPr>
            <a:r>
              <a:rPr sz="1050">
                <a:solidFill>
                  <a:srgbClr val="161B26"/>
                </a:solidFill>
                <a:latin typeface="Consolas"/>
              </a:rPr>
              <a:t>kubectl uncordon worker01 &amp;&amp; kubectl get nodes</a:t>
            </a:r>
          </a:p>
        </p:txBody>
      </p:sp>
      <p:sp>
        <p:nvSpPr>
          <p:cNvPr id="11" name="TextBox 10"/>
          <p:cNvSpPr txBox="1"/>
          <p:nvPr/>
        </p:nvSpPr>
        <p:spPr>
          <a:xfrm>
            <a:off x="777240" y="4466844"/>
            <a:ext cx="10652760" cy="310896"/>
          </a:xfrm>
          <a:prstGeom prst="rect">
            <a:avLst/>
          </a:prstGeom>
          <a:noFill/>
        </p:spPr>
        <p:txBody>
          <a:bodyPr wrap="square" anchor="t" lIns="0" rIns="0" tIns="0" bIns="0">
            <a:spAutoFit/>
          </a:bodyPr>
          <a:lstStyle/>
          <a:p>
            <a:pPr algn="l">
              <a:spcBef>
                <a:spcPts val="0"/>
              </a:spcBef>
              <a:spcAft>
                <a:spcPts val="400"/>
              </a:spcAft>
            </a:pPr>
            <a:r>
              <a:rPr sz="1300" b="1">
                <a:solidFill>
                  <a:srgbClr val="F59E0B"/>
                </a:solidFill>
                <a:latin typeface="Arial"/>
              </a:rPr>
              <a:t>Note   </a:t>
            </a:r>
            <a:r>
              <a:rPr sz="1300" b="0">
                <a:solidFill>
                  <a:srgbClr val="5B6372"/>
                </a:solidFill>
                <a:latin typeface="Arial"/>
              </a:rPr>
              <a:t>The VERSION column in 'kubectl get nodes' shows kubelet version, not API server version. systemctl daemon-reload is required after binary update before restarting kubelet.</a:t>
            </a:r>
          </a:p>
        </p:txBody>
      </p:sp>
      <p:sp>
        <p:nvSpPr>
          <p:cNvPr id="12" name="TextBox 11"/>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3" name="TextBox 12"/>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4" name="TextBox 13"/>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46</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4  ·  TEST IT</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Cluster Upgrade: v1.34 to v1.35 with kubeadm drain/uncordon</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03120"/>
            <a:ext cx="10698480" cy="2560320"/>
          </a:xfrm>
          <a:prstGeom prst="roundRect">
            <a:avLst>
              <a:gd name="adj" fmla="val 5000"/>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lIns="0" rIns="0" tIns="0" bIns="0">
            <a:spAutoFit/>
          </a:bodyPr>
          <a:lstStyle/>
          <a:p>
            <a:pPr algn="l">
              <a:spcBef>
                <a:spcPts val="0"/>
              </a:spcBef>
              <a:spcAft>
                <a:spcPts val="400"/>
              </a:spcAft>
            </a:pPr>
            <a:r>
              <a:rPr sz="2200" b="1">
                <a:solidFill>
                  <a:srgbClr val="127A3E"/>
                </a:solidFill>
                <a:latin typeface="Arial"/>
              </a:rPr>
              <a:t>✅  Test it</a:t>
            </a:r>
          </a:p>
        </p:txBody>
      </p:sp>
      <p:sp>
        <p:nvSpPr>
          <p:cNvPr id="9" name="TextBox 8"/>
          <p:cNvSpPr txBox="1"/>
          <p:nvPr/>
        </p:nvSpPr>
        <p:spPr>
          <a:xfrm>
            <a:off x="1097280" y="3017520"/>
            <a:ext cx="10149840" cy="1463040"/>
          </a:xfrm>
          <a:prstGeom prst="rect">
            <a:avLst/>
          </a:prstGeom>
          <a:noFill/>
        </p:spPr>
        <p:txBody>
          <a:bodyPr wrap="square" anchor="t" lIns="0" rIns="0" tIns="0" bIns="0">
            <a:spAutoFit/>
          </a:bodyPr>
          <a:lstStyle/>
          <a:p>
            <a:pPr algn="l">
              <a:spcBef>
                <a:spcPts val="0"/>
              </a:spcBef>
              <a:spcAft>
                <a:spcPts val="400"/>
              </a:spcAft>
            </a:pPr>
            <a:r>
              <a:rPr sz="1800" b="0">
                <a:solidFill>
                  <a:srgbClr val="161B26"/>
                </a:solidFill>
                <a:latin typeface="Arial"/>
              </a:rPr>
              <a:t>kubectl get nodes shows both nodes as Ready at v1.35.0. kubectl version shows Server v1.35.0.</a:t>
            </a:r>
          </a:p>
        </p:txBody>
      </p:sp>
      <p:sp>
        <p:nvSpPr>
          <p:cNvPr id="10" name="TextBox 9"/>
          <p:cNvSpPr txBox="1"/>
          <p:nvPr/>
        </p:nvSpPr>
        <p:spPr>
          <a:xfrm>
            <a:off x="777240" y="4983480"/>
            <a:ext cx="10698480" cy="365760"/>
          </a:xfrm>
          <a:prstGeom prst="rect">
            <a:avLst/>
          </a:prstGeom>
          <a:noFill/>
        </p:spPr>
        <p:txBody>
          <a:bodyPr wrap="square" anchor="t" lIns="0" rIns="0" tIns="0" bIns="0">
            <a:spAutoFit/>
          </a:bodyPr>
          <a:lstStyle/>
          <a:p>
            <a:pPr algn="l">
              <a:spcBef>
                <a:spcPts val="0"/>
              </a:spcBef>
              <a:spcAft>
                <a:spcPts val="400"/>
              </a:spcAft>
            </a:pPr>
            <a:r>
              <a:rPr sz="1300" b="1">
                <a:solidFill>
                  <a:srgbClr val="10B981"/>
                </a:solidFill>
                <a:latin typeface="Arial"/>
              </a:rPr>
              <a:t>Killercoda:  </a:t>
            </a:r>
            <a:r>
              <a:rPr sz="1300" b="0">
                <a:solidFill>
                  <a:srgbClr val="5B6372"/>
                </a:solidFill>
                <a:latin typeface="Arial"/>
              </a:rPr>
              <a:t>https://killercoda.com/playgrounds/scenario/kubeadm</a:t>
            </a:r>
          </a:p>
        </p:txBody>
      </p:sp>
      <p:sp>
        <p:nvSpPr>
          <p:cNvPr id="11" name="TextBox 10"/>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47</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56832"/>
            <a:ext cx="12191695" cy="20116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937760" y="2148840"/>
            <a:ext cx="231343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0" y="2514600"/>
            <a:ext cx="12191695" cy="1097280"/>
          </a:xfrm>
          <a:prstGeom prst="rect">
            <a:avLst/>
          </a:prstGeom>
          <a:noFill/>
        </p:spPr>
        <p:txBody>
          <a:bodyPr wrap="square" anchor="t" lIns="0" rIns="0" tIns="0" bIns="0">
            <a:spAutoFit/>
          </a:bodyPr>
          <a:lstStyle/>
          <a:p>
            <a:pPr algn="ctr">
              <a:spcBef>
                <a:spcPts val="0"/>
              </a:spcBef>
              <a:spcAft>
                <a:spcPts val="400"/>
              </a:spcAft>
            </a:pPr>
            <a:r>
              <a:rPr sz="4800" b="1">
                <a:solidFill>
                  <a:srgbClr val="161B26"/>
                </a:solidFill>
                <a:latin typeface="Arial"/>
              </a:rPr>
              <a:t>Lunch Break</a:t>
            </a:r>
          </a:p>
        </p:txBody>
      </p:sp>
      <p:sp>
        <p:nvSpPr>
          <p:cNvPr id="7" name="TextBox 6"/>
          <p:cNvSpPr txBox="1"/>
          <p:nvPr/>
        </p:nvSpPr>
        <p:spPr>
          <a:xfrm>
            <a:off x="0" y="3703320"/>
            <a:ext cx="12191695" cy="731520"/>
          </a:xfrm>
          <a:prstGeom prst="rect">
            <a:avLst/>
          </a:prstGeom>
          <a:noFill/>
        </p:spPr>
        <p:txBody>
          <a:bodyPr wrap="square" anchor="t" lIns="0" rIns="0" tIns="0" bIns="0">
            <a:spAutoFit/>
          </a:bodyPr>
          <a:lstStyle/>
          <a:p>
            <a:pPr algn="ctr">
              <a:spcBef>
                <a:spcPts val="0"/>
              </a:spcBef>
              <a:spcAft>
                <a:spcPts val="400"/>
              </a:spcAft>
            </a:pPr>
            <a:r>
              <a:rPr sz="2200" b="1">
                <a:solidFill>
                  <a:srgbClr val="1F6FEB"/>
                </a:solidFill>
                <a:latin typeface="Arial"/>
              </a:rPr>
              <a:t>1 hour</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lIns="0" rIns="0" tIns="0" bIns="0">
            <a:spAutoFit/>
          </a:bodyPr>
          <a:lstStyle/>
          <a:p>
            <a:pPr algn="l">
              <a:spcBef>
                <a:spcPts val="0"/>
              </a:spcBef>
              <a:spcAft>
                <a:spcPts val="400"/>
              </a:spcAft>
            </a:pPr>
            <a:r>
              <a:rPr sz="1800" b="1">
                <a:solidFill>
                  <a:srgbClr val="1F6FEB"/>
                </a:solidFill>
                <a:latin typeface="Arial"/>
              </a:rPr>
              <a:t>TOPIC 5</a:t>
            </a:r>
          </a:p>
        </p:txBody>
      </p:sp>
      <p:sp>
        <p:nvSpPr>
          <p:cNvPr id="6" name="TextBox 5"/>
          <p:cNvSpPr txBox="1"/>
          <p:nvPr/>
        </p:nvSpPr>
        <p:spPr>
          <a:xfrm>
            <a:off x="1143000" y="2743200"/>
            <a:ext cx="10424160" cy="1463040"/>
          </a:xfrm>
          <a:prstGeom prst="rect">
            <a:avLst/>
          </a:prstGeom>
          <a:noFill/>
        </p:spPr>
        <p:txBody>
          <a:bodyPr wrap="square" anchor="t" lIns="0" rIns="0" tIns="0" bIns="0">
            <a:spAutoFit/>
          </a:bodyPr>
          <a:lstStyle/>
          <a:p>
            <a:pPr algn="l">
              <a:spcBef>
                <a:spcPts val="0"/>
              </a:spcBef>
              <a:spcAft>
                <a:spcPts val="400"/>
              </a:spcAft>
            </a:pPr>
            <a:r>
              <a:rPr sz="4000" b="1">
                <a:solidFill>
                  <a:srgbClr val="161B26"/>
                </a:solidFill>
                <a:latin typeface="Arial"/>
              </a:rPr>
              <a:t>High Availability — etcd</a:t>
            </a:r>
          </a:p>
        </p:txBody>
      </p:sp>
      <p:sp>
        <p:nvSpPr>
          <p:cNvPr id="7" name="TextBox 6"/>
          <p:cNvSpPr txBox="1"/>
          <p:nvPr/>
        </p:nvSpPr>
        <p:spPr>
          <a:xfrm>
            <a:off x="1161288" y="4114800"/>
            <a:ext cx="10058400" cy="731520"/>
          </a:xfrm>
          <a:prstGeom prst="rect">
            <a:avLst/>
          </a:prstGeom>
          <a:noFill/>
        </p:spPr>
        <p:txBody>
          <a:bodyPr wrap="square" anchor="t" lIns="0" rIns="0" tIns="0" bIns="0">
            <a:spAutoFit/>
          </a:bodyPr>
          <a:lstStyle/>
          <a:p>
            <a:pPr algn="l">
              <a:spcBef>
                <a:spcPts val="0"/>
              </a:spcBef>
              <a:spcAft>
                <a:spcPts val="400"/>
              </a:spcAft>
            </a:pPr>
            <a:r>
              <a:rPr sz="1600" b="0">
                <a:solidFill>
                  <a:srgbClr val="5B6372"/>
                </a:solidFill>
                <a:latin typeface="Arial"/>
              </a:rPr>
              <a:t>Stacked etcd topology and backup/restore</a:t>
            </a:r>
          </a:p>
        </p:txBody>
      </p:sp>
      <p:sp>
        <p:nvSpPr>
          <p:cNvPr id="8" name="TextBox 7"/>
          <p:cNvSpPr txBox="1"/>
          <p:nvPr/>
        </p:nvSpPr>
        <p:spPr>
          <a:xfrm>
            <a:off x="9418320" y="640080"/>
            <a:ext cx="2286000" cy="1463040"/>
          </a:xfrm>
          <a:prstGeom prst="rect">
            <a:avLst/>
          </a:prstGeom>
          <a:noFill/>
        </p:spPr>
        <p:txBody>
          <a:bodyPr wrap="square" anchor="t" lIns="0" rIns="0" tIns="0" bIns="0">
            <a:spAutoFit/>
          </a:bodyPr>
          <a:lstStyle/>
          <a:p>
            <a:pPr algn="r">
              <a:spcBef>
                <a:spcPts val="0"/>
              </a:spcBef>
              <a:spcAft>
                <a:spcPts val="400"/>
              </a:spcAft>
            </a:pPr>
            <a:r>
              <a:rPr sz="7200" b="1">
                <a:solidFill>
                  <a:srgbClr val="E2E8F0"/>
                </a:solidFill>
                <a:latin typeface="Arial"/>
              </a:rPr>
              <a:t/>
            </a:r>
          </a:p>
        </p:txBody>
      </p:sp>
      <p:sp>
        <p:nvSpPr>
          <p:cNvPr id="9" name="TextBox 8"/>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0" name="TextBox 9"/>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1" name="TextBox 10"/>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49</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HA CLUSTERS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HA Cluster Design</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07040" cy="4480560"/>
          </a:xfrm>
          <a:prstGeom prst="rect">
            <a:avLst/>
          </a:prstGeom>
          <a:noFill/>
        </p:spPr>
        <p:txBody>
          <a:bodyPr wrap="square" lIns="0" rIns="0">
            <a:spAutoFit/>
          </a:bodyPr>
          <a:lstStyle/>
          <a:p>
            <a:pPr>
              <a:spcBef>
                <a:spcPts val="0"/>
              </a:spcBef>
              <a:spcAft>
                <a:spcPts val="1000"/>
              </a:spcAft>
            </a:pPr>
            <a:r>
              <a:rPr sz="1900" b="1">
                <a:solidFill>
                  <a:srgbClr val="1F6FEB"/>
                </a:solidFill>
                <a:latin typeface="Arial"/>
              </a:rPr>
              <a:t>•  </a:t>
            </a:r>
            <a:r>
              <a:rPr sz="1900">
                <a:solidFill>
                  <a:srgbClr val="161B26"/>
                </a:solidFill>
                <a:latin typeface="Arial"/>
              </a:rPr>
              <a:t>Stacked etcd: each control-plane node runs its own etcd member — simplest HA topology.</a:t>
            </a:r>
          </a:p>
          <a:p>
            <a:pPr>
              <a:spcBef>
                <a:spcPts val="0"/>
              </a:spcBef>
              <a:spcAft>
                <a:spcPts val="1000"/>
              </a:spcAft>
            </a:pPr>
            <a:r>
              <a:rPr sz="1900" b="1">
                <a:solidFill>
                  <a:srgbClr val="1F6FEB"/>
                </a:solidFill>
                <a:latin typeface="Arial"/>
              </a:rPr>
              <a:t>•  </a:t>
            </a:r>
            <a:r>
              <a:rPr sz="1900">
                <a:solidFill>
                  <a:srgbClr val="161B26"/>
                </a:solidFill>
                <a:latin typeface="Arial"/>
              </a:rPr>
              <a:t>External etcd: separate etcd cluster decoupled from control-plane nodes — more resilient but more infra.</a:t>
            </a:r>
          </a:p>
          <a:p>
            <a:pPr>
              <a:spcBef>
                <a:spcPts val="0"/>
              </a:spcBef>
              <a:spcAft>
                <a:spcPts val="1000"/>
              </a:spcAft>
            </a:pPr>
            <a:r>
              <a:rPr sz="1900" b="1">
                <a:solidFill>
                  <a:srgbClr val="1F6FEB"/>
                </a:solidFill>
                <a:latin typeface="Arial"/>
              </a:rPr>
              <a:t>•  </a:t>
            </a:r>
            <a:r>
              <a:rPr sz="1900">
                <a:solidFill>
                  <a:srgbClr val="161B26"/>
                </a:solidFill>
                <a:latin typeface="Arial"/>
              </a:rPr>
              <a:t>All CP nodes must point to the same load-balancer endpoint (--control-plane-endpoint).</a:t>
            </a:r>
          </a:p>
          <a:p>
            <a:pPr>
              <a:spcBef>
                <a:spcPts val="0"/>
              </a:spcBef>
              <a:spcAft>
                <a:spcPts val="1000"/>
              </a:spcAft>
            </a:pPr>
            <a:r>
              <a:rPr sz="1900" b="1">
                <a:solidFill>
                  <a:srgbClr val="1F6FEB"/>
                </a:solidFill>
                <a:latin typeface="Arial"/>
              </a:rPr>
              <a:t>•  </a:t>
            </a:r>
            <a:r>
              <a:rPr sz="1900">
                <a:solidFill>
                  <a:srgbClr val="161B26"/>
                </a:solidFill>
                <a:latin typeface="Arial"/>
              </a:rPr>
              <a:t>Quorum: (N-1)/2 failures tolerated — 3 nodes survive 1; 5 nodes survive 2. Always use odd numbers.</a:t>
            </a:r>
          </a:p>
        </p:txBody>
      </p:sp>
      <p:sp>
        <p:nvSpPr>
          <p:cNvPr id="8" name="TextBox 7"/>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9" name="TextBox 8"/>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50</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DOMAIN 1  ·  HIGH AVAILABILITY</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HA Stacked etcd Topology</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03120"/>
            <a:ext cx="2103120" cy="1828800"/>
          </a:xfrm>
          <a:prstGeom prst="roundRect">
            <a:avLst>
              <a:gd name="adj" fmla="val 5000"/>
            </a:avLst>
          </a:prstGeom>
          <a:solidFill>
            <a:srgbClr val="EAF1FE"/>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03120"/>
            <a:ext cx="2103120"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86968" y="2212848"/>
            <a:ext cx="1883664" cy="1719072"/>
          </a:xfrm>
          <a:prstGeom prst="rect">
            <a:avLst/>
          </a:prstGeom>
          <a:noFill/>
        </p:spPr>
        <p:txBody>
          <a:bodyPr wrap="square" anchor="ctr" lIns="0" rIns="0" tIns="0" bIns="0">
            <a:spAutoFit/>
          </a:bodyPr>
          <a:lstStyle/>
          <a:p>
            <a:pPr algn="ctr">
              <a:spcBef>
                <a:spcPts val="0"/>
              </a:spcBef>
              <a:spcAft>
                <a:spcPts val="300"/>
              </a:spcAft>
            </a:pPr>
            <a:r>
              <a:rPr sz="1400" b="1">
                <a:solidFill>
                  <a:srgbClr val="161B26"/>
                </a:solidFill>
                <a:latin typeface="Arial"/>
              </a:rPr>
              <a:t>Load Balancer</a:t>
            </a:r>
          </a:p>
          <a:p>
            <a:pPr algn="ctr">
              <a:spcBef>
                <a:spcPts val="0"/>
              </a:spcBef>
              <a:spcAft>
                <a:spcPts val="300"/>
              </a:spcAft>
            </a:pPr>
            <a:r>
              <a:rPr sz="1100" b="0">
                <a:solidFill>
                  <a:srgbClr val="5B6372"/>
                </a:solidFill>
                <a:latin typeface="Arial"/>
              </a:rPr>
              <a:t>HAProxy / cloud LB</a:t>
            </a:r>
          </a:p>
          <a:p>
            <a:pPr algn="ctr">
              <a:spcBef>
                <a:spcPts val="0"/>
              </a:spcBef>
              <a:spcAft>
                <a:spcPts val="300"/>
              </a:spcAft>
            </a:pPr>
            <a:r>
              <a:rPr sz="1100" b="0">
                <a:solidFill>
                  <a:srgbClr val="5B6372"/>
                </a:solidFill>
                <a:latin typeface="Arial"/>
              </a:rPr>
              <a:t>endpoint :6443</a:t>
            </a:r>
          </a:p>
          <a:p>
            <a:pPr algn="ctr">
              <a:spcBef>
                <a:spcPts val="0"/>
              </a:spcBef>
              <a:spcAft>
                <a:spcPts val="300"/>
              </a:spcAft>
            </a:pPr>
            <a:r>
              <a:rPr sz="1100" b="0">
                <a:solidFill>
                  <a:srgbClr val="5B6372"/>
                </a:solidFill>
                <a:latin typeface="Arial"/>
              </a:rPr>
              <a:t>DNS or VIP</a:t>
            </a:r>
          </a:p>
        </p:txBody>
      </p:sp>
      <p:sp>
        <p:nvSpPr>
          <p:cNvPr id="10" name="Right Arrow 9"/>
          <p:cNvSpPr/>
          <p:nvPr/>
        </p:nvSpPr>
        <p:spPr>
          <a:xfrm>
            <a:off x="2971800" y="2834640"/>
            <a:ext cx="731520" cy="402336"/>
          </a:xfrm>
          <a:prstGeom prst="rightArrow">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3794760" y="1691640"/>
            <a:ext cx="7772400" cy="3611880"/>
          </a:xfrm>
          <a:prstGeom prst="roundRect">
            <a:avLst>
              <a:gd name="adj" fmla="val 5000"/>
            </a:avLst>
          </a:prstGeom>
          <a:solidFill>
            <a:srgbClr val="F8FB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794760" y="1691640"/>
            <a:ext cx="7772400" cy="292608"/>
          </a:xfrm>
          <a:prstGeom prst="rect">
            <a:avLst/>
          </a:prstGeom>
          <a:noFill/>
        </p:spPr>
        <p:txBody>
          <a:bodyPr wrap="square" anchor="ctr" lIns="0" rIns="0" tIns="0" bIns="0">
            <a:spAutoFit/>
          </a:bodyPr>
          <a:lstStyle/>
          <a:p>
            <a:pPr algn="ctr">
              <a:spcBef>
                <a:spcPts val="0"/>
              </a:spcBef>
              <a:spcAft>
                <a:spcPts val="400"/>
              </a:spcAft>
            </a:pPr>
            <a:r>
              <a:rPr sz="1200" b="1">
                <a:solidFill>
                  <a:srgbClr val="10B981"/>
                </a:solidFill>
                <a:latin typeface="Arial"/>
              </a:rPr>
              <a:t>Control-Plane Nodes (×3)  +  Stacked etcd</a:t>
            </a:r>
          </a:p>
        </p:txBody>
      </p:sp>
      <p:sp>
        <p:nvSpPr>
          <p:cNvPr id="13" name="Rounded Rectangle 12"/>
          <p:cNvSpPr/>
          <p:nvPr/>
        </p:nvSpPr>
        <p:spPr>
          <a:xfrm>
            <a:off x="4023360" y="2011680"/>
            <a:ext cx="3749039" cy="777240"/>
          </a:xfrm>
          <a:prstGeom prst="roundRect">
            <a:avLst>
              <a:gd name="adj" fmla="val 5000"/>
            </a:avLst>
          </a:prstGeom>
          <a:solidFill>
            <a:srgbClr val="FFFFF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023360" y="2011680"/>
            <a:ext cx="3749039"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023360" y="2103120"/>
            <a:ext cx="3749039" cy="292608"/>
          </a:xfrm>
          <a:prstGeom prst="rect">
            <a:avLst/>
          </a:prstGeom>
          <a:noFill/>
        </p:spPr>
        <p:txBody>
          <a:bodyPr wrap="square" anchor="ctr" lIns="0" rIns="0" tIns="0" bIns="0">
            <a:spAutoFit/>
          </a:bodyPr>
          <a:lstStyle/>
          <a:p>
            <a:pPr algn="ctr">
              <a:spcBef>
                <a:spcPts val="0"/>
              </a:spcBef>
              <a:spcAft>
                <a:spcPts val="400"/>
              </a:spcAft>
            </a:pPr>
            <a:r>
              <a:rPr sz="1100" b="1">
                <a:solidFill>
                  <a:srgbClr val="10B981"/>
                </a:solidFill>
                <a:latin typeface="Arial"/>
              </a:rPr>
              <a:t>CP 1  ·  kube-apiserver · scheduler · controller-mgr</a:t>
            </a:r>
          </a:p>
        </p:txBody>
      </p:sp>
      <p:sp>
        <p:nvSpPr>
          <p:cNvPr id="16" name="Can 15"/>
          <p:cNvSpPr/>
          <p:nvPr/>
        </p:nvSpPr>
        <p:spPr>
          <a:xfrm>
            <a:off x="7909560" y="2084832"/>
            <a:ext cx="1554480" cy="630936"/>
          </a:xfrm>
          <a:prstGeom prst="can">
            <a:avLst/>
          </a:prstGeom>
          <a:solidFill>
            <a:srgbClr val="EAF1FE"/>
          </a:solidFill>
          <a:ln w="1905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909560" y="2487168"/>
            <a:ext cx="1554480" cy="292608"/>
          </a:xfrm>
          <a:prstGeom prst="rect">
            <a:avLst/>
          </a:prstGeom>
          <a:noFill/>
        </p:spPr>
        <p:txBody>
          <a:bodyPr wrap="square" anchor="ctr" lIns="0" rIns="0" tIns="0" bIns="0">
            <a:spAutoFit/>
          </a:bodyPr>
          <a:lstStyle/>
          <a:p>
            <a:pPr algn="ctr">
              <a:spcBef>
                <a:spcPts val="0"/>
              </a:spcBef>
              <a:spcAft>
                <a:spcPts val="400"/>
              </a:spcAft>
            </a:pPr>
            <a:r>
              <a:rPr sz="1000" b="1">
                <a:solidFill>
                  <a:srgbClr val="1F6FEB"/>
                </a:solidFill>
                <a:latin typeface="Arial"/>
              </a:rPr>
              <a:t>etcd</a:t>
            </a:r>
          </a:p>
        </p:txBody>
      </p:sp>
      <p:sp>
        <p:nvSpPr>
          <p:cNvPr id="18" name="Rounded Rectangle 17"/>
          <p:cNvSpPr/>
          <p:nvPr/>
        </p:nvSpPr>
        <p:spPr>
          <a:xfrm>
            <a:off x="4023360" y="2898648"/>
            <a:ext cx="3749039" cy="777240"/>
          </a:xfrm>
          <a:prstGeom prst="roundRect">
            <a:avLst>
              <a:gd name="adj" fmla="val 5000"/>
            </a:avLst>
          </a:prstGeom>
          <a:solidFill>
            <a:srgbClr val="FFFFF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023360" y="2898648"/>
            <a:ext cx="3749039"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023360" y="2990088"/>
            <a:ext cx="3749039" cy="292608"/>
          </a:xfrm>
          <a:prstGeom prst="rect">
            <a:avLst/>
          </a:prstGeom>
          <a:noFill/>
        </p:spPr>
        <p:txBody>
          <a:bodyPr wrap="square" anchor="ctr" lIns="0" rIns="0" tIns="0" bIns="0">
            <a:spAutoFit/>
          </a:bodyPr>
          <a:lstStyle/>
          <a:p>
            <a:pPr algn="ctr">
              <a:spcBef>
                <a:spcPts val="0"/>
              </a:spcBef>
              <a:spcAft>
                <a:spcPts val="400"/>
              </a:spcAft>
            </a:pPr>
            <a:r>
              <a:rPr sz="1100" b="1">
                <a:solidFill>
                  <a:srgbClr val="10B981"/>
                </a:solidFill>
                <a:latin typeface="Arial"/>
              </a:rPr>
              <a:t>CP 2  ·  kube-apiserver · scheduler · controller-mgr</a:t>
            </a:r>
          </a:p>
        </p:txBody>
      </p:sp>
      <p:sp>
        <p:nvSpPr>
          <p:cNvPr id="21" name="Can 20"/>
          <p:cNvSpPr/>
          <p:nvPr/>
        </p:nvSpPr>
        <p:spPr>
          <a:xfrm>
            <a:off x="7909560" y="2971800"/>
            <a:ext cx="1554480" cy="630936"/>
          </a:xfrm>
          <a:prstGeom prst="can">
            <a:avLst/>
          </a:prstGeom>
          <a:solidFill>
            <a:srgbClr val="EAF1FE"/>
          </a:solidFill>
          <a:ln w="1905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909560" y="3374136"/>
            <a:ext cx="1554480" cy="292608"/>
          </a:xfrm>
          <a:prstGeom prst="rect">
            <a:avLst/>
          </a:prstGeom>
          <a:noFill/>
        </p:spPr>
        <p:txBody>
          <a:bodyPr wrap="square" anchor="ctr" lIns="0" rIns="0" tIns="0" bIns="0">
            <a:spAutoFit/>
          </a:bodyPr>
          <a:lstStyle/>
          <a:p>
            <a:pPr algn="ctr">
              <a:spcBef>
                <a:spcPts val="0"/>
              </a:spcBef>
              <a:spcAft>
                <a:spcPts val="400"/>
              </a:spcAft>
            </a:pPr>
            <a:r>
              <a:rPr sz="1000" b="1">
                <a:solidFill>
                  <a:srgbClr val="1F6FEB"/>
                </a:solidFill>
                <a:latin typeface="Arial"/>
              </a:rPr>
              <a:t>etcd</a:t>
            </a:r>
          </a:p>
        </p:txBody>
      </p:sp>
      <p:sp>
        <p:nvSpPr>
          <p:cNvPr id="23" name="Rounded Rectangle 22"/>
          <p:cNvSpPr/>
          <p:nvPr/>
        </p:nvSpPr>
        <p:spPr>
          <a:xfrm>
            <a:off x="4023360" y="3785616"/>
            <a:ext cx="3749039" cy="777240"/>
          </a:xfrm>
          <a:prstGeom prst="roundRect">
            <a:avLst>
              <a:gd name="adj" fmla="val 5000"/>
            </a:avLst>
          </a:prstGeom>
          <a:solidFill>
            <a:srgbClr val="FFFFF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4023360" y="3785616"/>
            <a:ext cx="3749039"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023360" y="3877056"/>
            <a:ext cx="3749039" cy="292608"/>
          </a:xfrm>
          <a:prstGeom prst="rect">
            <a:avLst/>
          </a:prstGeom>
          <a:noFill/>
        </p:spPr>
        <p:txBody>
          <a:bodyPr wrap="square" anchor="ctr" lIns="0" rIns="0" tIns="0" bIns="0">
            <a:spAutoFit/>
          </a:bodyPr>
          <a:lstStyle/>
          <a:p>
            <a:pPr algn="ctr">
              <a:spcBef>
                <a:spcPts val="0"/>
              </a:spcBef>
              <a:spcAft>
                <a:spcPts val="400"/>
              </a:spcAft>
            </a:pPr>
            <a:r>
              <a:rPr sz="1100" b="1">
                <a:solidFill>
                  <a:srgbClr val="10B981"/>
                </a:solidFill>
                <a:latin typeface="Arial"/>
              </a:rPr>
              <a:t>CP 3  ·  kube-apiserver · scheduler · controller-mgr</a:t>
            </a:r>
          </a:p>
        </p:txBody>
      </p:sp>
      <p:sp>
        <p:nvSpPr>
          <p:cNvPr id="26" name="Can 25"/>
          <p:cNvSpPr/>
          <p:nvPr/>
        </p:nvSpPr>
        <p:spPr>
          <a:xfrm>
            <a:off x="7909560" y="3858768"/>
            <a:ext cx="1554480" cy="630936"/>
          </a:xfrm>
          <a:prstGeom prst="can">
            <a:avLst/>
          </a:prstGeom>
          <a:solidFill>
            <a:srgbClr val="EAF1FE"/>
          </a:solidFill>
          <a:ln w="1905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909560" y="4261104"/>
            <a:ext cx="1554480" cy="292608"/>
          </a:xfrm>
          <a:prstGeom prst="rect">
            <a:avLst/>
          </a:prstGeom>
          <a:noFill/>
        </p:spPr>
        <p:txBody>
          <a:bodyPr wrap="square" anchor="ctr" lIns="0" rIns="0" tIns="0" bIns="0">
            <a:spAutoFit/>
          </a:bodyPr>
          <a:lstStyle/>
          <a:p>
            <a:pPr algn="ctr">
              <a:spcBef>
                <a:spcPts val="0"/>
              </a:spcBef>
              <a:spcAft>
                <a:spcPts val="400"/>
              </a:spcAft>
            </a:pPr>
            <a:r>
              <a:rPr sz="1000" b="1">
                <a:solidFill>
                  <a:srgbClr val="1F6FEB"/>
                </a:solidFill>
                <a:latin typeface="Arial"/>
              </a:rPr>
              <a:t>etcd</a:t>
            </a:r>
          </a:p>
        </p:txBody>
      </p:sp>
      <p:sp>
        <p:nvSpPr>
          <p:cNvPr id="28" name="Rectangle 27"/>
          <p:cNvSpPr/>
          <p:nvPr/>
        </p:nvSpPr>
        <p:spPr>
          <a:xfrm>
            <a:off x="8641080" y="2788920"/>
            <a:ext cx="19050" cy="10972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8641080" y="3675888"/>
            <a:ext cx="19050" cy="10972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503920" y="3730752"/>
            <a:ext cx="1280160" cy="292608"/>
          </a:xfrm>
          <a:prstGeom prst="rect">
            <a:avLst/>
          </a:prstGeom>
          <a:noFill/>
        </p:spPr>
        <p:txBody>
          <a:bodyPr wrap="square" anchor="ctr" lIns="0" rIns="0" tIns="0" bIns="0">
            <a:spAutoFit/>
          </a:bodyPr>
          <a:lstStyle/>
          <a:p>
            <a:pPr algn="ctr">
              <a:spcBef>
                <a:spcPts val="0"/>
              </a:spcBef>
              <a:spcAft>
                <a:spcPts val="400"/>
              </a:spcAft>
            </a:pPr>
            <a:r>
              <a:rPr sz="900" b="1">
                <a:solidFill>
                  <a:srgbClr val="5B6372"/>
                </a:solidFill>
                <a:latin typeface="Arial"/>
              </a:rPr>
              <a:t>Raft sync</a:t>
            </a:r>
          </a:p>
        </p:txBody>
      </p:sp>
      <p:sp>
        <p:nvSpPr>
          <p:cNvPr id="31" name="Rounded Rectangle 30"/>
          <p:cNvSpPr/>
          <p:nvPr/>
        </p:nvSpPr>
        <p:spPr>
          <a:xfrm>
            <a:off x="777240" y="5943600"/>
            <a:ext cx="10652760" cy="502920"/>
          </a:xfrm>
          <a:prstGeom prst="roundRect">
            <a:avLst>
              <a:gd name="adj" fmla="val 5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051560" y="5943600"/>
            <a:ext cx="10149840" cy="502920"/>
          </a:xfrm>
          <a:prstGeom prst="rect">
            <a:avLst/>
          </a:prstGeom>
          <a:noFill/>
        </p:spPr>
        <p:txBody>
          <a:bodyPr wrap="square" anchor="ctr" lIns="0" rIns="0" tIns="0" bIns="0">
            <a:spAutoFit/>
          </a:bodyPr>
          <a:lstStyle/>
          <a:p>
            <a:pPr algn="l">
              <a:spcBef>
                <a:spcPts val="0"/>
              </a:spcBef>
              <a:spcAft>
                <a:spcPts val="400"/>
              </a:spcAft>
            </a:pPr>
            <a:r>
              <a:rPr sz="1300" b="0">
                <a:solidFill>
                  <a:srgbClr val="5B6372"/>
                </a:solidFill>
                <a:latin typeface="Arial"/>
              </a:rPr>
              <a:t>Stacked etcd: </a:t>
            </a:r>
            <a:r>
              <a:rPr sz="1300" b="1">
                <a:solidFill>
                  <a:srgbClr val="161B26"/>
                </a:solidFill>
                <a:latin typeface="Arial"/>
              </a:rPr>
              <a:t>each CP node runs its own etcd member — state replicated via Raft</a:t>
            </a:r>
            <a:r>
              <a:rPr sz="1300" b="0">
                <a:solidFill>
                  <a:srgbClr val="5B6372"/>
                </a:solidFill>
                <a:latin typeface="Arial"/>
              </a:rPr>
              <a:t>. 3 CPs tolerate 1 failure (quorum = 2).</a:t>
            </a:r>
          </a:p>
        </p:txBody>
      </p:sp>
      <p:sp>
        <p:nvSpPr>
          <p:cNvPr id="33" name="TextBox 32"/>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34" name="TextBox 33"/>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35" name="TextBox 34"/>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51</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HA CLUSTERS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Stacked etcd — HA Control Plane Topology</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day1a_s013_p1.png"/>
          <p:cNvPicPr>
            <a:picLocks noChangeAspect="1"/>
          </p:cNvPicPr>
          <p:nvPr/>
        </p:nvPicPr>
        <p:blipFill>
          <a:blip r:embed="rId2"/>
          <a:stretch>
            <a:fillRect/>
          </a:stretch>
        </p:blipFill>
        <p:spPr>
          <a:xfrm>
            <a:off x="2067326" y="1627632"/>
            <a:ext cx="8072587" cy="4544568"/>
          </a:xfrm>
          <a:prstGeom prst="rect">
            <a:avLst/>
          </a:prstGeom>
        </p:spPr>
      </p:pic>
      <p:sp>
        <p:nvSpPr>
          <p:cNvPr id="8" name="TextBox 7"/>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9" name="TextBox 8"/>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52</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HA CLUSTERS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External etcd Cluster — Dedicated Topology</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day1a_s015_p1.png"/>
          <p:cNvPicPr>
            <a:picLocks noChangeAspect="1"/>
          </p:cNvPicPr>
          <p:nvPr/>
        </p:nvPicPr>
        <p:blipFill>
          <a:blip r:embed="rId2"/>
          <a:stretch>
            <a:fillRect/>
          </a:stretch>
        </p:blipFill>
        <p:spPr>
          <a:xfrm>
            <a:off x="2067326" y="1627632"/>
            <a:ext cx="8072587" cy="4544568"/>
          </a:xfrm>
          <a:prstGeom prst="rect">
            <a:avLst/>
          </a:prstGeom>
        </p:spPr>
      </p:pic>
      <p:sp>
        <p:nvSpPr>
          <p:cNvPr id="8" name="TextBox 7"/>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9" name="TextBox 8"/>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53</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DOMAIN 1  ·  ETCD BACKUP</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etcd Backup and Restore</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Can 6"/>
          <p:cNvSpPr/>
          <p:nvPr/>
        </p:nvSpPr>
        <p:spPr>
          <a:xfrm>
            <a:off x="777240" y="2194560"/>
            <a:ext cx="2103120" cy="1828800"/>
          </a:xfrm>
          <a:prstGeom prst="can">
            <a:avLst/>
          </a:prstGeom>
          <a:solidFill>
            <a:srgbClr val="EAF1FE"/>
          </a:solidFill>
          <a:ln w="1905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4114800"/>
            <a:ext cx="2103120" cy="292608"/>
          </a:xfrm>
          <a:prstGeom prst="rect">
            <a:avLst/>
          </a:prstGeom>
          <a:noFill/>
        </p:spPr>
        <p:txBody>
          <a:bodyPr wrap="square" anchor="ctr" lIns="0" rIns="0" tIns="0" bIns="0">
            <a:spAutoFit/>
          </a:bodyPr>
          <a:lstStyle/>
          <a:p>
            <a:pPr algn="ctr">
              <a:spcBef>
                <a:spcPts val="0"/>
              </a:spcBef>
              <a:spcAft>
                <a:spcPts val="400"/>
              </a:spcAft>
            </a:pPr>
            <a:r>
              <a:rPr sz="1400" b="1">
                <a:solidFill>
                  <a:srgbClr val="1F6FEB"/>
                </a:solidFill>
                <a:latin typeface="Arial"/>
              </a:rPr>
              <a:t>etcd</a:t>
            </a:r>
          </a:p>
        </p:txBody>
      </p:sp>
      <p:sp>
        <p:nvSpPr>
          <p:cNvPr id="9" name="Right Arrow 8"/>
          <p:cNvSpPr/>
          <p:nvPr/>
        </p:nvSpPr>
        <p:spPr>
          <a:xfrm>
            <a:off x="3017520" y="2578608"/>
            <a:ext cx="1280160" cy="402336"/>
          </a:xfrm>
          <a:prstGeom prst="rightArrow">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816352" y="2286000"/>
            <a:ext cx="1691640" cy="292608"/>
          </a:xfrm>
          <a:prstGeom prst="rect">
            <a:avLst/>
          </a:prstGeom>
          <a:noFill/>
        </p:spPr>
        <p:txBody>
          <a:bodyPr wrap="square" anchor="ctr" lIns="0" rIns="0" tIns="0" bIns="0">
            <a:spAutoFit/>
          </a:bodyPr>
          <a:lstStyle/>
          <a:p>
            <a:pPr algn="ctr">
              <a:spcBef>
                <a:spcPts val="0"/>
              </a:spcBef>
              <a:spcAft>
                <a:spcPts val="400"/>
              </a:spcAft>
            </a:pPr>
            <a:r>
              <a:rPr sz="1000" b="1">
                <a:solidFill>
                  <a:srgbClr val="10B981"/>
                </a:solidFill>
                <a:latin typeface="Arial"/>
              </a:rPr>
              <a:t>snapshot save</a:t>
            </a:r>
          </a:p>
        </p:txBody>
      </p:sp>
      <p:sp>
        <p:nvSpPr>
          <p:cNvPr id="11" name="Left Arrow 10"/>
          <p:cNvSpPr/>
          <p:nvPr/>
        </p:nvSpPr>
        <p:spPr>
          <a:xfrm>
            <a:off x="3017520" y="3218688"/>
            <a:ext cx="1280160" cy="402336"/>
          </a:xfrm>
          <a:prstGeom prst="leftArrow">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816352" y="3675888"/>
            <a:ext cx="1691640" cy="292608"/>
          </a:xfrm>
          <a:prstGeom prst="rect">
            <a:avLst/>
          </a:prstGeom>
          <a:noFill/>
        </p:spPr>
        <p:txBody>
          <a:bodyPr wrap="square" anchor="ctr" lIns="0" rIns="0" tIns="0" bIns="0">
            <a:spAutoFit/>
          </a:bodyPr>
          <a:lstStyle/>
          <a:p>
            <a:pPr algn="ctr">
              <a:spcBef>
                <a:spcPts val="0"/>
              </a:spcBef>
              <a:spcAft>
                <a:spcPts val="400"/>
              </a:spcAft>
            </a:pPr>
            <a:r>
              <a:rPr sz="1000" b="1">
                <a:solidFill>
                  <a:srgbClr val="F59E0B"/>
                </a:solidFill>
                <a:latin typeface="Arial"/>
              </a:rPr>
              <a:t>snapshot restore</a:t>
            </a:r>
          </a:p>
        </p:txBody>
      </p:sp>
      <p:sp>
        <p:nvSpPr>
          <p:cNvPr id="13" name="Rounded Rectangle 12"/>
          <p:cNvSpPr/>
          <p:nvPr/>
        </p:nvSpPr>
        <p:spPr>
          <a:xfrm>
            <a:off x="4434840" y="2194560"/>
            <a:ext cx="2743200" cy="1828800"/>
          </a:xfrm>
          <a:prstGeom prst="roundRect">
            <a:avLst>
              <a:gd name="adj" fmla="val 5000"/>
            </a:avLst>
          </a:prstGeom>
          <a:solidFill>
            <a:srgbClr val="E8F7EE"/>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434840" y="2450592"/>
            <a:ext cx="2743200" cy="292608"/>
          </a:xfrm>
          <a:prstGeom prst="rect">
            <a:avLst/>
          </a:prstGeom>
          <a:noFill/>
        </p:spPr>
        <p:txBody>
          <a:bodyPr wrap="square" anchor="ctr" lIns="0" rIns="0" tIns="0" bIns="0">
            <a:spAutoFit/>
          </a:bodyPr>
          <a:lstStyle/>
          <a:p>
            <a:pPr algn="ctr">
              <a:spcBef>
                <a:spcPts val="0"/>
              </a:spcBef>
              <a:spcAft>
                <a:spcPts val="400"/>
              </a:spcAft>
            </a:pPr>
            <a:r>
              <a:rPr sz="1600" b="1">
                <a:solidFill>
                  <a:srgbClr val="10B981"/>
                </a:solidFill>
                <a:latin typeface="Arial"/>
              </a:rPr>
              <a:t>snapshot.db</a:t>
            </a:r>
          </a:p>
        </p:txBody>
      </p:sp>
      <p:sp>
        <p:nvSpPr>
          <p:cNvPr id="15" name="TextBox 14"/>
          <p:cNvSpPr txBox="1"/>
          <p:nvPr/>
        </p:nvSpPr>
        <p:spPr>
          <a:xfrm>
            <a:off x="4434840" y="2880360"/>
            <a:ext cx="2743200" cy="292608"/>
          </a:xfrm>
          <a:prstGeom prst="rect">
            <a:avLst/>
          </a:prstGeom>
          <a:noFill/>
        </p:spPr>
        <p:txBody>
          <a:bodyPr wrap="square" anchor="ctr" lIns="0" rIns="0" tIns="0" bIns="0">
            <a:spAutoFit/>
          </a:bodyPr>
          <a:lstStyle/>
          <a:p>
            <a:pPr algn="ctr">
              <a:spcBef>
                <a:spcPts val="0"/>
              </a:spcBef>
              <a:spcAft>
                <a:spcPts val="400"/>
              </a:spcAft>
            </a:pPr>
            <a:r>
              <a:rPr sz="1100" b="0">
                <a:solidFill>
                  <a:srgbClr val="161B26"/>
                </a:solidFill>
                <a:latin typeface="Arial"/>
              </a:rPr>
              <a:t>/backup/etcd.db</a:t>
            </a:r>
          </a:p>
        </p:txBody>
      </p:sp>
      <p:sp>
        <p:nvSpPr>
          <p:cNvPr id="16" name="TextBox 15"/>
          <p:cNvSpPr txBox="1"/>
          <p:nvPr/>
        </p:nvSpPr>
        <p:spPr>
          <a:xfrm>
            <a:off x="4434840" y="3218688"/>
            <a:ext cx="2743200" cy="292608"/>
          </a:xfrm>
          <a:prstGeom prst="rect">
            <a:avLst/>
          </a:prstGeom>
          <a:noFill/>
        </p:spPr>
        <p:txBody>
          <a:bodyPr wrap="square" anchor="ctr" lIns="0" rIns="0" tIns="0" bIns="0">
            <a:spAutoFit/>
          </a:bodyPr>
          <a:lstStyle/>
          <a:p>
            <a:pPr algn="ctr">
              <a:spcBef>
                <a:spcPts val="0"/>
              </a:spcBef>
              <a:spcAft>
                <a:spcPts val="400"/>
              </a:spcAft>
            </a:pPr>
            <a:r>
              <a:rPr sz="1000" b="0">
                <a:solidFill>
                  <a:srgbClr val="5B6372"/>
                </a:solidFill>
                <a:latin typeface="Arial"/>
              </a:rPr>
              <a:t>etcdctl snapshot status</a:t>
            </a:r>
          </a:p>
        </p:txBody>
      </p:sp>
      <p:sp>
        <p:nvSpPr>
          <p:cNvPr id="17" name="TextBox 16"/>
          <p:cNvSpPr txBox="1"/>
          <p:nvPr/>
        </p:nvSpPr>
        <p:spPr>
          <a:xfrm>
            <a:off x="4434840" y="3520440"/>
            <a:ext cx="2743200" cy="292608"/>
          </a:xfrm>
          <a:prstGeom prst="rect">
            <a:avLst/>
          </a:prstGeom>
          <a:noFill/>
        </p:spPr>
        <p:txBody>
          <a:bodyPr wrap="square" anchor="ctr" lIns="0" rIns="0" tIns="0" bIns="0">
            <a:spAutoFit/>
          </a:bodyPr>
          <a:lstStyle/>
          <a:p>
            <a:pPr algn="ctr">
              <a:spcBef>
                <a:spcPts val="0"/>
              </a:spcBef>
              <a:spcAft>
                <a:spcPts val="400"/>
              </a:spcAft>
            </a:pPr>
            <a:r>
              <a:rPr sz="1000" b="0">
                <a:solidFill>
                  <a:srgbClr val="5B6372"/>
                </a:solidFill>
                <a:latin typeface="Arial"/>
              </a:rPr>
              <a:t>snapshot restore --data-dir ...</a:t>
            </a:r>
          </a:p>
        </p:txBody>
      </p:sp>
      <p:sp>
        <p:nvSpPr>
          <p:cNvPr id="18" name="Rounded Rectangle 17"/>
          <p:cNvSpPr/>
          <p:nvPr/>
        </p:nvSpPr>
        <p:spPr>
          <a:xfrm>
            <a:off x="7452360" y="2194560"/>
            <a:ext cx="4434840" cy="1828800"/>
          </a:xfrm>
          <a:prstGeom prst="roundRect">
            <a:avLst>
              <a:gd name="adj" fmla="val 5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589520" y="2304288"/>
            <a:ext cx="4206240" cy="1609344"/>
          </a:xfrm>
          <a:prstGeom prst="rect">
            <a:avLst/>
          </a:prstGeom>
          <a:noFill/>
        </p:spPr>
        <p:txBody>
          <a:bodyPr wrap="square" anchor="t" lIns="0" rIns="0" tIns="0" bIns="0">
            <a:spAutoFit/>
          </a:bodyPr>
          <a:lstStyle/>
          <a:p>
            <a:pPr algn="l">
              <a:spcBef>
                <a:spcPts val="0"/>
              </a:spcBef>
              <a:spcAft>
                <a:spcPts val="300"/>
              </a:spcAft>
            </a:pPr>
            <a:r>
              <a:rPr sz="1200" b="1">
                <a:solidFill>
                  <a:srgbClr val="1F6FEB"/>
                </a:solidFill>
                <a:latin typeface="Arial"/>
              </a:rPr>
              <a:t>Required etcdctl flags:</a:t>
            </a:r>
          </a:p>
          <a:p>
            <a:pPr algn="l">
              <a:spcBef>
                <a:spcPts val="0"/>
              </a:spcBef>
              <a:spcAft>
                <a:spcPts val="300"/>
              </a:spcAft>
            </a:pPr>
            <a:r>
              <a:rPr sz="1100" b="0">
                <a:solidFill>
                  <a:srgbClr val="161B26"/>
                </a:solidFill>
                <a:latin typeface="Arial"/>
              </a:rPr>
              <a:t>--endpoints=https://127.0.0.1:2379</a:t>
            </a:r>
          </a:p>
          <a:p>
            <a:pPr algn="l">
              <a:spcBef>
                <a:spcPts val="0"/>
              </a:spcBef>
              <a:spcAft>
                <a:spcPts val="300"/>
              </a:spcAft>
            </a:pPr>
            <a:r>
              <a:rPr sz="1100" b="0">
                <a:solidFill>
                  <a:srgbClr val="161B26"/>
                </a:solidFill>
                <a:latin typeface="Arial"/>
              </a:rPr>
              <a:t>--cacert  /etc/kubernetes/pki/etcd/ca.crt</a:t>
            </a:r>
          </a:p>
          <a:p>
            <a:pPr algn="l">
              <a:spcBef>
                <a:spcPts val="0"/>
              </a:spcBef>
              <a:spcAft>
                <a:spcPts val="300"/>
              </a:spcAft>
            </a:pPr>
            <a:r>
              <a:rPr sz="1100" b="0">
                <a:solidFill>
                  <a:srgbClr val="161B26"/>
                </a:solidFill>
                <a:latin typeface="Arial"/>
              </a:rPr>
              <a:t>--cert    /etc/kubernetes/pki/etcd/server.crt</a:t>
            </a:r>
          </a:p>
          <a:p>
            <a:pPr algn="l">
              <a:spcBef>
                <a:spcPts val="0"/>
              </a:spcBef>
              <a:spcAft>
                <a:spcPts val="300"/>
              </a:spcAft>
            </a:pPr>
            <a:r>
              <a:rPr sz="1100" b="0">
                <a:solidFill>
                  <a:srgbClr val="161B26"/>
                </a:solidFill>
                <a:latin typeface="Arial"/>
              </a:rPr>
              <a:t>--key     /etc/kubernetes/pki/etcd/server.key</a:t>
            </a:r>
          </a:p>
        </p:txBody>
      </p:sp>
      <p:sp>
        <p:nvSpPr>
          <p:cNvPr id="20" name="Rounded Rectangle 19"/>
          <p:cNvSpPr/>
          <p:nvPr/>
        </p:nvSpPr>
        <p:spPr>
          <a:xfrm>
            <a:off x="777240" y="5943600"/>
            <a:ext cx="10652760" cy="502920"/>
          </a:xfrm>
          <a:prstGeom prst="roundRect">
            <a:avLst>
              <a:gd name="adj" fmla="val 5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51560" y="5943600"/>
            <a:ext cx="10149840" cy="502920"/>
          </a:xfrm>
          <a:prstGeom prst="rect">
            <a:avLst/>
          </a:prstGeom>
          <a:noFill/>
        </p:spPr>
        <p:txBody>
          <a:bodyPr wrap="square" anchor="ctr" lIns="0" rIns="0" tIns="0" bIns="0">
            <a:spAutoFit/>
          </a:bodyPr>
          <a:lstStyle/>
          <a:p>
            <a:pPr algn="l">
              <a:spcBef>
                <a:spcPts val="0"/>
              </a:spcBef>
              <a:spcAft>
                <a:spcPts val="400"/>
              </a:spcAft>
            </a:pPr>
            <a:r>
              <a:rPr sz="1300" b="0">
                <a:solidFill>
                  <a:srgbClr val="5B6372"/>
                </a:solidFill>
                <a:latin typeface="Arial"/>
              </a:rPr>
              <a:t>After restore: </a:t>
            </a:r>
            <a:r>
              <a:rPr sz="1300" b="1">
                <a:solidFill>
                  <a:srgbClr val="161B26"/>
                </a:solidFill>
                <a:latin typeface="Arial"/>
              </a:rPr>
              <a:t>update etcd static pod --data-dir</a:t>
            </a:r>
            <a:r>
              <a:rPr sz="1300" b="0">
                <a:solidFill>
                  <a:srgbClr val="5B6372"/>
                </a:solidFill>
                <a:latin typeface="Arial"/>
              </a:rPr>
              <a:t> → kubelet auto-restarts etcd. Set </a:t>
            </a:r>
            <a:r>
              <a:rPr sz="1300" b="1">
                <a:solidFill>
                  <a:srgbClr val="161B26"/>
                </a:solidFill>
                <a:latin typeface="Arial"/>
              </a:rPr>
              <a:t>ETCDCTL_API=3</a:t>
            </a:r>
            <a:r>
              <a:rPr sz="1300" b="0">
                <a:solidFill>
                  <a:srgbClr val="5B6372"/>
                </a:solidFill>
                <a:latin typeface="Arial"/>
              </a:rPr>
              <a:t> before all etcdctl commands.</a:t>
            </a:r>
          </a:p>
        </p:txBody>
      </p:sp>
      <p:sp>
        <p:nvSpPr>
          <p:cNvPr id="22" name="TextBox 21"/>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23" name="TextBox 22"/>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24" name="TextBox 23"/>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54</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DAY 1 · HIGH AVAILABILITY</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HA Control Plane: HAProxy + Keepalived VIP and --upload-certs</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64208"/>
            <a:ext cx="169164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09928"/>
            <a:ext cx="1691640" cy="365760"/>
          </a:xfrm>
          <a:prstGeom prst="rect">
            <a:avLst/>
          </a:prstGeom>
          <a:noFill/>
        </p:spPr>
        <p:txBody>
          <a:bodyPr wrap="square" anchor="t" lIns="0" rIns="0" tIns="0" bIns="0">
            <a:spAutoFit/>
          </a:bodyPr>
          <a:lstStyle/>
          <a:p>
            <a:pPr algn="ctr">
              <a:spcBef>
                <a:spcPts val="0"/>
              </a:spcBef>
              <a:spcAft>
                <a:spcPts val="400"/>
              </a:spcAft>
            </a:pPr>
            <a:r>
              <a:rPr sz="1600" b="1">
                <a:solidFill>
                  <a:srgbClr val="FFFFFF"/>
                </a:solidFill>
                <a:latin typeface="Arial"/>
              </a:rPr>
              <a:t>LAB 5</a:t>
            </a:r>
          </a:p>
        </p:txBody>
      </p:sp>
      <p:sp>
        <p:nvSpPr>
          <p:cNvPr id="9" name="TextBox 8"/>
          <p:cNvSpPr txBox="1"/>
          <p:nvPr/>
        </p:nvSpPr>
        <p:spPr>
          <a:xfrm>
            <a:off x="2697480" y="1691640"/>
            <a:ext cx="8778240" cy="411480"/>
          </a:xfrm>
          <a:prstGeom prst="rect">
            <a:avLst/>
          </a:prstGeom>
          <a:noFill/>
        </p:spPr>
        <p:txBody>
          <a:bodyPr wrap="square" anchor="ctr" lIns="0" rIns="0" tIns="0" bIns="0">
            <a:spAutoFit/>
          </a:bodyPr>
          <a:lstStyle/>
          <a:p>
            <a:pPr algn="l">
              <a:spcBef>
                <a:spcPts val="0"/>
              </a:spcBef>
              <a:spcAft>
                <a:spcPts val="400"/>
              </a:spcAft>
            </a:pPr>
            <a:r>
              <a:rPr sz="1400" b="1">
                <a:solidFill>
                  <a:srgbClr val="5B6372"/>
                </a:solidFill>
                <a:latin typeface="Arial"/>
              </a:rPr>
              <a:t>High availability</a:t>
            </a:r>
          </a:p>
        </p:txBody>
      </p:sp>
      <p:sp>
        <p:nvSpPr>
          <p:cNvPr id="10" name="TextBox 9"/>
          <p:cNvSpPr txBox="1"/>
          <p:nvPr/>
        </p:nvSpPr>
        <p:spPr>
          <a:xfrm>
            <a:off x="777240" y="2286000"/>
            <a:ext cx="10698480" cy="1554480"/>
          </a:xfrm>
          <a:prstGeom prst="rect">
            <a:avLst/>
          </a:prstGeom>
          <a:noFill/>
        </p:spPr>
        <p:txBody>
          <a:bodyPr wrap="square" anchor="t" lIns="0" rIns="0" tIns="0" bIns="0">
            <a:spAutoFit/>
          </a:bodyPr>
          <a:lstStyle/>
          <a:p>
            <a:pPr algn="l">
              <a:spcBef>
                <a:spcPts val="0"/>
              </a:spcBef>
              <a:spcAft>
                <a:spcPts val="400"/>
              </a:spcAft>
            </a:pPr>
            <a:r>
              <a:rPr sz="1900" b="0">
                <a:solidFill>
                  <a:srgbClr val="161B26"/>
                </a:solidFill>
                <a:latin typeface="Arial"/>
              </a:rPr>
              <a:t>Set up a highly available control plane topology using HAProxy as a TCP load balancer and Keepalived to provide a floating VIP. Initialize the first control plane with --control-plane-endpoint pointing to the VIP and --upload-certs to share certs. CKA tests etcd quorum and cluster resilience questions.</a:t>
            </a:r>
          </a:p>
        </p:txBody>
      </p:sp>
      <p:sp>
        <p:nvSpPr>
          <p:cNvPr id="11" name="Rounded Rectangle 10"/>
          <p:cNvSpPr/>
          <p:nvPr/>
        </p:nvSpPr>
        <p:spPr>
          <a:xfrm>
            <a:off x="777240" y="4069080"/>
            <a:ext cx="10698480" cy="1783080"/>
          </a:xfrm>
          <a:prstGeom prst="roundRect">
            <a:avLst>
              <a:gd name="adj" fmla="val 5000"/>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05840" y="4251960"/>
            <a:ext cx="10058400" cy="365760"/>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You'll build</a:t>
            </a:r>
          </a:p>
        </p:txBody>
      </p:sp>
      <p:sp>
        <p:nvSpPr>
          <p:cNvPr id="13" name="TextBox 12"/>
          <p:cNvSpPr txBox="1"/>
          <p:nvPr/>
        </p:nvSpPr>
        <p:spPr>
          <a:xfrm>
            <a:off x="1005840" y="4617720"/>
            <a:ext cx="10241280" cy="640080"/>
          </a:xfrm>
          <a:prstGeom prst="rect">
            <a:avLst/>
          </a:prstGeom>
          <a:noFill/>
        </p:spPr>
        <p:txBody>
          <a:bodyPr wrap="square" anchor="t" lIns="0" rIns="0" tIns="0" bIns="0">
            <a:spAutoFit/>
          </a:bodyPr>
          <a:lstStyle/>
          <a:p>
            <a:pPr algn="l">
              <a:spcBef>
                <a:spcPts val="0"/>
              </a:spcBef>
              <a:spcAft>
                <a:spcPts val="400"/>
              </a:spcAft>
            </a:pPr>
            <a:r>
              <a:rPr sz="1700" b="1">
                <a:solidFill>
                  <a:srgbClr val="161B26"/>
                </a:solidFill>
                <a:latin typeface="Arial"/>
              </a:rPr>
              <a:t>Configure HAProxy and Keepalived, run kubeadm init with --control-plane-endpoint and --upload-certs, join additional control plane nodes, verify etcd member list.</a:t>
            </a:r>
          </a:p>
        </p:txBody>
      </p:sp>
      <p:sp>
        <p:nvSpPr>
          <p:cNvPr id="14" name="TextBox 13"/>
          <p:cNvSpPr txBox="1"/>
          <p:nvPr/>
        </p:nvSpPr>
        <p:spPr>
          <a:xfrm>
            <a:off x="1005840" y="5349240"/>
            <a:ext cx="10058400" cy="457200"/>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Key commands:  </a:t>
            </a:r>
            <a:r>
              <a:rPr sz="1300" b="0">
                <a:solidFill>
                  <a:srgbClr val="5B6372"/>
                </a:solidFill>
                <a:latin typeface="Arial"/>
              </a:rPr>
              <a:t>apt-get install · kubeadm init · » --control-plane-endpoint · kubeadm join · kubectl -n</a:t>
            </a:r>
          </a:p>
        </p:txBody>
      </p:sp>
      <p:sp>
        <p:nvSpPr>
          <p:cNvPr id="15" name="TextBox 14"/>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6" name="TextBox 15"/>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7" name="TextBox 16"/>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55</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5  ·  COMMANDS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HA Control Plane: HAProxy + Keepalived VIP and --upload-certs</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91640"/>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Step 1 -- Install and configure HAProxy</a:t>
            </a:r>
          </a:p>
        </p:txBody>
      </p:sp>
      <p:sp>
        <p:nvSpPr>
          <p:cNvPr id="8" name="Rounded Rectangle 7"/>
          <p:cNvSpPr/>
          <p:nvPr/>
        </p:nvSpPr>
        <p:spPr>
          <a:xfrm>
            <a:off x="777240" y="2075688"/>
            <a:ext cx="10652760" cy="521207"/>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075688"/>
            <a:ext cx="82296" cy="521207"/>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6" y="2139696"/>
            <a:ext cx="10323576" cy="429767"/>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apt-get install -y haproxy</a:t>
            </a:r>
          </a:p>
          <a:p>
            <a:pPr>
              <a:spcBef>
                <a:spcPts val="0"/>
              </a:spcBef>
              <a:spcAft>
                <a:spcPts val="0"/>
              </a:spcAft>
            </a:pPr>
            <a:r>
              <a:rPr sz="1050">
                <a:solidFill>
                  <a:srgbClr val="161B26"/>
                </a:solidFill>
                <a:latin typeface="Consolas"/>
              </a:rPr>
              <a:t>systemctl restart haproxy &amp;&amp; systemctl enable haproxy</a:t>
            </a:r>
          </a:p>
        </p:txBody>
      </p:sp>
      <p:sp>
        <p:nvSpPr>
          <p:cNvPr id="11" name="TextBox 10"/>
          <p:cNvSpPr txBox="1"/>
          <p:nvPr/>
        </p:nvSpPr>
        <p:spPr>
          <a:xfrm>
            <a:off x="777240" y="2779775"/>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Step 2 -- Configure Keepalived with VIP</a:t>
            </a:r>
          </a:p>
        </p:txBody>
      </p:sp>
      <p:sp>
        <p:nvSpPr>
          <p:cNvPr id="12" name="Rounded Rectangle 11"/>
          <p:cNvSpPr/>
          <p:nvPr/>
        </p:nvSpPr>
        <p:spPr>
          <a:xfrm>
            <a:off x="777240" y="3163823"/>
            <a:ext cx="10652760" cy="896112"/>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3163823"/>
            <a:ext cx="82296" cy="896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3227831"/>
            <a:ext cx="10323576" cy="804672"/>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apt-get install -y keepalived</a:t>
            </a:r>
          </a:p>
          <a:p>
            <a:pPr>
              <a:spcBef>
                <a:spcPts val="0"/>
              </a:spcBef>
              <a:spcAft>
                <a:spcPts val="0"/>
              </a:spcAft>
            </a:pPr>
            <a:r>
              <a:rPr sz="1050">
                <a:solidFill>
                  <a:srgbClr val="161B26"/>
                </a:solidFill>
                <a:latin typeface="Consolas"/>
              </a:rPr>
              <a:t># MASTER: state MASTER, priority 101</a:t>
            </a:r>
          </a:p>
          <a:p>
            <a:pPr>
              <a:spcBef>
                <a:spcPts val="0"/>
              </a:spcBef>
              <a:spcAft>
                <a:spcPts val="0"/>
              </a:spcAft>
            </a:pPr>
            <a:r>
              <a:rPr sz="1050">
                <a:solidFill>
                  <a:srgbClr val="161B26"/>
                </a:solidFill>
                <a:latin typeface="Consolas"/>
              </a:rPr>
              <a:t># BACKUP: state BACKUP, priority 100</a:t>
            </a:r>
          </a:p>
          <a:p>
            <a:pPr>
              <a:spcBef>
                <a:spcPts val="0"/>
              </a:spcBef>
              <a:spcAft>
                <a:spcPts val="0"/>
              </a:spcAft>
            </a:pPr>
            <a:r>
              <a:rPr sz="1050">
                <a:solidFill>
                  <a:srgbClr val="161B26"/>
                </a:solidFill>
                <a:latin typeface="Consolas"/>
              </a:rPr>
              <a:t>systemctl restart keepalived &amp;&amp; systemctl enable keepalived</a:t>
            </a:r>
          </a:p>
        </p:txBody>
      </p:sp>
      <p:sp>
        <p:nvSpPr>
          <p:cNvPr id="15" name="TextBox 14"/>
          <p:cNvSpPr txBox="1"/>
          <p:nvPr/>
        </p:nvSpPr>
        <p:spPr>
          <a:xfrm>
            <a:off x="777240" y="4242815"/>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Step 3 -- Initialize first control plane with VIP</a:t>
            </a:r>
          </a:p>
        </p:txBody>
      </p:sp>
      <p:sp>
        <p:nvSpPr>
          <p:cNvPr id="16" name="Rounded Rectangle 15"/>
          <p:cNvSpPr/>
          <p:nvPr/>
        </p:nvSpPr>
        <p:spPr>
          <a:xfrm>
            <a:off x="777240" y="4626863"/>
            <a:ext cx="10652760" cy="1271016"/>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77240" y="4626863"/>
            <a:ext cx="82296" cy="127101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96696" y="4690871"/>
            <a:ext cx="10323576" cy="1179576"/>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kubeadm init \</a:t>
            </a:r>
          </a:p>
          <a:p>
            <a:pPr>
              <a:spcBef>
                <a:spcPts val="0"/>
              </a:spcBef>
              <a:spcAft>
                <a:spcPts val="0"/>
              </a:spcAft>
            </a:pPr>
            <a:r>
              <a:rPr sz="1050">
                <a:solidFill>
                  <a:srgbClr val="161B26"/>
                </a:solidFill>
                <a:latin typeface="Consolas"/>
              </a:rPr>
              <a:t>  --kubernetes-version=v1.35.0 \</a:t>
            </a:r>
          </a:p>
          <a:p>
            <a:pPr>
              <a:spcBef>
                <a:spcPts val="0"/>
              </a:spcBef>
              <a:spcAft>
                <a:spcPts val="0"/>
              </a:spcAft>
            </a:pPr>
            <a:r>
              <a:rPr sz="1050">
                <a:solidFill>
                  <a:srgbClr val="161B26"/>
                </a:solidFill>
                <a:latin typeface="Consolas"/>
              </a:rPr>
              <a:t>  --control-plane-endpoint='192.168.1.100:6443' \</a:t>
            </a:r>
          </a:p>
          <a:p>
            <a:pPr>
              <a:spcBef>
                <a:spcPts val="0"/>
              </a:spcBef>
              <a:spcAft>
                <a:spcPts val="0"/>
              </a:spcAft>
            </a:pPr>
            <a:r>
              <a:rPr sz="1050">
                <a:solidFill>
                  <a:srgbClr val="161B26"/>
                </a:solidFill>
                <a:latin typeface="Consolas"/>
              </a:rPr>
              <a:t>  --pod-network-cidr=192.168.0.0/16 \</a:t>
            </a:r>
          </a:p>
          <a:p>
            <a:pPr>
              <a:spcBef>
                <a:spcPts val="0"/>
              </a:spcBef>
              <a:spcAft>
                <a:spcPts val="0"/>
              </a:spcAft>
            </a:pPr>
            <a:r>
              <a:rPr sz="1050">
                <a:solidFill>
                  <a:srgbClr val="161B26"/>
                </a:solidFill>
                <a:latin typeface="Consolas"/>
              </a:rPr>
              <a:t>  --upload-certs</a:t>
            </a:r>
          </a:p>
          <a:p>
            <a:pPr>
              <a:spcBef>
                <a:spcPts val="0"/>
              </a:spcBef>
              <a:spcAft>
                <a:spcPts val="0"/>
              </a:spcAft>
            </a:pPr>
            <a:r>
              <a:rPr sz="1050">
                <a:solidFill>
                  <a:srgbClr val="161B26"/>
                </a:solidFill>
                <a:latin typeface="Consolas"/>
              </a:rPr>
              <a:t>mkdir -p $HOME/.kube &amp;&amp; cp /etc/kubernetes/admin.conf $HOME/.kube/config</a:t>
            </a:r>
          </a:p>
        </p:txBody>
      </p:sp>
      <p:sp>
        <p:nvSpPr>
          <p:cNvPr id="19" name="TextBox 18"/>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20" name="TextBox 19"/>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21" name="TextBox 20"/>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56</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5  ·  COMMANDS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HA Control Plane: HAProxy + Keepalived VIP and --upload-certs (cont.)</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91640"/>
            <a:ext cx="10652760" cy="310896"/>
          </a:xfrm>
          <a:prstGeom prst="rect">
            <a:avLst/>
          </a:prstGeom>
          <a:noFill/>
        </p:spPr>
        <p:txBody>
          <a:bodyPr wrap="square" anchor="t" lIns="0" rIns="0" tIns="0" bIns="0">
            <a:spAutoFit/>
          </a:bodyPr>
          <a:lstStyle/>
          <a:p>
            <a:pPr algn="l">
              <a:spcBef>
                <a:spcPts val="0"/>
              </a:spcBef>
              <a:spcAft>
                <a:spcPts val="400"/>
              </a:spcAft>
            </a:pPr>
            <a:r>
              <a:rPr sz="1300" b="1">
                <a:solidFill>
                  <a:srgbClr val="F59E0B"/>
                </a:solidFill>
                <a:latin typeface="Arial"/>
              </a:rPr>
              <a:t>Note   </a:t>
            </a:r>
            <a:r>
              <a:rPr sz="1300" b="0">
                <a:solidFill>
                  <a:srgbClr val="5B6372"/>
                </a:solidFill>
                <a:latin typeface="Arial"/>
              </a:rPr>
              <a:t>--control-plane-endpoint must point to the VIP address and is baked into all certs/kubeconfigs. --upload-certs stores encrypted certs in a Secret. The --certificate-key expires after 2 hours.</a:t>
            </a:r>
          </a:p>
        </p:txBody>
      </p:sp>
      <p:sp>
        <p:nvSpPr>
          <p:cNvPr id="8" name="TextBox 7"/>
          <p:cNvSpPr txBox="1"/>
          <p:nvPr/>
        </p:nvSpPr>
        <p:spPr>
          <a:xfrm>
            <a:off x="777240" y="2898648"/>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Step 4 -- Join additional control plane nodes</a:t>
            </a:r>
          </a:p>
        </p:txBody>
      </p:sp>
      <p:sp>
        <p:nvSpPr>
          <p:cNvPr id="9" name="Rounded Rectangle 8"/>
          <p:cNvSpPr/>
          <p:nvPr/>
        </p:nvSpPr>
        <p:spPr>
          <a:xfrm>
            <a:off x="777240" y="3282696"/>
            <a:ext cx="10652760" cy="1083563"/>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3282696"/>
            <a:ext cx="82296" cy="1083563"/>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96696" y="3346704"/>
            <a:ext cx="10323576" cy="992123"/>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kubeadm join 192.168.1.100:6443 \</a:t>
            </a:r>
          </a:p>
          <a:p>
            <a:pPr>
              <a:spcBef>
                <a:spcPts val="0"/>
              </a:spcBef>
              <a:spcAft>
                <a:spcPts val="0"/>
              </a:spcAft>
            </a:pPr>
            <a:r>
              <a:rPr sz="1050">
                <a:solidFill>
                  <a:srgbClr val="161B26"/>
                </a:solidFill>
                <a:latin typeface="Consolas"/>
              </a:rPr>
              <a:t>  --token &lt;token&gt; \</a:t>
            </a:r>
          </a:p>
          <a:p>
            <a:pPr>
              <a:spcBef>
                <a:spcPts val="0"/>
              </a:spcBef>
              <a:spcAft>
                <a:spcPts val="0"/>
              </a:spcAft>
            </a:pPr>
            <a:r>
              <a:rPr sz="1050">
                <a:solidFill>
                  <a:srgbClr val="161B26"/>
                </a:solidFill>
                <a:latin typeface="Consolas"/>
              </a:rPr>
              <a:t>  --discovery-token-ca-cert-hash sha256:&lt;hash&gt; \</a:t>
            </a:r>
          </a:p>
          <a:p>
            <a:pPr>
              <a:spcBef>
                <a:spcPts val="0"/>
              </a:spcBef>
              <a:spcAft>
                <a:spcPts val="0"/>
              </a:spcAft>
            </a:pPr>
            <a:r>
              <a:rPr sz="1050">
                <a:solidFill>
                  <a:srgbClr val="161B26"/>
                </a:solidFill>
                <a:latin typeface="Consolas"/>
              </a:rPr>
              <a:t>  --control-plane \</a:t>
            </a:r>
          </a:p>
          <a:p>
            <a:pPr>
              <a:spcBef>
                <a:spcPts val="0"/>
              </a:spcBef>
              <a:spcAft>
                <a:spcPts val="0"/>
              </a:spcAft>
            </a:pPr>
            <a:r>
              <a:rPr sz="1050">
                <a:solidFill>
                  <a:srgbClr val="161B26"/>
                </a:solidFill>
                <a:latin typeface="Consolas"/>
              </a:rPr>
              <a:t>  --certificate-key &lt;cert-key&gt;</a:t>
            </a:r>
          </a:p>
        </p:txBody>
      </p:sp>
      <p:sp>
        <p:nvSpPr>
          <p:cNvPr id="12" name="TextBox 11"/>
          <p:cNvSpPr txBox="1"/>
          <p:nvPr/>
        </p:nvSpPr>
        <p:spPr>
          <a:xfrm>
            <a:off x="777240" y="4549139"/>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Step 5 -- Verify etcd HA cluster</a:t>
            </a:r>
          </a:p>
        </p:txBody>
      </p:sp>
      <p:sp>
        <p:nvSpPr>
          <p:cNvPr id="13" name="Rounded Rectangle 12"/>
          <p:cNvSpPr/>
          <p:nvPr/>
        </p:nvSpPr>
        <p:spPr>
          <a:xfrm>
            <a:off x="777240" y="4933187"/>
            <a:ext cx="10652760" cy="1083563"/>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77240" y="4933187"/>
            <a:ext cx="82296" cy="1083563"/>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96696" y="4997195"/>
            <a:ext cx="10323576" cy="992123"/>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kubectl -n kube-system exec -it etcd-control-plane-01 -- \</a:t>
            </a:r>
          </a:p>
          <a:p>
            <a:pPr>
              <a:spcBef>
                <a:spcPts val="0"/>
              </a:spcBef>
              <a:spcAft>
                <a:spcPts val="0"/>
              </a:spcAft>
            </a:pPr>
            <a:r>
              <a:rPr sz="1050">
                <a:solidFill>
                  <a:srgbClr val="161B26"/>
                </a:solidFill>
                <a:latin typeface="Consolas"/>
              </a:rPr>
              <a:t>  etcdctl --endpoints=https://127.0.0.1:2379 \</a:t>
            </a:r>
          </a:p>
          <a:p>
            <a:pPr>
              <a:spcBef>
                <a:spcPts val="0"/>
              </a:spcBef>
              <a:spcAft>
                <a:spcPts val="0"/>
              </a:spcAft>
            </a:pPr>
            <a:r>
              <a:rPr sz="1050">
                <a:solidFill>
                  <a:srgbClr val="161B26"/>
                </a:solidFill>
                <a:latin typeface="Consolas"/>
              </a:rPr>
              <a:t>  --cacert=/etc/kubernetes/pki/etcd/ca.crt \</a:t>
            </a:r>
          </a:p>
          <a:p>
            <a:pPr>
              <a:spcBef>
                <a:spcPts val="0"/>
              </a:spcBef>
              <a:spcAft>
                <a:spcPts val="0"/>
              </a:spcAft>
            </a:pPr>
            <a:r>
              <a:rPr sz="1050">
                <a:solidFill>
                  <a:srgbClr val="161B26"/>
                </a:solidFill>
                <a:latin typeface="Consolas"/>
              </a:rPr>
              <a:t>  --cert=/etc/kubernetes/pki/etcd/server.crt \</a:t>
            </a:r>
          </a:p>
          <a:p>
            <a:pPr>
              <a:spcBef>
                <a:spcPts val="0"/>
              </a:spcBef>
              <a:spcAft>
                <a:spcPts val="0"/>
              </a:spcAft>
            </a:pPr>
            <a:r>
              <a:rPr sz="1050">
                <a:solidFill>
                  <a:srgbClr val="161B26"/>
                </a:solidFill>
                <a:latin typeface="Consolas"/>
              </a:rPr>
              <a:t>  --key=/etc/kubernetes/pki/etcd/server.key member list</a:t>
            </a:r>
          </a:p>
        </p:txBody>
      </p:sp>
      <p:sp>
        <p:nvSpPr>
          <p:cNvPr id="16" name="TextBox 15"/>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7" name="TextBox 16"/>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8" name="TextBox 17"/>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57</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5  ·  TEST IT</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HA Control Plane: HAProxy + Keepalived VIP and --upload-certs</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03120"/>
            <a:ext cx="10698480" cy="2560320"/>
          </a:xfrm>
          <a:prstGeom prst="roundRect">
            <a:avLst>
              <a:gd name="adj" fmla="val 5000"/>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lIns="0" rIns="0" tIns="0" bIns="0">
            <a:spAutoFit/>
          </a:bodyPr>
          <a:lstStyle/>
          <a:p>
            <a:pPr algn="l">
              <a:spcBef>
                <a:spcPts val="0"/>
              </a:spcBef>
              <a:spcAft>
                <a:spcPts val="400"/>
              </a:spcAft>
            </a:pPr>
            <a:r>
              <a:rPr sz="2200" b="1">
                <a:solidFill>
                  <a:srgbClr val="127A3E"/>
                </a:solidFill>
                <a:latin typeface="Arial"/>
              </a:rPr>
              <a:t>✅  Test it</a:t>
            </a:r>
          </a:p>
        </p:txBody>
      </p:sp>
      <p:sp>
        <p:nvSpPr>
          <p:cNvPr id="9" name="TextBox 8"/>
          <p:cNvSpPr txBox="1"/>
          <p:nvPr/>
        </p:nvSpPr>
        <p:spPr>
          <a:xfrm>
            <a:off x="1097280" y="3017520"/>
            <a:ext cx="10149840" cy="1463040"/>
          </a:xfrm>
          <a:prstGeom prst="rect">
            <a:avLst/>
          </a:prstGeom>
          <a:noFill/>
        </p:spPr>
        <p:txBody>
          <a:bodyPr wrap="square" anchor="t" lIns="0" rIns="0" tIns="0" bIns="0">
            <a:spAutoFit/>
          </a:bodyPr>
          <a:lstStyle/>
          <a:p>
            <a:pPr algn="l">
              <a:spcBef>
                <a:spcPts val="0"/>
              </a:spcBef>
              <a:spcAft>
                <a:spcPts val="400"/>
              </a:spcAft>
            </a:pPr>
            <a:r>
              <a:rPr sz="1800" b="0">
                <a:solidFill>
                  <a:srgbClr val="161B26"/>
                </a:solidFill>
                <a:latin typeface="Arial"/>
              </a:rPr>
              <a:t>etcdctl member list shows all control plane nodes as healthy. kubectl get nodes shows 3+ nodes. VIP migrates to secondary when primary API server is stopped.</a:t>
            </a:r>
          </a:p>
        </p:txBody>
      </p:sp>
      <p:sp>
        <p:nvSpPr>
          <p:cNvPr id="10" name="TextBox 9"/>
          <p:cNvSpPr txBox="1"/>
          <p:nvPr/>
        </p:nvSpPr>
        <p:spPr>
          <a:xfrm>
            <a:off x="777240" y="4983480"/>
            <a:ext cx="10698480" cy="365760"/>
          </a:xfrm>
          <a:prstGeom prst="rect">
            <a:avLst/>
          </a:prstGeom>
          <a:noFill/>
        </p:spPr>
        <p:txBody>
          <a:bodyPr wrap="square" anchor="t" lIns="0" rIns="0" tIns="0" bIns="0">
            <a:spAutoFit/>
          </a:bodyPr>
          <a:lstStyle/>
          <a:p>
            <a:pPr algn="l">
              <a:spcBef>
                <a:spcPts val="0"/>
              </a:spcBef>
              <a:spcAft>
                <a:spcPts val="400"/>
              </a:spcAft>
            </a:pPr>
            <a:r>
              <a:rPr sz="1300" b="1">
                <a:solidFill>
                  <a:srgbClr val="10B981"/>
                </a:solidFill>
                <a:latin typeface="Arial"/>
              </a:rPr>
              <a:t>Killercoda:  </a:t>
            </a:r>
            <a:r>
              <a:rPr sz="1300" b="0">
                <a:solidFill>
                  <a:srgbClr val="5B6372"/>
                </a:solidFill>
                <a:latin typeface="Arial"/>
              </a:rPr>
              <a:t>https://killercoda.com/playgrounds/scenario/kubeadm</a:t>
            </a:r>
          </a:p>
        </p:txBody>
      </p:sp>
      <p:sp>
        <p:nvSpPr>
          <p:cNvPr id="11" name="TextBox 10"/>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58</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lIns="0" rIns="0" tIns="0" bIns="0">
            <a:spAutoFit/>
          </a:bodyPr>
          <a:lstStyle/>
          <a:p>
            <a:pPr algn="l">
              <a:spcBef>
                <a:spcPts val="0"/>
              </a:spcBef>
              <a:spcAft>
                <a:spcPts val="400"/>
              </a:spcAft>
            </a:pPr>
            <a:r>
              <a:rPr sz="1800" b="1">
                <a:solidFill>
                  <a:srgbClr val="1F6FEB"/>
                </a:solidFill>
                <a:latin typeface="Arial"/>
              </a:rPr>
              <a:t>TOPIC 6</a:t>
            </a:r>
          </a:p>
        </p:txBody>
      </p:sp>
      <p:sp>
        <p:nvSpPr>
          <p:cNvPr id="6" name="TextBox 5"/>
          <p:cNvSpPr txBox="1"/>
          <p:nvPr/>
        </p:nvSpPr>
        <p:spPr>
          <a:xfrm>
            <a:off x="1143000" y="2743200"/>
            <a:ext cx="10424160" cy="1463040"/>
          </a:xfrm>
          <a:prstGeom prst="rect">
            <a:avLst/>
          </a:prstGeom>
          <a:noFill/>
        </p:spPr>
        <p:txBody>
          <a:bodyPr wrap="square" anchor="t" lIns="0" rIns="0" tIns="0" bIns="0">
            <a:spAutoFit/>
          </a:bodyPr>
          <a:lstStyle/>
          <a:p>
            <a:pPr algn="l">
              <a:spcBef>
                <a:spcPts val="0"/>
              </a:spcBef>
              <a:spcAft>
                <a:spcPts val="400"/>
              </a:spcAft>
            </a:pPr>
            <a:r>
              <a:rPr sz="4000" b="1">
                <a:solidFill>
                  <a:srgbClr val="161B26"/>
                </a:solidFill>
                <a:latin typeface="Arial"/>
              </a:rPr>
              <a:t>Helm &amp; Kustomize</a:t>
            </a:r>
          </a:p>
        </p:txBody>
      </p:sp>
      <p:sp>
        <p:nvSpPr>
          <p:cNvPr id="7" name="TextBox 6"/>
          <p:cNvSpPr txBox="1"/>
          <p:nvPr/>
        </p:nvSpPr>
        <p:spPr>
          <a:xfrm>
            <a:off x="1161288" y="4114800"/>
            <a:ext cx="10058400" cy="731520"/>
          </a:xfrm>
          <a:prstGeom prst="rect">
            <a:avLst/>
          </a:prstGeom>
          <a:noFill/>
        </p:spPr>
        <p:txBody>
          <a:bodyPr wrap="square" anchor="t" lIns="0" rIns="0" tIns="0" bIns="0">
            <a:spAutoFit/>
          </a:bodyPr>
          <a:lstStyle/>
          <a:p>
            <a:pPr algn="l">
              <a:spcBef>
                <a:spcPts val="0"/>
              </a:spcBef>
              <a:spcAft>
                <a:spcPts val="400"/>
              </a:spcAft>
            </a:pPr>
            <a:r>
              <a:rPr sz="1600" b="0">
                <a:solidFill>
                  <a:srgbClr val="5B6372"/>
                </a:solidFill>
                <a:latin typeface="Arial"/>
              </a:rPr>
              <a:t>Package management and configuration overlays</a:t>
            </a:r>
          </a:p>
        </p:txBody>
      </p:sp>
      <p:sp>
        <p:nvSpPr>
          <p:cNvPr id="8" name="TextBox 7"/>
          <p:cNvSpPr txBox="1"/>
          <p:nvPr/>
        </p:nvSpPr>
        <p:spPr>
          <a:xfrm>
            <a:off x="9418320" y="640080"/>
            <a:ext cx="2286000" cy="1463040"/>
          </a:xfrm>
          <a:prstGeom prst="rect">
            <a:avLst/>
          </a:prstGeom>
          <a:noFill/>
        </p:spPr>
        <p:txBody>
          <a:bodyPr wrap="square" anchor="t" lIns="0" rIns="0" tIns="0" bIns="0">
            <a:spAutoFit/>
          </a:bodyPr>
          <a:lstStyle/>
          <a:p>
            <a:pPr algn="r">
              <a:spcBef>
                <a:spcPts val="0"/>
              </a:spcBef>
              <a:spcAft>
                <a:spcPts val="400"/>
              </a:spcAft>
            </a:pPr>
            <a:r>
              <a:rPr sz="7200" b="1">
                <a:solidFill>
                  <a:srgbClr val="E2E8F0"/>
                </a:solidFill>
                <a:latin typeface="Arial"/>
              </a:rPr>
              <a:t/>
            </a:r>
          </a:p>
        </p:txBody>
      </p:sp>
      <p:sp>
        <p:nvSpPr>
          <p:cNvPr id="9" name="TextBox 8"/>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0" name="TextBox 9"/>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1" name="TextBox 10"/>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59</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HELM</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Helm — The Package Manager</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07040" cy="4480560"/>
          </a:xfrm>
          <a:prstGeom prst="rect">
            <a:avLst/>
          </a:prstGeom>
          <a:noFill/>
        </p:spPr>
        <p:txBody>
          <a:bodyPr wrap="square" lIns="0" rIns="0">
            <a:spAutoFit/>
          </a:bodyPr>
          <a:lstStyle/>
          <a:p>
            <a:pPr>
              <a:spcBef>
                <a:spcPts val="0"/>
              </a:spcBef>
              <a:spcAft>
                <a:spcPts val="1000"/>
              </a:spcAft>
            </a:pPr>
            <a:r>
              <a:rPr sz="1900" b="1">
                <a:solidFill>
                  <a:srgbClr val="1F6FEB"/>
                </a:solidFill>
                <a:latin typeface="Arial"/>
              </a:rPr>
              <a:t>•  </a:t>
            </a:r>
            <a:r>
              <a:rPr sz="1900">
                <a:solidFill>
                  <a:srgbClr val="161B26"/>
                </a:solidFill>
                <a:latin typeface="Arial"/>
              </a:rPr>
              <a:t>A Helm chart is a bundle of templated YAML; a release is one deployed instance of a chart.</a:t>
            </a:r>
          </a:p>
          <a:p>
            <a:pPr>
              <a:spcBef>
                <a:spcPts val="0"/>
              </a:spcBef>
              <a:spcAft>
                <a:spcPts val="1000"/>
              </a:spcAft>
            </a:pPr>
            <a:r>
              <a:rPr sz="1900" b="1">
                <a:solidFill>
                  <a:srgbClr val="1F6FEB"/>
                </a:solidFill>
                <a:latin typeface="Arial"/>
              </a:rPr>
              <a:t>•  </a:t>
            </a:r>
            <a:r>
              <a:rPr sz="1900">
                <a:solidFill>
                  <a:srgbClr val="161B26"/>
                </a:solidFill>
                <a:latin typeface="Arial"/>
              </a:rPr>
              <a:t>Workflow: helm repo add → helm install → helm upgrade → helm rollback → helm uninstall.</a:t>
            </a:r>
          </a:p>
          <a:p>
            <a:pPr>
              <a:spcBef>
                <a:spcPts val="0"/>
              </a:spcBef>
              <a:spcAft>
                <a:spcPts val="1000"/>
              </a:spcAft>
            </a:pPr>
            <a:r>
              <a:rPr sz="1900" b="1">
                <a:solidFill>
                  <a:srgbClr val="1F6FEB"/>
                </a:solidFill>
                <a:latin typeface="Arial"/>
              </a:rPr>
              <a:t>•  </a:t>
            </a:r>
            <a:r>
              <a:rPr sz="1900">
                <a:solidFill>
                  <a:srgbClr val="161B26"/>
                </a:solidFill>
                <a:latin typeface="Arial"/>
              </a:rPr>
              <a:t>--set key=value overrides chart values at install/upgrade time.</a:t>
            </a:r>
          </a:p>
          <a:p>
            <a:pPr>
              <a:spcBef>
                <a:spcPts val="0"/>
              </a:spcBef>
              <a:spcAft>
                <a:spcPts val="1000"/>
              </a:spcAft>
            </a:pPr>
            <a:r>
              <a:rPr sz="1900" b="1">
                <a:solidFill>
                  <a:srgbClr val="1F6FEB"/>
                </a:solidFill>
                <a:latin typeface="Arial"/>
              </a:rPr>
              <a:t>•  </a:t>
            </a:r>
            <a:r>
              <a:rPr sz="1900">
                <a:solidFill>
                  <a:srgbClr val="161B26"/>
                </a:solidFill>
                <a:latin typeface="Arial"/>
              </a:rPr>
              <a:t>helm history &lt;release&gt; lists every revision; helm get manifest shows what was applied.</a:t>
            </a:r>
          </a:p>
        </p:txBody>
      </p:sp>
      <p:sp>
        <p:nvSpPr>
          <p:cNvPr id="8" name="TextBox 7"/>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9" name="TextBox 8"/>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60</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EXAM-TESTED COMMANDS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Helm Commands to Know</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1783080"/>
            <a:ext cx="3337560" cy="4206240"/>
          </a:xfrm>
          <a:prstGeom prst="roundRect">
            <a:avLst>
              <a:gd name="adj" fmla="val 5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57400"/>
            <a:ext cx="2926080" cy="548640"/>
          </a:xfrm>
          <a:prstGeom prst="rect">
            <a:avLst/>
          </a:prstGeom>
          <a:noFill/>
        </p:spPr>
        <p:txBody>
          <a:bodyPr wrap="square" anchor="t" lIns="0" rIns="0" tIns="0" bIns="0">
            <a:spAutoFit/>
          </a:bodyPr>
          <a:lstStyle/>
          <a:p>
            <a:pPr algn="l">
              <a:spcBef>
                <a:spcPts val="0"/>
              </a:spcBef>
              <a:spcAft>
                <a:spcPts val="400"/>
              </a:spcAft>
            </a:pPr>
            <a:r>
              <a:rPr sz="1900" b="1">
                <a:solidFill>
                  <a:srgbClr val="1F6FEB"/>
                </a:solidFill>
                <a:latin typeface="Arial"/>
              </a:rPr>
              <a:t>Install &amp; Upgrade</a:t>
            </a:r>
          </a:p>
        </p:txBody>
      </p:sp>
      <p:sp>
        <p:nvSpPr>
          <p:cNvPr id="10" name="TextBox 9"/>
          <p:cNvSpPr txBox="1"/>
          <p:nvPr/>
        </p:nvSpPr>
        <p:spPr>
          <a:xfrm>
            <a:off x="1005840" y="2697480"/>
            <a:ext cx="2926080" cy="3108960"/>
          </a:xfrm>
          <a:prstGeom prst="rect">
            <a:avLst/>
          </a:prstGeom>
          <a:noFill/>
        </p:spPr>
        <p:txBody>
          <a:bodyPr wrap="square" lIns="0" rIns="0">
            <a:spAutoFit/>
          </a:bodyPr>
          <a:lstStyle/>
          <a:p>
            <a:pPr>
              <a:spcBef>
                <a:spcPts val="0"/>
              </a:spcBef>
              <a:spcAft>
                <a:spcPts val="900"/>
              </a:spcAft>
            </a:pPr>
            <a:r>
              <a:rPr sz="1400" b="1">
                <a:solidFill>
                  <a:srgbClr val="1F6FEB"/>
                </a:solidFill>
                <a:latin typeface="Arial"/>
              </a:rPr>
              <a:t>•  </a:t>
            </a:r>
            <a:r>
              <a:rPr sz="1400">
                <a:solidFill>
                  <a:srgbClr val="161B26"/>
                </a:solidFill>
                <a:latin typeface="Arial"/>
              </a:rPr>
              <a:t>helm repo add &lt;name&gt; &lt;url&gt;</a:t>
            </a:r>
          </a:p>
          <a:p>
            <a:pPr>
              <a:spcBef>
                <a:spcPts val="0"/>
              </a:spcBef>
              <a:spcAft>
                <a:spcPts val="900"/>
              </a:spcAft>
            </a:pPr>
            <a:r>
              <a:rPr sz="1400" b="1">
                <a:solidFill>
                  <a:srgbClr val="1F6FEB"/>
                </a:solidFill>
                <a:latin typeface="Arial"/>
              </a:rPr>
              <a:t>•  </a:t>
            </a:r>
            <a:r>
              <a:rPr sz="1400">
                <a:solidFill>
                  <a:srgbClr val="161B26"/>
                </a:solidFill>
                <a:latin typeface="Arial"/>
              </a:rPr>
              <a:t>helm install &lt;rel&gt; &lt;chart&gt;</a:t>
            </a:r>
          </a:p>
          <a:p>
            <a:pPr>
              <a:spcBef>
                <a:spcPts val="0"/>
              </a:spcBef>
              <a:spcAft>
                <a:spcPts val="900"/>
              </a:spcAft>
            </a:pPr>
            <a:r>
              <a:rPr sz="1400" b="1">
                <a:solidFill>
                  <a:srgbClr val="1F6FEB"/>
                </a:solidFill>
                <a:latin typeface="Arial"/>
              </a:rPr>
              <a:t>•  </a:t>
            </a:r>
            <a:r>
              <a:rPr sz="1400">
                <a:solidFill>
                  <a:srgbClr val="161B26"/>
                </a:solidFill>
                <a:latin typeface="Arial"/>
              </a:rPr>
              <a:t>helm upgrade &lt;rel&gt; &lt;chart&gt; --set</a:t>
            </a:r>
          </a:p>
        </p:txBody>
      </p:sp>
      <p:sp>
        <p:nvSpPr>
          <p:cNvPr id="11" name="Rounded Rectangle 10"/>
          <p:cNvSpPr/>
          <p:nvPr/>
        </p:nvSpPr>
        <p:spPr>
          <a:xfrm>
            <a:off x="4572000" y="1783080"/>
            <a:ext cx="3337560" cy="4206240"/>
          </a:xfrm>
          <a:prstGeom prst="roundRect">
            <a:avLst>
              <a:gd name="adj" fmla="val 5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57400"/>
            <a:ext cx="2926080" cy="548640"/>
          </a:xfrm>
          <a:prstGeom prst="rect">
            <a:avLst/>
          </a:prstGeom>
          <a:noFill/>
        </p:spPr>
        <p:txBody>
          <a:bodyPr wrap="square" anchor="t" lIns="0" rIns="0" tIns="0" bIns="0">
            <a:spAutoFit/>
          </a:bodyPr>
          <a:lstStyle/>
          <a:p>
            <a:pPr algn="l">
              <a:spcBef>
                <a:spcPts val="0"/>
              </a:spcBef>
              <a:spcAft>
                <a:spcPts val="400"/>
              </a:spcAft>
            </a:pPr>
            <a:r>
              <a:rPr sz="1900" b="1">
                <a:solidFill>
                  <a:srgbClr val="10B981"/>
                </a:solidFill>
                <a:latin typeface="Arial"/>
              </a:rPr>
              <a:t>Inspect &amp; Debug</a:t>
            </a:r>
          </a:p>
        </p:txBody>
      </p:sp>
      <p:sp>
        <p:nvSpPr>
          <p:cNvPr id="14" name="TextBox 13"/>
          <p:cNvSpPr txBox="1"/>
          <p:nvPr/>
        </p:nvSpPr>
        <p:spPr>
          <a:xfrm>
            <a:off x="4800600" y="2697480"/>
            <a:ext cx="2926080" cy="3108960"/>
          </a:xfrm>
          <a:prstGeom prst="rect">
            <a:avLst/>
          </a:prstGeom>
          <a:noFill/>
        </p:spPr>
        <p:txBody>
          <a:bodyPr wrap="square" lIns="0" rIns="0">
            <a:spAutoFit/>
          </a:bodyPr>
          <a:lstStyle/>
          <a:p>
            <a:pPr>
              <a:spcBef>
                <a:spcPts val="0"/>
              </a:spcBef>
              <a:spcAft>
                <a:spcPts val="900"/>
              </a:spcAft>
            </a:pPr>
            <a:r>
              <a:rPr sz="1400" b="1">
                <a:solidFill>
                  <a:srgbClr val="10B981"/>
                </a:solidFill>
                <a:latin typeface="Arial"/>
              </a:rPr>
              <a:t>•  </a:t>
            </a:r>
            <a:r>
              <a:rPr sz="1400">
                <a:solidFill>
                  <a:srgbClr val="161B26"/>
                </a:solidFill>
                <a:latin typeface="Arial"/>
              </a:rPr>
              <a:t>helm list / helm history</a:t>
            </a:r>
          </a:p>
          <a:p>
            <a:pPr>
              <a:spcBef>
                <a:spcPts val="0"/>
              </a:spcBef>
              <a:spcAft>
                <a:spcPts val="900"/>
              </a:spcAft>
            </a:pPr>
            <a:r>
              <a:rPr sz="1400" b="1">
                <a:solidFill>
                  <a:srgbClr val="10B981"/>
                </a:solidFill>
                <a:latin typeface="Arial"/>
              </a:rPr>
              <a:t>•  </a:t>
            </a:r>
            <a:r>
              <a:rPr sz="1400">
                <a:solidFill>
                  <a:srgbClr val="161B26"/>
                </a:solidFill>
                <a:latin typeface="Arial"/>
              </a:rPr>
              <a:t>helm get manifest &lt;rel&gt;</a:t>
            </a:r>
          </a:p>
          <a:p>
            <a:pPr>
              <a:spcBef>
                <a:spcPts val="0"/>
              </a:spcBef>
              <a:spcAft>
                <a:spcPts val="900"/>
              </a:spcAft>
            </a:pPr>
            <a:r>
              <a:rPr sz="1400" b="1">
                <a:solidFill>
                  <a:srgbClr val="10B981"/>
                </a:solidFill>
                <a:latin typeface="Arial"/>
              </a:rPr>
              <a:t>•  </a:t>
            </a:r>
            <a:r>
              <a:rPr sz="1400">
                <a:solidFill>
                  <a:srgbClr val="161B26"/>
                </a:solidFill>
                <a:latin typeface="Arial"/>
              </a:rPr>
              <a:t>helm get values &lt;rel&gt;</a:t>
            </a:r>
          </a:p>
        </p:txBody>
      </p:sp>
      <p:sp>
        <p:nvSpPr>
          <p:cNvPr id="15" name="Rounded Rectangle 14"/>
          <p:cNvSpPr/>
          <p:nvPr/>
        </p:nvSpPr>
        <p:spPr>
          <a:xfrm>
            <a:off x="8366760" y="1783080"/>
            <a:ext cx="3337560" cy="4206240"/>
          </a:xfrm>
          <a:prstGeom prst="roundRect">
            <a:avLst>
              <a:gd name="adj" fmla="val 5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57400"/>
            <a:ext cx="2926080" cy="548640"/>
          </a:xfrm>
          <a:prstGeom prst="rect">
            <a:avLst/>
          </a:prstGeom>
          <a:noFill/>
        </p:spPr>
        <p:txBody>
          <a:bodyPr wrap="square" anchor="t" lIns="0" rIns="0" tIns="0" bIns="0">
            <a:spAutoFit/>
          </a:bodyPr>
          <a:lstStyle/>
          <a:p>
            <a:pPr algn="l">
              <a:spcBef>
                <a:spcPts val="0"/>
              </a:spcBef>
              <a:spcAft>
                <a:spcPts val="400"/>
              </a:spcAft>
            </a:pPr>
            <a:r>
              <a:rPr sz="1900" b="1">
                <a:solidFill>
                  <a:srgbClr val="7C3AED"/>
                </a:solidFill>
                <a:latin typeface="Arial"/>
              </a:rPr>
              <a:t>Rollback &amp; Remove</a:t>
            </a:r>
          </a:p>
        </p:txBody>
      </p:sp>
      <p:sp>
        <p:nvSpPr>
          <p:cNvPr id="18" name="TextBox 17"/>
          <p:cNvSpPr txBox="1"/>
          <p:nvPr/>
        </p:nvSpPr>
        <p:spPr>
          <a:xfrm>
            <a:off x="8595360" y="2697480"/>
            <a:ext cx="2926080" cy="3108960"/>
          </a:xfrm>
          <a:prstGeom prst="rect">
            <a:avLst/>
          </a:prstGeom>
          <a:noFill/>
        </p:spPr>
        <p:txBody>
          <a:bodyPr wrap="square" lIns="0" rIns="0">
            <a:spAutoFit/>
          </a:bodyPr>
          <a:lstStyle/>
          <a:p>
            <a:pPr>
              <a:spcBef>
                <a:spcPts val="0"/>
              </a:spcBef>
              <a:spcAft>
                <a:spcPts val="900"/>
              </a:spcAft>
            </a:pPr>
            <a:r>
              <a:rPr sz="1400" b="1">
                <a:solidFill>
                  <a:srgbClr val="7C3AED"/>
                </a:solidFill>
                <a:latin typeface="Arial"/>
              </a:rPr>
              <a:t>•  </a:t>
            </a:r>
            <a:r>
              <a:rPr sz="1400">
                <a:solidFill>
                  <a:srgbClr val="161B26"/>
                </a:solidFill>
                <a:latin typeface="Arial"/>
              </a:rPr>
              <a:t>helm rollback &lt;rel&gt; &lt;rev&gt;</a:t>
            </a:r>
          </a:p>
          <a:p>
            <a:pPr>
              <a:spcBef>
                <a:spcPts val="0"/>
              </a:spcBef>
              <a:spcAft>
                <a:spcPts val="900"/>
              </a:spcAft>
            </a:pPr>
            <a:r>
              <a:rPr sz="1400" b="1">
                <a:solidFill>
                  <a:srgbClr val="7C3AED"/>
                </a:solidFill>
                <a:latin typeface="Arial"/>
              </a:rPr>
              <a:t>•  </a:t>
            </a:r>
            <a:r>
              <a:rPr sz="1400">
                <a:solidFill>
                  <a:srgbClr val="161B26"/>
                </a:solidFill>
                <a:latin typeface="Arial"/>
              </a:rPr>
              <a:t>helm uninstall &lt;rel&gt;</a:t>
            </a:r>
          </a:p>
          <a:p>
            <a:pPr>
              <a:spcBef>
                <a:spcPts val="0"/>
              </a:spcBef>
              <a:spcAft>
                <a:spcPts val="900"/>
              </a:spcAft>
            </a:pPr>
            <a:r>
              <a:rPr sz="1400" b="1">
                <a:solidFill>
                  <a:srgbClr val="7C3AED"/>
                </a:solidFill>
                <a:latin typeface="Arial"/>
              </a:rPr>
              <a:t>•  </a:t>
            </a:r>
            <a:r>
              <a:rPr sz="1400">
                <a:solidFill>
                  <a:srgbClr val="161B26"/>
                </a:solidFill>
                <a:latin typeface="Arial"/>
              </a:rPr>
              <a:t>--dry-run for testing</a:t>
            </a:r>
          </a:p>
        </p:txBody>
      </p:sp>
      <p:sp>
        <p:nvSpPr>
          <p:cNvPr id="19" name="TextBox 18"/>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20" name="TextBox 19"/>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21" name="TextBox 20"/>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61</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DOMAIN 1  ·  THE KUBERNETES PACKAGE MANAGER</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Helm — Chart, Release, Revisions</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468880"/>
            <a:ext cx="3063240" cy="1828800"/>
          </a:xfrm>
          <a:prstGeom prst="roundRect">
            <a:avLst>
              <a:gd name="adj" fmla="val 5000"/>
            </a:avLst>
          </a:prstGeom>
          <a:solidFill>
            <a:srgbClr val="EAF1FE"/>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468880"/>
            <a:ext cx="3063240"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86968" y="2578608"/>
            <a:ext cx="2843784" cy="1719072"/>
          </a:xfrm>
          <a:prstGeom prst="rect">
            <a:avLst/>
          </a:prstGeom>
          <a:noFill/>
        </p:spPr>
        <p:txBody>
          <a:bodyPr wrap="square" anchor="ctr" lIns="0" rIns="0" tIns="0" bIns="0">
            <a:spAutoFit/>
          </a:bodyPr>
          <a:lstStyle/>
          <a:p>
            <a:pPr algn="ctr">
              <a:spcBef>
                <a:spcPts val="0"/>
              </a:spcBef>
              <a:spcAft>
                <a:spcPts val="300"/>
              </a:spcAft>
            </a:pPr>
            <a:r>
              <a:rPr sz="1600" b="1">
                <a:solidFill>
                  <a:srgbClr val="161B26"/>
                </a:solidFill>
                <a:latin typeface="Arial"/>
              </a:rPr>
              <a:t>Chart</a:t>
            </a:r>
          </a:p>
          <a:p>
            <a:pPr algn="ctr">
              <a:spcBef>
                <a:spcPts val="0"/>
              </a:spcBef>
              <a:spcAft>
                <a:spcPts val="300"/>
              </a:spcAft>
            </a:pPr>
            <a:r>
              <a:rPr sz="1100" b="0">
                <a:solidFill>
                  <a:srgbClr val="5B6372"/>
                </a:solidFill>
                <a:latin typeface="Arial"/>
              </a:rPr>
              <a:t>templates/*.yaml</a:t>
            </a:r>
          </a:p>
          <a:p>
            <a:pPr algn="ctr">
              <a:spcBef>
                <a:spcPts val="0"/>
              </a:spcBef>
              <a:spcAft>
                <a:spcPts val="300"/>
              </a:spcAft>
            </a:pPr>
            <a:r>
              <a:rPr sz="1100" b="0">
                <a:solidFill>
                  <a:srgbClr val="5B6372"/>
                </a:solidFill>
                <a:latin typeface="Arial"/>
              </a:rPr>
              <a:t>values.yaml</a:t>
            </a:r>
          </a:p>
          <a:p>
            <a:pPr algn="ctr">
              <a:spcBef>
                <a:spcPts val="0"/>
              </a:spcBef>
              <a:spcAft>
                <a:spcPts val="300"/>
              </a:spcAft>
            </a:pPr>
            <a:r>
              <a:rPr sz="1100" b="0">
                <a:solidFill>
                  <a:srgbClr val="5B6372"/>
                </a:solidFill>
                <a:latin typeface="Arial"/>
              </a:rPr>
              <a:t>Chart.yaml</a:t>
            </a:r>
          </a:p>
        </p:txBody>
      </p:sp>
      <p:sp>
        <p:nvSpPr>
          <p:cNvPr id="10" name="Right Arrow 9"/>
          <p:cNvSpPr/>
          <p:nvPr/>
        </p:nvSpPr>
        <p:spPr>
          <a:xfrm>
            <a:off x="3840480" y="3182112"/>
            <a:ext cx="731520" cy="402336"/>
          </a:xfrm>
          <a:prstGeom prst="rightArrow">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611880" y="2157984"/>
            <a:ext cx="1188720" cy="292608"/>
          </a:xfrm>
          <a:prstGeom prst="rect">
            <a:avLst/>
          </a:prstGeom>
          <a:noFill/>
        </p:spPr>
        <p:txBody>
          <a:bodyPr wrap="square" anchor="ctr" lIns="0" rIns="0" tIns="0" bIns="0">
            <a:spAutoFit/>
          </a:bodyPr>
          <a:lstStyle/>
          <a:p>
            <a:pPr algn="ctr">
              <a:spcBef>
                <a:spcPts val="0"/>
              </a:spcBef>
              <a:spcAft>
                <a:spcPts val="400"/>
              </a:spcAft>
            </a:pPr>
            <a:r>
              <a:rPr sz="1000" b="1">
                <a:solidFill>
                  <a:srgbClr val="10B981"/>
                </a:solidFill>
                <a:latin typeface="Arial"/>
              </a:rPr>
              <a:t>helm install --set</a:t>
            </a:r>
          </a:p>
        </p:txBody>
      </p:sp>
      <p:sp>
        <p:nvSpPr>
          <p:cNvPr id="12" name="Rounded Rectangle 11"/>
          <p:cNvSpPr/>
          <p:nvPr/>
        </p:nvSpPr>
        <p:spPr>
          <a:xfrm>
            <a:off x="4572000" y="2468880"/>
            <a:ext cx="3063240" cy="1828800"/>
          </a:xfrm>
          <a:prstGeom prst="roundRect">
            <a:avLst>
              <a:gd name="adj" fmla="val 5000"/>
            </a:avLst>
          </a:prstGeom>
          <a:solidFill>
            <a:srgbClr val="E8F7EE"/>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572000" y="2468880"/>
            <a:ext cx="3063240"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681728" y="2578608"/>
            <a:ext cx="2843784" cy="1719072"/>
          </a:xfrm>
          <a:prstGeom prst="rect">
            <a:avLst/>
          </a:prstGeom>
          <a:noFill/>
        </p:spPr>
        <p:txBody>
          <a:bodyPr wrap="square" anchor="ctr" lIns="0" rIns="0" tIns="0" bIns="0">
            <a:spAutoFit/>
          </a:bodyPr>
          <a:lstStyle/>
          <a:p>
            <a:pPr algn="ctr">
              <a:spcBef>
                <a:spcPts val="0"/>
              </a:spcBef>
              <a:spcAft>
                <a:spcPts val="300"/>
              </a:spcAft>
            </a:pPr>
            <a:r>
              <a:rPr sz="1500" b="1">
                <a:solidFill>
                  <a:srgbClr val="161B26"/>
                </a:solidFill>
                <a:latin typeface="Arial"/>
              </a:rPr>
              <a:t>Release: myapp</a:t>
            </a:r>
          </a:p>
          <a:p>
            <a:pPr algn="ctr">
              <a:spcBef>
                <a:spcPts val="0"/>
              </a:spcBef>
              <a:spcAft>
                <a:spcPts val="300"/>
              </a:spcAft>
            </a:pPr>
            <a:r>
              <a:rPr sz="1100" b="0">
                <a:solidFill>
                  <a:srgbClr val="5B6372"/>
                </a:solidFill>
                <a:latin typeface="Arial"/>
              </a:rPr>
              <a:t>rev 1 · rev 2 · rev 3</a:t>
            </a:r>
          </a:p>
          <a:p>
            <a:pPr algn="ctr">
              <a:spcBef>
                <a:spcPts val="0"/>
              </a:spcBef>
              <a:spcAft>
                <a:spcPts val="300"/>
              </a:spcAft>
            </a:pPr>
            <a:r>
              <a:rPr sz="1100" b="0">
                <a:solidFill>
                  <a:srgbClr val="5B6372"/>
                </a:solidFill>
                <a:latin typeface="Arial"/>
              </a:rPr>
              <a:t>helm history</a:t>
            </a:r>
          </a:p>
        </p:txBody>
      </p:sp>
      <p:sp>
        <p:nvSpPr>
          <p:cNvPr id="15" name="Right Arrow 14"/>
          <p:cNvSpPr/>
          <p:nvPr/>
        </p:nvSpPr>
        <p:spPr>
          <a:xfrm>
            <a:off x="7635240" y="3182112"/>
            <a:ext cx="731520" cy="402336"/>
          </a:xfrm>
          <a:prstGeom prst="rightArrow">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406640" y="2157984"/>
            <a:ext cx="1188720" cy="292608"/>
          </a:xfrm>
          <a:prstGeom prst="rect">
            <a:avLst/>
          </a:prstGeom>
          <a:noFill/>
        </p:spPr>
        <p:txBody>
          <a:bodyPr wrap="square" anchor="ctr" lIns="0" rIns="0" tIns="0" bIns="0">
            <a:spAutoFit/>
          </a:bodyPr>
          <a:lstStyle/>
          <a:p>
            <a:pPr algn="ctr">
              <a:spcBef>
                <a:spcPts val="0"/>
              </a:spcBef>
              <a:spcAft>
                <a:spcPts val="400"/>
              </a:spcAft>
            </a:pPr>
            <a:r>
              <a:rPr sz="1000" b="1">
                <a:solidFill>
                  <a:srgbClr val="10B981"/>
                </a:solidFill>
                <a:latin typeface="Arial"/>
              </a:rPr>
              <a:t>renders &amp; applies</a:t>
            </a:r>
          </a:p>
        </p:txBody>
      </p:sp>
      <p:sp>
        <p:nvSpPr>
          <p:cNvPr id="17" name="Rounded Rectangle 16"/>
          <p:cNvSpPr/>
          <p:nvPr/>
        </p:nvSpPr>
        <p:spPr>
          <a:xfrm>
            <a:off x="8366760" y="2468880"/>
            <a:ext cx="3063240" cy="1828800"/>
          </a:xfrm>
          <a:prstGeom prst="roundRect">
            <a:avLst>
              <a:gd name="adj" fmla="val 5000"/>
            </a:avLst>
          </a:prstGeom>
          <a:solidFill>
            <a:srgbClr val="FFFFFF"/>
          </a:solidFill>
          <a:ln w="12700">
            <a:solidFill>
              <a:srgbClr val="161B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366760" y="2468880"/>
            <a:ext cx="3063240" cy="9144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476488" y="2578608"/>
            <a:ext cx="2843784" cy="1719072"/>
          </a:xfrm>
          <a:prstGeom prst="rect">
            <a:avLst/>
          </a:prstGeom>
          <a:noFill/>
        </p:spPr>
        <p:txBody>
          <a:bodyPr wrap="square" anchor="ctr" lIns="0" rIns="0" tIns="0" bIns="0">
            <a:spAutoFit/>
          </a:bodyPr>
          <a:lstStyle/>
          <a:p>
            <a:pPr algn="ctr">
              <a:spcBef>
                <a:spcPts val="0"/>
              </a:spcBef>
              <a:spcAft>
                <a:spcPts val="300"/>
              </a:spcAft>
            </a:pPr>
            <a:r>
              <a:rPr sz="1500" b="1">
                <a:solidFill>
                  <a:srgbClr val="161B26"/>
                </a:solidFill>
                <a:latin typeface="Arial"/>
              </a:rPr>
              <a:t>Kubernetes</a:t>
            </a:r>
          </a:p>
          <a:p>
            <a:pPr algn="ctr">
              <a:spcBef>
                <a:spcPts val="0"/>
              </a:spcBef>
              <a:spcAft>
                <a:spcPts val="300"/>
              </a:spcAft>
            </a:pPr>
            <a:r>
              <a:rPr sz="1100" b="0">
                <a:solidFill>
                  <a:srgbClr val="5B6372"/>
                </a:solidFill>
                <a:latin typeface="Arial"/>
              </a:rPr>
              <a:t>Deployment</a:t>
            </a:r>
          </a:p>
          <a:p>
            <a:pPr algn="ctr">
              <a:spcBef>
                <a:spcPts val="0"/>
              </a:spcBef>
              <a:spcAft>
                <a:spcPts val="300"/>
              </a:spcAft>
            </a:pPr>
            <a:r>
              <a:rPr sz="1100" b="0">
                <a:solidFill>
                  <a:srgbClr val="5B6372"/>
                </a:solidFill>
                <a:latin typeface="Arial"/>
              </a:rPr>
              <a:t>Service · ConfigMap</a:t>
            </a:r>
          </a:p>
        </p:txBody>
      </p:sp>
      <p:sp>
        <p:nvSpPr>
          <p:cNvPr id="20" name="Left Arrow 19"/>
          <p:cNvSpPr/>
          <p:nvPr/>
        </p:nvSpPr>
        <p:spPr>
          <a:xfrm>
            <a:off x="6949440" y="4434840"/>
            <a:ext cx="914400" cy="384048"/>
          </a:xfrm>
          <a:prstGeom prst="leftArrow">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206240" y="4389120"/>
            <a:ext cx="3657600" cy="292608"/>
          </a:xfrm>
          <a:prstGeom prst="rect">
            <a:avLst/>
          </a:prstGeom>
          <a:noFill/>
        </p:spPr>
        <p:txBody>
          <a:bodyPr wrap="square" anchor="ctr" lIns="0" rIns="0" tIns="0" bIns="0">
            <a:spAutoFit/>
          </a:bodyPr>
          <a:lstStyle/>
          <a:p>
            <a:pPr algn="ctr">
              <a:spcBef>
                <a:spcPts val="0"/>
              </a:spcBef>
              <a:spcAft>
                <a:spcPts val="400"/>
              </a:spcAft>
            </a:pPr>
            <a:r>
              <a:rPr sz="1100" b="1">
                <a:solidFill>
                  <a:srgbClr val="F59E0B"/>
                </a:solidFill>
                <a:latin typeface="Arial"/>
              </a:rPr>
              <a:t>helm rollback myapp 1  ·  helm upgrade</a:t>
            </a:r>
          </a:p>
        </p:txBody>
      </p:sp>
      <p:sp>
        <p:nvSpPr>
          <p:cNvPr id="22" name="Rounded Rectangle 21"/>
          <p:cNvSpPr/>
          <p:nvPr/>
        </p:nvSpPr>
        <p:spPr>
          <a:xfrm>
            <a:off x="777240" y="5943600"/>
            <a:ext cx="10652760" cy="502920"/>
          </a:xfrm>
          <a:prstGeom prst="roundRect">
            <a:avLst>
              <a:gd name="adj" fmla="val 5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51560" y="5943600"/>
            <a:ext cx="10149840" cy="502920"/>
          </a:xfrm>
          <a:prstGeom prst="rect">
            <a:avLst/>
          </a:prstGeom>
          <a:noFill/>
        </p:spPr>
        <p:txBody>
          <a:bodyPr wrap="square" anchor="ctr" lIns="0" rIns="0" tIns="0" bIns="0">
            <a:spAutoFit/>
          </a:bodyPr>
          <a:lstStyle/>
          <a:p>
            <a:pPr algn="l">
              <a:spcBef>
                <a:spcPts val="0"/>
              </a:spcBef>
              <a:spcAft>
                <a:spcPts val="400"/>
              </a:spcAft>
            </a:pPr>
            <a:r>
              <a:rPr sz="1300" b="1">
                <a:solidFill>
                  <a:srgbClr val="161B26"/>
                </a:solidFill>
                <a:latin typeface="Arial"/>
              </a:rPr>
              <a:t>install → upgrade → rollback → uninstall.  </a:t>
            </a:r>
            <a:r>
              <a:rPr sz="1300" b="0">
                <a:solidFill>
                  <a:srgbClr val="5B6372"/>
                </a:solidFill>
                <a:latin typeface="Arial"/>
              </a:rPr>
              <a:t>--set</a:t>
            </a:r>
            <a:r>
              <a:rPr sz="1300" b="0">
                <a:solidFill>
                  <a:srgbClr val="5B6372"/>
                </a:solidFill>
                <a:latin typeface="Arial"/>
              </a:rPr>
              <a:t> overrides values; </a:t>
            </a:r>
            <a:r>
              <a:rPr sz="1300" b="0">
                <a:solidFill>
                  <a:srgbClr val="5B6372"/>
                </a:solidFill>
                <a:latin typeface="Arial"/>
              </a:rPr>
              <a:t>helm history</a:t>
            </a:r>
            <a:r>
              <a:rPr sz="1300" b="0">
                <a:solidFill>
                  <a:srgbClr val="5B6372"/>
                </a:solidFill>
                <a:latin typeface="Arial"/>
              </a:rPr>
              <a:t>  shows every revision.</a:t>
            </a:r>
          </a:p>
        </p:txBody>
      </p:sp>
      <p:sp>
        <p:nvSpPr>
          <p:cNvPr id="24" name="TextBox 23"/>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25" name="TextBox 24"/>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26" name="TextBox 25"/>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62</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DAY 1 · HELM</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Helm: Install, Upgrade, Rollback, --set, -f values.yaml, helm template</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64208"/>
            <a:ext cx="169164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09928"/>
            <a:ext cx="1691640" cy="365760"/>
          </a:xfrm>
          <a:prstGeom prst="rect">
            <a:avLst/>
          </a:prstGeom>
          <a:noFill/>
        </p:spPr>
        <p:txBody>
          <a:bodyPr wrap="square" anchor="t" lIns="0" rIns="0" tIns="0" bIns="0">
            <a:spAutoFit/>
          </a:bodyPr>
          <a:lstStyle/>
          <a:p>
            <a:pPr algn="ctr">
              <a:spcBef>
                <a:spcPts val="0"/>
              </a:spcBef>
              <a:spcAft>
                <a:spcPts val="400"/>
              </a:spcAft>
            </a:pPr>
            <a:r>
              <a:rPr sz="1600" b="1">
                <a:solidFill>
                  <a:srgbClr val="FFFFFF"/>
                </a:solidFill>
                <a:latin typeface="Arial"/>
              </a:rPr>
              <a:t>LAB 6</a:t>
            </a:r>
          </a:p>
        </p:txBody>
      </p:sp>
      <p:sp>
        <p:nvSpPr>
          <p:cNvPr id="9" name="TextBox 8"/>
          <p:cNvSpPr txBox="1"/>
          <p:nvPr/>
        </p:nvSpPr>
        <p:spPr>
          <a:xfrm>
            <a:off x="2697480" y="1691640"/>
            <a:ext cx="8778240" cy="411480"/>
          </a:xfrm>
          <a:prstGeom prst="rect">
            <a:avLst/>
          </a:prstGeom>
          <a:noFill/>
        </p:spPr>
        <p:txBody>
          <a:bodyPr wrap="square" anchor="ctr" lIns="0" rIns="0" tIns="0" bIns="0">
            <a:spAutoFit/>
          </a:bodyPr>
          <a:lstStyle/>
          <a:p>
            <a:pPr algn="l">
              <a:spcBef>
                <a:spcPts val="0"/>
              </a:spcBef>
              <a:spcAft>
                <a:spcPts val="400"/>
              </a:spcAft>
            </a:pPr>
            <a:r>
              <a:rPr sz="1400" b="1">
                <a:solidFill>
                  <a:srgbClr val="5B6372"/>
                </a:solidFill>
                <a:latin typeface="Arial"/>
              </a:rPr>
              <a:t>Helm package manager</a:t>
            </a:r>
          </a:p>
        </p:txBody>
      </p:sp>
      <p:sp>
        <p:nvSpPr>
          <p:cNvPr id="10" name="TextBox 9"/>
          <p:cNvSpPr txBox="1"/>
          <p:nvPr/>
        </p:nvSpPr>
        <p:spPr>
          <a:xfrm>
            <a:off x="777240" y="2286000"/>
            <a:ext cx="10698480" cy="1554480"/>
          </a:xfrm>
          <a:prstGeom prst="rect">
            <a:avLst/>
          </a:prstGeom>
          <a:noFill/>
        </p:spPr>
        <p:txBody>
          <a:bodyPr wrap="square" anchor="t" lIns="0" rIns="0" tIns="0" bIns="0">
            <a:spAutoFit/>
          </a:bodyPr>
          <a:lstStyle/>
          <a:p>
            <a:pPr algn="l">
              <a:spcBef>
                <a:spcPts val="0"/>
              </a:spcBef>
              <a:spcAft>
                <a:spcPts val="400"/>
              </a:spcAft>
            </a:pPr>
            <a:r>
              <a:rPr sz="1900" b="0">
                <a:solidFill>
                  <a:srgbClr val="161B26"/>
                </a:solidFill>
                <a:latin typeface="Arial"/>
              </a:rPr>
              <a:t>Master the complete Helm workflow: adding repos, installing charts, overriding values with --set and -f, upgrading releases, rollbacks, and using helm template to render manifests. Helm is explicitly allowed as a reference during the CKA exam at helm.sh/docs.</a:t>
            </a:r>
          </a:p>
        </p:txBody>
      </p:sp>
      <p:sp>
        <p:nvSpPr>
          <p:cNvPr id="11" name="Rounded Rectangle 10"/>
          <p:cNvSpPr/>
          <p:nvPr/>
        </p:nvSpPr>
        <p:spPr>
          <a:xfrm>
            <a:off x="777240" y="4069080"/>
            <a:ext cx="10698480" cy="1783080"/>
          </a:xfrm>
          <a:prstGeom prst="roundRect">
            <a:avLst>
              <a:gd name="adj" fmla="val 5000"/>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05840" y="4251960"/>
            <a:ext cx="10058400" cy="365760"/>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You'll build</a:t>
            </a:r>
          </a:p>
        </p:txBody>
      </p:sp>
      <p:sp>
        <p:nvSpPr>
          <p:cNvPr id="13" name="TextBox 12"/>
          <p:cNvSpPr txBox="1"/>
          <p:nvPr/>
        </p:nvSpPr>
        <p:spPr>
          <a:xfrm>
            <a:off x="1005840" y="4617720"/>
            <a:ext cx="10241280" cy="640080"/>
          </a:xfrm>
          <a:prstGeom prst="rect">
            <a:avLst/>
          </a:prstGeom>
          <a:noFill/>
        </p:spPr>
        <p:txBody>
          <a:bodyPr wrap="square" anchor="t" lIns="0" rIns="0" tIns="0" bIns="0">
            <a:spAutoFit/>
          </a:bodyPr>
          <a:lstStyle/>
          <a:p>
            <a:pPr algn="l">
              <a:spcBef>
                <a:spcPts val="0"/>
              </a:spcBef>
              <a:spcAft>
                <a:spcPts val="400"/>
              </a:spcAft>
            </a:pPr>
            <a:r>
              <a:rPr sz="1700" b="1">
                <a:solidFill>
                  <a:srgbClr val="161B26"/>
                </a:solidFill>
                <a:latin typeface="Arial"/>
              </a:rPr>
              <a:t>Add bitnami repo, install nginx chart with custom values, upgrade, rollback, use helm template for GitOps-style rendering.</a:t>
            </a:r>
          </a:p>
        </p:txBody>
      </p:sp>
      <p:sp>
        <p:nvSpPr>
          <p:cNvPr id="14" name="TextBox 13"/>
          <p:cNvSpPr txBox="1"/>
          <p:nvPr/>
        </p:nvSpPr>
        <p:spPr>
          <a:xfrm>
            <a:off x="1005840" y="5349240"/>
            <a:ext cx="10058400" cy="457200"/>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Key commands:  </a:t>
            </a:r>
            <a:r>
              <a:rPr sz="1300" b="0">
                <a:solidFill>
                  <a:srgbClr val="5B6372"/>
                </a:solidFill>
                <a:latin typeface="Arial"/>
              </a:rPr>
              <a:t>curl https://raw.githubusercontent.com/helm/helm/main/scripts/get-helm-3 · helm install · cat &lt;&lt;'EOF' · helm rollback · helm templ</a:t>
            </a:r>
          </a:p>
        </p:txBody>
      </p:sp>
      <p:sp>
        <p:nvSpPr>
          <p:cNvPr id="15" name="TextBox 14"/>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6" name="TextBox 15"/>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7" name="TextBox 16"/>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63</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6  ·  COMMANDS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Helm: Install, Upgrade, Rollback, --set, -f values.yaml, helm template</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91640"/>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Step 1 -- Install Helm and add repos</a:t>
            </a:r>
          </a:p>
        </p:txBody>
      </p:sp>
      <p:sp>
        <p:nvSpPr>
          <p:cNvPr id="8" name="Rounded Rectangle 7"/>
          <p:cNvSpPr/>
          <p:nvPr/>
        </p:nvSpPr>
        <p:spPr>
          <a:xfrm>
            <a:off x="777240" y="2075688"/>
            <a:ext cx="10652760" cy="896112"/>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075688"/>
            <a:ext cx="82296" cy="896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6" y="2139696"/>
            <a:ext cx="10323576" cy="804672"/>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curl https://raw.githubusercontent.com/helm/helm/main/scripts/get-helm-3 | bash</a:t>
            </a:r>
          </a:p>
          <a:p>
            <a:pPr>
              <a:spcBef>
                <a:spcPts val="0"/>
              </a:spcBef>
              <a:spcAft>
                <a:spcPts val="0"/>
              </a:spcAft>
            </a:pPr>
            <a:r>
              <a:rPr sz="1050">
                <a:solidFill>
                  <a:srgbClr val="161B26"/>
                </a:solidFill>
                <a:latin typeface="Consolas"/>
              </a:rPr>
              <a:t>helm version</a:t>
            </a:r>
          </a:p>
          <a:p>
            <a:pPr>
              <a:spcBef>
                <a:spcPts val="0"/>
              </a:spcBef>
              <a:spcAft>
                <a:spcPts val="0"/>
              </a:spcAft>
            </a:pPr>
            <a:r>
              <a:rPr sz="1050">
                <a:solidFill>
                  <a:srgbClr val="161B26"/>
                </a:solidFill>
                <a:latin typeface="Consolas"/>
              </a:rPr>
              <a:t>helm repo add bitnami https://charts.bitnami.com/bitnami</a:t>
            </a:r>
          </a:p>
          <a:p>
            <a:pPr>
              <a:spcBef>
                <a:spcPts val="0"/>
              </a:spcBef>
              <a:spcAft>
                <a:spcPts val="0"/>
              </a:spcAft>
            </a:pPr>
            <a:r>
              <a:rPr sz="1050">
                <a:solidFill>
                  <a:srgbClr val="161B26"/>
                </a:solidFill>
                <a:latin typeface="Consolas"/>
              </a:rPr>
              <a:t>helm repo update</a:t>
            </a:r>
          </a:p>
        </p:txBody>
      </p:sp>
      <p:sp>
        <p:nvSpPr>
          <p:cNvPr id="11" name="TextBox 10"/>
          <p:cNvSpPr txBox="1"/>
          <p:nvPr/>
        </p:nvSpPr>
        <p:spPr>
          <a:xfrm>
            <a:off x="777240" y="3154680"/>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Step 2 -- Install a chart with value overrides</a:t>
            </a:r>
          </a:p>
        </p:txBody>
      </p:sp>
      <p:sp>
        <p:nvSpPr>
          <p:cNvPr id="12" name="Rounded Rectangle 11"/>
          <p:cNvSpPr/>
          <p:nvPr/>
        </p:nvSpPr>
        <p:spPr>
          <a:xfrm>
            <a:off x="777240" y="3538728"/>
            <a:ext cx="10652760" cy="1271016"/>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3538728"/>
            <a:ext cx="82296" cy="127101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3602736"/>
            <a:ext cx="10323576" cy="1179576"/>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helm install my-nginx bitnami/nginx \</a:t>
            </a:r>
          </a:p>
          <a:p>
            <a:pPr>
              <a:spcBef>
                <a:spcPts val="0"/>
              </a:spcBef>
              <a:spcAft>
                <a:spcPts val="0"/>
              </a:spcAft>
            </a:pPr>
            <a:r>
              <a:rPr sz="1050">
                <a:solidFill>
                  <a:srgbClr val="161B26"/>
                </a:solidFill>
                <a:latin typeface="Consolas"/>
              </a:rPr>
              <a:t>  --namespace web --create-namespace \</a:t>
            </a:r>
          </a:p>
          <a:p>
            <a:pPr>
              <a:spcBef>
                <a:spcPts val="0"/>
              </a:spcBef>
              <a:spcAft>
                <a:spcPts val="0"/>
              </a:spcAft>
            </a:pPr>
            <a:r>
              <a:rPr sz="1050">
                <a:solidFill>
                  <a:srgbClr val="161B26"/>
                </a:solidFill>
                <a:latin typeface="Consolas"/>
              </a:rPr>
              <a:t>  --set service.type=NodePort \</a:t>
            </a:r>
          </a:p>
          <a:p>
            <a:pPr>
              <a:spcBef>
                <a:spcPts val="0"/>
              </a:spcBef>
              <a:spcAft>
                <a:spcPts val="0"/>
              </a:spcAft>
            </a:pPr>
            <a:r>
              <a:rPr sz="1050">
                <a:solidFill>
                  <a:srgbClr val="161B26"/>
                </a:solidFill>
                <a:latin typeface="Consolas"/>
              </a:rPr>
              <a:t>  --set replicaCount=2</a:t>
            </a:r>
          </a:p>
          <a:p>
            <a:pPr>
              <a:spcBef>
                <a:spcPts val="0"/>
              </a:spcBef>
              <a:spcAft>
                <a:spcPts val="0"/>
              </a:spcAft>
            </a:pPr>
            <a:r>
              <a:rPr sz="1050">
                <a:solidFill>
                  <a:srgbClr val="161B26"/>
                </a:solidFill>
                <a:latin typeface="Consolas"/>
              </a:rPr>
              <a:t>helm list -n web</a:t>
            </a:r>
          </a:p>
          <a:p>
            <a:pPr>
              <a:spcBef>
                <a:spcPts val="0"/>
              </a:spcBef>
              <a:spcAft>
                <a:spcPts val="0"/>
              </a:spcAft>
            </a:pPr>
            <a:r>
              <a:rPr sz="1050">
                <a:solidFill>
                  <a:srgbClr val="161B26"/>
                </a:solidFill>
                <a:latin typeface="Consolas"/>
              </a:rPr>
              <a:t>helm status my-nginx -n web</a:t>
            </a:r>
          </a:p>
        </p:txBody>
      </p:sp>
      <p:sp>
        <p:nvSpPr>
          <p:cNvPr id="15" name="TextBox 14"/>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6" name="TextBox 15"/>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7" name="TextBox 16"/>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64</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6  ·  COMMANDS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Helm: Install, Upgrade, Rollback, --set, -f values.yaml, helm template (cont.)</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91640"/>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Step 3 -- Upgrade with -f values.yaml</a:t>
            </a:r>
          </a:p>
        </p:txBody>
      </p:sp>
      <p:sp>
        <p:nvSpPr>
          <p:cNvPr id="8" name="Rounded Rectangle 7"/>
          <p:cNvSpPr/>
          <p:nvPr/>
        </p:nvSpPr>
        <p:spPr>
          <a:xfrm>
            <a:off x="777240" y="2075688"/>
            <a:ext cx="10652760" cy="1458467"/>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075688"/>
            <a:ext cx="82296" cy="1458467"/>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6" y="2139696"/>
            <a:ext cx="10323576" cy="1367027"/>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cat &lt;&lt;'EOF' &gt; my-values.yaml</a:t>
            </a:r>
          </a:p>
          <a:p>
            <a:pPr>
              <a:spcBef>
                <a:spcPts val="0"/>
              </a:spcBef>
              <a:spcAft>
                <a:spcPts val="0"/>
              </a:spcAft>
            </a:pPr>
            <a:r>
              <a:rPr sz="1050">
                <a:solidFill>
                  <a:srgbClr val="161B26"/>
                </a:solidFill>
                <a:latin typeface="Consolas"/>
              </a:rPr>
              <a:t>replicaCount: 3</a:t>
            </a:r>
          </a:p>
          <a:p>
            <a:pPr>
              <a:spcBef>
                <a:spcPts val="0"/>
              </a:spcBef>
              <a:spcAft>
                <a:spcPts val="0"/>
              </a:spcAft>
            </a:pPr>
            <a:r>
              <a:rPr sz="1050">
                <a:solidFill>
                  <a:srgbClr val="161B26"/>
                </a:solidFill>
                <a:latin typeface="Consolas"/>
              </a:rPr>
              <a:t>service:</a:t>
            </a:r>
          </a:p>
          <a:p>
            <a:pPr>
              <a:spcBef>
                <a:spcPts val="0"/>
              </a:spcBef>
              <a:spcAft>
                <a:spcPts val="0"/>
              </a:spcAft>
            </a:pPr>
            <a:r>
              <a:rPr sz="1050">
                <a:solidFill>
                  <a:srgbClr val="161B26"/>
                </a:solidFill>
                <a:latin typeface="Consolas"/>
              </a:rPr>
              <a:t>  type: ClusterIP</a:t>
            </a:r>
          </a:p>
          <a:p>
            <a:pPr>
              <a:spcBef>
                <a:spcPts val="0"/>
              </a:spcBef>
              <a:spcAft>
                <a:spcPts val="0"/>
              </a:spcAft>
            </a:pPr>
            <a:r>
              <a:rPr sz="1050">
                <a:solidFill>
                  <a:srgbClr val="161B26"/>
                </a:solidFill>
                <a:latin typeface="Consolas"/>
              </a:rPr>
              <a:t>EOF</a:t>
            </a:r>
          </a:p>
          <a:p>
            <a:pPr>
              <a:spcBef>
                <a:spcPts val="0"/>
              </a:spcBef>
              <a:spcAft>
                <a:spcPts val="0"/>
              </a:spcAft>
            </a:pPr>
            <a:r>
              <a:rPr sz="1050">
                <a:solidFill>
                  <a:srgbClr val="161B26"/>
                </a:solidFill>
                <a:latin typeface="Consolas"/>
              </a:rPr>
              <a:t>helm upgrade my-nginx bitnami/nginx -n web -f my-values.yaml</a:t>
            </a:r>
          </a:p>
          <a:p>
            <a:pPr>
              <a:spcBef>
                <a:spcPts val="0"/>
              </a:spcBef>
              <a:spcAft>
                <a:spcPts val="0"/>
              </a:spcAft>
            </a:pPr>
            <a:r>
              <a:rPr sz="1050">
                <a:solidFill>
                  <a:srgbClr val="161B26"/>
                </a:solidFill>
                <a:latin typeface="Consolas"/>
              </a:rPr>
              <a:t>helm history my-nginx -n web</a:t>
            </a:r>
          </a:p>
        </p:txBody>
      </p:sp>
      <p:sp>
        <p:nvSpPr>
          <p:cNvPr id="11" name="TextBox 10"/>
          <p:cNvSpPr txBox="1"/>
          <p:nvPr/>
        </p:nvSpPr>
        <p:spPr>
          <a:xfrm>
            <a:off x="777240" y="3717035"/>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Step 4 -- Roll back a release</a:t>
            </a:r>
          </a:p>
        </p:txBody>
      </p:sp>
      <p:sp>
        <p:nvSpPr>
          <p:cNvPr id="12" name="Rounded Rectangle 11"/>
          <p:cNvSpPr/>
          <p:nvPr/>
        </p:nvSpPr>
        <p:spPr>
          <a:xfrm>
            <a:off x="777240" y="4101083"/>
            <a:ext cx="10652760" cy="521207"/>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101083"/>
            <a:ext cx="82296" cy="521207"/>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165091"/>
            <a:ext cx="10323576" cy="429767"/>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helm rollback my-nginx -n web</a:t>
            </a:r>
          </a:p>
          <a:p>
            <a:pPr>
              <a:spcBef>
                <a:spcPts val="0"/>
              </a:spcBef>
              <a:spcAft>
                <a:spcPts val="0"/>
              </a:spcAft>
            </a:pPr>
            <a:r>
              <a:rPr sz="1050">
                <a:solidFill>
                  <a:srgbClr val="161B26"/>
                </a:solidFill>
                <a:latin typeface="Consolas"/>
              </a:rPr>
              <a:t>helm history my-nginx -n web</a:t>
            </a:r>
          </a:p>
        </p:txBody>
      </p:sp>
      <p:sp>
        <p:nvSpPr>
          <p:cNvPr id="15" name="TextBox 14"/>
          <p:cNvSpPr txBox="1"/>
          <p:nvPr/>
        </p:nvSpPr>
        <p:spPr>
          <a:xfrm>
            <a:off x="777240" y="4805170"/>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Step 5 -- Render manifests without installing</a:t>
            </a:r>
          </a:p>
        </p:txBody>
      </p:sp>
      <p:sp>
        <p:nvSpPr>
          <p:cNvPr id="16" name="Rounded Rectangle 15"/>
          <p:cNvSpPr/>
          <p:nvPr/>
        </p:nvSpPr>
        <p:spPr>
          <a:xfrm>
            <a:off x="777240" y="5189218"/>
            <a:ext cx="10652760" cy="521207"/>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77240" y="5189218"/>
            <a:ext cx="82296" cy="521207"/>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96696" y="5253226"/>
            <a:ext cx="10323576" cy="429767"/>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helm template my-nginx bitnami/nginx --set replicaCount=2</a:t>
            </a:r>
          </a:p>
          <a:p>
            <a:pPr>
              <a:spcBef>
                <a:spcPts val="0"/>
              </a:spcBef>
              <a:spcAft>
                <a:spcPts val="0"/>
              </a:spcAft>
            </a:pPr>
            <a:r>
              <a:rPr sz="1050">
                <a:solidFill>
                  <a:srgbClr val="161B26"/>
                </a:solidFill>
                <a:latin typeface="Consolas"/>
              </a:rPr>
              <a:t>helm template my-nginx bitnami/nginx -f my-values.yaml &gt; rendered.yaml</a:t>
            </a:r>
          </a:p>
        </p:txBody>
      </p:sp>
      <p:sp>
        <p:nvSpPr>
          <p:cNvPr id="19" name="TextBox 18"/>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20" name="TextBox 19"/>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21" name="TextBox 20"/>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65</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6  ·  COMMANDS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Helm: Install, Upgrade, Rollback, --set, -f values.yaml, helm template (cont.)</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91640"/>
            <a:ext cx="10652760" cy="310896"/>
          </a:xfrm>
          <a:prstGeom prst="rect">
            <a:avLst/>
          </a:prstGeom>
          <a:noFill/>
        </p:spPr>
        <p:txBody>
          <a:bodyPr wrap="square" anchor="t" lIns="0" rIns="0" tIns="0" bIns="0">
            <a:spAutoFit/>
          </a:bodyPr>
          <a:lstStyle/>
          <a:p>
            <a:pPr algn="l">
              <a:spcBef>
                <a:spcPts val="0"/>
              </a:spcBef>
              <a:spcAft>
                <a:spcPts val="400"/>
              </a:spcAft>
            </a:pPr>
            <a:r>
              <a:rPr sz="1300" b="1">
                <a:solidFill>
                  <a:srgbClr val="F59E0B"/>
                </a:solidFill>
                <a:latin typeface="Arial"/>
              </a:rPr>
              <a:t>Note   </a:t>
            </a:r>
            <a:r>
              <a:rPr sz="1300" b="0">
                <a:solidFill>
                  <a:srgbClr val="5B6372"/>
                </a:solidFill>
                <a:latin typeface="Arial"/>
              </a:rPr>
              <a:t>helm template is used in GitOps workflows. -f values override defaults; --set overrides -f when both are specified.</a:t>
            </a:r>
          </a:p>
        </p:txBody>
      </p:sp>
      <p:sp>
        <p:nvSpPr>
          <p:cNvPr id="8" name="TextBox 7"/>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9" name="TextBox 8"/>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66</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6  ·  TEST IT</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Helm: Install, Upgrade, Rollback, --set, -f values.yaml, helm template</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03120"/>
            <a:ext cx="10698480" cy="2560320"/>
          </a:xfrm>
          <a:prstGeom prst="roundRect">
            <a:avLst>
              <a:gd name="adj" fmla="val 5000"/>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lIns="0" rIns="0" tIns="0" bIns="0">
            <a:spAutoFit/>
          </a:bodyPr>
          <a:lstStyle/>
          <a:p>
            <a:pPr algn="l">
              <a:spcBef>
                <a:spcPts val="0"/>
              </a:spcBef>
              <a:spcAft>
                <a:spcPts val="400"/>
              </a:spcAft>
            </a:pPr>
            <a:r>
              <a:rPr sz="2200" b="1">
                <a:solidFill>
                  <a:srgbClr val="127A3E"/>
                </a:solidFill>
                <a:latin typeface="Arial"/>
              </a:rPr>
              <a:t>✅  Test it</a:t>
            </a:r>
          </a:p>
        </p:txBody>
      </p:sp>
      <p:sp>
        <p:nvSpPr>
          <p:cNvPr id="9" name="TextBox 8"/>
          <p:cNvSpPr txBox="1"/>
          <p:nvPr/>
        </p:nvSpPr>
        <p:spPr>
          <a:xfrm>
            <a:off x="1097280" y="3017520"/>
            <a:ext cx="10149840" cy="1463040"/>
          </a:xfrm>
          <a:prstGeom prst="rect">
            <a:avLst/>
          </a:prstGeom>
          <a:noFill/>
        </p:spPr>
        <p:txBody>
          <a:bodyPr wrap="square" anchor="t" lIns="0" rIns="0" tIns="0" bIns="0">
            <a:spAutoFit/>
          </a:bodyPr>
          <a:lstStyle/>
          <a:p>
            <a:pPr algn="l">
              <a:spcBef>
                <a:spcPts val="0"/>
              </a:spcBef>
              <a:spcAft>
                <a:spcPts val="400"/>
              </a:spcAft>
            </a:pPr>
            <a:r>
              <a:rPr sz="1800" b="0">
                <a:solidFill>
                  <a:srgbClr val="161B26"/>
                </a:solidFill>
                <a:latin typeface="Arial"/>
              </a:rPr>
              <a:t>helm list -n web shows my-nginx deployed. helm history shows at least 2 revisions. helm rollback reverts to the previous version.</a:t>
            </a:r>
          </a:p>
        </p:txBody>
      </p:sp>
      <p:sp>
        <p:nvSpPr>
          <p:cNvPr id="10" name="TextBox 9"/>
          <p:cNvSpPr txBox="1"/>
          <p:nvPr/>
        </p:nvSpPr>
        <p:spPr>
          <a:xfrm>
            <a:off x="777240" y="4983480"/>
            <a:ext cx="10698480" cy="365760"/>
          </a:xfrm>
          <a:prstGeom prst="rect">
            <a:avLst/>
          </a:prstGeom>
          <a:noFill/>
        </p:spPr>
        <p:txBody>
          <a:bodyPr wrap="square" anchor="t" lIns="0" rIns="0" tIns="0" bIns="0">
            <a:spAutoFit/>
          </a:bodyPr>
          <a:lstStyle/>
          <a:p>
            <a:pPr algn="l">
              <a:spcBef>
                <a:spcPts val="0"/>
              </a:spcBef>
              <a:spcAft>
                <a:spcPts val="400"/>
              </a:spcAft>
            </a:pPr>
            <a:r>
              <a:rPr sz="1300" b="1">
                <a:solidFill>
                  <a:srgbClr val="10B981"/>
                </a:solidFill>
                <a:latin typeface="Arial"/>
              </a:rPr>
              <a:t>Killercoda:  </a:t>
            </a:r>
            <a:r>
              <a:rPr sz="1300" b="0">
                <a:solidFill>
                  <a:srgbClr val="5B6372"/>
                </a:solidFill>
                <a:latin typeface="Arial"/>
              </a:rPr>
              <a:t>https://killercoda.com/playgrounds/scenario/kubernetes</a:t>
            </a:r>
          </a:p>
        </p:txBody>
      </p:sp>
      <p:sp>
        <p:nvSpPr>
          <p:cNvPr id="11" name="TextBox 10"/>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67</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KUSTOMIZE</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Kustomize — Overlays Without Templates</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07040" cy="4480560"/>
          </a:xfrm>
          <a:prstGeom prst="rect">
            <a:avLst/>
          </a:prstGeom>
          <a:noFill/>
        </p:spPr>
        <p:txBody>
          <a:bodyPr wrap="square" lIns="0" rIns="0">
            <a:spAutoFit/>
          </a:bodyPr>
          <a:lstStyle/>
          <a:p>
            <a:pPr>
              <a:spcBef>
                <a:spcPts val="0"/>
              </a:spcBef>
              <a:spcAft>
                <a:spcPts val="1000"/>
              </a:spcAft>
            </a:pPr>
            <a:r>
              <a:rPr sz="1900" b="1">
                <a:solidFill>
                  <a:srgbClr val="1F6FEB"/>
                </a:solidFill>
                <a:latin typeface="Arial"/>
              </a:rPr>
              <a:t>•  </a:t>
            </a:r>
            <a:r>
              <a:rPr sz="1900">
                <a:solidFill>
                  <a:srgbClr val="161B26"/>
                </a:solidFill>
                <a:latin typeface="Arial"/>
              </a:rPr>
              <a:t>Kustomize reuses a base set of manifests and applies environment-specific patches on top.</a:t>
            </a:r>
          </a:p>
          <a:p>
            <a:pPr>
              <a:spcBef>
                <a:spcPts val="0"/>
              </a:spcBef>
              <a:spcAft>
                <a:spcPts val="1000"/>
              </a:spcAft>
            </a:pPr>
            <a:r>
              <a:rPr sz="1900" b="1">
                <a:solidFill>
                  <a:srgbClr val="1F6FEB"/>
                </a:solidFill>
                <a:latin typeface="Arial"/>
              </a:rPr>
              <a:t>•  </a:t>
            </a:r>
            <a:r>
              <a:rPr sz="1900">
                <a:solidFill>
                  <a:srgbClr val="161B26"/>
                </a:solidFill>
                <a:latin typeface="Arial"/>
              </a:rPr>
              <a:t>namePrefix and commonLabels modify every resource in an overlay without touching the base.</a:t>
            </a:r>
          </a:p>
          <a:p>
            <a:pPr>
              <a:spcBef>
                <a:spcPts val="0"/>
              </a:spcBef>
              <a:spcAft>
                <a:spcPts val="1000"/>
              </a:spcAft>
            </a:pPr>
            <a:r>
              <a:rPr sz="1900" b="1">
                <a:solidFill>
                  <a:srgbClr val="1F6FEB"/>
                </a:solidFill>
                <a:latin typeface="Arial"/>
              </a:rPr>
              <a:t>•  </a:t>
            </a:r>
            <a:r>
              <a:rPr sz="1900">
                <a:solidFill>
                  <a:srgbClr val="161B26"/>
                </a:solidFill>
                <a:latin typeface="Arial"/>
              </a:rPr>
              <a:t>The images block overrides image tags; strategic-merge patches fine-tune individual fields.</a:t>
            </a:r>
          </a:p>
          <a:p>
            <a:pPr>
              <a:spcBef>
                <a:spcPts val="0"/>
              </a:spcBef>
              <a:spcAft>
                <a:spcPts val="1000"/>
              </a:spcAft>
            </a:pPr>
            <a:r>
              <a:rPr sz="1900" b="1">
                <a:solidFill>
                  <a:srgbClr val="1F6FEB"/>
                </a:solidFill>
                <a:latin typeface="Arial"/>
              </a:rPr>
              <a:t>•  </a:t>
            </a:r>
            <a:r>
              <a:rPr sz="1900">
                <a:solidFill>
                  <a:srgbClr val="161B26"/>
                </a:solidFill>
                <a:latin typeface="Arial"/>
              </a:rPr>
              <a:t>Built into kubectl: kubectl apply -k and kubectl kustomize — no extra binary required.</a:t>
            </a:r>
          </a:p>
        </p:txBody>
      </p:sp>
      <p:sp>
        <p:nvSpPr>
          <p:cNvPr id="8" name="TextBox 7"/>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9" name="TextBox 8"/>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68</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BUILD vs APPLY</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kubectl apply -k vs kubectl kustomize</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lIns="0" rIns="0" tIns="0" bIns="0">
            <a:spAutoFit/>
          </a:bodyPr>
          <a:lstStyle/>
          <a:p>
            <a:pPr algn="l">
              <a:spcBef>
                <a:spcPts val="0"/>
              </a:spcBef>
              <a:spcAft>
                <a:spcPts val="400"/>
              </a:spcAft>
            </a:pPr>
            <a:r>
              <a:rPr sz="1600" b="1">
                <a:solidFill>
                  <a:srgbClr val="1F6FEB"/>
                </a:solidFill>
                <a:latin typeface="Arial"/>
              </a:rPr>
              <a:t>apply -k</a:t>
            </a:r>
          </a:p>
        </p:txBody>
      </p:sp>
      <p:sp>
        <p:nvSpPr>
          <p:cNvPr id="10" name="TextBox 9"/>
          <p:cNvSpPr txBox="1"/>
          <p:nvPr/>
        </p:nvSpPr>
        <p:spPr>
          <a:xfrm>
            <a:off x="6583680" y="1965960"/>
            <a:ext cx="4572000" cy="365760"/>
          </a:xfrm>
          <a:prstGeom prst="rect">
            <a:avLst/>
          </a:prstGeom>
          <a:noFill/>
        </p:spPr>
        <p:txBody>
          <a:bodyPr wrap="square" anchor="t" lIns="0" rIns="0" tIns="0" bIns="0">
            <a:spAutoFit/>
          </a:bodyPr>
          <a:lstStyle/>
          <a:p>
            <a:pPr algn="l">
              <a:spcBef>
                <a:spcPts val="0"/>
              </a:spcBef>
              <a:spcAft>
                <a:spcPts val="400"/>
              </a:spcAft>
            </a:pPr>
            <a:r>
              <a:rPr sz="1600" b="1">
                <a:solidFill>
                  <a:srgbClr val="10B981"/>
                </a:solidFill>
                <a:latin typeface="Arial"/>
              </a:rPr>
              <a:t>kustomize (print only)</a:t>
            </a:r>
          </a:p>
        </p:txBody>
      </p:sp>
      <p:sp>
        <p:nvSpPr>
          <p:cNvPr id="11" name="TextBox 10"/>
          <p:cNvSpPr txBox="1"/>
          <p:nvPr/>
        </p:nvSpPr>
        <p:spPr>
          <a:xfrm>
            <a:off x="1005840" y="2468880"/>
            <a:ext cx="4754880" cy="3474720"/>
          </a:xfrm>
          <a:prstGeom prst="rect">
            <a:avLst/>
          </a:prstGeom>
          <a:noFill/>
        </p:spPr>
        <p:txBody>
          <a:bodyPr wrap="square" lIns="0" rIns="0">
            <a:spAutoFit/>
          </a:bodyPr>
          <a:lstStyle/>
          <a:p>
            <a:pPr>
              <a:spcBef>
                <a:spcPts val="0"/>
              </a:spcBef>
              <a:spcAft>
                <a:spcPts val="1000"/>
              </a:spcAft>
            </a:pPr>
            <a:r>
              <a:rPr sz="1600" b="1">
                <a:solidFill>
                  <a:srgbClr val="1F6FEB"/>
                </a:solidFill>
                <a:latin typeface="Arial"/>
              </a:rPr>
              <a:t>•  </a:t>
            </a:r>
            <a:r>
              <a:rPr sz="1600">
                <a:solidFill>
                  <a:srgbClr val="161B26"/>
                </a:solidFill>
                <a:latin typeface="Arial"/>
              </a:rPr>
              <a:t>kubectl apply -k ./overlay/</a:t>
            </a:r>
          </a:p>
          <a:p>
            <a:pPr>
              <a:spcBef>
                <a:spcPts val="0"/>
              </a:spcBef>
              <a:spcAft>
                <a:spcPts val="1000"/>
              </a:spcAft>
            </a:pPr>
            <a:r>
              <a:rPr sz="1600" b="1">
                <a:solidFill>
                  <a:srgbClr val="1F6FEB"/>
                </a:solidFill>
                <a:latin typeface="Arial"/>
              </a:rPr>
              <a:t>•  </a:t>
            </a:r>
            <a:r>
              <a:rPr sz="1600">
                <a:solidFill>
                  <a:srgbClr val="161B26"/>
                </a:solidFill>
                <a:latin typeface="Arial"/>
              </a:rPr>
              <a:t>Builds the manifest AND applies it in one step</a:t>
            </a:r>
          </a:p>
          <a:p>
            <a:pPr>
              <a:spcBef>
                <a:spcPts val="0"/>
              </a:spcBef>
              <a:spcAft>
                <a:spcPts val="1000"/>
              </a:spcAft>
            </a:pPr>
            <a:r>
              <a:rPr sz="1600" b="1">
                <a:solidFill>
                  <a:srgbClr val="1F6FEB"/>
                </a:solidFill>
                <a:latin typeface="Arial"/>
              </a:rPr>
              <a:t>•  </a:t>
            </a:r>
            <a:r>
              <a:rPr sz="1600">
                <a:solidFill>
                  <a:srgbClr val="161B26"/>
                </a:solidFill>
                <a:latin typeface="Arial"/>
              </a:rPr>
              <a:t>Use for deploying to the cluster</a:t>
            </a:r>
          </a:p>
          <a:p>
            <a:pPr>
              <a:spcBef>
                <a:spcPts val="0"/>
              </a:spcBef>
              <a:spcAft>
                <a:spcPts val="1000"/>
              </a:spcAft>
            </a:pPr>
            <a:r>
              <a:rPr sz="1600" b="1">
                <a:solidFill>
                  <a:srgbClr val="1F6FEB"/>
                </a:solidFill>
                <a:latin typeface="Arial"/>
              </a:rPr>
              <a:t>•  </a:t>
            </a:r>
            <a:r>
              <a:rPr sz="1600">
                <a:solidFill>
                  <a:srgbClr val="161B26"/>
                </a:solidFill>
                <a:latin typeface="Arial"/>
              </a:rPr>
              <a:t>Equivalent to: kustomize build | kubectl apply -f -</a:t>
            </a:r>
          </a:p>
        </p:txBody>
      </p:sp>
      <p:sp>
        <p:nvSpPr>
          <p:cNvPr id="12" name="TextBox 11"/>
          <p:cNvSpPr txBox="1"/>
          <p:nvPr/>
        </p:nvSpPr>
        <p:spPr>
          <a:xfrm>
            <a:off x="6583680" y="2468880"/>
            <a:ext cx="4617720" cy="3474720"/>
          </a:xfrm>
          <a:prstGeom prst="rect">
            <a:avLst/>
          </a:prstGeom>
          <a:noFill/>
        </p:spPr>
        <p:txBody>
          <a:bodyPr wrap="square" lIns="0" rIns="0">
            <a:spAutoFit/>
          </a:bodyPr>
          <a:lstStyle/>
          <a:p>
            <a:pPr>
              <a:spcBef>
                <a:spcPts val="0"/>
              </a:spcBef>
              <a:spcAft>
                <a:spcPts val="1000"/>
              </a:spcAft>
            </a:pPr>
            <a:r>
              <a:rPr sz="1600" b="1">
                <a:solidFill>
                  <a:srgbClr val="10B981"/>
                </a:solidFill>
                <a:latin typeface="Arial"/>
              </a:rPr>
              <a:t>•  </a:t>
            </a:r>
            <a:r>
              <a:rPr sz="1600">
                <a:solidFill>
                  <a:srgbClr val="161B26"/>
                </a:solidFill>
                <a:latin typeface="Arial"/>
              </a:rPr>
              <a:t>kubectl kustomize ./overlay/</a:t>
            </a:r>
          </a:p>
          <a:p>
            <a:pPr>
              <a:spcBef>
                <a:spcPts val="0"/>
              </a:spcBef>
              <a:spcAft>
                <a:spcPts val="1000"/>
              </a:spcAft>
            </a:pPr>
            <a:r>
              <a:rPr sz="1600" b="1">
                <a:solidFill>
                  <a:srgbClr val="10B981"/>
                </a:solidFill>
                <a:latin typeface="Arial"/>
              </a:rPr>
              <a:t>•  </a:t>
            </a:r>
            <a:r>
              <a:rPr sz="1600">
                <a:solidFill>
                  <a:srgbClr val="161B26"/>
                </a:solidFill>
                <a:latin typeface="Arial"/>
              </a:rPr>
              <a:t>Prints the rendered YAML to stdout only</a:t>
            </a:r>
          </a:p>
          <a:p>
            <a:pPr>
              <a:spcBef>
                <a:spcPts val="0"/>
              </a:spcBef>
              <a:spcAft>
                <a:spcPts val="1000"/>
              </a:spcAft>
            </a:pPr>
            <a:r>
              <a:rPr sz="1600" b="1">
                <a:solidFill>
                  <a:srgbClr val="10B981"/>
                </a:solidFill>
                <a:latin typeface="Arial"/>
              </a:rPr>
              <a:t>•  </a:t>
            </a:r>
            <a:r>
              <a:rPr sz="1600">
                <a:solidFill>
                  <a:srgbClr val="161B26"/>
                </a:solidFill>
                <a:latin typeface="Arial"/>
              </a:rPr>
              <a:t>Use to inspect the merged manifest</a:t>
            </a:r>
          </a:p>
          <a:p>
            <a:pPr>
              <a:spcBef>
                <a:spcPts val="0"/>
              </a:spcBef>
              <a:spcAft>
                <a:spcPts val="1000"/>
              </a:spcAft>
            </a:pPr>
            <a:r>
              <a:rPr sz="1600" b="1">
                <a:solidFill>
                  <a:srgbClr val="10B981"/>
                </a:solidFill>
                <a:latin typeface="Arial"/>
              </a:rPr>
              <a:t>•  </a:t>
            </a:r>
            <a:r>
              <a:rPr sz="1600">
                <a:solidFill>
                  <a:srgbClr val="161B26"/>
                </a:solidFill>
                <a:latin typeface="Arial"/>
              </a:rPr>
              <a:t>Redirect to a file for review or diff</a:t>
            </a:r>
          </a:p>
        </p:txBody>
      </p:sp>
      <p:sp>
        <p:nvSpPr>
          <p:cNvPr id="13" name="TextBox 12"/>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4" name="TextBox 13"/>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5" name="TextBox 14"/>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69</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DOMAIN 1  ·  REUSE WITHOUT TEMPLATING</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Kustomize — Base + Overlays</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331720"/>
            <a:ext cx="2743200" cy="1920240"/>
          </a:xfrm>
          <a:prstGeom prst="roundRect">
            <a:avLst>
              <a:gd name="adj" fmla="val 5000"/>
            </a:avLst>
          </a:prstGeom>
          <a:solidFill>
            <a:srgbClr val="FFFFFF"/>
          </a:solidFill>
          <a:ln w="12700">
            <a:solidFill>
              <a:srgbClr val="161B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2743200" cy="9144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86968" y="2441448"/>
            <a:ext cx="2523744" cy="1810512"/>
          </a:xfrm>
          <a:prstGeom prst="rect">
            <a:avLst/>
          </a:prstGeom>
          <a:noFill/>
        </p:spPr>
        <p:txBody>
          <a:bodyPr wrap="square" anchor="ctr" lIns="0" rIns="0" tIns="0" bIns="0">
            <a:spAutoFit/>
          </a:bodyPr>
          <a:lstStyle/>
          <a:p>
            <a:pPr algn="ctr">
              <a:spcBef>
                <a:spcPts val="0"/>
              </a:spcBef>
              <a:spcAft>
                <a:spcPts val="300"/>
              </a:spcAft>
            </a:pPr>
            <a:r>
              <a:rPr sz="1600" b="1">
                <a:solidFill>
                  <a:srgbClr val="161B26"/>
                </a:solidFill>
                <a:latin typeface="Arial"/>
              </a:rPr>
              <a:t>base/</a:t>
            </a:r>
          </a:p>
          <a:p>
            <a:pPr algn="ctr">
              <a:spcBef>
                <a:spcPts val="0"/>
              </a:spcBef>
              <a:spcAft>
                <a:spcPts val="300"/>
              </a:spcAft>
            </a:pPr>
            <a:r>
              <a:rPr sz="1200" b="0">
                <a:solidFill>
                  <a:srgbClr val="5B6372"/>
                </a:solidFill>
                <a:latin typeface="Arial"/>
              </a:rPr>
              <a:t>deployment.yaml</a:t>
            </a:r>
          </a:p>
          <a:p>
            <a:pPr algn="ctr">
              <a:spcBef>
                <a:spcPts val="0"/>
              </a:spcBef>
              <a:spcAft>
                <a:spcPts val="300"/>
              </a:spcAft>
            </a:pPr>
            <a:r>
              <a:rPr sz="1200" b="0">
                <a:solidFill>
                  <a:srgbClr val="5B6372"/>
                </a:solidFill>
                <a:latin typeface="Arial"/>
              </a:rPr>
              <a:t>service.yaml</a:t>
            </a:r>
          </a:p>
          <a:p>
            <a:pPr algn="ctr">
              <a:spcBef>
                <a:spcPts val="0"/>
              </a:spcBef>
              <a:spcAft>
                <a:spcPts val="300"/>
              </a:spcAft>
            </a:pPr>
            <a:r>
              <a:rPr sz="1200" b="0">
                <a:solidFill>
                  <a:srgbClr val="5B6372"/>
                </a:solidFill>
                <a:latin typeface="Arial"/>
              </a:rPr>
              <a:t>kustomization.yaml</a:t>
            </a:r>
          </a:p>
        </p:txBody>
      </p:sp>
      <p:sp>
        <p:nvSpPr>
          <p:cNvPr id="10" name="Right Arrow 9"/>
          <p:cNvSpPr/>
          <p:nvPr/>
        </p:nvSpPr>
        <p:spPr>
          <a:xfrm>
            <a:off x="3611880" y="3063240"/>
            <a:ext cx="868680" cy="457200"/>
          </a:xfrm>
          <a:prstGeom prst="rightArrow">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572000" y="2331720"/>
            <a:ext cx="2926080" cy="1920240"/>
          </a:xfrm>
          <a:prstGeom prst="roundRect">
            <a:avLst>
              <a:gd name="adj" fmla="val 5000"/>
            </a:avLst>
          </a:prstGeom>
          <a:solidFill>
            <a:srgbClr val="EAF1FE"/>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2331720"/>
            <a:ext cx="2926080"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681728" y="2441448"/>
            <a:ext cx="2706624" cy="1810512"/>
          </a:xfrm>
          <a:prstGeom prst="rect">
            <a:avLst/>
          </a:prstGeom>
          <a:noFill/>
        </p:spPr>
        <p:txBody>
          <a:bodyPr wrap="square" anchor="ctr" lIns="0" rIns="0" tIns="0" bIns="0">
            <a:spAutoFit/>
          </a:bodyPr>
          <a:lstStyle/>
          <a:p>
            <a:pPr algn="ctr">
              <a:spcBef>
                <a:spcPts val="0"/>
              </a:spcBef>
              <a:spcAft>
                <a:spcPts val="300"/>
              </a:spcAft>
            </a:pPr>
            <a:r>
              <a:rPr sz="1600" b="1">
                <a:solidFill>
                  <a:srgbClr val="161B26"/>
                </a:solidFill>
                <a:latin typeface="Arial"/>
              </a:rPr>
              <a:t>overlay</a:t>
            </a:r>
          </a:p>
          <a:p>
            <a:pPr algn="ctr">
              <a:spcBef>
                <a:spcPts val="0"/>
              </a:spcBef>
              <a:spcAft>
                <a:spcPts val="300"/>
              </a:spcAft>
            </a:pPr>
            <a:r>
              <a:rPr sz="1200" b="0">
                <a:solidFill>
                  <a:srgbClr val="5B6372"/>
                </a:solidFill>
                <a:latin typeface="Arial"/>
              </a:rPr>
              <a:t>namePrefix</a:t>
            </a:r>
          </a:p>
          <a:p>
            <a:pPr algn="ctr">
              <a:spcBef>
                <a:spcPts val="0"/>
              </a:spcBef>
              <a:spcAft>
                <a:spcPts val="300"/>
              </a:spcAft>
            </a:pPr>
            <a:r>
              <a:rPr sz="1200" b="0">
                <a:solidFill>
                  <a:srgbClr val="5B6372"/>
                </a:solidFill>
                <a:latin typeface="Arial"/>
              </a:rPr>
              <a:t>commonLabels</a:t>
            </a:r>
          </a:p>
          <a:p>
            <a:pPr algn="ctr">
              <a:spcBef>
                <a:spcPts val="0"/>
              </a:spcBef>
              <a:spcAft>
                <a:spcPts val="300"/>
              </a:spcAft>
            </a:pPr>
            <a:r>
              <a:rPr sz="1200" b="0">
                <a:solidFill>
                  <a:srgbClr val="5B6372"/>
                </a:solidFill>
                <a:latin typeface="Arial"/>
              </a:rPr>
              <a:t>images (newTag)</a:t>
            </a:r>
          </a:p>
          <a:p>
            <a:pPr algn="ctr">
              <a:spcBef>
                <a:spcPts val="0"/>
              </a:spcBef>
              <a:spcAft>
                <a:spcPts val="300"/>
              </a:spcAft>
            </a:pPr>
            <a:r>
              <a:rPr sz="1200" b="0">
                <a:solidFill>
                  <a:srgbClr val="5B6372"/>
                </a:solidFill>
                <a:latin typeface="Arial"/>
              </a:rPr>
              <a:t>patches</a:t>
            </a:r>
          </a:p>
        </p:txBody>
      </p:sp>
      <p:sp>
        <p:nvSpPr>
          <p:cNvPr id="14" name="Right Arrow 13"/>
          <p:cNvSpPr/>
          <p:nvPr/>
        </p:nvSpPr>
        <p:spPr>
          <a:xfrm>
            <a:off x="7589520" y="3063240"/>
            <a:ext cx="868680" cy="457200"/>
          </a:xfrm>
          <a:prstGeom prst="rightArrow">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549640" y="2331720"/>
            <a:ext cx="2880360" cy="868680"/>
          </a:xfrm>
          <a:prstGeom prst="roundRect">
            <a:avLst>
              <a:gd name="adj" fmla="val 5000"/>
            </a:avLst>
          </a:prstGeom>
          <a:solidFill>
            <a:srgbClr val="E8F7EE"/>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549640" y="2331720"/>
            <a:ext cx="2880360"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59368" y="2441448"/>
            <a:ext cx="2660904" cy="758952"/>
          </a:xfrm>
          <a:prstGeom prst="rect">
            <a:avLst/>
          </a:prstGeom>
          <a:noFill/>
        </p:spPr>
        <p:txBody>
          <a:bodyPr wrap="square" anchor="ctr" lIns="0" rIns="0" tIns="0" bIns="0">
            <a:spAutoFit/>
          </a:bodyPr>
          <a:lstStyle/>
          <a:p>
            <a:pPr algn="ctr">
              <a:spcBef>
                <a:spcPts val="0"/>
              </a:spcBef>
              <a:spcAft>
                <a:spcPts val="300"/>
              </a:spcAft>
            </a:pPr>
            <a:r>
              <a:rPr sz="1500" b="1">
                <a:solidFill>
                  <a:srgbClr val="161B26"/>
                </a:solidFill>
                <a:latin typeface="Arial"/>
              </a:rPr>
              <a:t>dev-web</a:t>
            </a:r>
          </a:p>
          <a:p>
            <a:pPr algn="ctr">
              <a:spcBef>
                <a:spcPts val="0"/>
              </a:spcBef>
              <a:spcAft>
                <a:spcPts val="300"/>
              </a:spcAft>
            </a:pPr>
            <a:r>
              <a:rPr sz="1100" b="0">
                <a:solidFill>
                  <a:srgbClr val="5B6372"/>
                </a:solidFill>
                <a:latin typeface="Arial"/>
              </a:rPr>
              <a:t>nginx:1.25 · ×1</a:t>
            </a:r>
          </a:p>
        </p:txBody>
      </p:sp>
      <p:sp>
        <p:nvSpPr>
          <p:cNvPr id="18" name="Rounded Rectangle 17"/>
          <p:cNvSpPr/>
          <p:nvPr/>
        </p:nvSpPr>
        <p:spPr>
          <a:xfrm>
            <a:off x="8549640" y="3383280"/>
            <a:ext cx="2880360" cy="868680"/>
          </a:xfrm>
          <a:prstGeom prst="roundRect">
            <a:avLst>
              <a:gd name="adj" fmla="val 5000"/>
            </a:avLst>
          </a:prstGeom>
          <a:solidFill>
            <a:srgbClr val="E8F7EE"/>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549640" y="3383280"/>
            <a:ext cx="2880360"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659368" y="3493008"/>
            <a:ext cx="2660904" cy="758952"/>
          </a:xfrm>
          <a:prstGeom prst="rect">
            <a:avLst/>
          </a:prstGeom>
          <a:noFill/>
        </p:spPr>
        <p:txBody>
          <a:bodyPr wrap="square" anchor="ctr" lIns="0" rIns="0" tIns="0" bIns="0">
            <a:spAutoFit/>
          </a:bodyPr>
          <a:lstStyle/>
          <a:p>
            <a:pPr algn="ctr">
              <a:spcBef>
                <a:spcPts val="0"/>
              </a:spcBef>
              <a:spcAft>
                <a:spcPts val="300"/>
              </a:spcAft>
            </a:pPr>
            <a:r>
              <a:rPr sz="1500" b="1">
                <a:solidFill>
                  <a:srgbClr val="161B26"/>
                </a:solidFill>
                <a:latin typeface="Arial"/>
              </a:rPr>
              <a:t>prod-web</a:t>
            </a:r>
          </a:p>
          <a:p>
            <a:pPr algn="ctr">
              <a:spcBef>
                <a:spcPts val="0"/>
              </a:spcBef>
              <a:spcAft>
                <a:spcPts val="300"/>
              </a:spcAft>
            </a:pPr>
            <a:r>
              <a:rPr sz="1100" b="0">
                <a:solidFill>
                  <a:srgbClr val="5B6372"/>
                </a:solidFill>
                <a:latin typeface="Arial"/>
              </a:rPr>
              <a:t>nginx:1.26 · ×5</a:t>
            </a:r>
          </a:p>
        </p:txBody>
      </p:sp>
      <p:sp>
        <p:nvSpPr>
          <p:cNvPr id="21" name="TextBox 20"/>
          <p:cNvSpPr txBox="1"/>
          <p:nvPr/>
        </p:nvSpPr>
        <p:spPr>
          <a:xfrm>
            <a:off x="7589520" y="4343400"/>
            <a:ext cx="868680" cy="292608"/>
          </a:xfrm>
          <a:prstGeom prst="rect">
            <a:avLst/>
          </a:prstGeom>
          <a:noFill/>
        </p:spPr>
        <p:txBody>
          <a:bodyPr wrap="square" anchor="ctr" lIns="0" rIns="0" tIns="0" bIns="0">
            <a:spAutoFit/>
          </a:bodyPr>
          <a:lstStyle/>
          <a:p>
            <a:pPr algn="ctr">
              <a:spcBef>
                <a:spcPts val="0"/>
              </a:spcBef>
              <a:spcAft>
                <a:spcPts val="400"/>
              </a:spcAft>
            </a:pPr>
            <a:r>
              <a:rPr sz="900" b="1">
                <a:solidFill>
                  <a:srgbClr val="5B6372"/>
                </a:solidFill>
                <a:latin typeface="Arial"/>
              </a:rPr>
              <a:t>kubectl apply -k</a:t>
            </a:r>
          </a:p>
        </p:txBody>
      </p:sp>
      <p:sp>
        <p:nvSpPr>
          <p:cNvPr id="22" name="Rounded Rectangle 21"/>
          <p:cNvSpPr/>
          <p:nvPr/>
        </p:nvSpPr>
        <p:spPr>
          <a:xfrm>
            <a:off x="777240" y="5943600"/>
            <a:ext cx="10652760" cy="502920"/>
          </a:xfrm>
          <a:prstGeom prst="roundRect">
            <a:avLst>
              <a:gd name="adj" fmla="val 5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51560" y="5943600"/>
            <a:ext cx="10149840" cy="502920"/>
          </a:xfrm>
          <a:prstGeom prst="rect">
            <a:avLst/>
          </a:prstGeom>
          <a:noFill/>
        </p:spPr>
        <p:txBody>
          <a:bodyPr wrap="square" anchor="ctr" lIns="0" rIns="0" tIns="0" bIns="0">
            <a:spAutoFit/>
          </a:bodyPr>
          <a:lstStyle/>
          <a:p>
            <a:pPr algn="l">
              <a:spcBef>
                <a:spcPts val="0"/>
              </a:spcBef>
              <a:spcAft>
                <a:spcPts val="400"/>
              </a:spcAft>
            </a:pPr>
            <a:r>
              <a:rPr sz="1300" b="0">
                <a:solidFill>
                  <a:srgbClr val="5B6372"/>
                </a:solidFill>
                <a:latin typeface="Arial"/>
              </a:rPr>
              <a:t>One </a:t>
            </a:r>
            <a:r>
              <a:rPr sz="1300" b="1">
                <a:solidFill>
                  <a:srgbClr val="161B26"/>
                </a:solidFill>
                <a:latin typeface="Arial"/>
              </a:rPr>
              <a:t>base</a:t>
            </a:r>
            <a:r>
              <a:rPr sz="1300" b="0">
                <a:solidFill>
                  <a:srgbClr val="5B6372"/>
                </a:solidFill>
                <a:latin typeface="Arial"/>
              </a:rPr>
              <a:t>, many </a:t>
            </a:r>
            <a:r>
              <a:rPr sz="1300" b="1">
                <a:solidFill>
                  <a:srgbClr val="161B26"/>
                </a:solidFill>
                <a:latin typeface="Arial"/>
              </a:rPr>
              <a:t>overlays</a:t>
            </a:r>
            <a:r>
              <a:rPr sz="1300" b="0">
                <a:solidFill>
                  <a:srgbClr val="5B6372"/>
                </a:solidFill>
                <a:latin typeface="Arial"/>
              </a:rPr>
              <a:t>. apply -k and kubectl kustomize are built into kubectl — no extra binary.</a:t>
            </a:r>
          </a:p>
        </p:txBody>
      </p:sp>
      <p:sp>
        <p:nvSpPr>
          <p:cNvPr id="24" name="TextBox 23"/>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25" name="TextBox 24"/>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26" name="TextBox 25"/>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70</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DAY 1 · KUSTOMIZE</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Kustomize: Base + Overlays, namePrefix, images, patches, kubectl apply -k</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64208"/>
            <a:ext cx="169164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09928"/>
            <a:ext cx="1691640" cy="365760"/>
          </a:xfrm>
          <a:prstGeom prst="rect">
            <a:avLst/>
          </a:prstGeom>
          <a:noFill/>
        </p:spPr>
        <p:txBody>
          <a:bodyPr wrap="square" anchor="t" lIns="0" rIns="0" tIns="0" bIns="0">
            <a:spAutoFit/>
          </a:bodyPr>
          <a:lstStyle/>
          <a:p>
            <a:pPr algn="ctr">
              <a:spcBef>
                <a:spcPts val="0"/>
              </a:spcBef>
              <a:spcAft>
                <a:spcPts val="400"/>
              </a:spcAft>
            </a:pPr>
            <a:r>
              <a:rPr sz="1600" b="1">
                <a:solidFill>
                  <a:srgbClr val="FFFFFF"/>
                </a:solidFill>
                <a:latin typeface="Arial"/>
              </a:rPr>
              <a:t>LAB 7</a:t>
            </a:r>
          </a:p>
        </p:txBody>
      </p:sp>
      <p:sp>
        <p:nvSpPr>
          <p:cNvPr id="9" name="TextBox 8"/>
          <p:cNvSpPr txBox="1"/>
          <p:nvPr/>
        </p:nvSpPr>
        <p:spPr>
          <a:xfrm>
            <a:off x="2697480" y="1691640"/>
            <a:ext cx="8778240" cy="411480"/>
          </a:xfrm>
          <a:prstGeom prst="rect">
            <a:avLst/>
          </a:prstGeom>
          <a:noFill/>
        </p:spPr>
        <p:txBody>
          <a:bodyPr wrap="square" anchor="ctr" lIns="0" rIns="0" tIns="0" bIns="0">
            <a:spAutoFit/>
          </a:bodyPr>
          <a:lstStyle/>
          <a:p>
            <a:pPr algn="l">
              <a:spcBef>
                <a:spcPts val="0"/>
              </a:spcBef>
              <a:spcAft>
                <a:spcPts val="400"/>
              </a:spcAft>
            </a:pPr>
            <a:r>
              <a:rPr sz="1400" b="1">
                <a:solidFill>
                  <a:srgbClr val="5B6372"/>
                </a:solidFill>
                <a:latin typeface="Arial"/>
              </a:rPr>
              <a:t>Kustomize</a:t>
            </a:r>
          </a:p>
        </p:txBody>
      </p:sp>
      <p:sp>
        <p:nvSpPr>
          <p:cNvPr id="10" name="TextBox 9"/>
          <p:cNvSpPr txBox="1"/>
          <p:nvPr/>
        </p:nvSpPr>
        <p:spPr>
          <a:xfrm>
            <a:off x="777240" y="2286000"/>
            <a:ext cx="10698480" cy="1554480"/>
          </a:xfrm>
          <a:prstGeom prst="rect">
            <a:avLst/>
          </a:prstGeom>
          <a:noFill/>
        </p:spPr>
        <p:txBody>
          <a:bodyPr wrap="square" anchor="t" lIns="0" rIns="0" tIns="0" bIns="0">
            <a:spAutoFit/>
          </a:bodyPr>
          <a:lstStyle/>
          <a:p>
            <a:pPr algn="l">
              <a:spcBef>
                <a:spcPts val="0"/>
              </a:spcBef>
              <a:spcAft>
                <a:spcPts val="400"/>
              </a:spcAft>
            </a:pPr>
            <a:r>
              <a:rPr sz="1900" b="0">
                <a:solidFill>
                  <a:srgbClr val="161B26"/>
                </a:solidFill>
                <a:latin typeface="Arial"/>
              </a:rPr>
              <a:t>Use Kustomize (built into kubectl) to manage base manifests and environment-specific overlays without file duplication. CKA tests kubectl apply -k, namePrefix, image overrides, and strategic merge patches.</a:t>
            </a:r>
          </a:p>
        </p:txBody>
      </p:sp>
      <p:sp>
        <p:nvSpPr>
          <p:cNvPr id="11" name="Rounded Rectangle 10"/>
          <p:cNvSpPr/>
          <p:nvPr/>
        </p:nvSpPr>
        <p:spPr>
          <a:xfrm>
            <a:off x="777240" y="4069080"/>
            <a:ext cx="10698480" cy="1783080"/>
          </a:xfrm>
          <a:prstGeom prst="roundRect">
            <a:avLst>
              <a:gd name="adj" fmla="val 5000"/>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05840" y="4251960"/>
            <a:ext cx="10058400" cy="365760"/>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You'll build</a:t>
            </a:r>
          </a:p>
        </p:txBody>
      </p:sp>
      <p:sp>
        <p:nvSpPr>
          <p:cNvPr id="13" name="TextBox 12"/>
          <p:cNvSpPr txBox="1"/>
          <p:nvPr/>
        </p:nvSpPr>
        <p:spPr>
          <a:xfrm>
            <a:off x="1005840" y="4617720"/>
            <a:ext cx="10241280" cy="640080"/>
          </a:xfrm>
          <a:prstGeom prst="rect">
            <a:avLst/>
          </a:prstGeom>
          <a:noFill/>
        </p:spPr>
        <p:txBody>
          <a:bodyPr wrap="square" anchor="t" lIns="0" rIns="0" tIns="0" bIns="0">
            <a:spAutoFit/>
          </a:bodyPr>
          <a:lstStyle/>
          <a:p>
            <a:pPr algn="l">
              <a:spcBef>
                <a:spcPts val="0"/>
              </a:spcBef>
              <a:spcAft>
                <a:spcPts val="400"/>
              </a:spcAft>
            </a:pPr>
            <a:r>
              <a:rPr sz="1700" b="1">
                <a:solidFill>
                  <a:srgbClr val="161B26"/>
                </a:solidFill>
                <a:latin typeface="Arial"/>
              </a:rPr>
              <a:t>Create base (deployment + service + kustomization.yaml), dev overlay with namePrefix and image override, production overlay with replica patch. Apply with kubectl apply -k.</a:t>
            </a:r>
          </a:p>
        </p:txBody>
      </p:sp>
      <p:sp>
        <p:nvSpPr>
          <p:cNvPr id="14" name="TextBox 13"/>
          <p:cNvSpPr txBox="1"/>
          <p:nvPr/>
        </p:nvSpPr>
        <p:spPr>
          <a:xfrm>
            <a:off x="1005840" y="5349240"/>
            <a:ext cx="10058400" cy="457200"/>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Key commands:  </a:t>
            </a:r>
            <a:r>
              <a:rPr sz="1300" b="0">
                <a:solidFill>
                  <a:srgbClr val="5B6372"/>
                </a:solidFill>
                <a:latin typeface="Arial"/>
              </a:rPr>
              <a:t>kubectl kustomize · mkdir -p · cat &lt;&lt;'EOF' · kubectl create · kubectl diff · » namePrefix</a:t>
            </a:r>
          </a:p>
        </p:txBody>
      </p:sp>
      <p:sp>
        <p:nvSpPr>
          <p:cNvPr id="15" name="TextBox 14"/>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6" name="TextBox 15"/>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7" name="TextBox 16"/>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71</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7  ·  COMMANDS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Kustomize: Base + Overlays, namePrefix, images, patches, kubectl apply -k</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91640"/>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Step 1 -- Verify kustomize is built into kubectl</a:t>
            </a:r>
          </a:p>
        </p:txBody>
      </p:sp>
      <p:sp>
        <p:nvSpPr>
          <p:cNvPr id="8" name="Rounded Rectangle 7"/>
          <p:cNvSpPr/>
          <p:nvPr/>
        </p:nvSpPr>
        <p:spPr>
          <a:xfrm>
            <a:off x="777240" y="2075688"/>
            <a:ext cx="10652760" cy="521207"/>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075688"/>
            <a:ext cx="82296" cy="521207"/>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6" y="2139696"/>
            <a:ext cx="10323576" cy="429767"/>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kubectl kustomize --help</a:t>
            </a:r>
          </a:p>
          <a:p>
            <a:pPr>
              <a:spcBef>
                <a:spcPts val="0"/>
              </a:spcBef>
              <a:spcAft>
                <a:spcPts val="0"/>
              </a:spcAft>
            </a:pPr>
            <a:r>
              <a:rPr sz="1050">
                <a:solidFill>
                  <a:srgbClr val="161B26"/>
                </a:solidFill>
                <a:latin typeface="Consolas"/>
              </a:rPr>
              <a:t>kubectl version --client -o yaml | grep -i kustomize</a:t>
            </a:r>
          </a:p>
        </p:txBody>
      </p:sp>
      <p:sp>
        <p:nvSpPr>
          <p:cNvPr id="11" name="TextBox 10"/>
          <p:cNvSpPr txBox="1"/>
          <p:nvPr/>
        </p:nvSpPr>
        <p:spPr>
          <a:xfrm>
            <a:off x="777240" y="2779775"/>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Step 2 -- Create base layer</a:t>
            </a:r>
          </a:p>
        </p:txBody>
      </p:sp>
      <p:sp>
        <p:nvSpPr>
          <p:cNvPr id="12" name="Rounded Rectangle 11"/>
          <p:cNvSpPr/>
          <p:nvPr/>
        </p:nvSpPr>
        <p:spPr>
          <a:xfrm>
            <a:off x="777240" y="3163823"/>
            <a:ext cx="10652760" cy="896112"/>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3163823"/>
            <a:ext cx="82296" cy="896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3227831"/>
            <a:ext cx="10323576" cy="804672"/>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mkdir -p ~/kustomize-lab/base ~/kustomize-lab/overlays/dev</a:t>
            </a:r>
          </a:p>
          <a:p>
            <a:pPr>
              <a:spcBef>
                <a:spcPts val="0"/>
              </a:spcBef>
              <a:spcAft>
                <a:spcPts val="0"/>
              </a:spcAft>
            </a:pPr>
            <a:r>
              <a:rPr sz="1050">
                <a:solidFill>
                  <a:srgbClr val="161B26"/>
                </a:solidFill>
                <a:latin typeface="Consolas"/>
              </a:rPr>
              <a:t># Create base/deployment.yaml, base/service.yaml</a:t>
            </a:r>
          </a:p>
          <a:p>
            <a:pPr>
              <a:spcBef>
                <a:spcPts val="0"/>
              </a:spcBef>
              <a:spcAft>
                <a:spcPts val="0"/>
              </a:spcAft>
            </a:pPr>
            <a:r>
              <a:rPr sz="1050">
                <a:solidFill>
                  <a:srgbClr val="161B26"/>
                </a:solidFill>
                <a:latin typeface="Consolas"/>
              </a:rPr>
              <a:t># Create base/kustomization.yaml with resources list</a:t>
            </a:r>
          </a:p>
          <a:p>
            <a:pPr>
              <a:spcBef>
                <a:spcPts val="0"/>
              </a:spcBef>
              <a:spcAft>
                <a:spcPts val="0"/>
              </a:spcAft>
            </a:pPr>
            <a:r>
              <a:rPr sz="1050">
                <a:solidFill>
                  <a:srgbClr val="161B26"/>
                </a:solidFill>
                <a:latin typeface="Consolas"/>
              </a:rPr>
              <a:t>kubectl kustomize ~/kustomize-lab/base</a:t>
            </a:r>
          </a:p>
        </p:txBody>
      </p:sp>
      <p:sp>
        <p:nvSpPr>
          <p:cNvPr id="15" name="TextBox 14"/>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6" name="TextBox 15"/>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7" name="TextBox 16"/>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72</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7  ·  COMMANDS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Kustomize: Base + Overlays, namePrefix, images, patches, kubectl apply -k (cont.)</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91640"/>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Step 3 -- Dev overlay with namePrefix</a:t>
            </a:r>
          </a:p>
        </p:txBody>
      </p:sp>
      <p:sp>
        <p:nvSpPr>
          <p:cNvPr id="8" name="Rounded Rectangle 7"/>
          <p:cNvSpPr/>
          <p:nvPr/>
        </p:nvSpPr>
        <p:spPr>
          <a:xfrm>
            <a:off x="777240" y="2075688"/>
            <a:ext cx="10652760" cy="2020824"/>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075688"/>
            <a:ext cx="82296" cy="20208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6" y="2139696"/>
            <a:ext cx="10323576" cy="1929384"/>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cat &lt;&lt;'EOF' &gt; ~/kustomize-lab/overlays/dev/kustomization.yaml</a:t>
            </a:r>
          </a:p>
          <a:p>
            <a:pPr>
              <a:spcBef>
                <a:spcPts val="0"/>
              </a:spcBef>
              <a:spcAft>
                <a:spcPts val="0"/>
              </a:spcAft>
            </a:pPr>
            <a:r>
              <a:rPr sz="1050">
                <a:solidFill>
                  <a:srgbClr val="161B26"/>
                </a:solidFill>
                <a:latin typeface="Consolas"/>
              </a:rPr>
              <a:t>bases:</a:t>
            </a:r>
          </a:p>
          <a:p>
            <a:pPr>
              <a:spcBef>
                <a:spcPts val="0"/>
              </a:spcBef>
              <a:spcAft>
                <a:spcPts val="0"/>
              </a:spcAft>
            </a:pPr>
            <a:r>
              <a:rPr sz="1050">
                <a:solidFill>
                  <a:srgbClr val="161B26"/>
                </a:solidFill>
                <a:latin typeface="Consolas"/>
              </a:rPr>
              <a:t>  - ../../base</a:t>
            </a:r>
          </a:p>
          <a:p>
            <a:pPr>
              <a:spcBef>
                <a:spcPts val="0"/>
              </a:spcBef>
              <a:spcAft>
                <a:spcPts val="0"/>
              </a:spcAft>
            </a:pPr>
            <a:r>
              <a:rPr sz="1050">
                <a:solidFill>
                  <a:srgbClr val="161B26"/>
                </a:solidFill>
                <a:latin typeface="Consolas"/>
              </a:rPr>
              <a:t>namePrefix: dev-</a:t>
            </a:r>
          </a:p>
          <a:p>
            <a:pPr>
              <a:spcBef>
                <a:spcPts val="0"/>
              </a:spcBef>
              <a:spcAft>
                <a:spcPts val="0"/>
              </a:spcAft>
            </a:pPr>
            <a:r>
              <a:rPr sz="1050">
                <a:solidFill>
                  <a:srgbClr val="161B26"/>
                </a:solidFill>
                <a:latin typeface="Consolas"/>
              </a:rPr>
              <a:t>namespace: dev</a:t>
            </a:r>
          </a:p>
          <a:p>
            <a:pPr>
              <a:spcBef>
                <a:spcPts val="0"/>
              </a:spcBef>
              <a:spcAft>
                <a:spcPts val="0"/>
              </a:spcAft>
            </a:pPr>
            <a:r>
              <a:rPr sz="1050">
                <a:solidFill>
                  <a:srgbClr val="161B26"/>
                </a:solidFill>
                <a:latin typeface="Consolas"/>
              </a:rPr>
              <a:t>images:</a:t>
            </a:r>
          </a:p>
          <a:p>
            <a:pPr>
              <a:spcBef>
                <a:spcPts val="0"/>
              </a:spcBef>
              <a:spcAft>
                <a:spcPts val="0"/>
              </a:spcAft>
            </a:pPr>
            <a:r>
              <a:rPr sz="1050">
                <a:solidFill>
                  <a:srgbClr val="161B26"/>
                </a:solidFill>
                <a:latin typeface="Consolas"/>
              </a:rPr>
              <a:t>  - name: nginx</a:t>
            </a:r>
          </a:p>
          <a:p>
            <a:pPr>
              <a:spcBef>
                <a:spcPts val="0"/>
              </a:spcBef>
              <a:spcAft>
                <a:spcPts val="0"/>
              </a:spcAft>
            </a:pPr>
            <a:r>
              <a:rPr sz="1050">
                <a:solidFill>
                  <a:srgbClr val="161B26"/>
                </a:solidFill>
                <a:latin typeface="Consolas"/>
              </a:rPr>
              <a:t>    newTag: '1.25-alpine'</a:t>
            </a:r>
          </a:p>
          <a:p>
            <a:pPr>
              <a:spcBef>
                <a:spcPts val="0"/>
              </a:spcBef>
              <a:spcAft>
                <a:spcPts val="0"/>
              </a:spcAft>
            </a:pPr>
            <a:r>
              <a:rPr sz="1050">
                <a:solidFill>
                  <a:srgbClr val="161B26"/>
                </a:solidFill>
                <a:latin typeface="Consolas"/>
              </a:rPr>
              <a:t>EOF</a:t>
            </a:r>
          </a:p>
          <a:p>
            <a:pPr>
              <a:spcBef>
                <a:spcPts val="0"/>
              </a:spcBef>
              <a:spcAft>
                <a:spcPts val="0"/>
              </a:spcAft>
            </a:pPr>
            <a:r>
              <a:rPr sz="1050">
                <a:solidFill>
                  <a:srgbClr val="161B26"/>
                </a:solidFill>
                <a:latin typeface="Consolas"/>
              </a:rPr>
              <a:t>kubectl kustomize ~/kustomize-lab/overlays/dev</a:t>
            </a:r>
          </a:p>
        </p:txBody>
      </p:sp>
      <p:sp>
        <p:nvSpPr>
          <p:cNvPr id="11" name="TextBox 10"/>
          <p:cNvSpPr txBox="1"/>
          <p:nvPr/>
        </p:nvSpPr>
        <p:spPr>
          <a:xfrm>
            <a:off x="777240" y="4279392"/>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Step 4 -- Apply overlays</a:t>
            </a:r>
          </a:p>
        </p:txBody>
      </p:sp>
      <p:sp>
        <p:nvSpPr>
          <p:cNvPr id="12" name="Rounded Rectangle 11"/>
          <p:cNvSpPr/>
          <p:nvPr/>
        </p:nvSpPr>
        <p:spPr>
          <a:xfrm>
            <a:off x="777240" y="4663440"/>
            <a:ext cx="10652760" cy="896112"/>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663440"/>
            <a:ext cx="82296" cy="896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727448"/>
            <a:ext cx="10323576" cy="804672"/>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kubectl create namespace dev</a:t>
            </a:r>
          </a:p>
          <a:p>
            <a:pPr>
              <a:spcBef>
                <a:spcPts val="0"/>
              </a:spcBef>
              <a:spcAft>
                <a:spcPts val="0"/>
              </a:spcAft>
            </a:pPr>
            <a:r>
              <a:rPr sz="1050">
                <a:solidFill>
                  <a:srgbClr val="161B26"/>
                </a:solidFill>
                <a:latin typeface="Consolas"/>
              </a:rPr>
              <a:t>kubectl apply -k ~/kustomize-lab/overlays/dev</a:t>
            </a:r>
          </a:p>
          <a:p>
            <a:pPr>
              <a:spcBef>
                <a:spcPts val="0"/>
              </a:spcBef>
              <a:spcAft>
                <a:spcPts val="0"/>
              </a:spcAft>
            </a:pPr>
            <a:r>
              <a:rPr sz="1050">
                <a:solidFill>
                  <a:srgbClr val="161B26"/>
                </a:solidFill>
                <a:latin typeface="Consolas"/>
              </a:rPr>
              <a:t>kubectl get deployment -n dev</a:t>
            </a:r>
          </a:p>
          <a:p>
            <a:pPr>
              <a:spcBef>
                <a:spcPts val="0"/>
              </a:spcBef>
              <a:spcAft>
                <a:spcPts val="0"/>
              </a:spcAft>
            </a:pPr>
            <a:r>
              <a:rPr sz="1050">
                <a:solidFill>
                  <a:srgbClr val="161B26"/>
                </a:solidFill>
                <a:latin typeface="Consolas"/>
              </a:rPr>
              <a:t># NAME: dev-webapp</a:t>
            </a:r>
          </a:p>
        </p:txBody>
      </p:sp>
      <p:sp>
        <p:nvSpPr>
          <p:cNvPr id="15" name="TextBox 14"/>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6" name="TextBox 15"/>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7" name="TextBox 16"/>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73</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7  ·  COMMANDS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Kustomize: Base + Overlays, namePrefix, images, patches, kubectl apply -k (cont.)</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91640"/>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Step 5 -- Preview changes before applying</a:t>
            </a:r>
          </a:p>
        </p:txBody>
      </p:sp>
      <p:sp>
        <p:nvSpPr>
          <p:cNvPr id="8" name="Rounded Rectangle 7"/>
          <p:cNvSpPr/>
          <p:nvPr/>
        </p:nvSpPr>
        <p:spPr>
          <a:xfrm>
            <a:off x="777240" y="2075688"/>
            <a:ext cx="10652760" cy="333756"/>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075688"/>
            <a:ext cx="82296" cy="33375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6" y="2139696"/>
            <a:ext cx="10323576" cy="242316"/>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kubectl diff -k ~/kustomize-lab/overlays/dev</a:t>
            </a:r>
          </a:p>
        </p:txBody>
      </p:sp>
      <p:sp>
        <p:nvSpPr>
          <p:cNvPr id="11" name="TextBox 10"/>
          <p:cNvSpPr txBox="1"/>
          <p:nvPr/>
        </p:nvSpPr>
        <p:spPr>
          <a:xfrm>
            <a:off x="777240" y="2592324"/>
            <a:ext cx="10652760" cy="310896"/>
          </a:xfrm>
          <a:prstGeom prst="rect">
            <a:avLst/>
          </a:prstGeom>
          <a:noFill/>
        </p:spPr>
        <p:txBody>
          <a:bodyPr wrap="square" anchor="t" lIns="0" rIns="0" tIns="0" bIns="0">
            <a:spAutoFit/>
          </a:bodyPr>
          <a:lstStyle/>
          <a:p>
            <a:pPr algn="l">
              <a:spcBef>
                <a:spcPts val="0"/>
              </a:spcBef>
              <a:spcAft>
                <a:spcPts val="400"/>
              </a:spcAft>
            </a:pPr>
            <a:r>
              <a:rPr sz="1300" b="1">
                <a:solidFill>
                  <a:srgbClr val="F59E0B"/>
                </a:solidFill>
                <a:latin typeface="Arial"/>
              </a:rPr>
              <a:t>Note   </a:t>
            </a:r>
            <a:r>
              <a:rPr sz="1300" b="0">
                <a:solidFill>
                  <a:srgbClr val="5B6372"/>
                </a:solidFill>
                <a:latin typeface="Arial"/>
              </a:rPr>
              <a:t>namePrefix automatically updates all cross-references (selectors, labels). kubectl diff -k previews changes before applying -- essential for safe production.</a:t>
            </a:r>
          </a:p>
        </p:txBody>
      </p:sp>
      <p:sp>
        <p:nvSpPr>
          <p:cNvPr id="12" name="TextBox 11"/>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3" name="TextBox 12"/>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4" name="TextBox 13"/>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74</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7  ·  TEST IT</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Kustomize: Base + Overlays, namePrefix, images, patches, kubectl apply -k</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03120"/>
            <a:ext cx="10698480" cy="2560320"/>
          </a:xfrm>
          <a:prstGeom prst="roundRect">
            <a:avLst>
              <a:gd name="adj" fmla="val 5000"/>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lIns="0" rIns="0" tIns="0" bIns="0">
            <a:spAutoFit/>
          </a:bodyPr>
          <a:lstStyle/>
          <a:p>
            <a:pPr algn="l">
              <a:spcBef>
                <a:spcPts val="0"/>
              </a:spcBef>
              <a:spcAft>
                <a:spcPts val="400"/>
              </a:spcAft>
            </a:pPr>
            <a:r>
              <a:rPr sz="2200" b="1">
                <a:solidFill>
                  <a:srgbClr val="127A3E"/>
                </a:solidFill>
                <a:latin typeface="Arial"/>
              </a:rPr>
              <a:t>✅  Test it</a:t>
            </a:r>
          </a:p>
        </p:txBody>
      </p:sp>
      <p:sp>
        <p:nvSpPr>
          <p:cNvPr id="9" name="TextBox 8"/>
          <p:cNvSpPr txBox="1"/>
          <p:nvPr/>
        </p:nvSpPr>
        <p:spPr>
          <a:xfrm>
            <a:off x="1097280" y="3017520"/>
            <a:ext cx="10149840" cy="1463040"/>
          </a:xfrm>
          <a:prstGeom prst="rect">
            <a:avLst/>
          </a:prstGeom>
          <a:noFill/>
        </p:spPr>
        <p:txBody>
          <a:bodyPr wrap="square" anchor="t" lIns="0" rIns="0" tIns="0" bIns="0">
            <a:spAutoFit/>
          </a:bodyPr>
          <a:lstStyle/>
          <a:p>
            <a:pPr algn="l">
              <a:spcBef>
                <a:spcPts val="0"/>
              </a:spcBef>
              <a:spcAft>
                <a:spcPts val="400"/>
              </a:spcAft>
            </a:pPr>
            <a:r>
              <a:rPr sz="1800" b="0">
                <a:solidFill>
                  <a:srgbClr val="161B26"/>
                </a:solidFill>
                <a:latin typeface="Arial"/>
              </a:rPr>
              <a:t>kubectl get deployment -n dev shows dev-webapp (namePrefix applied). kubectl diff -k shows planned changes without modifying the cluster.</a:t>
            </a:r>
          </a:p>
        </p:txBody>
      </p:sp>
      <p:sp>
        <p:nvSpPr>
          <p:cNvPr id="10" name="TextBox 9"/>
          <p:cNvSpPr txBox="1"/>
          <p:nvPr/>
        </p:nvSpPr>
        <p:spPr>
          <a:xfrm>
            <a:off x="777240" y="4983480"/>
            <a:ext cx="10698480" cy="365760"/>
          </a:xfrm>
          <a:prstGeom prst="rect">
            <a:avLst/>
          </a:prstGeom>
          <a:noFill/>
        </p:spPr>
        <p:txBody>
          <a:bodyPr wrap="square" anchor="t" lIns="0" rIns="0" tIns="0" bIns="0">
            <a:spAutoFit/>
          </a:bodyPr>
          <a:lstStyle/>
          <a:p>
            <a:pPr algn="l">
              <a:spcBef>
                <a:spcPts val="0"/>
              </a:spcBef>
              <a:spcAft>
                <a:spcPts val="400"/>
              </a:spcAft>
            </a:pPr>
            <a:r>
              <a:rPr sz="1300" b="1">
                <a:solidFill>
                  <a:srgbClr val="10B981"/>
                </a:solidFill>
                <a:latin typeface="Arial"/>
              </a:rPr>
              <a:t>Killercoda:  </a:t>
            </a:r>
            <a:r>
              <a:rPr sz="1300" b="0">
                <a:solidFill>
                  <a:srgbClr val="5B6372"/>
                </a:solidFill>
                <a:latin typeface="Arial"/>
              </a:rPr>
              <a:t>https://killercoda.com/playgrounds/scenario/kubernetes</a:t>
            </a:r>
          </a:p>
        </p:txBody>
      </p:sp>
      <p:sp>
        <p:nvSpPr>
          <p:cNvPr id="11" name="TextBox 10"/>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75</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56832"/>
            <a:ext cx="12191695" cy="2011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937760" y="2148840"/>
            <a:ext cx="2313432"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0" y="2514600"/>
            <a:ext cx="12191695" cy="1097280"/>
          </a:xfrm>
          <a:prstGeom prst="rect">
            <a:avLst/>
          </a:prstGeom>
          <a:noFill/>
        </p:spPr>
        <p:txBody>
          <a:bodyPr wrap="square" anchor="t" lIns="0" rIns="0" tIns="0" bIns="0">
            <a:spAutoFit/>
          </a:bodyPr>
          <a:lstStyle/>
          <a:p>
            <a:pPr algn="ctr">
              <a:spcBef>
                <a:spcPts val="0"/>
              </a:spcBef>
              <a:spcAft>
                <a:spcPts val="400"/>
              </a:spcAft>
            </a:pPr>
            <a:r>
              <a:rPr sz="4800" b="1">
                <a:solidFill>
                  <a:srgbClr val="161B26"/>
                </a:solidFill>
                <a:latin typeface="Arial"/>
              </a:rPr>
              <a:t>Tea Break</a:t>
            </a:r>
          </a:p>
        </p:txBody>
      </p:sp>
      <p:sp>
        <p:nvSpPr>
          <p:cNvPr id="7" name="TextBox 6"/>
          <p:cNvSpPr txBox="1"/>
          <p:nvPr/>
        </p:nvSpPr>
        <p:spPr>
          <a:xfrm>
            <a:off x="0" y="3703320"/>
            <a:ext cx="12191695" cy="731520"/>
          </a:xfrm>
          <a:prstGeom prst="rect">
            <a:avLst/>
          </a:prstGeom>
          <a:noFill/>
        </p:spPr>
        <p:txBody>
          <a:bodyPr wrap="square" anchor="t" lIns="0" rIns="0" tIns="0" bIns="0">
            <a:spAutoFit/>
          </a:bodyPr>
          <a:lstStyle/>
          <a:p>
            <a:pPr algn="ctr">
              <a:spcBef>
                <a:spcPts val="0"/>
              </a:spcBef>
              <a:spcAft>
                <a:spcPts val="400"/>
              </a:spcAft>
            </a:pPr>
            <a:r>
              <a:rPr sz="2200" b="1">
                <a:solidFill>
                  <a:srgbClr val="10B981"/>
                </a:solidFill>
                <a:latin typeface="Arial"/>
              </a:rPr>
              <a:t>15 minutes</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lIns="0" rIns="0" tIns="0" bIns="0">
            <a:spAutoFit/>
          </a:bodyPr>
          <a:lstStyle/>
          <a:p>
            <a:pPr algn="l">
              <a:spcBef>
                <a:spcPts val="0"/>
              </a:spcBef>
              <a:spcAft>
                <a:spcPts val="400"/>
              </a:spcAft>
            </a:pPr>
            <a:r>
              <a:rPr sz="1800" b="1">
                <a:solidFill>
                  <a:srgbClr val="1F6FEB"/>
                </a:solidFill>
                <a:latin typeface="Arial"/>
              </a:rPr>
              <a:t>TOPIC 7</a:t>
            </a:r>
          </a:p>
        </p:txBody>
      </p:sp>
      <p:sp>
        <p:nvSpPr>
          <p:cNvPr id="6" name="TextBox 5"/>
          <p:cNvSpPr txBox="1"/>
          <p:nvPr/>
        </p:nvSpPr>
        <p:spPr>
          <a:xfrm>
            <a:off x="1143000" y="2743200"/>
            <a:ext cx="10424160" cy="1463040"/>
          </a:xfrm>
          <a:prstGeom prst="rect">
            <a:avLst/>
          </a:prstGeom>
          <a:noFill/>
        </p:spPr>
        <p:txBody>
          <a:bodyPr wrap="square" anchor="t" lIns="0" rIns="0" tIns="0" bIns="0">
            <a:spAutoFit/>
          </a:bodyPr>
          <a:lstStyle/>
          <a:p>
            <a:pPr algn="l">
              <a:spcBef>
                <a:spcPts val="0"/>
              </a:spcBef>
              <a:spcAft>
                <a:spcPts val="400"/>
              </a:spcAft>
            </a:pPr>
            <a:r>
              <a:rPr sz="4000" b="1">
                <a:solidFill>
                  <a:srgbClr val="161B26"/>
                </a:solidFill>
                <a:latin typeface="Arial"/>
              </a:rPr>
              <a:t>RBAC — Role-Based Access Control</a:t>
            </a:r>
          </a:p>
        </p:txBody>
      </p:sp>
      <p:sp>
        <p:nvSpPr>
          <p:cNvPr id="7" name="TextBox 6"/>
          <p:cNvSpPr txBox="1"/>
          <p:nvPr/>
        </p:nvSpPr>
        <p:spPr>
          <a:xfrm>
            <a:off x="1161288" y="4114800"/>
            <a:ext cx="10058400" cy="731520"/>
          </a:xfrm>
          <a:prstGeom prst="rect">
            <a:avLst/>
          </a:prstGeom>
          <a:noFill/>
        </p:spPr>
        <p:txBody>
          <a:bodyPr wrap="square" anchor="t" lIns="0" rIns="0" tIns="0" bIns="0">
            <a:spAutoFit/>
          </a:bodyPr>
          <a:lstStyle/>
          <a:p>
            <a:pPr algn="l">
              <a:spcBef>
                <a:spcPts val="0"/>
              </a:spcBef>
              <a:spcAft>
                <a:spcPts val="400"/>
              </a:spcAft>
            </a:pPr>
            <a:r>
              <a:rPr sz="1600" b="0">
                <a:solidFill>
                  <a:srgbClr val="5B6372"/>
                </a:solidFill>
                <a:latin typeface="Arial"/>
              </a:rPr>
              <a:t>Who can do what, where</a:t>
            </a:r>
          </a:p>
        </p:txBody>
      </p:sp>
      <p:sp>
        <p:nvSpPr>
          <p:cNvPr id="8" name="TextBox 7"/>
          <p:cNvSpPr txBox="1"/>
          <p:nvPr/>
        </p:nvSpPr>
        <p:spPr>
          <a:xfrm>
            <a:off x="9418320" y="640080"/>
            <a:ext cx="2286000" cy="1463040"/>
          </a:xfrm>
          <a:prstGeom prst="rect">
            <a:avLst/>
          </a:prstGeom>
          <a:noFill/>
        </p:spPr>
        <p:txBody>
          <a:bodyPr wrap="square" anchor="t" lIns="0" rIns="0" tIns="0" bIns="0">
            <a:spAutoFit/>
          </a:bodyPr>
          <a:lstStyle/>
          <a:p>
            <a:pPr algn="r">
              <a:spcBef>
                <a:spcPts val="0"/>
              </a:spcBef>
              <a:spcAft>
                <a:spcPts val="400"/>
              </a:spcAft>
            </a:pPr>
            <a:r>
              <a:rPr sz="7200" b="1">
                <a:solidFill>
                  <a:srgbClr val="E2E8F0"/>
                </a:solidFill>
                <a:latin typeface="Arial"/>
              </a:rPr>
              <a:t/>
            </a:r>
          </a:p>
        </p:txBody>
      </p:sp>
      <p:sp>
        <p:nvSpPr>
          <p:cNvPr id="9" name="TextBox 8"/>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0" name="TextBox 9"/>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1" name="TextBox 10"/>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77</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AUTHORIZATION</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Authorisation in Kubernetes</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07040" cy="4480560"/>
          </a:xfrm>
          <a:prstGeom prst="rect">
            <a:avLst/>
          </a:prstGeom>
          <a:noFill/>
        </p:spPr>
        <p:txBody>
          <a:bodyPr wrap="square" lIns="0" rIns="0">
            <a:spAutoFit/>
          </a:bodyPr>
          <a:lstStyle/>
          <a:p>
            <a:pPr>
              <a:spcBef>
                <a:spcPts val="0"/>
              </a:spcBef>
              <a:spcAft>
                <a:spcPts val="1000"/>
              </a:spcAft>
            </a:pPr>
            <a:r>
              <a:rPr sz="1900" b="1">
                <a:solidFill>
                  <a:srgbClr val="1F6FEB"/>
                </a:solidFill>
                <a:latin typeface="Arial"/>
              </a:rPr>
              <a:t>•  </a:t>
            </a:r>
            <a:r>
              <a:rPr sz="1900">
                <a:solidFill>
                  <a:srgbClr val="161B26"/>
                </a:solidFill>
                <a:latin typeface="Arial"/>
              </a:rPr>
              <a:t>A Role (namespace) or ClusterRole (cluster-wide) lists allowed verbs on resources.</a:t>
            </a:r>
          </a:p>
          <a:p>
            <a:pPr>
              <a:spcBef>
                <a:spcPts val="0"/>
              </a:spcBef>
              <a:spcAft>
                <a:spcPts val="1000"/>
              </a:spcAft>
            </a:pPr>
            <a:r>
              <a:rPr sz="1900" b="1">
                <a:solidFill>
                  <a:srgbClr val="1F6FEB"/>
                </a:solidFill>
                <a:latin typeface="Arial"/>
              </a:rPr>
              <a:t>•  </a:t>
            </a:r>
            <a:r>
              <a:rPr sz="1900">
                <a:solidFill>
                  <a:srgbClr val="161B26"/>
                </a:solidFill>
                <a:latin typeface="Arial"/>
              </a:rPr>
              <a:t>A RoleBinding or ClusterRoleBinding ties a Role to a subject: ServiceAccount, user or group.</a:t>
            </a:r>
          </a:p>
          <a:p>
            <a:pPr>
              <a:spcBef>
                <a:spcPts val="0"/>
              </a:spcBef>
              <a:spcAft>
                <a:spcPts val="1000"/>
              </a:spcAft>
            </a:pPr>
            <a:r>
              <a:rPr sz="1900" b="1">
                <a:solidFill>
                  <a:srgbClr val="1F6FEB"/>
                </a:solidFill>
                <a:latin typeface="Arial"/>
              </a:rPr>
              <a:t>•  </a:t>
            </a:r>
            <a:r>
              <a:rPr sz="1900">
                <a:solidFill>
                  <a:srgbClr val="161B26"/>
                </a:solidFill>
                <a:latin typeface="Arial"/>
              </a:rPr>
              <a:t>ClusterRole + RoleBinding restricts cluster-level role verbs to a single namespace.</a:t>
            </a:r>
          </a:p>
          <a:p>
            <a:pPr>
              <a:spcBef>
                <a:spcPts val="0"/>
              </a:spcBef>
              <a:spcAft>
                <a:spcPts val="1000"/>
              </a:spcAft>
            </a:pPr>
            <a:r>
              <a:rPr sz="1900" b="1">
                <a:solidFill>
                  <a:srgbClr val="1F6FEB"/>
                </a:solidFill>
                <a:latin typeface="Arial"/>
              </a:rPr>
              <a:t>•  </a:t>
            </a:r>
            <a:r>
              <a:rPr sz="1900">
                <a:solidFill>
                  <a:srgbClr val="161B26"/>
                </a:solidFill>
                <a:latin typeface="Arial"/>
              </a:rPr>
              <a:t>Validate without impersonation: kubectl auth can-i &lt;verb&gt; &lt;resource&gt; --as=&lt;identity&gt;.</a:t>
            </a:r>
          </a:p>
        </p:txBody>
      </p:sp>
      <p:sp>
        <p:nvSpPr>
          <p:cNvPr id="8" name="TextBox 7"/>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9" name="TextBox 8"/>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78</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DOMAIN 1  ·  ROLE-BASED ACCESS CONTROL</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RBAC — Role, Binding, Subject</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286000"/>
            <a:ext cx="3200400" cy="1828800"/>
          </a:xfrm>
          <a:prstGeom prst="roundRect">
            <a:avLst>
              <a:gd name="adj" fmla="val 5000"/>
            </a:avLst>
          </a:prstGeom>
          <a:solidFill>
            <a:srgbClr val="EAF1FE"/>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286000"/>
            <a:ext cx="3200400"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86968" y="2395728"/>
            <a:ext cx="2980944" cy="1719072"/>
          </a:xfrm>
          <a:prstGeom prst="rect">
            <a:avLst/>
          </a:prstGeom>
          <a:noFill/>
        </p:spPr>
        <p:txBody>
          <a:bodyPr wrap="square" anchor="ctr" lIns="0" rIns="0" tIns="0" bIns="0">
            <a:spAutoFit/>
          </a:bodyPr>
          <a:lstStyle/>
          <a:p>
            <a:pPr algn="ctr">
              <a:spcBef>
                <a:spcPts val="0"/>
              </a:spcBef>
              <a:spcAft>
                <a:spcPts val="300"/>
              </a:spcAft>
            </a:pPr>
            <a:r>
              <a:rPr sz="1400" b="1">
                <a:solidFill>
                  <a:srgbClr val="161B26"/>
                </a:solidFill>
                <a:latin typeface="Arial"/>
              </a:rPr>
              <a:t>Role / ClusterRole</a:t>
            </a:r>
          </a:p>
          <a:p>
            <a:pPr algn="ctr">
              <a:spcBef>
                <a:spcPts val="0"/>
              </a:spcBef>
              <a:spcAft>
                <a:spcPts val="300"/>
              </a:spcAft>
            </a:pPr>
            <a:r>
              <a:rPr sz="1200" b="0">
                <a:solidFill>
                  <a:srgbClr val="5B6372"/>
                </a:solidFill>
                <a:latin typeface="Arial"/>
              </a:rPr>
              <a:t>verbs: get, list, create</a:t>
            </a:r>
          </a:p>
          <a:p>
            <a:pPr algn="ctr">
              <a:spcBef>
                <a:spcPts val="0"/>
              </a:spcBef>
              <a:spcAft>
                <a:spcPts val="300"/>
              </a:spcAft>
            </a:pPr>
            <a:r>
              <a:rPr sz="1200" b="0">
                <a:solidFill>
                  <a:srgbClr val="5B6372"/>
                </a:solidFill>
                <a:latin typeface="Arial"/>
              </a:rPr>
              <a:t>resources: pods, deployments</a:t>
            </a:r>
          </a:p>
        </p:txBody>
      </p:sp>
      <p:sp>
        <p:nvSpPr>
          <p:cNvPr id="10" name="Right Arrow 9"/>
          <p:cNvSpPr/>
          <p:nvPr/>
        </p:nvSpPr>
        <p:spPr>
          <a:xfrm>
            <a:off x="3977640" y="3017520"/>
            <a:ext cx="548640" cy="365760"/>
          </a:xfrm>
          <a:prstGeom prst="rightArrow">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526279" y="2286000"/>
            <a:ext cx="3200400" cy="1828800"/>
          </a:xfrm>
          <a:prstGeom prst="roundRect">
            <a:avLst>
              <a:gd name="adj" fmla="val 5000"/>
            </a:avLst>
          </a:prstGeom>
          <a:solidFill>
            <a:srgbClr val="E8F7EE"/>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26279" y="2286000"/>
            <a:ext cx="3200400"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636007" y="2395728"/>
            <a:ext cx="2980944" cy="1719072"/>
          </a:xfrm>
          <a:prstGeom prst="rect">
            <a:avLst/>
          </a:prstGeom>
          <a:noFill/>
        </p:spPr>
        <p:txBody>
          <a:bodyPr wrap="square" anchor="ctr" lIns="0" rIns="0" tIns="0" bIns="0">
            <a:spAutoFit/>
          </a:bodyPr>
          <a:lstStyle/>
          <a:p>
            <a:pPr algn="ctr">
              <a:spcBef>
                <a:spcPts val="0"/>
              </a:spcBef>
              <a:spcAft>
                <a:spcPts val="300"/>
              </a:spcAft>
            </a:pPr>
            <a:r>
              <a:rPr sz="1400" b="1">
                <a:solidFill>
                  <a:srgbClr val="161B26"/>
                </a:solidFill>
                <a:latin typeface="Arial"/>
              </a:rPr>
              <a:t>RoleBinding / ClusterRoleBinding</a:t>
            </a:r>
          </a:p>
          <a:p>
            <a:pPr algn="ctr">
              <a:spcBef>
                <a:spcPts val="0"/>
              </a:spcBef>
              <a:spcAft>
                <a:spcPts val="300"/>
              </a:spcAft>
            </a:pPr>
            <a:r>
              <a:rPr sz="1200" b="0">
                <a:solidFill>
                  <a:srgbClr val="5B6372"/>
                </a:solidFill>
                <a:latin typeface="Arial"/>
              </a:rPr>
              <a:t>binds role to subject</a:t>
            </a:r>
          </a:p>
          <a:p>
            <a:pPr algn="ctr">
              <a:spcBef>
                <a:spcPts val="0"/>
              </a:spcBef>
              <a:spcAft>
                <a:spcPts val="300"/>
              </a:spcAft>
            </a:pPr>
            <a:r>
              <a:rPr sz="1200" b="0">
                <a:solidFill>
                  <a:srgbClr val="5B6372"/>
                </a:solidFill>
                <a:latin typeface="Arial"/>
              </a:rPr>
              <a:t>ns or cluster scope</a:t>
            </a:r>
          </a:p>
        </p:txBody>
      </p:sp>
      <p:sp>
        <p:nvSpPr>
          <p:cNvPr id="14" name="Right Arrow 13"/>
          <p:cNvSpPr/>
          <p:nvPr/>
        </p:nvSpPr>
        <p:spPr>
          <a:xfrm>
            <a:off x="7726679" y="3017520"/>
            <a:ext cx="548640" cy="365760"/>
          </a:xfrm>
          <a:prstGeom prst="rightArrow">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275318" y="2286000"/>
            <a:ext cx="3200400" cy="1828800"/>
          </a:xfrm>
          <a:prstGeom prst="roundRect">
            <a:avLst>
              <a:gd name="adj" fmla="val 5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385046" y="2286000"/>
            <a:ext cx="2980944" cy="1828800"/>
          </a:xfrm>
          <a:prstGeom prst="rect">
            <a:avLst/>
          </a:prstGeom>
          <a:noFill/>
        </p:spPr>
        <p:txBody>
          <a:bodyPr wrap="square" anchor="ctr" lIns="0" rIns="0" tIns="0" bIns="0">
            <a:spAutoFit/>
          </a:bodyPr>
          <a:lstStyle/>
          <a:p>
            <a:pPr algn="ctr">
              <a:spcBef>
                <a:spcPts val="0"/>
              </a:spcBef>
              <a:spcAft>
                <a:spcPts val="300"/>
              </a:spcAft>
            </a:pPr>
            <a:r>
              <a:rPr sz="1400" b="1">
                <a:solidFill>
                  <a:srgbClr val="161B26"/>
                </a:solidFill>
                <a:latin typeface="Arial"/>
              </a:rPr>
              <a:t>Subject</a:t>
            </a:r>
          </a:p>
          <a:p>
            <a:pPr algn="ctr">
              <a:spcBef>
                <a:spcPts val="0"/>
              </a:spcBef>
              <a:spcAft>
                <a:spcPts val="300"/>
              </a:spcAft>
            </a:pPr>
            <a:r>
              <a:rPr sz="1200" b="0">
                <a:solidFill>
                  <a:srgbClr val="5B6372"/>
                </a:solidFill>
                <a:latin typeface="Arial"/>
              </a:rPr>
              <a:t>ServiceAccount</a:t>
            </a:r>
          </a:p>
          <a:p>
            <a:pPr algn="ctr">
              <a:spcBef>
                <a:spcPts val="0"/>
              </a:spcBef>
              <a:spcAft>
                <a:spcPts val="300"/>
              </a:spcAft>
            </a:pPr>
            <a:r>
              <a:rPr sz="1200" b="0">
                <a:solidFill>
                  <a:srgbClr val="5B6372"/>
                </a:solidFill>
                <a:latin typeface="Arial"/>
              </a:rPr>
              <a:t>User / Group</a:t>
            </a:r>
          </a:p>
        </p:txBody>
      </p:sp>
      <p:sp>
        <p:nvSpPr>
          <p:cNvPr id="17" name="Rounded Rectangle 16"/>
          <p:cNvSpPr/>
          <p:nvPr/>
        </p:nvSpPr>
        <p:spPr>
          <a:xfrm>
            <a:off x="777240" y="4617720"/>
            <a:ext cx="10652760" cy="713232"/>
          </a:xfrm>
          <a:prstGeom prst="roundRect">
            <a:avLst>
              <a:gd name="adj" fmla="val 5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05840" y="4617720"/>
            <a:ext cx="10058400" cy="713232"/>
          </a:xfrm>
          <a:prstGeom prst="rect">
            <a:avLst/>
          </a:prstGeom>
          <a:noFill/>
        </p:spPr>
        <p:txBody>
          <a:bodyPr wrap="square" anchor="ctr" lIns="0" rIns="0" tIns="0" bIns="0">
            <a:spAutoFit/>
          </a:bodyPr>
          <a:lstStyle/>
          <a:p>
            <a:pPr algn="l">
              <a:spcBef>
                <a:spcPts val="0"/>
              </a:spcBef>
              <a:spcAft>
                <a:spcPts val="400"/>
              </a:spcAft>
            </a:pPr>
            <a:r>
              <a:rPr sz="1400" b="0">
                <a:solidFill>
                  <a:srgbClr val="161B26"/>
                </a:solidFill>
                <a:latin typeface="Arial"/>
              </a:rPr>
              <a:t>kubectl auth can-i list pods --as=system:serviceaccount:ns:sa</a:t>
            </a:r>
          </a:p>
          <a:p>
            <a:pPr algn="l">
              <a:spcBef>
                <a:spcPts val="0"/>
              </a:spcBef>
              <a:spcAft>
                <a:spcPts val="400"/>
              </a:spcAft>
            </a:pPr>
            <a:r>
              <a:rPr sz="1400" b="1">
                <a:solidFill>
                  <a:srgbClr val="10B981"/>
                </a:solidFill>
                <a:latin typeface="Arial"/>
              </a:rPr>
              <a:t>→ yes | no</a:t>
            </a:r>
          </a:p>
        </p:txBody>
      </p:sp>
      <p:sp>
        <p:nvSpPr>
          <p:cNvPr id="19" name="TextBox 18"/>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20" name="TextBox 19"/>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21" name="TextBox 20"/>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79</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AUTHORIZATION</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RBAC — Subject, API Resources and Verbs</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day1a_s033_p1.png"/>
          <p:cNvPicPr>
            <a:picLocks noChangeAspect="1"/>
          </p:cNvPicPr>
          <p:nvPr/>
        </p:nvPicPr>
        <p:blipFill>
          <a:blip r:embed="rId2"/>
          <a:stretch>
            <a:fillRect/>
          </a:stretch>
        </p:blipFill>
        <p:spPr>
          <a:xfrm>
            <a:off x="2067326" y="1627632"/>
            <a:ext cx="8072587" cy="4544568"/>
          </a:xfrm>
          <a:prstGeom prst="rect">
            <a:avLst/>
          </a:prstGeom>
        </p:spPr>
      </p:pic>
      <p:sp>
        <p:nvSpPr>
          <p:cNvPr id="8" name="TextBox 7"/>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9" name="TextBox 8"/>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80</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DAY 1 · RBAC</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RBAC: Roles, RoleBindings, ServiceAccounts, ClusterRole</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64208"/>
            <a:ext cx="169164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09928"/>
            <a:ext cx="1691640" cy="365760"/>
          </a:xfrm>
          <a:prstGeom prst="rect">
            <a:avLst/>
          </a:prstGeom>
          <a:noFill/>
        </p:spPr>
        <p:txBody>
          <a:bodyPr wrap="square" anchor="t" lIns="0" rIns="0" tIns="0" bIns="0">
            <a:spAutoFit/>
          </a:bodyPr>
          <a:lstStyle/>
          <a:p>
            <a:pPr algn="ctr">
              <a:spcBef>
                <a:spcPts val="0"/>
              </a:spcBef>
              <a:spcAft>
                <a:spcPts val="400"/>
              </a:spcAft>
            </a:pPr>
            <a:r>
              <a:rPr sz="1600" b="1">
                <a:solidFill>
                  <a:srgbClr val="FFFFFF"/>
                </a:solidFill>
                <a:latin typeface="Arial"/>
              </a:rPr>
              <a:t>LAB 8</a:t>
            </a:r>
          </a:p>
        </p:txBody>
      </p:sp>
      <p:sp>
        <p:nvSpPr>
          <p:cNvPr id="9" name="TextBox 8"/>
          <p:cNvSpPr txBox="1"/>
          <p:nvPr/>
        </p:nvSpPr>
        <p:spPr>
          <a:xfrm>
            <a:off x="2697480" y="1691640"/>
            <a:ext cx="8778240" cy="411480"/>
          </a:xfrm>
          <a:prstGeom prst="rect">
            <a:avLst/>
          </a:prstGeom>
          <a:noFill/>
        </p:spPr>
        <p:txBody>
          <a:bodyPr wrap="square" anchor="ctr" lIns="0" rIns="0" tIns="0" bIns="0">
            <a:spAutoFit/>
          </a:bodyPr>
          <a:lstStyle/>
          <a:p>
            <a:pPr algn="l">
              <a:spcBef>
                <a:spcPts val="0"/>
              </a:spcBef>
              <a:spcAft>
                <a:spcPts val="400"/>
              </a:spcAft>
            </a:pPr>
            <a:r>
              <a:rPr sz="1400" b="1">
                <a:solidFill>
                  <a:srgbClr val="5B6372"/>
                </a:solidFill>
                <a:latin typeface="Arial"/>
              </a:rPr>
              <a:t>RBAC</a:t>
            </a:r>
          </a:p>
        </p:txBody>
      </p:sp>
      <p:sp>
        <p:nvSpPr>
          <p:cNvPr id="10" name="TextBox 9"/>
          <p:cNvSpPr txBox="1"/>
          <p:nvPr/>
        </p:nvSpPr>
        <p:spPr>
          <a:xfrm>
            <a:off x="777240" y="2286000"/>
            <a:ext cx="10698480" cy="1554480"/>
          </a:xfrm>
          <a:prstGeom prst="rect">
            <a:avLst/>
          </a:prstGeom>
          <a:noFill/>
        </p:spPr>
        <p:txBody>
          <a:bodyPr wrap="square" anchor="t" lIns="0" rIns="0" tIns="0" bIns="0">
            <a:spAutoFit/>
          </a:bodyPr>
          <a:lstStyle/>
          <a:p>
            <a:pPr algn="l">
              <a:spcBef>
                <a:spcPts val="0"/>
              </a:spcBef>
              <a:spcAft>
                <a:spcPts val="400"/>
              </a:spcAft>
            </a:pPr>
            <a:r>
              <a:rPr sz="1900" b="0">
                <a:solidFill>
                  <a:srgbClr val="161B26"/>
                </a:solidFill>
                <a:latin typeface="Arial"/>
              </a:rPr>
              <a:t>Create a ServiceAccount for a read-only viewer persona, define a namespaced Role that allows only get/list/watch on Pods, bind the role to the SA, and prove that the SA can read but cannot write. Then extend to ClusterRole for cluster-scoped resources.</a:t>
            </a:r>
          </a:p>
        </p:txBody>
      </p:sp>
      <p:sp>
        <p:nvSpPr>
          <p:cNvPr id="11" name="Rounded Rectangle 10"/>
          <p:cNvSpPr/>
          <p:nvPr/>
        </p:nvSpPr>
        <p:spPr>
          <a:xfrm>
            <a:off x="777240" y="4069080"/>
            <a:ext cx="10698480" cy="1783080"/>
          </a:xfrm>
          <a:prstGeom prst="roundRect">
            <a:avLst>
              <a:gd name="adj" fmla="val 5000"/>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05840" y="4251960"/>
            <a:ext cx="10058400" cy="365760"/>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You'll build</a:t>
            </a:r>
          </a:p>
        </p:txBody>
      </p:sp>
      <p:sp>
        <p:nvSpPr>
          <p:cNvPr id="13" name="TextBox 12"/>
          <p:cNvSpPr txBox="1"/>
          <p:nvPr/>
        </p:nvSpPr>
        <p:spPr>
          <a:xfrm>
            <a:off x="1005840" y="4617720"/>
            <a:ext cx="10241280" cy="640080"/>
          </a:xfrm>
          <a:prstGeom prst="rect">
            <a:avLst/>
          </a:prstGeom>
          <a:noFill/>
        </p:spPr>
        <p:txBody>
          <a:bodyPr wrap="square" anchor="t" lIns="0" rIns="0" tIns="0" bIns="0">
            <a:spAutoFit/>
          </a:bodyPr>
          <a:lstStyle/>
          <a:p>
            <a:pPr algn="l">
              <a:spcBef>
                <a:spcPts val="0"/>
              </a:spcBef>
              <a:spcAft>
                <a:spcPts val="400"/>
              </a:spcAft>
            </a:pPr>
            <a:r>
              <a:rPr sz="1700" b="1">
                <a:solidFill>
                  <a:srgbClr val="161B26"/>
                </a:solidFill>
                <a:latin typeface="Arial"/>
              </a:rPr>
              <a:t>Create SA + Role + RoleBinding in rbac-demo namespace, test with kubectl auth can-i --as, verify from inside a pod, add ClusterRole for node access.</a:t>
            </a:r>
          </a:p>
        </p:txBody>
      </p:sp>
      <p:sp>
        <p:nvSpPr>
          <p:cNvPr id="14" name="TextBox 13"/>
          <p:cNvSpPr txBox="1"/>
          <p:nvPr/>
        </p:nvSpPr>
        <p:spPr>
          <a:xfrm>
            <a:off x="1005840" y="5349240"/>
            <a:ext cx="10058400" cy="457200"/>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Key commands:  </a:t>
            </a:r>
            <a:r>
              <a:rPr sz="1300" b="0">
                <a:solidFill>
                  <a:srgbClr val="5B6372"/>
                </a:solidFill>
                <a:latin typeface="Arial"/>
              </a:rPr>
              <a:t>kubectl create · kubectl -n · » Identity</a:t>
            </a:r>
          </a:p>
        </p:txBody>
      </p:sp>
      <p:sp>
        <p:nvSpPr>
          <p:cNvPr id="15" name="TextBox 14"/>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6" name="TextBox 15"/>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7" name="TextBox 16"/>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81</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8  ·  COMMANDS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RBAC: Roles, RoleBindings, ServiceAccounts, ClusterRole</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91640"/>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Step 1 -- Create namespace and ServiceAccount</a:t>
            </a:r>
          </a:p>
        </p:txBody>
      </p:sp>
      <p:sp>
        <p:nvSpPr>
          <p:cNvPr id="8" name="Rounded Rectangle 7"/>
          <p:cNvSpPr/>
          <p:nvPr/>
        </p:nvSpPr>
        <p:spPr>
          <a:xfrm>
            <a:off x="777240" y="2075688"/>
            <a:ext cx="10652760" cy="521207"/>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075688"/>
            <a:ext cx="82296" cy="521207"/>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6" y="2139696"/>
            <a:ext cx="10323576" cy="429767"/>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kubectl create ns rbac-demo</a:t>
            </a:r>
          </a:p>
          <a:p>
            <a:pPr>
              <a:spcBef>
                <a:spcPts val="0"/>
              </a:spcBef>
              <a:spcAft>
                <a:spcPts val="0"/>
              </a:spcAft>
            </a:pPr>
            <a:r>
              <a:rPr sz="1050">
                <a:solidFill>
                  <a:srgbClr val="161B26"/>
                </a:solidFill>
                <a:latin typeface="Consolas"/>
              </a:rPr>
              <a:t>kubectl -n rbac-demo create serviceaccount viewer</a:t>
            </a:r>
          </a:p>
        </p:txBody>
      </p:sp>
      <p:sp>
        <p:nvSpPr>
          <p:cNvPr id="11" name="TextBox 10"/>
          <p:cNvSpPr txBox="1"/>
          <p:nvPr/>
        </p:nvSpPr>
        <p:spPr>
          <a:xfrm>
            <a:off x="777240" y="2779775"/>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Step 2 -- Create a namespaced Role</a:t>
            </a:r>
          </a:p>
        </p:txBody>
      </p:sp>
      <p:sp>
        <p:nvSpPr>
          <p:cNvPr id="12" name="Rounded Rectangle 11"/>
          <p:cNvSpPr/>
          <p:nvPr/>
        </p:nvSpPr>
        <p:spPr>
          <a:xfrm>
            <a:off x="777240" y="3163823"/>
            <a:ext cx="10652760" cy="896112"/>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3163823"/>
            <a:ext cx="82296" cy="896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3227831"/>
            <a:ext cx="10323576" cy="804672"/>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kubectl -n rbac-demo create role pod-viewer \</a:t>
            </a:r>
          </a:p>
          <a:p>
            <a:pPr>
              <a:spcBef>
                <a:spcPts val="0"/>
              </a:spcBef>
              <a:spcAft>
                <a:spcPts val="0"/>
              </a:spcAft>
            </a:pPr>
            <a:r>
              <a:rPr sz="1050">
                <a:solidFill>
                  <a:srgbClr val="161B26"/>
                </a:solidFill>
                <a:latin typeface="Consolas"/>
              </a:rPr>
              <a:t>  --verb=get,list,watch \</a:t>
            </a:r>
          </a:p>
          <a:p>
            <a:pPr>
              <a:spcBef>
                <a:spcPts val="0"/>
              </a:spcBef>
              <a:spcAft>
                <a:spcPts val="0"/>
              </a:spcAft>
            </a:pPr>
            <a:r>
              <a:rPr sz="1050">
                <a:solidFill>
                  <a:srgbClr val="161B26"/>
                </a:solidFill>
                <a:latin typeface="Consolas"/>
              </a:rPr>
              <a:t>  --resource=pods</a:t>
            </a:r>
          </a:p>
          <a:p>
            <a:pPr>
              <a:spcBef>
                <a:spcPts val="0"/>
              </a:spcBef>
              <a:spcAft>
                <a:spcPts val="0"/>
              </a:spcAft>
            </a:pPr>
            <a:r>
              <a:rPr sz="1050">
                <a:solidFill>
                  <a:srgbClr val="161B26"/>
                </a:solidFill>
                <a:latin typeface="Consolas"/>
              </a:rPr>
              <a:t>kubectl -n rbac-demo get role pod-viewer -o yaml</a:t>
            </a:r>
          </a:p>
        </p:txBody>
      </p:sp>
      <p:sp>
        <p:nvSpPr>
          <p:cNvPr id="15" name="TextBox 14"/>
          <p:cNvSpPr txBox="1"/>
          <p:nvPr/>
        </p:nvSpPr>
        <p:spPr>
          <a:xfrm>
            <a:off x="777240" y="4242815"/>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Step 3 -- Bind Role to ServiceAccount</a:t>
            </a:r>
          </a:p>
        </p:txBody>
      </p:sp>
      <p:sp>
        <p:nvSpPr>
          <p:cNvPr id="16" name="Rounded Rectangle 15"/>
          <p:cNvSpPr/>
          <p:nvPr/>
        </p:nvSpPr>
        <p:spPr>
          <a:xfrm>
            <a:off x="777240" y="4626863"/>
            <a:ext cx="10652760" cy="708660"/>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77240" y="4626863"/>
            <a:ext cx="82296" cy="7086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96696" y="4690871"/>
            <a:ext cx="10323576" cy="617220"/>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kubectl -n rbac-demo create rolebinding viewer-binding \</a:t>
            </a:r>
          </a:p>
          <a:p>
            <a:pPr>
              <a:spcBef>
                <a:spcPts val="0"/>
              </a:spcBef>
              <a:spcAft>
                <a:spcPts val="0"/>
              </a:spcAft>
            </a:pPr>
            <a:r>
              <a:rPr sz="1050">
                <a:solidFill>
                  <a:srgbClr val="161B26"/>
                </a:solidFill>
                <a:latin typeface="Consolas"/>
              </a:rPr>
              <a:t>  --role=pod-viewer \</a:t>
            </a:r>
          </a:p>
          <a:p>
            <a:pPr>
              <a:spcBef>
                <a:spcPts val="0"/>
              </a:spcBef>
              <a:spcAft>
                <a:spcPts val="0"/>
              </a:spcAft>
            </a:pPr>
            <a:r>
              <a:rPr sz="1050">
                <a:solidFill>
                  <a:srgbClr val="161B26"/>
                </a:solidFill>
                <a:latin typeface="Consolas"/>
              </a:rPr>
              <a:t>  --serviceaccount=rbac-demo:viewer</a:t>
            </a:r>
          </a:p>
        </p:txBody>
      </p:sp>
      <p:sp>
        <p:nvSpPr>
          <p:cNvPr id="19" name="TextBox 18"/>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20" name="TextBox 19"/>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21" name="TextBox 20"/>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82</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8  ·  COMMANDS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RBAC: Roles, RoleBindings, ServiceAccounts, ClusterRole (cont.)</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91640"/>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Step 4 -- Test with kubectl auth can-i</a:t>
            </a:r>
          </a:p>
        </p:txBody>
      </p:sp>
      <p:sp>
        <p:nvSpPr>
          <p:cNvPr id="8" name="Rounded Rectangle 7"/>
          <p:cNvSpPr/>
          <p:nvPr/>
        </p:nvSpPr>
        <p:spPr>
          <a:xfrm>
            <a:off x="777240" y="2075688"/>
            <a:ext cx="10652760" cy="1083563"/>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075688"/>
            <a:ext cx="82296" cy="1083563"/>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6" y="2139696"/>
            <a:ext cx="10323576" cy="992123"/>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kubectl -n rbac-demo auth can-i list pods \</a:t>
            </a:r>
          </a:p>
          <a:p>
            <a:pPr>
              <a:spcBef>
                <a:spcPts val="0"/>
              </a:spcBef>
              <a:spcAft>
                <a:spcPts val="0"/>
              </a:spcAft>
            </a:pPr>
            <a:r>
              <a:rPr sz="1050">
                <a:solidFill>
                  <a:srgbClr val="161B26"/>
                </a:solidFill>
                <a:latin typeface="Consolas"/>
              </a:rPr>
              <a:t>  --as=system:serviceaccount:rbac-demo:viewer</a:t>
            </a:r>
          </a:p>
          <a:p>
            <a:pPr>
              <a:spcBef>
                <a:spcPts val="0"/>
              </a:spcBef>
              <a:spcAft>
                <a:spcPts val="0"/>
              </a:spcAft>
            </a:pPr>
            <a:r>
              <a:rPr sz="1050">
                <a:solidFill>
                  <a:srgbClr val="161B26"/>
                </a:solidFill>
                <a:latin typeface="Consolas"/>
              </a:rPr>
              <a:t>kubectl -n rbac-demo auth can-i create pods \</a:t>
            </a:r>
          </a:p>
          <a:p>
            <a:pPr>
              <a:spcBef>
                <a:spcPts val="0"/>
              </a:spcBef>
              <a:spcAft>
                <a:spcPts val="0"/>
              </a:spcAft>
            </a:pPr>
            <a:r>
              <a:rPr sz="1050">
                <a:solidFill>
                  <a:srgbClr val="161B26"/>
                </a:solidFill>
                <a:latin typeface="Consolas"/>
              </a:rPr>
              <a:t>  --as=system:serviceaccount:rbac-demo:viewer</a:t>
            </a:r>
          </a:p>
          <a:p>
            <a:pPr>
              <a:spcBef>
                <a:spcPts val="0"/>
              </a:spcBef>
              <a:spcAft>
                <a:spcPts val="0"/>
              </a:spcAft>
            </a:pPr>
            <a:r>
              <a:rPr sz="1050">
                <a:solidFill>
                  <a:srgbClr val="161B26"/>
                </a:solidFill>
                <a:latin typeface="Consolas"/>
              </a:rPr>
              <a:t># Expected: yes, no</a:t>
            </a:r>
          </a:p>
        </p:txBody>
      </p:sp>
      <p:sp>
        <p:nvSpPr>
          <p:cNvPr id="11" name="TextBox 10"/>
          <p:cNvSpPr txBox="1"/>
          <p:nvPr/>
        </p:nvSpPr>
        <p:spPr>
          <a:xfrm>
            <a:off x="777240" y="3342131"/>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Step 5 -- ClusterRole for cluster-scoped resources</a:t>
            </a:r>
          </a:p>
        </p:txBody>
      </p:sp>
      <p:sp>
        <p:nvSpPr>
          <p:cNvPr id="12" name="Rounded Rectangle 11"/>
          <p:cNvSpPr/>
          <p:nvPr/>
        </p:nvSpPr>
        <p:spPr>
          <a:xfrm>
            <a:off x="777240" y="3726179"/>
            <a:ext cx="10652760" cy="896112"/>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3726179"/>
            <a:ext cx="82296" cy="896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3790187"/>
            <a:ext cx="10323576" cy="804672"/>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kubectl create clusterrole node-reader --verb=get,list,watch --resource=nodes</a:t>
            </a:r>
          </a:p>
          <a:p>
            <a:pPr>
              <a:spcBef>
                <a:spcPts val="0"/>
              </a:spcBef>
              <a:spcAft>
                <a:spcPts val="0"/>
              </a:spcAft>
            </a:pPr>
            <a:r>
              <a:rPr sz="1050">
                <a:solidFill>
                  <a:srgbClr val="161B26"/>
                </a:solidFill>
                <a:latin typeface="Consolas"/>
              </a:rPr>
              <a:t>kubectl create clusterrolebinding viewer-nodes \</a:t>
            </a:r>
          </a:p>
          <a:p>
            <a:pPr>
              <a:spcBef>
                <a:spcPts val="0"/>
              </a:spcBef>
              <a:spcAft>
                <a:spcPts val="0"/>
              </a:spcAft>
            </a:pPr>
            <a:r>
              <a:rPr sz="1050">
                <a:solidFill>
                  <a:srgbClr val="161B26"/>
                </a:solidFill>
                <a:latin typeface="Consolas"/>
              </a:rPr>
              <a:t>  --clusterrole=node-reader \</a:t>
            </a:r>
          </a:p>
          <a:p>
            <a:pPr>
              <a:spcBef>
                <a:spcPts val="0"/>
              </a:spcBef>
              <a:spcAft>
                <a:spcPts val="0"/>
              </a:spcAft>
            </a:pPr>
            <a:r>
              <a:rPr sz="1050">
                <a:solidFill>
                  <a:srgbClr val="161B26"/>
                </a:solidFill>
                <a:latin typeface="Consolas"/>
              </a:rPr>
              <a:t>  --serviceaccount=rbac-demo:viewer</a:t>
            </a:r>
          </a:p>
        </p:txBody>
      </p:sp>
      <p:sp>
        <p:nvSpPr>
          <p:cNvPr id="15" name="TextBox 14"/>
          <p:cNvSpPr txBox="1"/>
          <p:nvPr/>
        </p:nvSpPr>
        <p:spPr>
          <a:xfrm>
            <a:off x="777240" y="4805171"/>
            <a:ext cx="10652760" cy="310896"/>
          </a:xfrm>
          <a:prstGeom prst="rect">
            <a:avLst/>
          </a:prstGeom>
          <a:noFill/>
        </p:spPr>
        <p:txBody>
          <a:bodyPr wrap="square" anchor="t" lIns="0" rIns="0" tIns="0" bIns="0">
            <a:spAutoFit/>
          </a:bodyPr>
          <a:lstStyle/>
          <a:p>
            <a:pPr algn="l">
              <a:spcBef>
                <a:spcPts val="0"/>
              </a:spcBef>
              <a:spcAft>
                <a:spcPts val="400"/>
              </a:spcAft>
            </a:pPr>
            <a:r>
              <a:rPr sz="1300" b="1">
                <a:solidFill>
                  <a:srgbClr val="F59E0B"/>
                </a:solidFill>
                <a:latin typeface="Arial"/>
              </a:rPr>
              <a:t>Note   </a:t>
            </a:r>
            <a:r>
              <a:rPr sz="1300" b="0">
                <a:solidFill>
                  <a:srgbClr val="5B6372"/>
                </a:solidFill>
                <a:latin typeface="Arial"/>
              </a:rPr>
              <a:t>Identity format for SA: system:serviceaccount:&lt;namespace&gt;:&lt;name&gt;. ClusterRole is for cluster-scoped resources (nodes, PVs); Role is namespace-scoped.</a:t>
            </a:r>
          </a:p>
        </p:txBody>
      </p:sp>
      <p:sp>
        <p:nvSpPr>
          <p:cNvPr id="16" name="TextBox 15"/>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7" name="TextBox 16"/>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8" name="TextBox 17"/>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83</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8  ·  TEST IT</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RBAC: Roles, RoleBindings, ServiceAccounts, ClusterRole</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03120"/>
            <a:ext cx="10698480" cy="2560320"/>
          </a:xfrm>
          <a:prstGeom prst="roundRect">
            <a:avLst>
              <a:gd name="adj" fmla="val 5000"/>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lIns="0" rIns="0" tIns="0" bIns="0">
            <a:spAutoFit/>
          </a:bodyPr>
          <a:lstStyle/>
          <a:p>
            <a:pPr algn="l">
              <a:spcBef>
                <a:spcPts val="0"/>
              </a:spcBef>
              <a:spcAft>
                <a:spcPts val="400"/>
              </a:spcAft>
            </a:pPr>
            <a:r>
              <a:rPr sz="2200" b="1">
                <a:solidFill>
                  <a:srgbClr val="127A3E"/>
                </a:solidFill>
                <a:latin typeface="Arial"/>
              </a:rPr>
              <a:t>✅  Test it</a:t>
            </a:r>
          </a:p>
        </p:txBody>
      </p:sp>
      <p:sp>
        <p:nvSpPr>
          <p:cNvPr id="9" name="TextBox 8"/>
          <p:cNvSpPr txBox="1"/>
          <p:nvPr/>
        </p:nvSpPr>
        <p:spPr>
          <a:xfrm>
            <a:off x="1097280" y="3017520"/>
            <a:ext cx="10149840" cy="1463040"/>
          </a:xfrm>
          <a:prstGeom prst="rect">
            <a:avLst/>
          </a:prstGeom>
          <a:noFill/>
        </p:spPr>
        <p:txBody>
          <a:bodyPr wrap="square" anchor="t" lIns="0" rIns="0" tIns="0" bIns="0">
            <a:spAutoFit/>
          </a:bodyPr>
          <a:lstStyle/>
          <a:p>
            <a:pPr algn="l">
              <a:spcBef>
                <a:spcPts val="0"/>
              </a:spcBef>
              <a:spcAft>
                <a:spcPts val="400"/>
              </a:spcAft>
            </a:pPr>
            <a:r>
              <a:rPr sz="1800" b="0">
                <a:solidFill>
                  <a:srgbClr val="161B26"/>
                </a:solidFill>
                <a:latin typeface="Arial"/>
              </a:rPr>
              <a:t>kubectl auth can-i list pods --as=SA returns yes; create pods returns no. ClusterRole allows viewer SA to list nodes across all namespaces.</a:t>
            </a:r>
          </a:p>
        </p:txBody>
      </p:sp>
      <p:sp>
        <p:nvSpPr>
          <p:cNvPr id="10" name="TextBox 9"/>
          <p:cNvSpPr txBox="1"/>
          <p:nvPr/>
        </p:nvSpPr>
        <p:spPr>
          <a:xfrm>
            <a:off x="777240" y="4983480"/>
            <a:ext cx="10698480" cy="365760"/>
          </a:xfrm>
          <a:prstGeom prst="rect">
            <a:avLst/>
          </a:prstGeom>
          <a:noFill/>
        </p:spPr>
        <p:txBody>
          <a:bodyPr wrap="square" anchor="t" lIns="0" rIns="0" tIns="0" bIns="0">
            <a:spAutoFit/>
          </a:bodyPr>
          <a:lstStyle/>
          <a:p>
            <a:pPr algn="l">
              <a:spcBef>
                <a:spcPts val="0"/>
              </a:spcBef>
              <a:spcAft>
                <a:spcPts val="400"/>
              </a:spcAft>
            </a:pPr>
            <a:r>
              <a:rPr sz="1300" b="1">
                <a:solidFill>
                  <a:srgbClr val="10B981"/>
                </a:solidFill>
                <a:latin typeface="Arial"/>
              </a:rPr>
              <a:t>Killercoda:  </a:t>
            </a:r>
            <a:r>
              <a:rPr sz="1300" b="0">
                <a:solidFill>
                  <a:srgbClr val="5B6372"/>
                </a:solidFill>
                <a:latin typeface="Arial"/>
              </a:rPr>
              <a:t>https://killercoda.com/playgrounds/scenario/kubernetes</a:t>
            </a:r>
          </a:p>
        </p:txBody>
      </p:sp>
      <p:sp>
        <p:nvSpPr>
          <p:cNvPr id="11" name="TextBox 10"/>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84</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lIns="0" rIns="0" tIns="0" bIns="0">
            <a:spAutoFit/>
          </a:bodyPr>
          <a:lstStyle/>
          <a:p>
            <a:pPr algn="l">
              <a:spcBef>
                <a:spcPts val="0"/>
              </a:spcBef>
              <a:spcAft>
                <a:spcPts val="400"/>
              </a:spcAft>
            </a:pPr>
            <a:r>
              <a:rPr sz="1600" b="1">
                <a:solidFill>
                  <a:srgbClr val="1F6FEB"/>
                </a:solidFill>
                <a:latin typeface="Arial"/>
              </a:rPr>
              <a:t>WRAP-UP</a:t>
            </a:r>
          </a:p>
        </p:txBody>
      </p:sp>
      <p:sp>
        <p:nvSpPr>
          <p:cNvPr id="5" name="TextBox 4"/>
          <p:cNvSpPr txBox="1"/>
          <p:nvPr/>
        </p:nvSpPr>
        <p:spPr>
          <a:xfrm>
            <a:off x="1005840" y="2560320"/>
            <a:ext cx="10332720" cy="2194560"/>
          </a:xfrm>
          <a:prstGeom prst="rect">
            <a:avLst/>
          </a:prstGeom>
          <a:noFill/>
        </p:spPr>
        <p:txBody>
          <a:bodyPr wrap="square" anchor="t" lIns="0" rIns="0" tIns="0" bIns="0">
            <a:spAutoFit/>
          </a:bodyPr>
          <a:lstStyle/>
          <a:p>
            <a:pPr algn="l">
              <a:spcBef>
                <a:spcPts val="0"/>
              </a:spcBef>
              <a:spcAft>
                <a:spcPts val="400"/>
              </a:spcAft>
            </a:pPr>
            <a:r>
              <a:rPr sz="3800" b="1">
                <a:solidFill>
                  <a:srgbClr val="161B26"/>
                </a:solidFill>
                <a:latin typeface="Arial"/>
              </a:rPr>
              <a:t>Day 1 done — you can build and administer a Kubernetes cluster.</a:t>
            </a:r>
          </a:p>
        </p:txBody>
      </p:sp>
      <p:sp>
        <p:nvSpPr>
          <p:cNvPr id="6" name="TextBox 5"/>
          <p:cNvSpPr txBox="1"/>
          <p:nvPr/>
        </p:nvSpPr>
        <p:spPr>
          <a:xfrm>
            <a:off x="1024128" y="4389120"/>
            <a:ext cx="10058400" cy="1097280"/>
          </a:xfrm>
          <a:prstGeom prst="rect">
            <a:avLst/>
          </a:prstGeom>
          <a:noFill/>
        </p:spPr>
        <p:txBody>
          <a:bodyPr wrap="square" anchor="t" lIns="0" rIns="0" tIns="0" bIns="0">
            <a:spAutoFit/>
          </a:bodyPr>
          <a:lstStyle/>
          <a:p>
            <a:pPr algn="l">
              <a:spcBef>
                <a:spcPts val="0"/>
              </a:spcBef>
              <a:spcAft>
                <a:spcPts val="400"/>
              </a:spcAft>
            </a:pPr>
            <a:r>
              <a:rPr sz="2000" b="0">
                <a:solidFill>
                  <a:srgbClr val="5B6372"/>
                </a:solidFill>
                <a:latin typeface="Arial"/>
              </a:rPr>
              <a:t>Tomorrow: CRDs, workloads, scheduling, services and networking.</a:t>
            </a:r>
          </a:p>
        </p:txBody>
      </p:sp>
      <p:sp>
        <p:nvSpPr>
          <p:cNvPr id="7" name="TextBox 6"/>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8" name="TextBox 7"/>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9" name="TextBox 8"/>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85</a:t>
            </a: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56832"/>
            <a:ext cx="12191695" cy="2011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2103120"/>
            <a:ext cx="10972800" cy="548640"/>
          </a:xfrm>
          <a:prstGeom prst="rect">
            <a:avLst/>
          </a:prstGeom>
          <a:noFill/>
        </p:spPr>
        <p:txBody>
          <a:bodyPr wrap="square" anchor="t" lIns="0" rIns="0" tIns="0" bIns="0">
            <a:spAutoFit/>
          </a:bodyPr>
          <a:lstStyle/>
          <a:p>
            <a:pPr algn="l">
              <a:spcBef>
                <a:spcPts val="0"/>
              </a:spcBef>
              <a:spcAft>
                <a:spcPts val="400"/>
              </a:spcAft>
            </a:pPr>
            <a:r>
              <a:rPr sz="1600" b="1">
                <a:solidFill>
                  <a:srgbClr val="1F6FEB"/>
                </a:solidFill>
                <a:latin typeface="Arial"/>
              </a:rPr>
              <a:t>COURSE SLIDES</a:t>
            </a:r>
          </a:p>
        </p:txBody>
      </p:sp>
      <p:sp>
        <p:nvSpPr>
          <p:cNvPr id="6" name="TextBox 5"/>
          <p:cNvSpPr txBox="1"/>
          <p:nvPr/>
        </p:nvSpPr>
        <p:spPr>
          <a:xfrm>
            <a:off x="822960" y="2606040"/>
            <a:ext cx="10972800" cy="1737360"/>
          </a:xfrm>
          <a:prstGeom prst="rect">
            <a:avLst/>
          </a:prstGeom>
          <a:noFill/>
        </p:spPr>
        <p:txBody>
          <a:bodyPr wrap="square" anchor="t" lIns="0" rIns="0" tIns="0" bIns="0">
            <a:spAutoFit/>
          </a:bodyPr>
          <a:lstStyle/>
          <a:p>
            <a:pPr algn="l">
              <a:spcBef>
                <a:spcPts val="0"/>
              </a:spcBef>
              <a:spcAft>
                <a:spcPts val="400"/>
              </a:spcAft>
            </a:pPr>
            <a:r>
              <a:rPr sz="4400" b="1">
                <a:solidFill>
                  <a:srgbClr val="161B26"/>
                </a:solidFill>
                <a:latin typeface="Arial"/>
              </a:rPr>
              <a:t>Certified Kubernetes Administrator (CKA)</a:t>
            </a:r>
          </a:p>
        </p:txBody>
      </p:sp>
      <p:sp>
        <p:nvSpPr>
          <p:cNvPr id="7" name="Rectangle 6"/>
          <p:cNvSpPr/>
          <p:nvPr/>
        </p:nvSpPr>
        <p:spPr>
          <a:xfrm>
            <a:off x="841248" y="4526280"/>
            <a:ext cx="2194560" cy="5486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4800600"/>
            <a:ext cx="10972800" cy="1280160"/>
          </a:xfrm>
          <a:prstGeom prst="rect">
            <a:avLst/>
          </a:prstGeom>
          <a:noFill/>
        </p:spPr>
        <p:txBody>
          <a:bodyPr wrap="square" anchor="t" lIns="0" rIns="0" tIns="0" bIns="0">
            <a:spAutoFit/>
          </a:bodyPr>
          <a:lstStyle/>
          <a:p>
            <a:pPr algn="l">
              <a:spcBef>
                <a:spcPts val="0"/>
              </a:spcBef>
              <a:spcAft>
                <a:spcPts val="600"/>
              </a:spcAft>
            </a:pPr>
            <a:r>
              <a:rPr sz="1600" b="0">
                <a:solidFill>
                  <a:srgbClr val="5B6372"/>
                </a:solidFill>
                <a:latin typeface="Arial"/>
              </a:rPr>
              <a:t>WSQ Course Code: TGS-2025054612</a:t>
            </a:r>
          </a:p>
          <a:p>
            <a:pPr algn="l">
              <a:spcBef>
                <a:spcPts val="0"/>
              </a:spcBef>
              <a:spcAft>
                <a:spcPts val="600"/>
              </a:spcAft>
            </a:pPr>
            <a:r>
              <a:rPr sz="1400" b="0">
                <a:solidFill>
                  <a:srgbClr val="5B6372"/>
                </a:solidFill>
                <a:latin typeface="Arial"/>
              </a:rPr>
              <a:t>Conducted by Tertiary Infotech Academy Pte Ltd  ·  UEN 201200696W</a:t>
            </a:r>
          </a:p>
        </p:txBody>
      </p:sp>
      <p:sp>
        <p:nvSpPr>
          <p:cNvPr id="9" name="TextBox 8"/>
          <p:cNvSpPr txBox="1"/>
          <p:nvPr/>
        </p:nvSpPr>
        <p:spPr>
          <a:xfrm>
            <a:off x="822960" y="6126480"/>
            <a:ext cx="10972800" cy="310896"/>
          </a:xfrm>
          <a:prstGeom prst="rect">
            <a:avLst/>
          </a:prstGeom>
          <a:noFill/>
        </p:spPr>
        <p:txBody>
          <a:bodyPr wrap="square" anchor="t" lIns="0" rIns="0" tIns="0" bIns="0">
            <a:spAutoFit/>
          </a:bodyPr>
          <a:lstStyle/>
          <a:p>
            <a:pPr algn="l">
              <a:spcBef>
                <a:spcPts val="0"/>
              </a:spcBef>
              <a:spcAft>
                <a:spcPts val="400"/>
              </a:spcAft>
            </a:pPr>
            <a:r>
              <a:rPr sz="1000" b="0">
                <a:solidFill>
                  <a:srgbClr val="5B6372"/>
                </a:solidFill>
                <a:latin typeface="Arial"/>
              </a:rPr>
              <a:t>© 2026 Tertiary Infotech Academy Pte Ltd. All rights reserved.  ·  www.tertiarycourses.com.sg</a:t>
            </a: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lIns="0" rIns="0" tIns="0" bIns="0">
            <a:spAutoFit/>
          </a:bodyPr>
          <a:lstStyle/>
          <a:p>
            <a:pPr algn="l">
              <a:spcBef>
                <a:spcPts val="0"/>
              </a:spcBef>
              <a:spcAft>
                <a:spcPts val="400"/>
              </a:spcAft>
            </a:pPr>
            <a:r>
              <a:rPr sz="1800" b="1">
                <a:solidFill>
                  <a:srgbClr val="1F6FEB"/>
                </a:solidFill>
                <a:latin typeface="Arial"/>
              </a:rPr>
              <a:t>DAY 2</a:t>
            </a:r>
          </a:p>
        </p:txBody>
      </p:sp>
      <p:sp>
        <p:nvSpPr>
          <p:cNvPr id="6" name="TextBox 5"/>
          <p:cNvSpPr txBox="1"/>
          <p:nvPr/>
        </p:nvSpPr>
        <p:spPr>
          <a:xfrm>
            <a:off x="1143000" y="2743200"/>
            <a:ext cx="10424160" cy="1463040"/>
          </a:xfrm>
          <a:prstGeom prst="rect">
            <a:avLst/>
          </a:prstGeom>
          <a:noFill/>
        </p:spPr>
        <p:txBody>
          <a:bodyPr wrap="square" anchor="t" lIns="0" rIns="0" tIns="0" bIns="0">
            <a:spAutoFit/>
          </a:bodyPr>
          <a:lstStyle/>
          <a:p>
            <a:pPr algn="l">
              <a:spcBef>
                <a:spcPts val="0"/>
              </a:spcBef>
              <a:spcAft>
                <a:spcPts val="400"/>
              </a:spcAft>
            </a:pPr>
            <a:r>
              <a:rPr sz="4000" b="1">
                <a:solidFill>
                  <a:srgbClr val="161B26"/>
                </a:solidFill>
                <a:latin typeface="Arial"/>
              </a:rPr>
              <a:t>Workloads, Scheduling &amp; Services</a:t>
            </a:r>
          </a:p>
        </p:txBody>
      </p:sp>
      <p:sp>
        <p:nvSpPr>
          <p:cNvPr id="7" name="TextBox 6"/>
          <p:cNvSpPr txBox="1"/>
          <p:nvPr/>
        </p:nvSpPr>
        <p:spPr>
          <a:xfrm>
            <a:off x="1161288" y="4114800"/>
            <a:ext cx="10058400" cy="731520"/>
          </a:xfrm>
          <a:prstGeom prst="rect">
            <a:avLst/>
          </a:prstGeom>
          <a:noFill/>
        </p:spPr>
        <p:txBody>
          <a:bodyPr wrap="square" anchor="t" lIns="0" rIns="0" tIns="0" bIns="0">
            <a:spAutoFit/>
          </a:bodyPr>
          <a:lstStyle/>
          <a:p>
            <a:pPr algn="l">
              <a:spcBef>
                <a:spcPts val="0"/>
              </a:spcBef>
              <a:spcAft>
                <a:spcPts val="400"/>
              </a:spcAft>
            </a:pPr>
            <a:r>
              <a:rPr sz="1600" b="0">
                <a:solidFill>
                  <a:srgbClr val="5B6372"/>
                </a:solidFill>
                <a:latin typeface="Arial"/>
              </a:rPr>
              <a:t>Domain 1 tools + Domains 2 &amp; 3 start — Labs 9–18</a:t>
            </a:r>
          </a:p>
        </p:txBody>
      </p:sp>
      <p:sp>
        <p:nvSpPr>
          <p:cNvPr id="8" name="TextBox 7"/>
          <p:cNvSpPr txBox="1"/>
          <p:nvPr/>
        </p:nvSpPr>
        <p:spPr>
          <a:xfrm>
            <a:off x="9418320" y="640080"/>
            <a:ext cx="2286000" cy="1463040"/>
          </a:xfrm>
          <a:prstGeom prst="rect">
            <a:avLst/>
          </a:prstGeom>
          <a:noFill/>
        </p:spPr>
        <p:txBody>
          <a:bodyPr wrap="square" anchor="t" lIns="0" rIns="0" tIns="0" bIns="0">
            <a:spAutoFit/>
          </a:bodyPr>
          <a:lstStyle/>
          <a:p>
            <a:pPr algn="r">
              <a:spcBef>
                <a:spcPts val="0"/>
              </a:spcBef>
              <a:spcAft>
                <a:spcPts val="400"/>
              </a:spcAft>
            </a:pPr>
            <a:r>
              <a:rPr sz="7200" b="1">
                <a:solidFill>
                  <a:srgbClr val="E2E8F0"/>
                </a:solidFill>
                <a:latin typeface="Arial"/>
              </a:rPr>
              <a:t>02</a:t>
            </a:r>
          </a:p>
        </p:txBody>
      </p:sp>
      <p:sp>
        <p:nvSpPr>
          <p:cNvPr id="9" name="TextBox 8"/>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0" name="TextBox 9"/>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1" name="TextBox 10"/>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86</a:t>
            </a: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TRAQOM · SSG DIGITAL ATTENDANCE</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Digital Attendance (Mandatory)</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828800"/>
            <a:ext cx="5760720" cy="3840480"/>
          </a:xfrm>
          <a:prstGeom prst="rect">
            <a:avLst/>
          </a:prstGeom>
          <a:noFill/>
        </p:spPr>
        <p:txBody>
          <a:bodyPr wrap="square" lIns="0" rIns="0">
            <a:spAutoFit/>
          </a:bodyPr>
          <a:lstStyle/>
          <a:p>
            <a:pPr>
              <a:spcBef>
                <a:spcPts val="0"/>
              </a:spcBef>
              <a:spcAft>
                <a:spcPts val="1400"/>
              </a:spcAft>
            </a:pPr>
            <a:r>
              <a:rPr sz="1600" b="1">
                <a:solidFill>
                  <a:srgbClr val="1F6FEB"/>
                </a:solidFill>
                <a:latin typeface="Arial"/>
              </a:rPr>
              <a:t>•  </a:t>
            </a:r>
            <a:r>
              <a:rPr sz="1600">
                <a:solidFill>
                  <a:srgbClr val="161B26"/>
                </a:solidFill>
                <a:latin typeface="Arial"/>
              </a:rPr>
              <a:t>It is mandatory to take the AM, PM and Assessment digital attendance for WSQ-funded courses.</a:t>
            </a:r>
          </a:p>
          <a:p>
            <a:pPr>
              <a:spcBef>
                <a:spcPts val="0"/>
              </a:spcBef>
              <a:spcAft>
                <a:spcPts val="1400"/>
              </a:spcAft>
            </a:pPr>
            <a:r>
              <a:rPr sz="1600" b="1">
                <a:solidFill>
                  <a:srgbClr val="1F6FEB"/>
                </a:solidFill>
                <a:latin typeface="Arial"/>
              </a:rPr>
              <a:t>•  </a:t>
            </a:r>
            <a:r>
              <a:rPr sz="1600">
                <a:solidFill>
                  <a:srgbClr val="161B26"/>
                </a:solidFill>
                <a:latin typeface="Arial"/>
              </a:rPr>
              <a:t>The trainer displays the digital attendance QR code from the SSG portal.</a:t>
            </a:r>
          </a:p>
          <a:p>
            <a:pPr>
              <a:spcBef>
                <a:spcPts val="0"/>
              </a:spcBef>
              <a:spcAft>
                <a:spcPts val="1400"/>
              </a:spcAft>
            </a:pPr>
            <a:r>
              <a:rPr sz="1600" b="1">
                <a:solidFill>
                  <a:srgbClr val="1F6FEB"/>
                </a:solidFill>
                <a:latin typeface="Arial"/>
              </a:rPr>
              <a:t>•  </a:t>
            </a:r>
            <a:r>
              <a:rPr sz="1600">
                <a:solidFill>
                  <a:srgbClr val="161B26"/>
                </a:solidFill>
                <a:latin typeface="Arial"/>
              </a:rPr>
              <a:t>Scan the QR code with your phone camera and submit your attendance.</a:t>
            </a:r>
          </a:p>
          <a:p>
            <a:pPr>
              <a:spcBef>
                <a:spcPts val="0"/>
              </a:spcBef>
              <a:spcAft>
                <a:spcPts val="1400"/>
              </a:spcAft>
            </a:pPr>
            <a:r>
              <a:rPr sz="1600" b="1">
                <a:solidFill>
                  <a:srgbClr val="1F6FEB"/>
                </a:solidFill>
                <a:latin typeface="Arial"/>
              </a:rPr>
              <a:t>•  </a:t>
            </a:r>
            <a:r>
              <a:rPr sz="1600">
                <a:solidFill>
                  <a:srgbClr val="161B26"/>
                </a:solidFill>
                <a:latin typeface="Arial"/>
              </a:rPr>
              <a:t>A minimum of 75% attendance is required for assessment and funding.</a:t>
            </a:r>
          </a:p>
        </p:txBody>
      </p:sp>
      <p:sp>
        <p:nvSpPr>
          <p:cNvPr id="8" name="Rounded Rectangle 7"/>
          <p:cNvSpPr/>
          <p:nvPr/>
        </p:nvSpPr>
        <p:spPr>
          <a:xfrm>
            <a:off x="6903720" y="1828800"/>
            <a:ext cx="4389120" cy="2743200"/>
          </a:xfrm>
          <a:prstGeom prst="roundRect">
            <a:avLst>
              <a:gd name="adj" fmla="val 5000"/>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595360" y="2148840"/>
            <a:ext cx="1005840" cy="10058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ic_attend.png"/>
          <p:cNvPicPr>
            <a:picLocks noChangeAspect="1"/>
          </p:cNvPicPr>
          <p:nvPr/>
        </p:nvPicPr>
        <p:blipFill>
          <a:blip r:embed="rId2"/>
          <a:stretch>
            <a:fillRect/>
          </a:stretch>
        </p:blipFill>
        <p:spPr>
          <a:xfrm>
            <a:off x="8866936" y="2420416"/>
            <a:ext cx="462688" cy="462688"/>
          </a:xfrm>
          <a:prstGeom prst="rect">
            <a:avLst/>
          </a:prstGeom>
        </p:spPr>
      </p:pic>
      <p:sp>
        <p:nvSpPr>
          <p:cNvPr id="11" name="TextBox 10"/>
          <p:cNvSpPr txBox="1"/>
          <p:nvPr/>
        </p:nvSpPr>
        <p:spPr>
          <a:xfrm>
            <a:off x="7178040" y="3337560"/>
            <a:ext cx="3840480" cy="1097280"/>
          </a:xfrm>
          <a:prstGeom prst="rect">
            <a:avLst/>
          </a:prstGeom>
          <a:noFill/>
        </p:spPr>
        <p:txBody>
          <a:bodyPr wrap="square" anchor="t" lIns="0" rIns="0" tIns="0" bIns="0">
            <a:spAutoFit/>
          </a:bodyPr>
          <a:lstStyle/>
          <a:p>
            <a:pPr algn="ctr">
              <a:spcBef>
                <a:spcPts val="0"/>
              </a:spcBef>
              <a:spcAft>
                <a:spcPts val="200"/>
              </a:spcAft>
            </a:pPr>
            <a:r>
              <a:rPr sz="2600" b="1">
                <a:solidFill>
                  <a:srgbClr val="1F6FEB"/>
                </a:solidFill>
                <a:latin typeface="Arial"/>
              </a:rPr>
              <a:t>Minimum 75%</a:t>
            </a:r>
          </a:p>
          <a:p>
            <a:pPr algn="ctr">
              <a:spcBef>
                <a:spcPts val="0"/>
              </a:spcBef>
              <a:spcAft>
                <a:spcPts val="200"/>
              </a:spcAft>
            </a:pPr>
            <a:r>
              <a:rPr sz="2600" b="1">
                <a:solidFill>
                  <a:srgbClr val="1F6FEB"/>
                </a:solidFill>
                <a:latin typeface="Arial"/>
              </a:rPr>
              <a:t>attendance required</a:t>
            </a:r>
          </a:p>
        </p:txBody>
      </p:sp>
      <p:sp>
        <p:nvSpPr>
          <p:cNvPr id="12" name="TextBox 11"/>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3" name="TextBox 12"/>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4" name="TextBox 13"/>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87</a:t>
            </a: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DAY 2 OBJECTIVES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Recap &amp; Today</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07040" cy="4480560"/>
          </a:xfrm>
          <a:prstGeom prst="rect">
            <a:avLst/>
          </a:prstGeom>
          <a:noFill/>
        </p:spPr>
        <p:txBody>
          <a:bodyPr wrap="square" lIns="0" rIns="0">
            <a:spAutoFit/>
          </a:bodyPr>
          <a:lstStyle/>
          <a:p>
            <a:pPr>
              <a:spcBef>
                <a:spcPts val="0"/>
              </a:spcBef>
              <a:spcAft>
                <a:spcPts val="1000"/>
              </a:spcAft>
            </a:pPr>
            <a:r>
              <a:rPr sz="1900" b="1">
                <a:solidFill>
                  <a:srgbClr val="1F6FEB"/>
                </a:solidFill>
                <a:latin typeface="Arial"/>
              </a:rPr>
              <a:t>•  </a:t>
            </a:r>
            <a:r>
              <a:rPr sz="1900">
                <a:solidFill>
                  <a:srgbClr val="161B26"/>
                </a:solidFill>
                <a:latin typeface="Arial"/>
              </a:rPr>
              <a:t>Yesterday (Domain 1): kubeadm cluster bootstrap, CNI, cluster upgrade, HA etcd, Helm, Kustomize and RBAC.</a:t>
            </a:r>
          </a:p>
          <a:p>
            <a:pPr>
              <a:spcBef>
                <a:spcPts val="0"/>
              </a:spcBef>
              <a:spcAft>
                <a:spcPts val="1000"/>
              </a:spcAft>
            </a:pPr>
            <a:r>
              <a:rPr sz="1900" b="1">
                <a:solidFill>
                  <a:srgbClr val="1F6FEB"/>
                </a:solidFill>
                <a:latin typeface="Arial"/>
              </a:rPr>
              <a:t>•  </a:t>
            </a:r>
            <a:r>
              <a:rPr sz="1900">
                <a:solidFill>
                  <a:srgbClr val="161B26"/>
                </a:solidFill>
                <a:latin typeface="Arial"/>
              </a:rPr>
              <a:t>This morning — Domain 1 tools: CRDs, Operators and the CRI/CNI/CSI extension interfaces.</a:t>
            </a:r>
          </a:p>
          <a:p>
            <a:pPr>
              <a:spcBef>
                <a:spcPts val="0"/>
              </a:spcBef>
              <a:spcAft>
                <a:spcPts val="1000"/>
              </a:spcAft>
            </a:pPr>
            <a:r>
              <a:rPr sz="1900" b="1">
                <a:solidFill>
                  <a:srgbClr val="1F6FEB"/>
                </a:solidFill>
                <a:latin typeface="Arial"/>
              </a:rPr>
              <a:t>•  </a:t>
            </a:r>
            <a:r>
              <a:rPr sz="1900">
                <a:solidFill>
                  <a:srgbClr val="161B26"/>
                </a:solidFill>
                <a:latin typeface="Arial"/>
              </a:rPr>
              <a:t>Then Domain 2 (15%): Deployments, ConfigMaps, Secrets, HPA, self-healing and pod scheduling.</a:t>
            </a:r>
          </a:p>
          <a:p>
            <a:pPr>
              <a:spcBef>
                <a:spcPts val="0"/>
              </a:spcBef>
              <a:spcAft>
                <a:spcPts val="1000"/>
              </a:spcAft>
            </a:pPr>
            <a:r>
              <a:rPr sz="1900" b="1">
                <a:solidFill>
                  <a:srgbClr val="1F6FEB"/>
                </a:solidFill>
                <a:latin typeface="Arial"/>
              </a:rPr>
              <a:t>•  </a:t>
            </a:r>
            <a:r>
              <a:rPr sz="1900">
                <a:solidFill>
                  <a:srgbClr val="161B26"/>
                </a:solidFill>
                <a:latin typeface="Arial"/>
              </a:rPr>
              <a:t>Late afternoon — Domain 3 start (20%): pod connectivity, Service types.</a:t>
            </a:r>
          </a:p>
        </p:txBody>
      </p:sp>
      <p:sp>
        <p:nvSpPr>
          <p:cNvPr id="8" name="TextBox 7"/>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9" name="TextBox 8"/>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88</a:t>
            </a:r>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lIns="0" rIns="0" tIns="0" bIns="0">
            <a:spAutoFit/>
          </a:bodyPr>
          <a:lstStyle/>
          <a:p>
            <a:pPr algn="l">
              <a:spcBef>
                <a:spcPts val="0"/>
              </a:spcBef>
              <a:spcAft>
                <a:spcPts val="400"/>
              </a:spcAft>
            </a:pPr>
            <a:r>
              <a:rPr sz="1800" b="1">
                <a:solidFill>
                  <a:srgbClr val="1F6FEB"/>
                </a:solidFill>
                <a:latin typeface="Arial"/>
              </a:rPr>
              <a:t>TOPIC 1</a:t>
            </a:r>
          </a:p>
        </p:txBody>
      </p:sp>
      <p:sp>
        <p:nvSpPr>
          <p:cNvPr id="6" name="TextBox 5"/>
          <p:cNvSpPr txBox="1"/>
          <p:nvPr/>
        </p:nvSpPr>
        <p:spPr>
          <a:xfrm>
            <a:off x="1143000" y="2743200"/>
            <a:ext cx="10424160" cy="1463040"/>
          </a:xfrm>
          <a:prstGeom prst="rect">
            <a:avLst/>
          </a:prstGeom>
          <a:noFill/>
        </p:spPr>
        <p:txBody>
          <a:bodyPr wrap="square" anchor="t" lIns="0" rIns="0" tIns="0" bIns="0">
            <a:spAutoFit/>
          </a:bodyPr>
          <a:lstStyle/>
          <a:p>
            <a:pPr algn="l">
              <a:spcBef>
                <a:spcPts val="0"/>
              </a:spcBef>
              <a:spcAft>
                <a:spcPts val="400"/>
              </a:spcAft>
            </a:pPr>
            <a:r>
              <a:rPr sz="4000" b="1">
                <a:solidFill>
                  <a:srgbClr val="161B26"/>
                </a:solidFill>
                <a:latin typeface="Arial"/>
              </a:rPr>
              <a:t>CRDs, Operators &amp; Extension Interfaces</a:t>
            </a:r>
          </a:p>
        </p:txBody>
      </p:sp>
      <p:sp>
        <p:nvSpPr>
          <p:cNvPr id="7" name="TextBox 6"/>
          <p:cNvSpPr txBox="1"/>
          <p:nvPr/>
        </p:nvSpPr>
        <p:spPr>
          <a:xfrm>
            <a:off x="1161288" y="4114800"/>
            <a:ext cx="10058400" cy="731520"/>
          </a:xfrm>
          <a:prstGeom prst="rect">
            <a:avLst/>
          </a:prstGeom>
          <a:noFill/>
        </p:spPr>
        <p:txBody>
          <a:bodyPr wrap="square" anchor="t" lIns="0" rIns="0" tIns="0" bIns="0">
            <a:spAutoFit/>
          </a:bodyPr>
          <a:lstStyle/>
          <a:p>
            <a:pPr algn="l">
              <a:spcBef>
                <a:spcPts val="0"/>
              </a:spcBef>
              <a:spcAft>
                <a:spcPts val="400"/>
              </a:spcAft>
            </a:pPr>
            <a:r>
              <a:rPr sz="1600" b="0">
                <a:solidFill>
                  <a:srgbClr val="5B6372"/>
                </a:solidFill>
                <a:latin typeface="Arial"/>
              </a:rPr>
              <a:t>Extend Kubernetes without patching it</a:t>
            </a:r>
          </a:p>
        </p:txBody>
      </p:sp>
      <p:sp>
        <p:nvSpPr>
          <p:cNvPr id="8" name="TextBox 7"/>
          <p:cNvSpPr txBox="1"/>
          <p:nvPr/>
        </p:nvSpPr>
        <p:spPr>
          <a:xfrm>
            <a:off x="9418320" y="640080"/>
            <a:ext cx="2286000" cy="1463040"/>
          </a:xfrm>
          <a:prstGeom prst="rect">
            <a:avLst/>
          </a:prstGeom>
          <a:noFill/>
        </p:spPr>
        <p:txBody>
          <a:bodyPr wrap="square" anchor="t" lIns="0" rIns="0" tIns="0" bIns="0">
            <a:spAutoFit/>
          </a:bodyPr>
          <a:lstStyle/>
          <a:p>
            <a:pPr algn="r">
              <a:spcBef>
                <a:spcPts val="0"/>
              </a:spcBef>
              <a:spcAft>
                <a:spcPts val="400"/>
              </a:spcAft>
            </a:pPr>
            <a:r>
              <a:rPr sz="7200" b="1">
                <a:solidFill>
                  <a:srgbClr val="E2E8F0"/>
                </a:solidFill>
                <a:latin typeface="Arial"/>
              </a:rPr>
              <a:t/>
            </a:r>
          </a:p>
        </p:txBody>
      </p:sp>
      <p:sp>
        <p:nvSpPr>
          <p:cNvPr id="9" name="TextBox 8"/>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0" name="TextBox 9"/>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1" name="TextBox 10"/>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89</a:t>
            </a:r>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API EXTENSIBILITY</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Custom Resource Definitions (CRDs)</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07040" cy="4480560"/>
          </a:xfrm>
          <a:prstGeom prst="rect">
            <a:avLst/>
          </a:prstGeom>
          <a:noFill/>
        </p:spPr>
        <p:txBody>
          <a:bodyPr wrap="square" lIns="0" rIns="0">
            <a:spAutoFit/>
          </a:bodyPr>
          <a:lstStyle/>
          <a:p>
            <a:pPr>
              <a:spcBef>
                <a:spcPts val="0"/>
              </a:spcBef>
              <a:spcAft>
                <a:spcPts val="1000"/>
              </a:spcAft>
            </a:pPr>
            <a:r>
              <a:rPr sz="1900" b="1">
                <a:solidFill>
                  <a:srgbClr val="1F6FEB"/>
                </a:solidFill>
                <a:latin typeface="Arial"/>
              </a:rPr>
              <a:t>•  </a:t>
            </a:r>
            <a:r>
              <a:rPr sz="1900">
                <a:solidFill>
                  <a:srgbClr val="161B26"/>
                </a:solidFill>
                <a:latin typeface="Arial"/>
              </a:rPr>
              <a:t>A CRD registers a new object kind with the API server — creating, listing and deleting it just like built-in resources.</a:t>
            </a:r>
          </a:p>
          <a:p>
            <a:pPr>
              <a:spcBef>
                <a:spcPts val="0"/>
              </a:spcBef>
              <a:spcAft>
                <a:spcPts val="1000"/>
              </a:spcAft>
            </a:pPr>
            <a:r>
              <a:rPr sz="1900" b="1">
                <a:solidFill>
                  <a:srgbClr val="1F6FEB"/>
                </a:solidFill>
                <a:latin typeface="Arial"/>
              </a:rPr>
              <a:t>•  </a:t>
            </a:r>
            <a:r>
              <a:rPr sz="1900">
                <a:solidFill>
                  <a:srgbClr val="161B26"/>
                </a:solidFill>
                <a:latin typeface="Arial"/>
              </a:rPr>
              <a:t>openAPIV3Schema in the CRD spec validates the custom resource at admission time.</a:t>
            </a:r>
          </a:p>
          <a:p>
            <a:pPr>
              <a:spcBef>
                <a:spcPts val="0"/>
              </a:spcBef>
              <a:spcAft>
                <a:spcPts val="1000"/>
              </a:spcAft>
            </a:pPr>
            <a:r>
              <a:rPr sz="1900" b="1">
                <a:solidFill>
                  <a:srgbClr val="1F6FEB"/>
                </a:solidFill>
                <a:latin typeface="Arial"/>
              </a:rPr>
              <a:t>•  </a:t>
            </a:r>
            <a:r>
              <a:rPr sz="1900">
                <a:solidFill>
                  <a:srgbClr val="161B26"/>
                </a:solidFill>
                <a:latin typeface="Arial"/>
              </a:rPr>
              <a:t>kubectl api-resources lists all resources including custom ones (shows APIVERSION column).</a:t>
            </a:r>
          </a:p>
          <a:p>
            <a:pPr>
              <a:spcBef>
                <a:spcPts val="0"/>
              </a:spcBef>
              <a:spcAft>
                <a:spcPts val="1000"/>
              </a:spcAft>
            </a:pPr>
            <a:r>
              <a:rPr sz="1900" b="1">
                <a:solidFill>
                  <a:srgbClr val="1F6FEB"/>
                </a:solidFill>
                <a:latin typeface="Arial"/>
              </a:rPr>
              <a:t>•  </a:t>
            </a:r>
            <a:r>
              <a:rPr sz="1900">
                <a:solidFill>
                  <a:srgbClr val="161B26"/>
                </a:solidFill>
                <a:latin typeface="Arial"/>
              </a:rPr>
              <a:t>An Operator pairs a CRD with a controller that encodes operational knowledge (install, upgrade, backup).</a:t>
            </a:r>
          </a:p>
        </p:txBody>
      </p:sp>
      <p:sp>
        <p:nvSpPr>
          <p:cNvPr id="8" name="TextBox 7"/>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9" name="TextBox 8"/>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90</a:t>
            </a:r>
          </a:p>
        </p:txBody>
      </p:sp>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THE PLUGIN INTERFACES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CRI, CNI, CSI — The Plugin Interfaces</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07040" cy="4480560"/>
          </a:xfrm>
          <a:prstGeom prst="rect">
            <a:avLst/>
          </a:prstGeom>
          <a:noFill/>
        </p:spPr>
        <p:txBody>
          <a:bodyPr wrap="square" lIns="0" rIns="0">
            <a:spAutoFit/>
          </a:bodyPr>
          <a:lstStyle/>
          <a:p>
            <a:pPr>
              <a:spcBef>
                <a:spcPts val="0"/>
              </a:spcBef>
              <a:spcAft>
                <a:spcPts val="1000"/>
              </a:spcAft>
            </a:pPr>
            <a:r>
              <a:rPr sz="1900" b="1">
                <a:solidFill>
                  <a:srgbClr val="1F6FEB"/>
                </a:solidFill>
                <a:latin typeface="Arial"/>
              </a:rPr>
              <a:t>•  </a:t>
            </a:r>
            <a:r>
              <a:rPr sz="1900">
                <a:solidFill>
                  <a:srgbClr val="161B26"/>
                </a:solidFill>
                <a:latin typeface="Arial"/>
              </a:rPr>
              <a:t>CRI (Container Runtime Interface): kubelet talks to containerd or CRI-O via a gRPC socket.</a:t>
            </a:r>
          </a:p>
          <a:p>
            <a:pPr>
              <a:spcBef>
                <a:spcPts val="0"/>
              </a:spcBef>
              <a:spcAft>
                <a:spcPts val="1000"/>
              </a:spcAft>
            </a:pPr>
            <a:r>
              <a:rPr sz="1900" b="1">
                <a:solidFill>
                  <a:srgbClr val="1F6FEB"/>
                </a:solidFill>
                <a:latin typeface="Arial"/>
              </a:rPr>
              <a:t>•  </a:t>
            </a:r>
            <a:r>
              <a:rPr sz="1900">
                <a:solidFill>
                  <a:srgbClr val="161B26"/>
                </a:solidFill>
                <a:latin typeface="Arial"/>
              </a:rPr>
              <a:t>crictl is the low-level CRI client — use it when kubectl is unavailable because the API server is down.</a:t>
            </a:r>
          </a:p>
          <a:p>
            <a:pPr>
              <a:spcBef>
                <a:spcPts val="0"/>
              </a:spcBef>
              <a:spcAft>
                <a:spcPts val="1000"/>
              </a:spcAft>
            </a:pPr>
            <a:r>
              <a:rPr sz="1900" b="1">
                <a:solidFill>
                  <a:srgbClr val="1F6FEB"/>
                </a:solidFill>
                <a:latin typeface="Arial"/>
              </a:rPr>
              <a:t>•  </a:t>
            </a:r>
            <a:r>
              <a:rPr sz="1900">
                <a:solidFill>
                  <a:srgbClr val="161B26"/>
                </a:solidFill>
                <a:latin typeface="Arial"/>
              </a:rPr>
              <a:t>CNI (Container Network Interface): /etc/cni/net.d/ configs + /opt/cni/bin/ binaries; called on every pod lifecycle event.</a:t>
            </a:r>
          </a:p>
          <a:p>
            <a:pPr>
              <a:spcBef>
                <a:spcPts val="0"/>
              </a:spcBef>
              <a:spcAft>
                <a:spcPts val="1000"/>
              </a:spcAft>
            </a:pPr>
            <a:r>
              <a:rPr sz="1900" b="1">
                <a:solidFill>
                  <a:srgbClr val="1F6FEB"/>
                </a:solidFill>
                <a:latin typeface="Arial"/>
              </a:rPr>
              <a:t>•  </a:t>
            </a:r>
            <a:r>
              <a:rPr sz="1900">
                <a:solidFill>
                  <a:srgbClr val="161B26"/>
                </a:solidFill>
                <a:latin typeface="Arial"/>
              </a:rPr>
              <a:t>CSI (Container Storage Interface): kubectl get csidrivers and csinodes; StorageClass references a CSI provisioner.</a:t>
            </a:r>
          </a:p>
        </p:txBody>
      </p:sp>
      <p:sp>
        <p:nvSpPr>
          <p:cNvPr id="8" name="TextBox 7"/>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9" name="TextBox 8"/>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91</a:t>
            </a:r>
          </a:p>
        </p:txBody>
      </p:sp>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CRDs &amp; OPERATORS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The Operator Pattern — CRD + Controller</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day4_s041_i1.jpg"/>
          <p:cNvPicPr>
            <a:picLocks noChangeAspect="1"/>
          </p:cNvPicPr>
          <p:nvPr/>
        </p:nvPicPr>
        <p:blipFill>
          <a:blip r:embed="rId2"/>
          <a:stretch>
            <a:fillRect/>
          </a:stretch>
        </p:blipFill>
        <p:spPr>
          <a:xfrm>
            <a:off x="2129582" y="1627632"/>
            <a:ext cx="7948075" cy="4544568"/>
          </a:xfrm>
          <a:prstGeom prst="rect">
            <a:avLst/>
          </a:prstGeom>
        </p:spPr>
      </p:pic>
      <p:sp>
        <p:nvSpPr>
          <p:cNvPr id="8" name="TextBox 7"/>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9" name="TextBox 8"/>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92</a:t>
            </a:r>
          </a:p>
        </p:txBody>
      </p:sp>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DAY 2 · CRDS &amp; OPERATORS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CRDs and Operators: Schema Validation, cert-manager, Certificate Lifecycle</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64208"/>
            <a:ext cx="169164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09928"/>
            <a:ext cx="1691640" cy="365760"/>
          </a:xfrm>
          <a:prstGeom prst="rect">
            <a:avLst/>
          </a:prstGeom>
          <a:noFill/>
        </p:spPr>
        <p:txBody>
          <a:bodyPr wrap="square" anchor="t" lIns="0" rIns="0" tIns="0" bIns="0">
            <a:spAutoFit/>
          </a:bodyPr>
          <a:lstStyle/>
          <a:p>
            <a:pPr algn="ctr">
              <a:spcBef>
                <a:spcPts val="0"/>
              </a:spcBef>
              <a:spcAft>
                <a:spcPts val="400"/>
              </a:spcAft>
            </a:pPr>
            <a:r>
              <a:rPr sz="1600" b="1">
                <a:solidFill>
                  <a:srgbClr val="FFFFFF"/>
                </a:solidFill>
                <a:latin typeface="Arial"/>
              </a:rPr>
              <a:t>LAB 9</a:t>
            </a:r>
          </a:p>
        </p:txBody>
      </p:sp>
      <p:sp>
        <p:nvSpPr>
          <p:cNvPr id="9" name="TextBox 8"/>
          <p:cNvSpPr txBox="1"/>
          <p:nvPr/>
        </p:nvSpPr>
        <p:spPr>
          <a:xfrm>
            <a:off x="2697480" y="1691640"/>
            <a:ext cx="8778240" cy="411480"/>
          </a:xfrm>
          <a:prstGeom prst="rect">
            <a:avLst/>
          </a:prstGeom>
          <a:noFill/>
        </p:spPr>
        <p:txBody>
          <a:bodyPr wrap="square" anchor="ctr" lIns="0" rIns="0" tIns="0" bIns="0">
            <a:spAutoFit/>
          </a:bodyPr>
          <a:lstStyle/>
          <a:p>
            <a:pPr algn="l">
              <a:spcBef>
                <a:spcPts val="0"/>
              </a:spcBef>
              <a:spcAft>
                <a:spcPts val="400"/>
              </a:spcAft>
            </a:pPr>
            <a:r>
              <a:rPr sz="1400" b="1">
                <a:solidFill>
                  <a:srgbClr val="5B6372"/>
                </a:solidFill>
                <a:latin typeface="Arial"/>
              </a:rPr>
              <a:t>CRDs and Operators</a:t>
            </a:r>
          </a:p>
        </p:txBody>
      </p:sp>
      <p:sp>
        <p:nvSpPr>
          <p:cNvPr id="10" name="TextBox 9"/>
          <p:cNvSpPr txBox="1"/>
          <p:nvPr/>
        </p:nvSpPr>
        <p:spPr>
          <a:xfrm>
            <a:off x="777240" y="2286000"/>
            <a:ext cx="10698480" cy="1554480"/>
          </a:xfrm>
          <a:prstGeom prst="rect">
            <a:avLst/>
          </a:prstGeom>
          <a:noFill/>
        </p:spPr>
        <p:txBody>
          <a:bodyPr wrap="square" anchor="t" lIns="0" rIns="0" tIns="0" bIns="0">
            <a:spAutoFit/>
          </a:bodyPr>
          <a:lstStyle/>
          <a:p>
            <a:pPr algn="l">
              <a:spcBef>
                <a:spcPts val="0"/>
              </a:spcBef>
              <a:spcAft>
                <a:spcPts val="400"/>
              </a:spcAft>
            </a:pPr>
            <a:r>
              <a:rPr sz="1900" b="0">
                <a:solidFill>
                  <a:srgbClr val="161B26"/>
                </a:solidFill>
                <a:latin typeface="Arial"/>
              </a:rPr>
              <a:t>Define a CRD with OpenAPI schema validation, create custom resources, install the cert-manager operator via Helm, and walk through the TLS certificate lifecycle. CKA tests working with CRDs and operator-managed resources.</a:t>
            </a:r>
          </a:p>
        </p:txBody>
      </p:sp>
      <p:sp>
        <p:nvSpPr>
          <p:cNvPr id="11" name="Rounded Rectangle 10"/>
          <p:cNvSpPr/>
          <p:nvPr/>
        </p:nvSpPr>
        <p:spPr>
          <a:xfrm>
            <a:off x="777240" y="4069080"/>
            <a:ext cx="10698480" cy="1783080"/>
          </a:xfrm>
          <a:prstGeom prst="roundRect">
            <a:avLst>
              <a:gd name="adj" fmla="val 5000"/>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05840" y="4251960"/>
            <a:ext cx="10058400" cy="365760"/>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You'll build</a:t>
            </a:r>
          </a:p>
        </p:txBody>
      </p:sp>
      <p:sp>
        <p:nvSpPr>
          <p:cNvPr id="13" name="TextBox 12"/>
          <p:cNvSpPr txBox="1"/>
          <p:nvPr/>
        </p:nvSpPr>
        <p:spPr>
          <a:xfrm>
            <a:off x="1005840" y="4617720"/>
            <a:ext cx="10241280" cy="640080"/>
          </a:xfrm>
          <a:prstGeom prst="rect">
            <a:avLst/>
          </a:prstGeom>
          <a:noFill/>
        </p:spPr>
        <p:txBody>
          <a:bodyPr wrap="square" anchor="t" lIns="0" rIns="0" tIns="0" bIns="0">
            <a:spAutoFit/>
          </a:bodyPr>
          <a:lstStyle/>
          <a:p>
            <a:pPr algn="l">
              <a:spcBef>
                <a:spcPts val="0"/>
              </a:spcBef>
              <a:spcAft>
                <a:spcPts val="400"/>
              </a:spcAft>
            </a:pPr>
            <a:r>
              <a:rPr sz="1700" b="1">
                <a:solidFill>
                  <a:srgbClr val="161B26"/>
                </a:solidFill>
                <a:latin typeface="Arial"/>
              </a:rPr>
              <a:t>Create AppDatabase CRD with enum/pattern/required validation, install cert-manager, create self-signed ClusterIssuer, request TLS Certificate, inspect resulting Secret.</a:t>
            </a:r>
          </a:p>
        </p:txBody>
      </p:sp>
      <p:sp>
        <p:nvSpPr>
          <p:cNvPr id="14" name="TextBox 13"/>
          <p:cNvSpPr txBox="1"/>
          <p:nvPr/>
        </p:nvSpPr>
        <p:spPr>
          <a:xfrm>
            <a:off x="1005840" y="5349240"/>
            <a:ext cx="10058400" cy="457200"/>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Key commands:  </a:t>
            </a:r>
            <a:r>
              <a:rPr sz="1300" b="0">
                <a:solidFill>
                  <a:srgbClr val="5B6372"/>
                </a:solidFill>
                <a:latin typeface="Arial"/>
              </a:rPr>
              <a:t>cat &lt;&lt;'EOF' · kubectl apply · helm repo · » CRDs</a:t>
            </a:r>
          </a:p>
        </p:txBody>
      </p:sp>
      <p:sp>
        <p:nvSpPr>
          <p:cNvPr id="15" name="TextBox 14"/>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6" name="TextBox 15"/>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7" name="TextBox 16"/>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93</a:t>
            </a:r>
          </a:p>
        </p:txBody>
      </p:sp>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9  ·  COMMANDS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CRDs and Operators: Schema Validation, cert-manager, Certificate Lifecycle</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91640"/>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Step 1 -- Define a CRD with schema validation</a:t>
            </a:r>
          </a:p>
        </p:txBody>
      </p:sp>
      <p:sp>
        <p:nvSpPr>
          <p:cNvPr id="8" name="Rounded Rectangle 7"/>
          <p:cNvSpPr/>
          <p:nvPr/>
        </p:nvSpPr>
        <p:spPr>
          <a:xfrm>
            <a:off x="777240" y="2075688"/>
            <a:ext cx="10652760" cy="5394959"/>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075688"/>
            <a:ext cx="82296" cy="5394959"/>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6" y="2139696"/>
            <a:ext cx="10323576" cy="5303519"/>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cat &lt;&lt;'EOF' | kubectl apply -f -</a:t>
            </a:r>
          </a:p>
          <a:p>
            <a:pPr>
              <a:spcBef>
                <a:spcPts val="0"/>
              </a:spcBef>
              <a:spcAft>
                <a:spcPts val="0"/>
              </a:spcAft>
            </a:pPr>
            <a:r>
              <a:rPr sz="1050">
                <a:solidFill>
                  <a:srgbClr val="161B26"/>
                </a:solidFill>
                <a:latin typeface="Consolas"/>
              </a:rPr>
              <a:t>apiVersion: apiextensions.k8s.io/v1</a:t>
            </a:r>
          </a:p>
          <a:p>
            <a:pPr>
              <a:spcBef>
                <a:spcPts val="0"/>
              </a:spcBef>
              <a:spcAft>
                <a:spcPts val="0"/>
              </a:spcAft>
            </a:pPr>
            <a:r>
              <a:rPr sz="1050">
                <a:solidFill>
                  <a:srgbClr val="161B26"/>
                </a:solidFill>
                <a:latin typeface="Consolas"/>
              </a:rPr>
              <a:t>kind: CustomResourceDefinition</a:t>
            </a:r>
          </a:p>
          <a:p>
            <a:pPr>
              <a:spcBef>
                <a:spcPts val="0"/>
              </a:spcBef>
              <a:spcAft>
                <a:spcPts val="0"/>
              </a:spcAft>
            </a:pPr>
            <a:r>
              <a:rPr sz="1050">
                <a:solidFill>
                  <a:srgbClr val="161B26"/>
                </a:solidFill>
                <a:latin typeface="Consolas"/>
              </a:rPr>
              <a:t>metadata:</a:t>
            </a:r>
          </a:p>
          <a:p>
            <a:pPr>
              <a:spcBef>
                <a:spcPts val="0"/>
              </a:spcBef>
              <a:spcAft>
                <a:spcPts val="0"/>
              </a:spcAft>
            </a:pPr>
            <a:r>
              <a:rPr sz="1050">
                <a:solidFill>
                  <a:srgbClr val="161B26"/>
                </a:solidFill>
                <a:latin typeface="Consolas"/>
              </a:rPr>
              <a:t>  name: appdatabases.storage.example.com</a:t>
            </a:r>
          </a:p>
          <a:p>
            <a:pPr>
              <a:spcBef>
                <a:spcPts val="0"/>
              </a:spcBef>
              <a:spcAft>
                <a:spcPts val="0"/>
              </a:spcAft>
            </a:pPr>
            <a:r>
              <a:rPr sz="1050">
                <a:solidFill>
                  <a:srgbClr val="161B26"/>
                </a:solidFill>
                <a:latin typeface="Consolas"/>
              </a:rPr>
              <a:t>spec:</a:t>
            </a:r>
          </a:p>
          <a:p>
            <a:pPr>
              <a:spcBef>
                <a:spcPts val="0"/>
              </a:spcBef>
              <a:spcAft>
                <a:spcPts val="0"/>
              </a:spcAft>
            </a:pPr>
            <a:r>
              <a:rPr sz="1050">
                <a:solidFill>
                  <a:srgbClr val="161B26"/>
                </a:solidFill>
                <a:latin typeface="Consolas"/>
              </a:rPr>
              <a:t>  group: storage.example.com</a:t>
            </a:r>
          </a:p>
          <a:p>
            <a:pPr>
              <a:spcBef>
                <a:spcPts val="0"/>
              </a:spcBef>
              <a:spcAft>
                <a:spcPts val="0"/>
              </a:spcAft>
            </a:pPr>
            <a:r>
              <a:rPr sz="1050">
                <a:solidFill>
                  <a:srgbClr val="161B26"/>
                </a:solidFill>
                <a:latin typeface="Consolas"/>
              </a:rPr>
              <a:t>  versions:</a:t>
            </a:r>
          </a:p>
          <a:p>
            <a:pPr>
              <a:spcBef>
                <a:spcPts val="0"/>
              </a:spcBef>
              <a:spcAft>
                <a:spcPts val="0"/>
              </a:spcAft>
            </a:pPr>
            <a:r>
              <a:rPr sz="1050">
                <a:solidFill>
                  <a:srgbClr val="161B26"/>
                </a:solidFill>
                <a:latin typeface="Consolas"/>
              </a:rPr>
              <a:t>  - name: v1</a:t>
            </a:r>
          </a:p>
          <a:p>
            <a:pPr>
              <a:spcBef>
                <a:spcPts val="0"/>
              </a:spcBef>
              <a:spcAft>
                <a:spcPts val="0"/>
              </a:spcAft>
            </a:pPr>
            <a:r>
              <a:rPr sz="1050">
                <a:solidFill>
                  <a:srgbClr val="161B26"/>
                </a:solidFill>
                <a:latin typeface="Consolas"/>
              </a:rPr>
              <a:t>    served: true</a:t>
            </a:r>
          </a:p>
          <a:p>
            <a:pPr>
              <a:spcBef>
                <a:spcPts val="0"/>
              </a:spcBef>
              <a:spcAft>
                <a:spcPts val="0"/>
              </a:spcAft>
            </a:pPr>
            <a:r>
              <a:rPr sz="1050">
                <a:solidFill>
                  <a:srgbClr val="161B26"/>
                </a:solidFill>
                <a:latin typeface="Consolas"/>
              </a:rPr>
              <a:t>    storage: true</a:t>
            </a:r>
          </a:p>
          <a:p>
            <a:pPr>
              <a:spcBef>
                <a:spcPts val="0"/>
              </a:spcBef>
              <a:spcAft>
                <a:spcPts val="0"/>
              </a:spcAft>
            </a:pPr>
            <a:r>
              <a:rPr sz="1050">
                <a:solidFill>
                  <a:srgbClr val="161B26"/>
                </a:solidFill>
                <a:latin typeface="Consolas"/>
              </a:rPr>
              <a:t>    schema:</a:t>
            </a:r>
          </a:p>
          <a:p>
            <a:pPr>
              <a:spcBef>
                <a:spcPts val="0"/>
              </a:spcBef>
              <a:spcAft>
                <a:spcPts val="0"/>
              </a:spcAft>
            </a:pPr>
            <a:r>
              <a:rPr sz="1050">
                <a:solidFill>
                  <a:srgbClr val="161B26"/>
                </a:solidFill>
                <a:latin typeface="Consolas"/>
              </a:rPr>
              <a:t>      openAPIV3Schema:</a:t>
            </a:r>
          </a:p>
          <a:p>
            <a:pPr>
              <a:spcBef>
                <a:spcPts val="0"/>
              </a:spcBef>
              <a:spcAft>
                <a:spcPts val="0"/>
              </a:spcAft>
            </a:pPr>
            <a:r>
              <a:rPr sz="1050">
                <a:solidFill>
                  <a:srgbClr val="161B26"/>
                </a:solidFill>
                <a:latin typeface="Consolas"/>
              </a:rPr>
              <a:t>        type: object</a:t>
            </a:r>
          </a:p>
          <a:p>
            <a:pPr>
              <a:spcBef>
                <a:spcPts val="0"/>
              </a:spcBef>
              <a:spcAft>
                <a:spcPts val="0"/>
              </a:spcAft>
            </a:pPr>
            <a:r>
              <a:rPr sz="1050">
                <a:solidFill>
                  <a:srgbClr val="161B26"/>
                </a:solidFill>
                <a:latin typeface="Consolas"/>
              </a:rPr>
              <a:t>        properties:</a:t>
            </a:r>
          </a:p>
          <a:p>
            <a:pPr>
              <a:spcBef>
                <a:spcPts val="0"/>
              </a:spcBef>
              <a:spcAft>
                <a:spcPts val="0"/>
              </a:spcAft>
            </a:pPr>
            <a:r>
              <a:rPr sz="1050">
                <a:solidFill>
                  <a:srgbClr val="161B26"/>
                </a:solidFill>
                <a:latin typeface="Consolas"/>
              </a:rPr>
              <a:t>          spec:</a:t>
            </a:r>
          </a:p>
          <a:p>
            <a:pPr>
              <a:spcBef>
                <a:spcPts val="0"/>
              </a:spcBef>
              <a:spcAft>
                <a:spcPts val="0"/>
              </a:spcAft>
            </a:pPr>
            <a:r>
              <a:rPr sz="1050">
                <a:solidFill>
                  <a:srgbClr val="161B26"/>
                </a:solidFill>
                <a:latin typeface="Consolas"/>
              </a:rPr>
              <a:t>            type: object</a:t>
            </a:r>
          </a:p>
          <a:p>
            <a:pPr>
              <a:spcBef>
                <a:spcPts val="0"/>
              </a:spcBef>
              <a:spcAft>
                <a:spcPts val="0"/>
              </a:spcAft>
            </a:pPr>
            <a:r>
              <a:rPr sz="1050">
                <a:solidFill>
                  <a:srgbClr val="161B26"/>
                </a:solidFill>
                <a:latin typeface="Consolas"/>
              </a:rPr>
              <a:t>            required: ['engine', 'storage']</a:t>
            </a:r>
          </a:p>
          <a:p>
            <a:pPr>
              <a:spcBef>
                <a:spcPts val="0"/>
              </a:spcBef>
              <a:spcAft>
                <a:spcPts val="0"/>
              </a:spcAft>
            </a:pPr>
            <a:r>
              <a:rPr sz="1050">
                <a:solidFill>
                  <a:srgbClr val="161B26"/>
                </a:solidFill>
                <a:latin typeface="Consolas"/>
              </a:rPr>
              <a:t>            properties:</a:t>
            </a:r>
          </a:p>
          <a:p>
            <a:pPr>
              <a:spcBef>
                <a:spcPts val="0"/>
              </a:spcBef>
              <a:spcAft>
                <a:spcPts val="0"/>
              </a:spcAft>
            </a:pPr>
            <a:r>
              <a:rPr sz="1050">
                <a:solidFill>
                  <a:srgbClr val="161B26"/>
                </a:solidFill>
                <a:latin typeface="Consolas"/>
              </a:rPr>
              <a:t>              engine:</a:t>
            </a:r>
          </a:p>
          <a:p>
            <a:pPr>
              <a:spcBef>
                <a:spcPts val="0"/>
              </a:spcBef>
              <a:spcAft>
                <a:spcPts val="0"/>
              </a:spcAft>
            </a:pPr>
            <a:r>
              <a:rPr sz="1050">
                <a:solidFill>
                  <a:srgbClr val="161B26"/>
                </a:solidFill>
                <a:latin typeface="Consolas"/>
              </a:rPr>
              <a:t>                type: string</a:t>
            </a:r>
          </a:p>
          <a:p>
            <a:pPr>
              <a:spcBef>
                <a:spcPts val="0"/>
              </a:spcBef>
              <a:spcAft>
                <a:spcPts val="0"/>
              </a:spcAft>
            </a:pPr>
            <a:r>
              <a:rPr sz="1050">
                <a:solidFill>
                  <a:srgbClr val="161B26"/>
                </a:solidFill>
                <a:latin typeface="Consolas"/>
              </a:rPr>
              <a:t>                enum: ['postgresql', 'mysql', 'redis']</a:t>
            </a:r>
          </a:p>
          <a:p>
            <a:pPr>
              <a:spcBef>
                <a:spcPts val="0"/>
              </a:spcBef>
              <a:spcAft>
                <a:spcPts val="0"/>
              </a:spcAft>
            </a:pPr>
            <a:r>
              <a:rPr sz="1050">
                <a:solidFill>
                  <a:srgbClr val="161B26"/>
                </a:solidFill>
                <a:latin typeface="Consolas"/>
              </a:rPr>
              <a:t>  scope: Namespaced</a:t>
            </a:r>
          </a:p>
          <a:p>
            <a:pPr>
              <a:spcBef>
                <a:spcPts val="0"/>
              </a:spcBef>
              <a:spcAft>
                <a:spcPts val="0"/>
              </a:spcAft>
            </a:pPr>
            <a:r>
              <a:rPr sz="1050">
                <a:solidFill>
                  <a:srgbClr val="161B26"/>
                </a:solidFill>
                <a:latin typeface="Consolas"/>
              </a:rPr>
              <a:t>  names:</a:t>
            </a:r>
          </a:p>
          <a:p>
            <a:pPr>
              <a:spcBef>
                <a:spcPts val="0"/>
              </a:spcBef>
              <a:spcAft>
                <a:spcPts val="0"/>
              </a:spcAft>
            </a:pPr>
            <a:r>
              <a:rPr sz="1050">
                <a:solidFill>
                  <a:srgbClr val="161B26"/>
                </a:solidFill>
                <a:latin typeface="Consolas"/>
              </a:rPr>
              <a:t>    plural: appdatabases</a:t>
            </a:r>
          </a:p>
          <a:p>
            <a:pPr>
              <a:spcBef>
                <a:spcPts val="0"/>
              </a:spcBef>
              <a:spcAft>
                <a:spcPts val="0"/>
              </a:spcAft>
            </a:pPr>
            <a:r>
              <a:rPr sz="1050">
                <a:solidFill>
                  <a:srgbClr val="161B26"/>
                </a:solidFill>
                <a:latin typeface="Consolas"/>
              </a:rPr>
              <a:t>    singular: appdatabase</a:t>
            </a:r>
          </a:p>
          <a:p>
            <a:pPr>
              <a:spcBef>
                <a:spcPts val="0"/>
              </a:spcBef>
              <a:spcAft>
                <a:spcPts val="0"/>
              </a:spcAft>
            </a:pPr>
            <a:r>
              <a:rPr sz="1050">
                <a:solidFill>
                  <a:srgbClr val="161B26"/>
                </a:solidFill>
                <a:latin typeface="Consolas"/>
              </a:rPr>
              <a:t>    kind: AppDatabase</a:t>
            </a:r>
          </a:p>
          <a:p>
            <a:pPr>
              <a:spcBef>
                <a:spcPts val="0"/>
              </a:spcBef>
              <a:spcAft>
                <a:spcPts val="0"/>
              </a:spcAft>
            </a:pPr>
            <a:r>
              <a:rPr sz="1050">
                <a:solidFill>
                  <a:srgbClr val="161B26"/>
                </a:solidFill>
                <a:latin typeface="Consolas"/>
              </a:rPr>
              <a:t>EOF</a:t>
            </a:r>
          </a:p>
        </p:txBody>
      </p:sp>
      <p:sp>
        <p:nvSpPr>
          <p:cNvPr id="11" name="TextBox 10"/>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94</a:t>
            </a:r>
          </a:p>
        </p:txBody>
      </p:sp>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9  ·  COMMANDS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CRDs and Operators: Schema Validation, cert-manager, Certificate Lifecycle (cont.)</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91640"/>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Step 2 -- Create and query custom resources</a:t>
            </a:r>
          </a:p>
        </p:txBody>
      </p:sp>
      <p:sp>
        <p:nvSpPr>
          <p:cNvPr id="8" name="Rounded Rectangle 7"/>
          <p:cNvSpPr/>
          <p:nvPr/>
        </p:nvSpPr>
        <p:spPr>
          <a:xfrm>
            <a:off x="777240" y="2075688"/>
            <a:ext cx="10652760" cy="2208276"/>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075688"/>
            <a:ext cx="82296" cy="220827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6" y="2139696"/>
            <a:ext cx="10323576" cy="2116836"/>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kubectl apply -f - &lt;&lt;'EOF'</a:t>
            </a:r>
          </a:p>
          <a:p>
            <a:pPr>
              <a:spcBef>
                <a:spcPts val="0"/>
              </a:spcBef>
              <a:spcAft>
                <a:spcPts val="0"/>
              </a:spcAft>
            </a:pPr>
            <a:r>
              <a:rPr sz="1050">
                <a:solidFill>
                  <a:srgbClr val="161B26"/>
                </a:solidFill>
                <a:latin typeface="Consolas"/>
              </a:rPr>
              <a:t>apiVersion: storage.example.com/v1</a:t>
            </a:r>
          </a:p>
          <a:p>
            <a:pPr>
              <a:spcBef>
                <a:spcPts val="0"/>
              </a:spcBef>
              <a:spcAft>
                <a:spcPts val="0"/>
              </a:spcAft>
            </a:pPr>
            <a:r>
              <a:rPr sz="1050">
                <a:solidFill>
                  <a:srgbClr val="161B26"/>
                </a:solidFill>
                <a:latin typeface="Consolas"/>
              </a:rPr>
              <a:t>kind: AppDatabase</a:t>
            </a:r>
          </a:p>
          <a:p>
            <a:pPr>
              <a:spcBef>
                <a:spcPts val="0"/>
              </a:spcBef>
              <a:spcAft>
                <a:spcPts val="0"/>
              </a:spcAft>
            </a:pPr>
            <a:r>
              <a:rPr sz="1050">
                <a:solidFill>
                  <a:srgbClr val="161B26"/>
                </a:solidFill>
                <a:latin typeface="Consolas"/>
              </a:rPr>
              <a:t>metadata:</a:t>
            </a:r>
          </a:p>
          <a:p>
            <a:pPr>
              <a:spcBef>
                <a:spcPts val="0"/>
              </a:spcBef>
              <a:spcAft>
                <a:spcPts val="0"/>
              </a:spcAft>
            </a:pPr>
            <a:r>
              <a:rPr sz="1050">
                <a:solidFill>
                  <a:srgbClr val="161B26"/>
                </a:solidFill>
                <a:latin typeface="Consolas"/>
              </a:rPr>
              <a:t>  name: my-postgres</a:t>
            </a:r>
          </a:p>
          <a:p>
            <a:pPr>
              <a:spcBef>
                <a:spcPts val="0"/>
              </a:spcBef>
              <a:spcAft>
                <a:spcPts val="0"/>
              </a:spcAft>
            </a:pPr>
            <a:r>
              <a:rPr sz="1050">
                <a:solidFill>
                  <a:srgbClr val="161B26"/>
                </a:solidFill>
                <a:latin typeface="Consolas"/>
              </a:rPr>
              <a:t>spec:</a:t>
            </a:r>
          </a:p>
          <a:p>
            <a:pPr>
              <a:spcBef>
                <a:spcPts val="0"/>
              </a:spcBef>
              <a:spcAft>
                <a:spcPts val="0"/>
              </a:spcAft>
            </a:pPr>
            <a:r>
              <a:rPr sz="1050">
                <a:solidFill>
                  <a:srgbClr val="161B26"/>
                </a:solidFill>
                <a:latin typeface="Consolas"/>
              </a:rPr>
              <a:t>  engine: postgresql</a:t>
            </a:r>
          </a:p>
          <a:p>
            <a:pPr>
              <a:spcBef>
                <a:spcPts val="0"/>
              </a:spcBef>
              <a:spcAft>
                <a:spcPts val="0"/>
              </a:spcAft>
            </a:pPr>
            <a:r>
              <a:rPr sz="1050">
                <a:solidFill>
                  <a:srgbClr val="161B26"/>
                </a:solidFill>
                <a:latin typeface="Consolas"/>
              </a:rPr>
              <a:t>  storage: 20Gi</a:t>
            </a:r>
          </a:p>
          <a:p>
            <a:pPr>
              <a:spcBef>
                <a:spcPts val="0"/>
              </a:spcBef>
              <a:spcAft>
                <a:spcPts val="0"/>
              </a:spcAft>
            </a:pPr>
            <a:r>
              <a:rPr sz="1050">
                <a:solidFill>
                  <a:srgbClr val="161B26"/>
                </a:solidFill>
                <a:latin typeface="Consolas"/>
              </a:rPr>
              <a:t>EOF</a:t>
            </a:r>
          </a:p>
          <a:p>
            <a:pPr>
              <a:spcBef>
                <a:spcPts val="0"/>
              </a:spcBef>
              <a:spcAft>
                <a:spcPts val="0"/>
              </a:spcAft>
            </a:pPr>
            <a:r>
              <a:rPr sz="1050">
                <a:solidFill>
                  <a:srgbClr val="161B26"/>
                </a:solidFill>
                <a:latin typeface="Consolas"/>
              </a:rPr>
              <a:t>kubectl get appdatabases</a:t>
            </a:r>
          </a:p>
          <a:p>
            <a:pPr>
              <a:spcBef>
                <a:spcPts val="0"/>
              </a:spcBef>
              <a:spcAft>
                <a:spcPts val="0"/>
              </a:spcAft>
            </a:pPr>
            <a:r>
              <a:rPr sz="1050">
                <a:solidFill>
                  <a:srgbClr val="161B26"/>
                </a:solidFill>
                <a:latin typeface="Consolas"/>
              </a:rPr>
              <a:t>kubectl describe adb my-postgres</a:t>
            </a:r>
          </a:p>
        </p:txBody>
      </p:sp>
      <p:sp>
        <p:nvSpPr>
          <p:cNvPr id="11" name="TextBox 10"/>
          <p:cNvSpPr txBox="1"/>
          <p:nvPr/>
        </p:nvSpPr>
        <p:spPr>
          <a:xfrm>
            <a:off x="777240" y="4466844"/>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Step 3 -- Install cert-manager via Helm</a:t>
            </a:r>
          </a:p>
        </p:txBody>
      </p:sp>
      <p:sp>
        <p:nvSpPr>
          <p:cNvPr id="12" name="Rounded Rectangle 11"/>
          <p:cNvSpPr/>
          <p:nvPr/>
        </p:nvSpPr>
        <p:spPr>
          <a:xfrm>
            <a:off x="777240" y="4850892"/>
            <a:ext cx="10652760" cy="1083563"/>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850892"/>
            <a:ext cx="82296" cy="1083563"/>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914900"/>
            <a:ext cx="10323576" cy="992123"/>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helm repo add jetstack https://charts.jetstack.io &amp;&amp; helm repo update</a:t>
            </a:r>
          </a:p>
          <a:p>
            <a:pPr>
              <a:spcBef>
                <a:spcPts val="0"/>
              </a:spcBef>
              <a:spcAft>
                <a:spcPts val="0"/>
              </a:spcAft>
            </a:pPr>
            <a:r>
              <a:rPr sz="1050">
                <a:solidFill>
                  <a:srgbClr val="161B26"/>
                </a:solidFill>
                <a:latin typeface="Consolas"/>
              </a:rPr>
              <a:t>helm install cert-manager jetstack/cert-manager \</a:t>
            </a:r>
          </a:p>
          <a:p>
            <a:pPr>
              <a:spcBef>
                <a:spcPts val="0"/>
              </a:spcBef>
              <a:spcAft>
                <a:spcPts val="0"/>
              </a:spcAft>
            </a:pPr>
            <a:r>
              <a:rPr sz="1050">
                <a:solidFill>
                  <a:srgbClr val="161B26"/>
                </a:solidFill>
                <a:latin typeface="Consolas"/>
              </a:rPr>
              <a:t>  --namespace cert-manager --create-namespace \</a:t>
            </a:r>
          </a:p>
          <a:p>
            <a:pPr>
              <a:spcBef>
                <a:spcPts val="0"/>
              </a:spcBef>
              <a:spcAft>
                <a:spcPts val="0"/>
              </a:spcAft>
            </a:pPr>
            <a:r>
              <a:rPr sz="1050">
                <a:solidFill>
                  <a:srgbClr val="161B26"/>
                </a:solidFill>
                <a:latin typeface="Consolas"/>
              </a:rPr>
              <a:t>  --version v1.15.0 --set installCRDs=true</a:t>
            </a:r>
          </a:p>
          <a:p>
            <a:pPr>
              <a:spcBef>
                <a:spcPts val="0"/>
              </a:spcBef>
              <a:spcAft>
                <a:spcPts val="0"/>
              </a:spcAft>
            </a:pPr>
            <a:r>
              <a:rPr sz="1050">
                <a:solidFill>
                  <a:srgbClr val="161B26"/>
                </a:solidFill>
                <a:latin typeface="Consolas"/>
              </a:rPr>
              <a:t>kubectl get pods -n cert-manager</a:t>
            </a:r>
          </a:p>
        </p:txBody>
      </p:sp>
      <p:sp>
        <p:nvSpPr>
          <p:cNvPr id="15" name="TextBox 14"/>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6" name="TextBox 15"/>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7" name="TextBox 16"/>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95</a:t>
            </a:r>
          </a:p>
        </p:txBody>
      </p:sp>
    </p:spTree>
  </p:cSld>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9  ·  COMMANDS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CRDs and Operators: Schema Validation, cert-manager, Certificate Lifecycle (cont.)</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91640"/>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Step 4 -- Create ClusterIssuer and request certificate</a:t>
            </a:r>
          </a:p>
        </p:txBody>
      </p:sp>
      <p:sp>
        <p:nvSpPr>
          <p:cNvPr id="8" name="Rounded Rectangle 7"/>
          <p:cNvSpPr/>
          <p:nvPr/>
        </p:nvSpPr>
        <p:spPr>
          <a:xfrm>
            <a:off x="777240" y="2075688"/>
            <a:ext cx="10652760" cy="1833372"/>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075688"/>
            <a:ext cx="82296" cy="183337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6" y="2139696"/>
            <a:ext cx="10323576" cy="1741932"/>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kubectl apply -f - &lt;&lt;'EOF'</a:t>
            </a:r>
          </a:p>
          <a:p>
            <a:pPr>
              <a:spcBef>
                <a:spcPts val="0"/>
              </a:spcBef>
              <a:spcAft>
                <a:spcPts val="0"/>
              </a:spcAft>
            </a:pPr>
            <a:r>
              <a:rPr sz="1050">
                <a:solidFill>
                  <a:srgbClr val="161B26"/>
                </a:solidFill>
                <a:latin typeface="Consolas"/>
              </a:rPr>
              <a:t>apiVersion: cert-manager.io/v1</a:t>
            </a:r>
          </a:p>
          <a:p>
            <a:pPr>
              <a:spcBef>
                <a:spcPts val="0"/>
              </a:spcBef>
              <a:spcAft>
                <a:spcPts val="0"/>
              </a:spcAft>
            </a:pPr>
            <a:r>
              <a:rPr sz="1050">
                <a:solidFill>
                  <a:srgbClr val="161B26"/>
                </a:solidFill>
                <a:latin typeface="Consolas"/>
              </a:rPr>
              <a:t>kind: ClusterIssuer</a:t>
            </a:r>
          </a:p>
          <a:p>
            <a:pPr>
              <a:spcBef>
                <a:spcPts val="0"/>
              </a:spcBef>
              <a:spcAft>
                <a:spcPts val="0"/>
              </a:spcAft>
            </a:pPr>
            <a:r>
              <a:rPr sz="1050">
                <a:solidFill>
                  <a:srgbClr val="161B26"/>
                </a:solidFill>
                <a:latin typeface="Consolas"/>
              </a:rPr>
              <a:t>metadata:</a:t>
            </a:r>
          </a:p>
          <a:p>
            <a:pPr>
              <a:spcBef>
                <a:spcPts val="0"/>
              </a:spcBef>
              <a:spcAft>
                <a:spcPts val="0"/>
              </a:spcAft>
            </a:pPr>
            <a:r>
              <a:rPr sz="1050">
                <a:solidFill>
                  <a:srgbClr val="161B26"/>
                </a:solidFill>
                <a:latin typeface="Consolas"/>
              </a:rPr>
              <a:t>  name: selfsigned-issuer</a:t>
            </a:r>
          </a:p>
          <a:p>
            <a:pPr>
              <a:spcBef>
                <a:spcPts val="0"/>
              </a:spcBef>
              <a:spcAft>
                <a:spcPts val="0"/>
              </a:spcAft>
            </a:pPr>
            <a:r>
              <a:rPr sz="1050">
                <a:solidFill>
                  <a:srgbClr val="161B26"/>
                </a:solidFill>
                <a:latin typeface="Consolas"/>
              </a:rPr>
              <a:t>spec:</a:t>
            </a:r>
          </a:p>
          <a:p>
            <a:pPr>
              <a:spcBef>
                <a:spcPts val="0"/>
              </a:spcBef>
              <a:spcAft>
                <a:spcPts val="0"/>
              </a:spcAft>
            </a:pPr>
            <a:r>
              <a:rPr sz="1050">
                <a:solidFill>
                  <a:srgbClr val="161B26"/>
                </a:solidFill>
                <a:latin typeface="Consolas"/>
              </a:rPr>
              <a:t>  selfSigned: {}</a:t>
            </a:r>
          </a:p>
          <a:p>
            <a:pPr>
              <a:spcBef>
                <a:spcPts val="0"/>
              </a:spcBef>
              <a:spcAft>
                <a:spcPts val="0"/>
              </a:spcAft>
            </a:pPr>
            <a:r>
              <a:rPr sz="1050">
                <a:solidFill>
                  <a:srgbClr val="161B26"/>
                </a:solidFill>
                <a:latin typeface="Consolas"/>
              </a:rPr>
              <a:t>EOF</a:t>
            </a:r>
          </a:p>
          <a:p>
            <a:pPr>
              <a:spcBef>
                <a:spcPts val="0"/>
              </a:spcBef>
              <a:spcAft>
                <a:spcPts val="0"/>
              </a:spcAft>
            </a:pPr>
            <a:r>
              <a:rPr sz="1050">
                <a:solidFill>
                  <a:srgbClr val="161B26"/>
                </a:solidFill>
                <a:latin typeface="Consolas"/>
              </a:rPr>
              <a:t>kubectl wait --for=condition=Ready clusterissuer/selfsigned-issuer</a:t>
            </a:r>
          </a:p>
        </p:txBody>
      </p:sp>
      <p:sp>
        <p:nvSpPr>
          <p:cNvPr id="11" name="TextBox 10"/>
          <p:cNvSpPr txBox="1"/>
          <p:nvPr/>
        </p:nvSpPr>
        <p:spPr>
          <a:xfrm>
            <a:off x="777240" y="4091940"/>
            <a:ext cx="10652760" cy="310896"/>
          </a:xfrm>
          <a:prstGeom prst="rect">
            <a:avLst/>
          </a:prstGeom>
          <a:noFill/>
        </p:spPr>
        <p:txBody>
          <a:bodyPr wrap="square" anchor="t" lIns="0" rIns="0" tIns="0" bIns="0">
            <a:spAutoFit/>
          </a:bodyPr>
          <a:lstStyle/>
          <a:p>
            <a:pPr algn="l">
              <a:spcBef>
                <a:spcPts val="0"/>
              </a:spcBef>
              <a:spcAft>
                <a:spcPts val="400"/>
              </a:spcAft>
            </a:pPr>
            <a:r>
              <a:rPr sz="1300" b="1">
                <a:solidFill>
                  <a:srgbClr val="F59E0B"/>
                </a:solidFill>
                <a:latin typeface="Arial"/>
              </a:rPr>
              <a:t>Note   </a:t>
            </a:r>
            <a:r>
              <a:rPr sz="1300" b="0">
                <a:solidFill>
                  <a:srgbClr val="5B6372"/>
                </a:solidFill>
                <a:latin typeface="Arial"/>
              </a:rPr>
              <a:t>CRDs extend the Kubernetes API with custom resource types. OpenAPI schema validation rejects invalid resources at the API server before they reach etcd.</a:t>
            </a:r>
          </a:p>
        </p:txBody>
      </p:sp>
      <p:sp>
        <p:nvSpPr>
          <p:cNvPr id="12" name="TextBox 11"/>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3" name="TextBox 12"/>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4" name="TextBox 13"/>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96</a:t>
            </a:r>
          </a:p>
        </p:txBody>
      </p:sp>
    </p:spTree>
  </p:cSld>
  <p:clrMapOvr>
    <a:masterClrMapping/>
  </p:clrMapOvr>
</p:sld>
</file>

<file path=ppt/slides/slide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9  ·  TEST IT</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CRDs and Operators: Schema Validation, cert-manager, Certificate Lifecycle</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03120"/>
            <a:ext cx="10698480" cy="2560320"/>
          </a:xfrm>
          <a:prstGeom prst="roundRect">
            <a:avLst>
              <a:gd name="adj" fmla="val 5000"/>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lIns="0" rIns="0" tIns="0" bIns="0">
            <a:spAutoFit/>
          </a:bodyPr>
          <a:lstStyle/>
          <a:p>
            <a:pPr algn="l">
              <a:spcBef>
                <a:spcPts val="0"/>
              </a:spcBef>
              <a:spcAft>
                <a:spcPts val="400"/>
              </a:spcAft>
            </a:pPr>
            <a:r>
              <a:rPr sz="2200" b="1">
                <a:solidFill>
                  <a:srgbClr val="127A3E"/>
                </a:solidFill>
                <a:latin typeface="Arial"/>
              </a:rPr>
              <a:t>✅  Test it</a:t>
            </a:r>
          </a:p>
        </p:txBody>
      </p:sp>
      <p:sp>
        <p:nvSpPr>
          <p:cNvPr id="9" name="TextBox 8"/>
          <p:cNvSpPr txBox="1"/>
          <p:nvPr/>
        </p:nvSpPr>
        <p:spPr>
          <a:xfrm>
            <a:off x="1097280" y="3017520"/>
            <a:ext cx="10149840" cy="1463040"/>
          </a:xfrm>
          <a:prstGeom prst="rect">
            <a:avLst/>
          </a:prstGeom>
          <a:noFill/>
        </p:spPr>
        <p:txBody>
          <a:bodyPr wrap="square" anchor="t" lIns="0" rIns="0" tIns="0" bIns="0">
            <a:spAutoFit/>
          </a:bodyPr>
          <a:lstStyle/>
          <a:p>
            <a:pPr algn="l">
              <a:spcBef>
                <a:spcPts val="0"/>
              </a:spcBef>
              <a:spcAft>
                <a:spcPts val="400"/>
              </a:spcAft>
            </a:pPr>
            <a:r>
              <a:rPr sz="1800" b="0">
                <a:solidFill>
                  <a:srgbClr val="161B26"/>
                </a:solidFill>
                <a:latin typeface="Arial"/>
              </a:rPr>
              <a:t>kubectl get appdatabases shows my-postgres. cert-manager pods are Running. ClusterIssuer is Ready. Invalid engine value (e.g. 'oracle') is rejected by the API server.</a:t>
            </a:r>
          </a:p>
        </p:txBody>
      </p:sp>
      <p:sp>
        <p:nvSpPr>
          <p:cNvPr id="10" name="TextBox 9"/>
          <p:cNvSpPr txBox="1"/>
          <p:nvPr/>
        </p:nvSpPr>
        <p:spPr>
          <a:xfrm>
            <a:off x="777240" y="4983480"/>
            <a:ext cx="10698480" cy="365760"/>
          </a:xfrm>
          <a:prstGeom prst="rect">
            <a:avLst/>
          </a:prstGeom>
          <a:noFill/>
        </p:spPr>
        <p:txBody>
          <a:bodyPr wrap="square" anchor="t" lIns="0" rIns="0" tIns="0" bIns="0">
            <a:spAutoFit/>
          </a:bodyPr>
          <a:lstStyle/>
          <a:p>
            <a:pPr algn="l">
              <a:spcBef>
                <a:spcPts val="0"/>
              </a:spcBef>
              <a:spcAft>
                <a:spcPts val="400"/>
              </a:spcAft>
            </a:pPr>
            <a:r>
              <a:rPr sz="1300" b="1">
                <a:solidFill>
                  <a:srgbClr val="10B981"/>
                </a:solidFill>
                <a:latin typeface="Arial"/>
              </a:rPr>
              <a:t>Killercoda:  </a:t>
            </a:r>
            <a:r>
              <a:rPr sz="1300" b="0">
                <a:solidFill>
                  <a:srgbClr val="5B6372"/>
                </a:solidFill>
                <a:latin typeface="Arial"/>
              </a:rPr>
              <a:t>https://killercoda.com/playgrounds/scenario/kubernetes</a:t>
            </a:r>
          </a:p>
        </p:txBody>
      </p:sp>
      <p:sp>
        <p:nvSpPr>
          <p:cNvPr id="11" name="TextBox 10"/>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97</a:t>
            </a:r>
          </a:p>
        </p:txBody>
      </p:sp>
    </p:spTree>
  </p:cSld>
  <p:clrMapOvr>
    <a:masterClrMapping/>
  </p:clrMapOvr>
</p:sld>
</file>

<file path=ppt/slides/slide1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DAY 2 · CRI/CNI/CSI</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Extension Interfaces: CRI (crictl), CNI (/etc/cni/net.d), CSI (kubectl get csidrivers)</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64208"/>
            <a:ext cx="169164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09928"/>
            <a:ext cx="1691640" cy="365760"/>
          </a:xfrm>
          <a:prstGeom prst="rect">
            <a:avLst/>
          </a:prstGeom>
          <a:noFill/>
        </p:spPr>
        <p:txBody>
          <a:bodyPr wrap="square" anchor="t" lIns="0" rIns="0" tIns="0" bIns="0">
            <a:spAutoFit/>
          </a:bodyPr>
          <a:lstStyle/>
          <a:p>
            <a:pPr algn="ctr">
              <a:spcBef>
                <a:spcPts val="0"/>
              </a:spcBef>
              <a:spcAft>
                <a:spcPts val="400"/>
              </a:spcAft>
            </a:pPr>
            <a:r>
              <a:rPr sz="1600" b="1">
                <a:solidFill>
                  <a:srgbClr val="FFFFFF"/>
                </a:solidFill>
                <a:latin typeface="Arial"/>
              </a:rPr>
              <a:t>LAB 10</a:t>
            </a:r>
          </a:p>
        </p:txBody>
      </p:sp>
      <p:sp>
        <p:nvSpPr>
          <p:cNvPr id="9" name="TextBox 8"/>
          <p:cNvSpPr txBox="1"/>
          <p:nvPr/>
        </p:nvSpPr>
        <p:spPr>
          <a:xfrm>
            <a:off x="2697480" y="1691640"/>
            <a:ext cx="8778240" cy="411480"/>
          </a:xfrm>
          <a:prstGeom prst="rect">
            <a:avLst/>
          </a:prstGeom>
          <a:noFill/>
        </p:spPr>
        <p:txBody>
          <a:bodyPr wrap="square" anchor="ctr" lIns="0" rIns="0" tIns="0" bIns="0">
            <a:spAutoFit/>
          </a:bodyPr>
          <a:lstStyle/>
          <a:p>
            <a:pPr algn="l">
              <a:spcBef>
                <a:spcPts val="0"/>
              </a:spcBef>
              <a:spcAft>
                <a:spcPts val="400"/>
              </a:spcAft>
            </a:pPr>
            <a:r>
              <a:rPr sz="1400" b="1">
                <a:solidFill>
                  <a:srgbClr val="5B6372"/>
                </a:solidFill>
                <a:latin typeface="Arial"/>
              </a:rPr>
              <a:t>CRI/CNI/CSI extension interfaces</a:t>
            </a:r>
          </a:p>
        </p:txBody>
      </p:sp>
      <p:sp>
        <p:nvSpPr>
          <p:cNvPr id="10" name="TextBox 9"/>
          <p:cNvSpPr txBox="1"/>
          <p:nvPr/>
        </p:nvSpPr>
        <p:spPr>
          <a:xfrm>
            <a:off x="777240" y="2286000"/>
            <a:ext cx="10698480" cy="1554480"/>
          </a:xfrm>
          <a:prstGeom prst="rect">
            <a:avLst/>
          </a:prstGeom>
          <a:noFill/>
        </p:spPr>
        <p:txBody>
          <a:bodyPr wrap="square" anchor="t" lIns="0" rIns="0" tIns="0" bIns="0">
            <a:spAutoFit/>
          </a:bodyPr>
          <a:lstStyle/>
          <a:p>
            <a:pPr algn="l">
              <a:spcBef>
                <a:spcPts val="0"/>
              </a:spcBef>
              <a:spcAft>
                <a:spcPts val="400"/>
              </a:spcAft>
            </a:pPr>
            <a:r>
              <a:rPr sz="1900" b="0">
                <a:solidFill>
                  <a:srgbClr val="161B26"/>
                </a:solidFill>
                <a:latin typeface="Arial"/>
              </a:rPr>
              <a:t>Explore the three Kubernetes extension interfaces using native debugging tools: crictl for CRI, config file inspection for CNI, and kubectl for CSI drivers. Critical for troubleshooting pods stuck in ContainerCreating or volume mount failures.</a:t>
            </a:r>
          </a:p>
        </p:txBody>
      </p:sp>
      <p:sp>
        <p:nvSpPr>
          <p:cNvPr id="11" name="Rounded Rectangle 10"/>
          <p:cNvSpPr/>
          <p:nvPr/>
        </p:nvSpPr>
        <p:spPr>
          <a:xfrm>
            <a:off x="777240" y="4069080"/>
            <a:ext cx="10698480" cy="1783080"/>
          </a:xfrm>
          <a:prstGeom prst="roundRect">
            <a:avLst>
              <a:gd name="adj" fmla="val 5000"/>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05840" y="4251960"/>
            <a:ext cx="10058400" cy="365760"/>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You'll build</a:t>
            </a:r>
          </a:p>
        </p:txBody>
      </p:sp>
      <p:sp>
        <p:nvSpPr>
          <p:cNvPr id="13" name="TextBox 12"/>
          <p:cNvSpPr txBox="1"/>
          <p:nvPr/>
        </p:nvSpPr>
        <p:spPr>
          <a:xfrm>
            <a:off x="1005840" y="4617720"/>
            <a:ext cx="10241280" cy="640080"/>
          </a:xfrm>
          <a:prstGeom prst="rect">
            <a:avLst/>
          </a:prstGeom>
          <a:noFill/>
        </p:spPr>
        <p:txBody>
          <a:bodyPr wrap="square" anchor="t" lIns="0" rIns="0" tIns="0" bIns="0">
            <a:spAutoFit/>
          </a:bodyPr>
          <a:lstStyle/>
          <a:p>
            <a:pPr algn="l">
              <a:spcBef>
                <a:spcPts val="0"/>
              </a:spcBef>
              <a:spcAft>
                <a:spcPts val="400"/>
              </a:spcAft>
            </a:pPr>
            <a:r>
              <a:rPr sz="1700" b="1">
                <a:solidFill>
                  <a:srgbClr val="161B26"/>
                </a:solidFill>
                <a:latin typeface="Arial"/>
              </a:rPr>
              <a:t>Configure crictl.yaml, list containers/images with crictl, inspect CNI config, list CSI drivers, trace a pod network setup with veth pairs.</a:t>
            </a:r>
          </a:p>
        </p:txBody>
      </p:sp>
      <p:sp>
        <p:nvSpPr>
          <p:cNvPr id="14" name="TextBox 13"/>
          <p:cNvSpPr txBox="1"/>
          <p:nvPr/>
        </p:nvSpPr>
        <p:spPr>
          <a:xfrm>
            <a:off x="1005840" y="5349240"/>
            <a:ext cx="10058400" cy="457200"/>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Key commands:  </a:t>
            </a:r>
            <a:r>
              <a:rPr sz="1300" b="0">
                <a:solidFill>
                  <a:srgbClr val="5B6372"/>
                </a:solidFill>
                <a:latin typeface="Arial"/>
              </a:rPr>
              <a:t>cat &lt;&lt;'EOF' · POD_ID=$(crictl pods · ls -la · kubectl get · » crictl</a:t>
            </a:r>
          </a:p>
        </p:txBody>
      </p:sp>
      <p:sp>
        <p:nvSpPr>
          <p:cNvPr id="15" name="TextBox 14"/>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6" name="TextBox 15"/>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7" name="TextBox 16"/>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98</a:t>
            </a:r>
          </a:p>
        </p:txBody>
      </p:sp>
    </p:spTree>
  </p:cSld>
  <p:clrMapOvr>
    <a:masterClrMapping/>
  </p:clrMapOvr>
</p:sld>
</file>

<file path=ppt/slides/slide1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10  ·  COMMANDS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Extension Interfaces: CRI (crictl), CNI (/etc/cni/net.d), CSI (kubectl get csidrivers)</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91640"/>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Step 1 -- Configure and use crictl</a:t>
            </a:r>
          </a:p>
        </p:txBody>
      </p:sp>
      <p:sp>
        <p:nvSpPr>
          <p:cNvPr id="8" name="Rounded Rectangle 7"/>
          <p:cNvSpPr/>
          <p:nvPr/>
        </p:nvSpPr>
        <p:spPr>
          <a:xfrm>
            <a:off x="777240" y="2075688"/>
            <a:ext cx="10652760" cy="1271016"/>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075688"/>
            <a:ext cx="82296" cy="127101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6" y="2139696"/>
            <a:ext cx="10323576" cy="1179576"/>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cat &lt;&lt;'EOF' &gt; /etc/crictl.yaml</a:t>
            </a:r>
          </a:p>
          <a:p>
            <a:pPr>
              <a:spcBef>
                <a:spcPts val="0"/>
              </a:spcBef>
              <a:spcAft>
                <a:spcPts val="0"/>
              </a:spcAft>
            </a:pPr>
            <a:r>
              <a:rPr sz="1050">
                <a:solidFill>
                  <a:srgbClr val="161B26"/>
                </a:solidFill>
                <a:latin typeface="Consolas"/>
              </a:rPr>
              <a:t>runtime-endpoint: unix:///run/containerd/containerd.sock</a:t>
            </a:r>
          </a:p>
          <a:p>
            <a:pPr>
              <a:spcBef>
                <a:spcPts val="0"/>
              </a:spcBef>
              <a:spcAft>
                <a:spcPts val="0"/>
              </a:spcAft>
            </a:pPr>
            <a:r>
              <a:rPr sz="1050">
                <a:solidFill>
                  <a:srgbClr val="161B26"/>
                </a:solidFill>
                <a:latin typeface="Consolas"/>
              </a:rPr>
              <a:t>image-endpoint: unix:///run/containerd/containerd.sock</a:t>
            </a:r>
          </a:p>
          <a:p>
            <a:pPr>
              <a:spcBef>
                <a:spcPts val="0"/>
              </a:spcBef>
              <a:spcAft>
                <a:spcPts val="0"/>
              </a:spcAft>
            </a:pPr>
            <a:r>
              <a:rPr sz="1050">
                <a:solidFill>
                  <a:srgbClr val="161B26"/>
                </a:solidFill>
                <a:latin typeface="Consolas"/>
              </a:rPr>
              <a:t>timeout: 10</a:t>
            </a:r>
          </a:p>
          <a:p>
            <a:pPr>
              <a:spcBef>
                <a:spcPts val="0"/>
              </a:spcBef>
              <a:spcAft>
                <a:spcPts val="0"/>
              </a:spcAft>
            </a:pPr>
            <a:r>
              <a:rPr sz="1050">
                <a:solidFill>
                  <a:srgbClr val="161B26"/>
                </a:solidFill>
                <a:latin typeface="Consolas"/>
              </a:rPr>
              <a:t>EOF</a:t>
            </a:r>
          </a:p>
          <a:p>
            <a:pPr>
              <a:spcBef>
                <a:spcPts val="0"/>
              </a:spcBef>
              <a:spcAft>
                <a:spcPts val="0"/>
              </a:spcAft>
            </a:pPr>
            <a:r>
              <a:rPr sz="1050">
                <a:solidFill>
                  <a:srgbClr val="161B26"/>
                </a:solidFill>
                <a:latin typeface="Consolas"/>
              </a:rPr>
              <a:t>crictl info &amp;&amp; crictl pods &amp;&amp; crictl ps &amp;&amp; crictl images</a:t>
            </a:r>
          </a:p>
        </p:txBody>
      </p:sp>
      <p:sp>
        <p:nvSpPr>
          <p:cNvPr id="11" name="TextBox 10"/>
          <p:cNvSpPr txBox="1"/>
          <p:nvPr/>
        </p:nvSpPr>
        <p:spPr>
          <a:xfrm>
            <a:off x="777240" y="3529584"/>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Step 2 -- Get container logs with crictl</a:t>
            </a:r>
          </a:p>
        </p:txBody>
      </p:sp>
      <p:sp>
        <p:nvSpPr>
          <p:cNvPr id="12" name="Rounded Rectangle 11"/>
          <p:cNvSpPr/>
          <p:nvPr/>
        </p:nvSpPr>
        <p:spPr>
          <a:xfrm>
            <a:off x="777240" y="3913632"/>
            <a:ext cx="10652760" cy="708660"/>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3913632"/>
            <a:ext cx="82296" cy="7086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3977640"/>
            <a:ext cx="10323576" cy="617220"/>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POD_ID=$(crictl pods --name coredns -q | head -1)</a:t>
            </a:r>
          </a:p>
          <a:p>
            <a:pPr>
              <a:spcBef>
                <a:spcPts val="0"/>
              </a:spcBef>
              <a:spcAft>
                <a:spcPts val="0"/>
              </a:spcAft>
            </a:pPr>
            <a:r>
              <a:rPr sz="1050">
                <a:solidFill>
                  <a:srgbClr val="161B26"/>
                </a:solidFill>
                <a:latin typeface="Consolas"/>
              </a:rPr>
              <a:t>CONTAINER_ID=$(crictl ps --pod $POD_ID -q | head -1)</a:t>
            </a:r>
          </a:p>
          <a:p>
            <a:pPr>
              <a:spcBef>
                <a:spcPts val="0"/>
              </a:spcBef>
              <a:spcAft>
                <a:spcPts val="0"/>
              </a:spcAft>
            </a:pPr>
            <a:r>
              <a:rPr sz="1050">
                <a:solidFill>
                  <a:srgbClr val="161B26"/>
                </a:solidFill>
                <a:latin typeface="Consolas"/>
              </a:rPr>
              <a:t>crictl logs --tail=20 $CONTAINER_ID</a:t>
            </a:r>
          </a:p>
        </p:txBody>
      </p:sp>
      <p:sp>
        <p:nvSpPr>
          <p:cNvPr id="15" name="TextBox 14"/>
          <p:cNvSpPr txBox="1"/>
          <p:nvPr/>
        </p:nvSpPr>
        <p:spPr>
          <a:xfrm>
            <a:off x="777240" y="4805172"/>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Step 3 -- Inspect CNI configuration</a:t>
            </a:r>
          </a:p>
        </p:txBody>
      </p:sp>
      <p:sp>
        <p:nvSpPr>
          <p:cNvPr id="16" name="Rounded Rectangle 15"/>
          <p:cNvSpPr/>
          <p:nvPr/>
        </p:nvSpPr>
        <p:spPr>
          <a:xfrm>
            <a:off x="777240" y="5189220"/>
            <a:ext cx="10652760" cy="708660"/>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77240" y="5189220"/>
            <a:ext cx="82296" cy="7086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96696" y="5253228"/>
            <a:ext cx="10323576" cy="617220"/>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ls -la /etc/cni/net.d/</a:t>
            </a:r>
          </a:p>
          <a:p>
            <a:pPr>
              <a:spcBef>
                <a:spcPts val="0"/>
              </a:spcBef>
              <a:spcAft>
                <a:spcPts val="0"/>
              </a:spcAft>
            </a:pPr>
            <a:r>
              <a:rPr sz="1050">
                <a:solidFill>
                  <a:srgbClr val="161B26"/>
                </a:solidFill>
                <a:latin typeface="Consolas"/>
              </a:rPr>
              <a:t>cat /etc/cni/net.d/10-calico.conflist</a:t>
            </a:r>
          </a:p>
          <a:p>
            <a:pPr>
              <a:spcBef>
                <a:spcPts val="0"/>
              </a:spcBef>
              <a:spcAft>
                <a:spcPts val="0"/>
              </a:spcAft>
            </a:pPr>
            <a:r>
              <a:rPr sz="1050">
                <a:solidFill>
                  <a:srgbClr val="161B26"/>
                </a:solidFill>
                <a:latin typeface="Consolas"/>
              </a:rPr>
              <a:t>ls /opt/cni/bin/</a:t>
            </a:r>
          </a:p>
        </p:txBody>
      </p:sp>
      <p:sp>
        <p:nvSpPr>
          <p:cNvPr id="19" name="TextBox 18"/>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20" name="TextBox 19"/>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21" name="TextBox 20"/>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99</a:t>
            </a:r>
          </a:p>
        </p:txBody>
      </p:sp>
    </p:spTree>
  </p:cSld>
  <p:clrMapOvr>
    <a:masterClrMapping/>
  </p:clrMapOvr>
</p:sld>
</file>

<file path=ppt/slides/slide1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10  ·  COMMANDS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Extension Interfaces: CRI (crictl), CNI (/etc/cni/net.d), CSI (kubectl get csidrivers) (cont.)</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91640"/>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Step 4 -- Inspect CSI drivers</a:t>
            </a:r>
          </a:p>
        </p:txBody>
      </p:sp>
      <p:sp>
        <p:nvSpPr>
          <p:cNvPr id="8" name="Rounded Rectangle 7"/>
          <p:cNvSpPr/>
          <p:nvPr/>
        </p:nvSpPr>
        <p:spPr>
          <a:xfrm>
            <a:off x="777240" y="2075688"/>
            <a:ext cx="10652760" cy="708660"/>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075688"/>
            <a:ext cx="82296" cy="7086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6" y="2139696"/>
            <a:ext cx="10323576" cy="617220"/>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kubectl get csidrivers</a:t>
            </a:r>
          </a:p>
          <a:p>
            <a:pPr>
              <a:spcBef>
                <a:spcPts val="0"/>
              </a:spcBef>
              <a:spcAft>
                <a:spcPts val="0"/>
              </a:spcAft>
            </a:pPr>
            <a:r>
              <a:rPr sz="1050">
                <a:solidFill>
                  <a:srgbClr val="161B26"/>
                </a:solidFill>
                <a:latin typeface="Consolas"/>
              </a:rPr>
              <a:t>kubectl get csinodes</a:t>
            </a:r>
          </a:p>
          <a:p>
            <a:pPr>
              <a:spcBef>
                <a:spcPts val="0"/>
              </a:spcBef>
              <a:spcAft>
                <a:spcPts val="0"/>
              </a:spcAft>
            </a:pPr>
            <a:r>
              <a:rPr sz="1050">
                <a:solidFill>
                  <a:srgbClr val="161B26"/>
                </a:solidFill>
                <a:latin typeface="Consolas"/>
              </a:rPr>
              <a:t>kubectl get volumeattachments</a:t>
            </a:r>
          </a:p>
        </p:txBody>
      </p:sp>
      <p:sp>
        <p:nvSpPr>
          <p:cNvPr id="11" name="TextBox 10"/>
          <p:cNvSpPr txBox="1"/>
          <p:nvPr/>
        </p:nvSpPr>
        <p:spPr>
          <a:xfrm>
            <a:off x="777240" y="2967228"/>
            <a:ext cx="10652760" cy="310896"/>
          </a:xfrm>
          <a:prstGeom prst="rect">
            <a:avLst/>
          </a:prstGeom>
          <a:noFill/>
        </p:spPr>
        <p:txBody>
          <a:bodyPr wrap="square" anchor="t" lIns="0" rIns="0" tIns="0" bIns="0">
            <a:spAutoFit/>
          </a:bodyPr>
          <a:lstStyle/>
          <a:p>
            <a:pPr algn="l">
              <a:spcBef>
                <a:spcPts val="0"/>
              </a:spcBef>
              <a:spcAft>
                <a:spcPts val="400"/>
              </a:spcAft>
            </a:pPr>
            <a:r>
              <a:rPr sz="1300" b="1">
                <a:solidFill>
                  <a:srgbClr val="F59E0B"/>
                </a:solidFill>
                <a:latin typeface="Arial"/>
              </a:rPr>
              <a:t>Note   </a:t>
            </a:r>
            <a:r>
              <a:rPr sz="1300" b="0">
                <a:solidFill>
                  <a:srgbClr val="5B6372"/>
                </a:solidFill>
                <a:latin typeface="Arial"/>
              </a:rPr>
              <a:t>crictl logs works even when kubectl is unavailable (API server down). CNI config: lowest-numbered file in /etc/cni/net.d/ is used. Missing CNI binary in /opt/cni/bin/ causes ContainerCreating to hang indefinitely.</a:t>
            </a:r>
          </a:p>
        </p:txBody>
      </p:sp>
      <p:sp>
        <p:nvSpPr>
          <p:cNvPr id="12" name="TextBox 11"/>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3" name="TextBox 12"/>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4" name="TextBox 13"/>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100</a:t>
            </a:r>
          </a:p>
        </p:txBody>
      </p:sp>
    </p:spTree>
  </p:cSld>
  <p:clrMapOvr>
    <a:masterClrMapping/>
  </p:clrMapOvr>
</p:sld>
</file>

<file path=ppt/slides/slide1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10  ·  TEST IT</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Extension Interfaces: CRI (crictl), CNI (/etc/cni/net.d), CSI (kubectl get csidrivers)</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03120"/>
            <a:ext cx="10698480" cy="2560320"/>
          </a:xfrm>
          <a:prstGeom prst="roundRect">
            <a:avLst>
              <a:gd name="adj" fmla="val 5000"/>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lIns="0" rIns="0" tIns="0" bIns="0">
            <a:spAutoFit/>
          </a:bodyPr>
          <a:lstStyle/>
          <a:p>
            <a:pPr algn="l">
              <a:spcBef>
                <a:spcPts val="0"/>
              </a:spcBef>
              <a:spcAft>
                <a:spcPts val="400"/>
              </a:spcAft>
            </a:pPr>
            <a:r>
              <a:rPr sz="2200" b="1">
                <a:solidFill>
                  <a:srgbClr val="127A3E"/>
                </a:solidFill>
                <a:latin typeface="Arial"/>
              </a:rPr>
              <a:t>✅  Test it</a:t>
            </a:r>
          </a:p>
        </p:txBody>
      </p:sp>
      <p:sp>
        <p:nvSpPr>
          <p:cNvPr id="9" name="TextBox 8"/>
          <p:cNvSpPr txBox="1"/>
          <p:nvPr/>
        </p:nvSpPr>
        <p:spPr>
          <a:xfrm>
            <a:off x="1097280" y="3017520"/>
            <a:ext cx="10149840" cy="1463040"/>
          </a:xfrm>
          <a:prstGeom prst="rect">
            <a:avLst/>
          </a:prstGeom>
          <a:noFill/>
        </p:spPr>
        <p:txBody>
          <a:bodyPr wrap="square" anchor="t" lIns="0" rIns="0" tIns="0" bIns="0">
            <a:spAutoFit/>
          </a:bodyPr>
          <a:lstStyle/>
          <a:p>
            <a:pPr algn="l">
              <a:spcBef>
                <a:spcPts val="0"/>
              </a:spcBef>
              <a:spcAft>
                <a:spcPts val="400"/>
              </a:spcAft>
            </a:pPr>
            <a:r>
              <a:rPr sz="1800" b="0">
                <a:solidFill>
                  <a:srgbClr val="161B26"/>
                </a:solidFill>
                <a:latin typeface="Arial"/>
              </a:rPr>
              <a:t>crictl pods lists all running pods. CNI config file exists in /etc/cni/net.d/. kubectl get csidrivers returns available storage drivers.</a:t>
            </a:r>
          </a:p>
        </p:txBody>
      </p:sp>
      <p:sp>
        <p:nvSpPr>
          <p:cNvPr id="10" name="TextBox 9"/>
          <p:cNvSpPr txBox="1"/>
          <p:nvPr/>
        </p:nvSpPr>
        <p:spPr>
          <a:xfrm>
            <a:off x="777240" y="4983480"/>
            <a:ext cx="10698480" cy="365760"/>
          </a:xfrm>
          <a:prstGeom prst="rect">
            <a:avLst/>
          </a:prstGeom>
          <a:noFill/>
        </p:spPr>
        <p:txBody>
          <a:bodyPr wrap="square" anchor="t" lIns="0" rIns="0" tIns="0" bIns="0">
            <a:spAutoFit/>
          </a:bodyPr>
          <a:lstStyle/>
          <a:p>
            <a:pPr algn="l">
              <a:spcBef>
                <a:spcPts val="0"/>
              </a:spcBef>
              <a:spcAft>
                <a:spcPts val="400"/>
              </a:spcAft>
            </a:pPr>
            <a:r>
              <a:rPr sz="1300" b="1">
                <a:solidFill>
                  <a:srgbClr val="10B981"/>
                </a:solidFill>
                <a:latin typeface="Arial"/>
              </a:rPr>
              <a:t>Killercoda:  </a:t>
            </a:r>
            <a:r>
              <a:rPr sz="1300" b="0">
                <a:solidFill>
                  <a:srgbClr val="5B6372"/>
                </a:solidFill>
                <a:latin typeface="Arial"/>
              </a:rPr>
              <a:t>https://killercoda.com/playgrounds/scenario/kubernetes</a:t>
            </a:r>
          </a:p>
        </p:txBody>
      </p:sp>
      <p:sp>
        <p:nvSpPr>
          <p:cNvPr id="11" name="TextBox 10"/>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101</a:t>
            </a:r>
          </a:p>
        </p:txBody>
      </p:sp>
    </p:spTree>
  </p:cSld>
  <p:clrMapOvr>
    <a:masterClrMapping/>
  </p:clrMapOvr>
</p:sld>
</file>

<file path=ppt/slides/slide1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56832"/>
            <a:ext cx="12191695" cy="2011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937760" y="2148840"/>
            <a:ext cx="2313432"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0" y="2514600"/>
            <a:ext cx="12191695" cy="1097280"/>
          </a:xfrm>
          <a:prstGeom prst="rect">
            <a:avLst/>
          </a:prstGeom>
          <a:noFill/>
        </p:spPr>
        <p:txBody>
          <a:bodyPr wrap="square" anchor="t" lIns="0" rIns="0" tIns="0" bIns="0">
            <a:spAutoFit/>
          </a:bodyPr>
          <a:lstStyle/>
          <a:p>
            <a:pPr algn="ctr">
              <a:spcBef>
                <a:spcPts val="0"/>
              </a:spcBef>
              <a:spcAft>
                <a:spcPts val="400"/>
              </a:spcAft>
            </a:pPr>
            <a:r>
              <a:rPr sz="4800" b="1">
                <a:solidFill>
                  <a:srgbClr val="161B26"/>
                </a:solidFill>
                <a:latin typeface="Arial"/>
              </a:rPr>
              <a:t>Tea Break</a:t>
            </a:r>
          </a:p>
        </p:txBody>
      </p:sp>
      <p:sp>
        <p:nvSpPr>
          <p:cNvPr id="7" name="TextBox 6"/>
          <p:cNvSpPr txBox="1"/>
          <p:nvPr/>
        </p:nvSpPr>
        <p:spPr>
          <a:xfrm>
            <a:off x="0" y="3703320"/>
            <a:ext cx="12191695" cy="731520"/>
          </a:xfrm>
          <a:prstGeom prst="rect">
            <a:avLst/>
          </a:prstGeom>
          <a:noFill/>
        </p:spPr>
        <p:txBody>
          <a:bodyPr wrap="square" anchor="t" lIns="0" rIns="0" tIns="0" bIns="0">
            <a:spAutoFit/>
          </a:bodyPr>
          <a:lstStyle/>
          <a:p>
            <a:pPr algn="ctr">
              <a:spcBef>
                <a:spcPts val="0"/>
              </a:spcBef>
              <a:spcAft>
                <a:spcPts val="400"/>
              </a:spcAft>
            </a:pPr>
            <a:r>
              <a:rPr sz="2200" b="1">
                <a:solidFill>
                  <a:srgbClr val="10B981"/>
                </a:solidFill>
                <a:latin typeface="Arial"/>
              </a:rPr>
              <a:t>15 minutes</a:t>
            </a:r>
          </a:p>
        </p:txBody>
      </p:sp>
    </p:spTree>
  </p:cSld>
  <p:clrMapOvr>
    <a:masterClrMapping/>
  </p:clrMapOvr>
</p:sld>
</file>

<file path=ppt/slides/slide1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lIns="0" rIns="0" tIns="0" bIns="0">
            <a:spAutoFit/>
          </a:bodyPr>
          <a:lstStyle/>
          <a:p>
            <a:pPr algn="l">
              <a:spcBef>
                <a:spcPts val="0"/>
              </a:spcBef>
              <a:spcAft>
                <a:spcPts val="400"/>
              </a:spcAft>
            </a:pPr>
            <a:r>
              <a:rPr sz="1800" b="1">
                <a:solidFill>
                  <a:srgbClr val="1F6FEB"/>
                </a:solidFill>
                <a:latin typeface="Arial"/>
              </a:rPr>
              <a:t>TOPIC 2</a:t>
            </a:r>
          </a:p>
        </p:txBody>
      </p:sp>
      <p:sp>
        <p:nvSpPr>
          <p:cNvPr id="6" name="TextBox 5"/>
          <p:cNvSpPr txBox="1"/>
          <p:nvPr/>
        </p:nvSpPr>
        <p:spPr>
          <a:xfrm>
            <a:off x="1143000" y="2743200"/>
            <a:ext cx="10424160" cy="1463040"/>
          </a:xfrm>
          <a:prstGeom prst="rect">
            <a:avLst/>
          </a:prstGeom>
          <a:noFill/>
        </p:spPr>
        <p:txBody>
          <a:bodyPr wrap="square" anchor="t" lIns="0" rIns="0" tIns="0" bIns="0">
            <a:spAutoFit/>
          </a:bodyPr>
          <a:lstStyle/>
          <a:p>
            <a:pPr algn="l">
              <a:spcBef>
                <a:spcPts val="0"/>
              </a:spcBef>
              <a:spcAft>
                <a:spcPts val="400"/>
              </a:spcAft>
            </a:pPr>
            <a:r>
              <a:rPr sz="4000" b="1">
                <a:solidFill>
                  <a:srgbClr val="161B26"/>
                </a:solidFill>
                <a:latin typeface="Arial"/>
              </a:rPr>
              <a:t>Deployments &amp; ReplicaSets</a:t>
            </a:r>
          </a:p>
        </p:txBody>
      </p:sp>
      <p:sp>
        <p:nvSpPr>
          <p:cNvPr id="7" name="TextBox 6"/>
          <p:cNvSpPr txBox="1"/>
          <p:nvPr/>
        </p:nvSpPr>
        <p:spPr>
          <a:xfrm>
            <a:off x="1161288" y="4114800"/>
            <a:ext cx="10058400" cy="731520"/>
          </a:xfrm>
          <a:prstGeom prst="rect">
            <a:avLst/>
          </a:prstGeom>
          <a:noFill/>
        </p:spPr>
        <p:txBody>
          <a:bodyPr wrap="square" anchor="t" lIns="0" rIns="0" tIns="0" bIns="0">
            <a:spAutoFit/>
          </a:bodyPr>
          <a:lstStyle/>
          <a:p>
            <a:pPr algn="l">
              <a:spcBef>
                <a:spcPts val="0"/>
              </a:spcBef>
              <a:spcAft>
                <a:spcPts val="400"/>
              </a:spcAft>
            </a:pPr>
            <a:r>
              <a:rPr sz="1600" b="0">
                <a:solidFill>
                  <a:srgbClr val="5B6372"/>
                </a:solidFill>
                <a:latin typeface="Arial"/>
              </a:rPr>
              <a:t>Desired-state workload management</a:t>
            </a:r>
          </a:p>
        </p:txBody>
      </p:sp>
      <p:sp>
        <p:nvSpPr>
          <p:cNvPr id="8" name="TextBox 7"/>
          <p:cNvSpPr txBox="1"/>
          <p:nvPr/>
        </p:nvSpPr>
        <p:spPr>
          <a:xfrm>
            <a:off x="9418320" y="640080"/>
            <a:ext cx="2286000" cy="1463040"/>
          </a:xfrm>
          <a:prstGeom prst="rect">
            <a:avLst/>
          </a:prstGeom>
          <a:noFill/>
        </p:spPr>
        <p:txBody>
          <a:bodyPr wrap="square" anchor="t" lIns="0" rIns="0" tIns="0" bIns="0">
            <a:spAutoFit/>
          </a:bodyPr>
          <a:lstStyle/>
          <a:p>
            <a:pPr algn="r">
              <a:spcBef>
                <a:spcPts val="0"/>
              </a:spcBef>
              <a:spcAft>
                <a:spcPts val="400"/>
              </a:spcAft>
            </a:pPr>
            <a:r>
              <a:rPr sz="7200" b="1">
                <a:solidFill>
                  <a:srgbClr val="E2E8F0"/>
                </a:solidFill>
                <a:latin typeface="Arial"/>
              </a:rPr>
              <a:t/>
            </a:r>
          </a:p>
        </p:txBody>
      </p:sp>
      <p:sp>
        <p:nvSpPr>
          <p:cNvPr id="9" name="TextBox 8"/>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0" name="TextBox 9"/>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1" name="TextBox 10"/>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103</a:t>
            </a:r>
          </a:p>
        </p:txBody>
      </p:sp>
    </p:spTree>
  </p:cSld>
  <p:clrMapOvr>
    <a:masterClrMapping/>
  </p:clrMapOvr>
</p:sld>
</file>

<file path=ppt/slides/slide1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DESIRED STATE</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Why Deployments?</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07040" cy="4480560"/>
          </a:xfrm>
          <a:prstGeom prst="rect">
            <a:avLst/>
          </a:prstGeom>
          <a:noFill/>
        </p:spPr>
        <p:txBody>
          <a:bodyPr wrap="square" lIns="0" rIns="0">
            <a:spAutoFit/>
          </a:bodyPr>
          <a:lstStyle/>
          <a:p>
            <a:pPr>
              <a:spcBef>
                <a:spcPts val="0"/>
              </a:spcBef>
              <a:spcAft>
                <a:spcPts val="1000"/>
              </a:spcAft>
            </a:pPr>
            <a:r>
              <a:rPr sz="1900" b="1">
                <a:solidFill>
                  <a:srgbClr val="1F6FEB"/>
                </a:solidFill>
                <a:latin typeface="Arial"/>
              </a:rPr>
              <a:t>•  </a:t>
            </a:r>
            <a:r>
              <a:rPr sz="1900">
                <a:solidFill>
                  <a:srgbClr val="161B26"/>
                </a:solidFill>
                <a:latin typeface="Arial"/>
              </a:rPr>
              <a:t>A bare Pod is not rescheduled if it dies — you need a Deployment to maintain the desired count.</a:t>
            </a:r>
          </a:p>
          <a:p>
            <a:pPr>
              <a:spcBef>
                <a:spcPts val="0"/>
              </a:spcBef>
              <a:spcAft>
                <a:spcPts val="1000"/>
              </a:spcAft>
            </a:pPr>
            <a:r>
              <a:rPr sz="1900" b="1">
                <a:solidFill>
                  <a:srgbClr val="1F6FEB"/>
                </a:solidFill>
                <a:latin typeface="Arial"/>
              </a:rPr>
              <a:t>•  </a:t>
            </a:r>
            <a:r>
              <a:rPr sz="1900">
                <a:solidFill>
                  <a:srgbClr val="161B26"/>
                </a:solidFill>
                <a:latin typeface="Arial"/>
              </a:rPr>
              <a:t>A Deployment manages a ReplicaSet, which manages Pods — the three-tier ownership chain.</a:t>
            </a:r>
          </a:p>
          <a:p>
            <a:pPr>
              <a:spcBef>
                <a:spcPts val="0"/>
              </a:spcBef>
              <a:spcAft>
                <a:spcPts val="1000"/>
              </a:spcAft>
            </a:pPr>
            <a:r>
              <a:rPr sz="1900" b="1">
                <a:solidFill>
                  <a:srgbClr val="1F6FEB"/>
                </a:solidFill>
                <a:latin typeface="Arial"/>
              </a:rPr>
              <a:t>•  </a:t>
            </a:r>
            <a:r>
              <a:rPr sz="1900">
                <a:solidFill>
                  <a:srgbClr val="161B26"/>
                </a:solidFill>
                <a:latin typeface="Arial"/>
              </a:rPr>
              <a:t>kubectl scale changes replica count; kubectl set image triggers a rolling rollout.</a:t>
            </a:r>
          </a:p>
          <a:p>
            <a:pPr>
              <a:spcBef>
                <a:spcPts val="0"/>
              </a:spcBef>
              <a:spcAft>
                <a:spcPts val="1000"/>
              </a:spcAft>
            </a:pPr>
            <a:r>
              <a:rPr sz="1900" b="1">
                <a:solidFill>
                  <a:srgbClr val="1F6FEB"/>
                </a:solidFill>
                <a:latin typeface="Arial"/>
              </a:rPr>
              <a:t>•  </a:t>
            </a:r>
            <a:r>
              <a:rPr sz="1900">
                <a:solidFill>
                  <a:srgbClr val="161B26"/>
                </a:solidFill>
                <a:latin typeface="Arial"/>
              </a:rPr>
              <a:t>Old ReplicaSets are retained for rollback (revisionHistoryLimit default 10); rollout undo reverts in one command.</a:t>
            </a:r>
          </a:p>
        </p:txBody>
      </p:sp>
      <p:sp>
        <p:nvSpPr>
          <p:cNvPr id="8" name="TextBox 7"/>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9" name="TextBox 8"/>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104</a:t>
            </a:r>
          </a:p>
        </p:txBody>
      </p:sp>
    </p:spTree>
  </p:cSld>
  <p:clrMapOvr>
    <a:masterClrMapping/>
  </p:clrMapOvr>
</p:sld>
</file>

<file path=ppt/slides/slide1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THE OWNERSHIP CHAIN</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Deployment → ReplicaSet → Pod</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1783080"/>
            <a:ext cx="3337560" cy="4206240"/>
          </a:xfrm>
          <a:prstGeom prst="roundRect">
            <a:avLst>
              <a:gd name="adj" fmla="val 5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57400"/>
            <a:ext cx="2926080" cy="548640"/>
          </a:xfrm>
          <a:prstGeom prst="rect">
            <a:avLst/>
          </a:prstGeom>
          <a:noFill/>
        </p:spPr>
        <p:txBody>
          <a:bodyPr wrap="square" anchor="t" lIns="0" rIns="0" tIns="0" bIns="0">
            <a:spAutoFit/>
          </a:bodyPr>
          <a:lstStyle/>
          <a:p>
            <a:pPr algn="l">
              <a:spcBef>
                <a:spcPts val="0"/>
              </a:spcBef>
              <a:spcAft>
                <a:spcPts val="400"/>
              </a:spcAft>
            </a:pPr>
            <a:r>
              <a:rPr sz="1900" b="1">
                <a:solidFill>
                  <a:srgbClr val="1F6FEB"/>
                </a:solidFill>
                <a:latin typeface="Arial"/>
              </a:rPr>
              <a:t>Deployment</a:t>
            </a:r>
          </a:p>
        </p:txBody>
      </p:sp>
      <p:sp>
        <p:nvSpPr>
          <p:cNvPr id="10" name="TextBox 9"/>
          <p:cNvSpPr txBox="1"/>
          <p:nvPr/>
        </p:nvSpPr>
        <p:spPr>
          <a:xfrm>
            <a:off x="1005840" y="2697480"/>
            <a:ext cx="2926080" cy="3108960"/>
          </a:xfrm>
          <a:prstGeom prst="rect">
            <a:avLst/>
          </a:prstGeom>
          <a:noFill/>
        </p:spPr>
        <p:txBody>
          <a:bodyPr wrap="square" lIns="0" rIns="0">
            <a:spAutoFit/>
          </a:bodyPr>
          <a:lstStyle/>
          <a:p>
            <a:pPr>
              <a:spcBef>
                <a:spcPts val="0"/>
              </a:spcBef>
              <a:spcAft>
                <a:spcPts val="900"/>
              </a:spcAft>
            </a:pPr>
            <a:r>
              <a:rPr sz="1400" b="1">
                <a:solidFill>
                  <a:srgbClr val="1F6FEB"/>
                </a:solidFill>
                <a:latin typeface="Arial"/>
              </a:rPr>
              <a:t>•  </a:t>
            </a:r>
            <a:r>
              <a:rPr sz="1400">
                <a:solidFill>
                  <a:srgbClr val="161B26"/>
                </a:solidFill>
                <a:latin typeface="Arial"/>
              </a:rPr>
              <a:t>You declare desired state</a:t>
            </a:r>
          </a:p>
          <a:p>
            <a:pPr>
              <a:spcBef>
                <a:spcPts val="0"/>
              </a:spcBef>
              <a:spcAft>
                <a:spcPts val="900"/>
              </a:spcAft>
            </a:pPr>
            <a:r>
              <a:rPr sz="1400" b="1">
                <a:solidFill>
                  <a:srgbClr val="1F6FEB"/>
                </a:solidFill>
                <a:latin typeface="Arial"/>
              </a:rPr>
              <a:t>•  </a:t>
            </a:r>
            <a:r>
              <a:rPr sz="1400">
                <a:solidFill>
                  <a:srgbClr val="161B26"/>
                </a:solidFill>
                <a:latin typeface="Arial"/>
              </a:rPr>
              <a:t>replicas + Pod template</a:t>
            </a:r>
          </a:p>
          <a:p>
            <a:pPr>
              <a:spcBef>
                <a:spcPts val="0"/>
              </a:spcBef>
              <a:spcAft>
                <a:spcPts val="900"/>
              </a:spcAft>
            </a:pPr>
            <a:r>
              <a:rPr sz="1400" b="1">
                <a:solidFill>
                  <a:srgbClr val="1F6FEB"/>
                </a:solidFill>
                <a:latin typeface="Arial"/>
              </a:rPr>
              <a:t>•  </a:t>
            </a:r>
            <a:r>
              <a:rPr sz="1400">
                <a:solidFill>
                  <a:srgbClr val="161B26"/>
                </a:solidFill>
                <a:latin typeface="Arial"/>
              </a:rPr>
              <a:t>Owns one active ReplicaSet</a:t>
            </a:r>
          </a:p>
        </p:txBody>
      </p:sp>
      <p:sp>
        <p:nvSpPr>
          <p:cNvPr id="11" name="Rounded Rectangle 10"/>
          <p:cNvSpPr/>
          <p:nvPr/>
        </p:nvSpPr>
        <p:spPr>
          <a:xfrm>
            <a:off x="4572000" y="1783080"/>
            <a:ext cx="3337560" cy="4206240"/>
          </a:xfrm>
          <a:prstGeom prst="roundRect">
            <a:avLst>
              <a:gd name="adj" fmla="val 5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57400"/>
            <a:ext cx="2926080" cy="548640"/>
          </a:xfrm>
          <a:prstGeom prst="rect">
            <a:avLst/>
          </a:prstGeom>
          <a:noFill/>
        </p:spPr>
        <p:txBody>
          <a:bodyPr wrap="square" anchor="t" lIns="0" rIns="0" tIns="0" bIns="0">
            <a:spAutoFit/>
          </a:bodyPr>
          <a:lstStyle/>
          <a:p>
            <a:pPr algn="l">
              <a:spcBef>
                <a:spcPts val="0"/>
              </a:spcBef>
              <a:spcAft>
                <a:spcPts val="400"/>
              </a:spcAft>
            </a:pPr>
            <a:r>
              <a:rPr sz="1900" b="1">
                <a:solidFill>
                  <a:srgbClr val="10B981"/>
                </a:solidFill>
                <a:latin typeface="Arial"/>
              </a:rPr>
              <a:t>ReplicaSet</a:t>
            </a:r>
          </a:p>
        </p:txBody>
      </p:sp>
      <p:sp>
        <p:nvSpPr>
          <p:cNvPr id="14" name="TextBox 13"/>
          <p:cNvSpPr txBox="1"/>
          <p:nvPr/>
        </p:nvSpPr>
        <p:spPr>
          <a:xfrm>
            <a:off x="4800600" y="2697480"/>
            <a:ext cx="2926080" cy="3108960"/>
          </a:xfrm>
          <a:prstGeom prst="rect">
            <a:avLst/>
          </a:prstGeom>
          <a:noFill/>
        </p:spPr>
        <p:txBody>
          <a:bodyPr wrap="square" lIns="0" rIns="0">
            <a:spAutoFit/>
          </a:bodyPr>
          <a:lstStyle/>
          <a:p>
            <a:pPr>
              <a:spcBef>
                <a:spcPts val="0"/>
              </a:spcBef>
              <a:spcAft>
                <a:spcPts val="900"/>
              </a:spcAft>
            </a:pPr>
            <a:r>
              <a:rPr sz="1400" b="1">
                <a:solidFill>
                  <a:srgbClr val="10B981"/>
                </a:solidFill>
                <a:latin typeface="Arial"/>
              </a:rPr>
              <a:t>•  </a:t>
            </a:r>
            <a:r>
              <a:rPr sz="1400">
                <a:solidFill>
                  <a:srgbClr val="161B26"/>
                </a:solidFill>
                <a:latin typeface="Arial"/>
              </a:rPr>
              <a:t>Keeps N Pods running</a:t>
            </a:r>
          </a:p>
          <a:p>
            <a:pPr>
              <a:spcBef>
                <a:spcPts val="0"/>
              </a:spcBef>
              <a:spcAft>
                <a:spcPts val="900"/>
              </a:spcAft>
            </a:pPr>
            <a:r>
              <a:rPr sz="1400" b="1">
                <a:solidFill>
                  <a:srgbClr val="10B981"/>
                </a:solidFill>
                <a:latin typeface="Arial"/>
              </a:rPr>
              <a:t>•  </a:t>
            </a:r>
            <a:r>
              <a:rPr sz="1400">
                <a:solidFill>
                  <a:srgbClr val="161B26"/>
                </a:solidFill>
                <a:latin typeface="Arial"/>
              </a:rPr>
              <a:t>Hash-suffixed name</a:t>
            </a:r>
          </a:p>
          <a:p>
            <a:pPr>
              <a:spcBef>
                <a:spcPts val="0"/>
              </a:spcBef>
              <a:spcAft>
                <a:spcPts val="900"/>
              </a:spcAft>
            </a:pPr>
            <a:r>
              <a:rPr sz="1400" b="1">
                <a:solidFill>
                  <a:srgbClr val="10B981"/>
                </a:solidFill>
                <a:latin typeface="Arial"/>
              </a:rPr>
              <a:t>•  </a:t>
            </a:r>
            <a:r>
              <a:rPr sz="1400">
                <a:solidFill>
                  <a:srgbClr val="161B26"/>
                </a:solidFill>
                <a:latin typeface="Arial"/>
              </a:rPr>
              <a:t>Self-heals deleted Pods</a:t>
            </a:r>
          </a:p>
        </p:txBody>
      </p:sp>
      <p:sp>
        <p:nvSpPr>
          <p:cNvPr id="15" name="Rounded Rectangle 14"/>
          <p:cNvSpPr/>
          <p:nvPr/>
        </p:nvSpPr>
        <p:spPr>
          <a:xfrm>
            <a:off x="8366760" y="1783080"/>
            <a:ext cx="3337560" cy="4206240"/>
          </a:xfrm>
          <a:prstGeom prst="roundRect">
            <a:avLst>
              <a:gd name="adj" fmla="val 5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57400"/>
            <a:ext cx="2926080" cy="548640"/>
          </a:xfrm>
          <a:prstGeom prst="rect">
            <a:avLst/>
          </a:prstGeom>
          <a:noFill/>
        </p:spPr>
        <p:txBody>
          <a:bodyPr wrap="square" anchor="t" lIns="0" rIns="0" tIns="0" bIns="0">
            <a:spAutoFit/>
          </a:bodyPr>
          <a:lstStyle/>
          <a:p>
            <a:pPr algn="l">
              <a:spcBef>
                <a:spcPts val="0"/>
              </a:spcBef>
              <a:spcAft>
                <a:spcPts val="400"/>
              </a:spcAft>
            </a:pPr>
            <a:r>
              <a:rPr sz="1900" b="1">
                <a:solidFill>
                  <a:srgbClr val="7C3AED"/>
                </a:solidFill>
                <a:latin typeface="Arial"/>
              </a:rPr>
              <a:t>Pod</a:t>
            </a:r>
          </a:p>
        </p:txBody>
      </p:sp>
      <p:sp>
        <p:nvSpPr>
          <p:cNvPr id="18" name="TextBox 17"/>
          <p:cNvSpPr txBox="1"/>
          <p:nvPr/>
        </p:nvSpPr>
        <p:spPr>
          <a:xfrm>
            <a:off x="8595360" y="2697480"/>
            <a:ext cx="2926080" cy="3108960"/>
          </a:xfrm>
          <a:prstGeom prst="rect">
            <a:avLst/>
          </a:prstGeom>
          <a:noFill/>
        </p:spPr>
        <p:txBody>
          <a:bodyPr wrap="square" lIns="0" rIns="0">
            <a:spAutoFit/>
          </a:bodyPr>
          <a:lstStyle/>
          <a:p>
            <a:pPr>
              <a:spcBef>
                <a:spcPts val="0"/>
              </a:spcBef>
              <a:spcAft>
                <a:spcPts val="900"/>
              </a:spcAft>
            </a:pPr>
            <a:r>
              <a:rPr sz="1400" b="1">
                <a:solidFill>
                  <a:srgbClr val="7C3AED"/>
                </a:solidFill>
                <a:latin typeface="Arial"/>
              </a:rPr>
              <a:t>•  </a:t>
            </a:r>
            <a:r>
              <a:rPr sz="1400">
                <a:solidFill>
                  <a:srgbClr val="161B26"/>
                </a:solidFill>
                <a:latin typeface="Arial"/>
              </a:rPr>
              <a:t>The running workload</a:t>
            </a:r>
          </a:p>
          <a:p>
            <a:pPr>
              <a:spcBef>
                <a:spcPts val="0"/>
              </a:spcBef>
              <a:spcAft>
                <a:spcPts val="900"/>
              </a:spcAft>
            </a:pPr>
            <a:r>
              <a:rPr sz="1400" b="1">
                <a:solidFill>
                  <a:srgbClr val="7C3AED"/>
                </a:solidFill>
                <a:latin typeface="Arial"/>
              </a:rPr>
              <a:t>•  </a:t>
            </a:r>
            <a:r>
              <a:rPr sz="1400">
                <a:solidFill>
                  <a:srgbClr val="161B26"/>
                </a:solidFill>
                <a:latin typeface="Arial"/>
              </a:rPr>
              <a:t>Recreated if it dies</a:t>
            </a:r>
          </a:p>
          <a:p>
            <a:pPr>
              <a:spcBef>
                <a:spcPts val="0"/>
              </a:spcBef>
              <a:spcAft>
                <a:spcPts val="900"/>
              </a:spcAft>
            </a:pPr>
            <a:r>
              <a:rPr sz="1400" b="1">
                <a:solidFill>
                  <a:srgbClr val="7C3AED"/>
                </a:solidFill>
                <a:latin typeface="Arial"/>
              </a:rPr>
              <a:t>•  </a:t>
            </a:r>
            <a:r>
              <a:rPr sz="1400">
                <a:solidFill>
                  <a:srgbClr val="161B26"/>
                </a:solidFill>
                <a:latin typeface="Arial"/>
              </a:rPr>
              <a:t>Never edited directly</a:t>
            </a:r>
          </a:p>
        </p:txBody>
      </p:sp>
      <p:sp>
        <p:nvSpPr>
          <p:cNvPr id="19" name="TextBox 18"/>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20" name="TextBox 19"/>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21" name="TextBox 20"/>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105</a:t>
            </a:r>
          </a:p>
        </p:txBody>
      </p:sp>
    </p:spTree>
  </p:cSld>
  <p:clrMapOvr>
    <a:masterClrMapping/>
  </p:clrMapOvr>
</p:sld>
</file>

<file path=ppt/slides/slide1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DOMAIN 2  ·  DEPLOYMENTS AND ROLLOUTS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Rolling Update — Old RS to New RS</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94560"/>
            <a:ext cx="4663440" cy="2194560"/>
          </a:xfrm>
          <a:prstGeom prst="roundRect">
            <a:avLst>
              <a:gd name="adj" fmla="val 5000"/>
            </a:avLst>
          </a:prstGeom>
          <a:solidFill>
            <a:srgbClr val="EAF1FE"/>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94560"/>
            <a:ext cx="4663440"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86968" y="2304288"/>
            <a:ext cx="4443984" cy="2084832"/>
          </a:xfrm>
          <a:prstGeom prst="rect">
            <a:avLst/>
          </a:prstGeom>
          <a:noFill/>
        </p:spPr>
        <p:txBody>
          <a:bodyPr wrap="square" anchor="ctr" lIns="0" rIns="0" tIns="0" bIns="0">
            <a:spAutoFit/>
          </a:bodyPr>
          <a:lstStyle/>
          <a:p>
            <a:pPr algn="ctr">
              <a:spcBef>
                <a:spcPts val="0"/>
              </a:spcBef>
              <a:spcAft>
                <a:spcPts val="300"/>
              </a:spcAft>
            </a:pPr>
            <a:r>
              <a:rPr sz="1500" b="1">
                <a:solidFill>
                  <a:srgbClr val="161B26"/>
                </a:solidFill>
                <a:latin typeface="Arial"/>
              </a:rPr>
              <a:t>ReplicaSet v1 (old)</a:t>
            </a:r>
          </a:p>
          <a:p>
            <a:pPr algn="ctr">
              <a:spcBef>
                <a:spcPts val="0"/>
              </a:spcBef>
              <a:spcAft>
                <a:spcPts val="300"/>
              </a:spcAft>
            </a:pPr>
            <a:r>
              <a:rPr sz="1100" b="0">
                <a:solidFill>
                  <a:srgbClr val="5B6372"/>
                </a:solidFill>
                <a:latin typeface="Arial"/>
              </a:rPr>
              <a:t>nginx:1.24</a:t>
            </a:r>
          </a:p>
          <a:p>
            <a:pPr algn="ctr">
              <a:spcBef>
                <a:spcPts val="0"/>
              </a:spcBef>
              <a:spcAft>
                <a:spcPts val="300"/>
              </a:spcAft>
            </a:pPr>
            <a:r>
              <a:rPr sz="1100" b="0">
                <a:solidFill>
                  <a:srgbClr val="5B6372"/>
                </a:solidFill>
                <a:latin typeface="Arial"/>
              </a:rPr>
              <a:t>scales 3 to 0 gradually</a:t>
            </a:r>
          </a:p>
          <a:p>
            <a:pPr algn="ctr">
              <a:spcBef>
                <a:spcPts val="0"/>
              </a:spcBef>
              <a:spcAft>
                <a:spcPts val="300"/>
              </a:spcAft>
            </a:pPr>
            <a:r>
              <a:rPr sz="1100" b="0">
                <a:solidFill>
                  <a:srgbClr val="5B6372"/>
                </a:solidFill>
                <a:latin typeface="Arial"/>
              </a:rPr>
              <a:t>old pods terminate</a:t>
            </a:r>
          </a:p>
        </p:txBody>
      </p:sp>
      <p:sp>
        <p:nvSpPr>
          <p:cNvPr id="10" name="Rounded Rectangle 9"/>
          <p:cNvSpPr/>
          <p:nvPr/>
        </p:nvSpPr>
        <p:spPr>
          <a:xfrm>
            <a:off x="6766560" y="2194560"/>
            <a:ext cx="4663440" cy="2194560"/>
          </a:xfrm>
          <a:prstGeom prst="roundRect">
            <a:avLst>
              <a:gd name="adj" fmla="val 5000"/>
            </a:avLst>
          </a:prstGeom>
          <a:solidFill>
            <a:srgbClr val="E8F7EE"/>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766560" y="2194560"/>
            <a:ext cx="4663440"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76288" y="2304288"/>
            <a:ext cx="4443984" cy="2084832"/>
          </a:xfrm>
          <a:prstGeom prst="rect">
            <a:avLst/>
          </a:prstGeom>
          <a:noFill/>
        </p:spPr>
        <p:txBody>
          <a:bodyPr wrap="square" anchor="ctr" lIns="0" rIns="0" tIns="0" bIns="0">
            <a:spAutoFit/>
          </a:bodyPr>
          <a:lstStyle/>
          <a:p>
            <a:pPr algn="ctr">
              <a:spcBef>
                <a:spcPts val="0"/>
              </a:spcBef>
              <a:spcAft>
                <a:spcPts val="300"/>
              </a:spcAft>
            </a:pPr>
            <a:r>
              <a:rPr sz="1500" b="1">
                <a:solidFill>
                  <a:srgbClr val="161B26"/>
                </a:solidFill>
                <a:latin typeface="Arial"/>
              </a:rPr>
              <a:t>ReplicaSet v2 (new)</a:t>
            </a:r>
          </a:p>
          <a:p>
            <a:pPr algn="ctr">
              <a:spcBef>
                <a:spcPts val="0"/>
              </a:spcBef>
              <a:spcAft>
                <a:spcPts val="300"/>
              </a:spcAft>
            </a:pPr>
            <a:r>
              <a:rPr sz="1100" b="0">
                <a:solidFill>
                  <a:srgbClr val="5B6372"/>
                </a:solidFill>
                <a:latin typeface="Arial"/>
              </a:rPr>
              <a:t>nginx:1.25</a:t>
            </a:r>
          </a:p>
          <a:p>
            <a:pPr algn="ctr">
              <a:spcBef>
                <a:spcPts val="0"/>
              </a:spcBef>
              <a:spcAft>
                <a:spcPts val="300"/>
              </a:spcAft>
            </a:pPr>
            <a:r>
              <a:rPr sz="1100" b="0">
                <a:solidFill>
                  <a:srgbClr val="5B6372"/>
                </a:solidFill>
                <a:latin typeface="Arial"/>
              </a:rPr>
              <a:t>scales 0 to 3 gradually</a:t>
            </a:r>
          </a:p>
          <a:p>
            <a:pPr algn="ctr">
              <a:spcBef>
                <a:spcPts val="0"/>
              </a:spcBef>
              <a:spcAft>
                <a:spcPts val="300"/>
              </a:spcAft>
            </a:pPr>
            <a:r>
              <a:rPr sz="1100" b="0">
                <a:solidFill>
                  <a:srgbClr val="5B6372"/>
                </a:solidFill>
                <a:latin typeface="Arial"/>
              </a:rPr>
              <a:t>takes over traffic</a:t>
            </a:r>
          </a:p>
        </p:txBody>
      </p:sp>
      <p:sp>
        <p:nvSpPr>
          <p:cNvPr id="13" name="Right Arrow 12"/>
          <p:cNvSpPr/>
          <p:nvPr/>
        </p:nvSpPr>
        <p:spPr>
          <a:xfrm>
            <a:off x="5577840" y="3108960"/>
            <a:ext cx="1097280" cy="365760"/>
          </a:xfrm>
          <a:prstGeom prst="rightArrow">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303520" y="2103120"/>
            <a:ext cx="1645920" cy="292608"/>
          </a:xfrm>
          <a:prstGeom prst="rect">
            <a:avLst/>
          </a:prstGeom>
          <a:noFill/>
        </p:spPr>
        <p:txBody>
          <a:bodyPr wrap="square" anchor="ctr" lIns="0" rIns="0" tIns="0" bIns="0">
            <a:spAutoFit/>
          </a:bodyPr>
          <a:lstStyle/>
          <a:p>
            <a:pPr algn="ctr">
              <a:spcBef>
                <a:spcPts val="0"/>
              </a:spcBef>
              <a:spcAft>
                <a:spcPts val="400"/>
              </a:spcAft>
            </a:pPr>
            <a:r>
              <a:rPr sz="1100" b="1">
                <a:solidFill>
                  <a:srgbClr val="10B981"/>
                </a:solidFill>
                <a:latin typeface="Arial"/>
              </a:rPr>
              <a:t>kubectl set image</a:t>
            </a:r>
          </a:p>
        </p:txBody>
      </p:sp>
      <p:sp>
        <p:nvSpPr>
          <p:cNvPr id="15" name="Rounded Rectangle 14"/>
          <p:cNvSpPr/>
          <p:nvPr/>
        </p:nvSpPr>
        <p:spPr>
          <a:xfrm>
            <a:off x="777240" y="5943600"/>
            <a:ext cx="10652760" cy="502920"/>
          </a:xfrm>
          <a:prstGeom prst="roundRect">
            <a:avLst>
              <a:gd name="adj" fmla="val 5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51560" y="5943600"/>
            <a:ext cx="10149840" cy="502920"/>
          </a:xfrm>
          <a:prstGeom prst="rect">
            <a:avLst/>
          </a:prstGeom>
          <a:noFill/>
        </p:spPr>
        <p:txBody>
          <a:bodyPr wrap="square" anchor="ctr" lIns="0" rIns="0" tIns="0" bIns="0">
            <a:spAutoFit/>
          </a:bodyPr>
          <a:lstStyle/>
          <a:p>
            <a:pPr algn="l">
              <a:spcBef>
                <a:spcPts val="0"/>
              </a:spcBef>
              <a:spcAft>
                <a:spcPts val="400"/>
              </a:spcAft>
            </a:pPr>
            <a:r>
              <a:rPr sz="1300" b="0">
                <a:solidFill>
                  <a:srgbClr val="5B6372"/>
                </a:solidFill>
                <a:latin typeface="Arial"/>
              </a:rPr>
              <a:t>Old ReplicaSet scales down as the new one scales up — </a:t>
            </a:r>
            <a:r>
              <a:rPr sz="1300" b="1">
                <a:solidFill>
                  <a:srgbClr val="161B26"/>
                </a:solidFill>
                <a:latin typeface="Arial"/>
              </a:rPr>
              <a:t>maxSurge</a:t>
            </a:r>
            <a:r>
              <a:rPr sz="1300" b="0">
                <a:solidFill>
                  <a:srgbClr val="5B6372"/>
                </a:solidFill>
                <a:latin typeface="Arial"/>
              </a:rPr>
              <a:t> / </a:t>
            </a:r>
            <a:r>
              <a:rPr sz="1300" b="1">
                <a:solidFill>
                  <a:srgbClr val="161B26"/>
                </a:solidFill>
                <a:latin typeface="Arial"/>
              </a:rPr>
              <a:t>maxUnavailable</a:t>
            </a:r>
            <a:r>
              <a:rPr sz="1300" b="0">
                <a:solidFill>
                  <a:srgbClr val="5B6372"/>
                </a:solidFill>
                <a:latin typeface="Arial"/>
              </a:rPr>
              <a:t> control speed. rollout undo reverts in one step.</a:t>
            </a:r>
          </a:p>
        </p:txBody>
      </p:sp>
      <p:sp>
        <p:nvSpPr>
          <p:cNvPr id="17" name="TextBox 16"/>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8" name="TextBox 17"/>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9" name="TextBox 18"/>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106</a:t>
            </a:r>
          </a:p>
        </p:txBody>
      </p:sp>
    </p:spTree>
  </p:cSld>
  <p:clrMapOvr>
    <a:masterClrMapping/>
  </p:clrMapOvr>
</p:sld>
</file>

<file path=ppt/slides/slide1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DESIRED STATE</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Deployment → ReplicaSet → Pod Hierarchy</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day1b_s004_p1.png"/>
          <p:cNvPicPr>
            <a:picLocks noChangeAspect="1"/>
          </p:cNvPicPr>
          <p:nvPr/>
        </p:nvPicPr>
        <p:blipFill>
          <a:blip r:embed="rId2"/>
          <a:stretch>
            <a:fillRect/>
          </a:stretch>
        </p:blipFill>
        <p:spPr>
          <a:xfrm>
            <a:off x="2067326" y="1627632"/>
            <a:ext cx="8072587" cy="4544568"/>
          </a:xfrm>
          <a:prstGeom prst="rect">
            <a:avLst/>
          </a:prstGeom>
        </p:spPr>
      </p:pic>
      <p:sp>
        <p:nvSpPr>
          <p:cNvPr id="8" name="TextBox 7"/>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9" name="TextBox 8"/>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107</a:t>
            </a:r>
          </a:p>
        </p:txBody>
      </p:sp>
    </p:spTree>
  </p:cSld>
  <p:clrMapOvr>
    <a:masterClrMapping/>
  </p:clrMapOvr>
</p:sld>
</file>

<file path=ppt/slides/slide1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DESIRED STATE</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Rolling Update and Rollback — Version Transition Over Time</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day1b_s010_p1.png"/>
          <p:cNvPicPr>
            <a:picLocks noChangeAspect="1"/>
          </p:cNvPicPr>
          <p:nvPr/>
        </p:nvPicPr>
        <p:blipFill>
          <a:blip r:embed="rId2"/>
          <a:stretch>
            <a:fillRect/>
          </a:stretch>
        </p:blipFill>
        <p:spPr>
          <a:xfrm>
            <a:off x="2067326" y="1627632"/>
            <a:ext cx="8072587" cy="4544568"/>
          </a:xfrm>
          <a:prstGeom prst="rect">
            <a:avLst/>
          </a:prstGeom>
        </p:spPr>
      </p:pic>
      <p:sp>
        <p:nvSpPr>
          <p:cNvPr id="8" name="TextBox 7"/>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9" name="TextBox 8"/>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108</a:t>
            </a:r>
          </a:p>
        </p:txBody>
      </p:sp>
    </p:spTree>
  </p:cSld>
  <p:clrMapOvr>
    <a:masterClrMapping/>
  </p:clrMapOvr>
</p:sld>
</file>

<file path=ppt/slides/slide1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DAY 2 · DEPLOYMENTS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Deployments and Rollouts: Rolling Update, Bad Image, rollout undo, pause/resume</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64208"/>
            <a:ext cx="169164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09928"/>
            <a:ext cx="1691640" cy="365760"/>
          </a:xfrm>
          <a:prstGeom prst="rect">
            <a:avLst/>
          </a:prstGeom>
          <a:noFill/>
        </p:spPr>
        <p:txBody>
          <a:bodyPr wrap="square" anchor="t" lIns="0" rIns="0" tIns="0" bIns="0">
            <a:spAutoFit/>
          </a:bodyPr>
          <a:lstStyle/>
          <a:p>
            <a:pPr algn="ctr">
              <a:spcBef>
                <a:spcPts val="0"/>
              </a:spcBef>
              <a:spcAft>
                <a:spcPts val="400"/>
              </a:spcAft>
            </a:pPr>
            <a:r>
              <a:rPr sz="1600" b="1">
                <a:solidFill>
                  <a:srgbClr val="FFFFFF"/>
                </a:solidFill>
                <a:latin typeface="Arial"/>
              </a:rPr>
              <a:t>LAB 11</a:t>
            </a:r>
          </a:p>
        </p:txBody>
      </p:sp>
      <p:sp>
        <p:nvSpPr>
          <p:cNvPr id="9" name="TextBox 8"/>
          <p:cNvSpPr txBox="1"/>
          <p:nvPr/>
        </p:nvSpPr>
        <p:spPr>
          <a:xfrm>
            <a:off x="2697480" y="1691640"/>
            <a:ext cx="8778240" cy="411480"/>
          </a:xfrm>
          <a:prstGeom prst="rect">
            <a:avLst/>
          </a:prstGeom>
          <a:noFill/>
        </p:spPr>
        <p:txBody>
          <a:bodyPr wrap="square" anchor="ctr" lIns="0" rIns="0" tIns="0" bIns="0">
            <a:spAutoFit/>
          </a:bodyPr>
          <a:lstStyle/>
          <a:p>
            <a:pPr algn="l">
              <a:spcBef>
                <a:spcPts val="0"/>
              </a:spcBef>
              <a:spcAft>
                <a:spcPts val="400"/>
              </a:spcAft>
            </a:pPr>
            <a:r>
              <a:rPr sz="1400" b="1">
                <a:solidFill>
                  <a:srgbClr val="5B6372"/>
                </a:solidFill>
                <a:latin typeface="Arial"/>
              </a:rPr>
              <a:t>Deployments and rollouts</a:t>
            </a:r>
          </a:p>
        </p:txBody>
      </p:sp>
      <p:sp>
        <p:nvSpPr>
          <p:cNvPr id="10" name="TextBox 9"/>
          <p:cNvSpPr txBox="1"/>
          <p:nvPr/>
        </p:nvSpPr>
        <p:spPr>
          <a:xfrm>
            <a:off x="777240" y="2286000"/>
            <a:ext cx="10698480" cy="1554480"/>
          </a:xfrm>
          <a:prstGeom prst="rect">
            <a:avLst/>
          </a:prstGeom>
          <a:noFill/>
        </p:spPr>
        <p:txBody>
          <a:bodyPr wrap="square" anchor="t" lIns="0" rIns="0" tIns="0" bIns="0">
            <a:spAutoFit/>
          </a:bodyPr>
          <a:lstStyle/>
          <a:p>
            <a:pPr algn="l">
              <a:spcBef>
                <a:spcPts val="0"/>
              </a:spcBef>
              <a:spcAft>
                <a:spcPts val="400"/>
              </a:spcAft>
            </a:pPr>
            <a:r>
              <a:rPr sz="1900" b="0">
                <a:solidFill>
                  <a:srgbClr val="161B26"/>
                </a:solidFill>
                <a:latin typeface="Arial"/>
              </a:rPr>
              <a:t>Create a Deployment, perform a rolling update, deliberately introduce a broken image to trigger a failed rollout, roll back using kubectl rollout undo, and use pause/resume to batch multiple changes. Mastering kubectl rollout subcommands is essential for the 15% Workloads &amp; Scheduling domain.</a:t>
            </a:r>
          </a:p>
        </p:txBody>
      </p:sp>
      <p:sp>
        <p:nvSpPr>
          <p:cNvPr id="11" name="Rounded Rectangle 10"/>
          <p:cNvSpPr/>
          <p:nvPr/>
        </p:nvSpPr>
        <p:spPr>
          <a:xfrm>
            <a:off x="777240" y="4069080"/>
            <a:ext cx="10698480" cy="1783080"/>
          </a:xfrm>
          <a:prstGeom prst="roundRect">
            <a:avLst>
              <a:gd name="adj" fmla="val 5000"/>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05840" y="4251960"/>
            <a:ext cx="10058400" cy="365760"/>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You'll build</a:t>
            </a:r>
          </a:p>
        </p:txBody>
      </p:sp>
      <p:sp>
        <p:nvSpPr>
          <p:cNvPr id="13" name="TextBox 12"/>
          <p:cNvSpPr txBox="1"/>
          <p:nvPr/>
        </p:nvSpPr>
        <p:spPr>
          <a:xfrm>
            <a:off x="1005840" y="4617720"/>
            <a:ext cx="10241280" cy="640080"/>
          </a:xfrm>
          <a:prstGeom prst="rect">
            <a:avLst/>
          </a:prstGeom>
          <a:noFill/>
        </p:spPr>
        <p:txBody>
          <a:bodyPr wrap="square" anchor="t" lIns="0" rIns="0" tIns="0" bIns="0">
            <a:spAutoFit/>
          </a:bodyPr>
          <a:lstStyle/>
          <a:p>
            <a:pPr algn="l">
              <a:spcBef>
                <a:spcPts val="0"/>
              </a:spcBef>
              <a:spcAft>
                <a:spcPts val="400"/>
              </a:spcAft>
            </a:pPr>
            <a:r>
              <a:rPr sz="1700" b="1">
                <a:solidFill>
                  <a:srgbClr val="161B26"/>
                </a:solidFill>
                <a:latin typeface="Arial"/>
              </a:rPr>
              <a:t>Create 4-replica nginx Deployment, update to new image, break it with invalid tag, rollback, roll back to specific revision, pause/resume.</a:t>
            </a:r>
          </a:p>
        </p:txBody>
      </p:sp>
      <p:sp>
        <p:nvSpPr>
          <p:cNvPr id="14" name="TextBox 13"/>
          <p:cNvSpPr txBox="1"/>
          <p:nvPr/>
        </p:nvSpPr>
        <p:spPr>
          <a:xfrm>
            <a:off x="1005840" y="5349240"/>
            <a:ext cx="10058400" cy="457200"/>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Key commands:  </a:t>
            </a:r>
            <a:r>
              <a:rPr sz="1300" b="0">
                <a:solidFill>
                  <a:srgbClr val="5B6372"/>
                </a:solidFill>
                <a:latin typeface="Arial"/>
              </a:rPr>
              <a:t>kubectl create · kubectl set · kubectl rollout · » Rolling</a:t>
            </a:r>
          </a:p>
        </p:txBody>
      </p:sp>
      <p:sp>
        <p:nvSpPr>
          <p:cNvPr id="15" name="TextBox 14"/>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6" name="TextBox 15"/>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7" name="TextBox 16"/>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109</a:t>
            </a:r>
          </a:p>
        </p:txBody>
      </p:sp>
    </p:spTree>
  </p:cSld>
  <p:clrMapOvr>
    <a:masterClrMapping/>
  </p:clrMapOvr>
</p:sld>
</file>

<file path=ppt/slides/slide1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11  ·  COMMANDS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Deployments and Rollouts: Rolling Update, Bad Image, rollout undo, pause/resume</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91640"/>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Step 1 -- Create and expose Deployment</a:t>
            </a:r>
          </a:p>
        </p:txBody>
      </p:sp>
      <p:sp>
        <p:nvSpPr>
          <p:cNvPr id="8" name="Rounded Rectangle 7"/>
          <p:cNvSpPr/>
          <p:nvPr/>
        </p:nvSpPr>
        <p:spPr>
          <a:xfrm>
            <a:off x="777240" y="2075688"/>
            <a:ext cx="10652760" cy="708660"/>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075688"/>
            <a:ext cx="82296" cy="7086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6" y="2139696"/>
            <a:ext cx="10323576" cy="617220"/>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kubectl create deployment webapp --image=nginx:1.25 --replicas=4 --port=80</a:t>
            </a:r>
          </a:p>
          <a:p>
            <a:pPr>
              <a:spcBef>
                <a:spcPts val="0"/>
              </a:spcBef>
              <a:spcAft>
                <a:spcPts val="0"/>
              </a:spcAft>
            </a:pPr>
            <a:r>
              <a:rPr sz="1050">
                <a:solidFill>
                  <a:srgbClr val="161B26"/>
                </a:solidFill>
                <a:latin typeface="Consolas"/>
              </a:rPr>
              <a:t>kubectl expose deployment webapp --port=80</a:t>
            </a:r>
          </a:p>
          <a:p>
            <a:pPr>
              <a:spcBef>
                <a:spcPts val="0"/>
              </a:spcBef>
              <a:spcAft>
                <a:spcPts val="0"/>
              </a:spcAft>
            </a:pPr>
            <a:r>
              <a:rPr sz="1050">
                <a:solidFill>
                  <a:srgbClr val="161B26"/>
                </a:solidFill>
                <a:latin typeface="Consolas"/>
              </a:rPr>
              <a:t>kubectl rollout history deployment webapp</a:t>
            </a:r>
          </a:p>
        </p:txBody>
      </p:sp>
      <p:sp>
        <p:nvSpPr>
          <p:cNvPr id="11" name="TextBox 10"/>
          <p:cNvSpPr txBox="1"/>
          <p:nvPr/>
        </p:nvSpPr>
        <p:spPr>
          <a:xfrm>
            <a:off x="777240" y="2967228"/>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Step 2 -- Perform a rolling update</a:t>
            </a:r>
          </a:p>
        </p:txBody>
      </p:sp>
      <p:sp>
        <p:nvSpPr>
          <p:cNvPr id="12" name="Rounded Rectangle 11"/>
          <p:cNvSpPr/>
          <p:nvPr/>
        </p:nvSpPr>
        <p:spPr>
          <a:xfrm>
            <a:off x="777240" y="3351276"/>
            <a:ext cx="10652760" cy="708660"/>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3351276"/>
            <a:ext cx="82296" cy="7086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3415284"/>
            <a:ext cx="10323576" cy="617220"/>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kubectl set image deployment/webapp webapp=nginx:1.27</a:t>
            </a:r>
          </a:p>
          <a:p>
            <a:pPr>
              <a:spcBef>
                <a:spcPts val="0"/>
              </a:spcBef>
              <a:spcAft>
                <a:spcPts val="0"/>
              </a:spcAft>
            </a:pPr>
            <a:r>
              <a:rPr sz="1050">
                <a:solidFill>
                  <a:srgbClr val="161B26"/>
                </a:solidFill>
                <a:latin typeface="Consolas"/>
              </a:rPr>
              <a:t>kubectl annotate deployment webapp kubernetes.io/change-cause='upgrade to nginx:1.27'</a:t>
            </a:r>
          </a:p>
          <a:p>
            <a:pPr>
              <a:spcBef>
                <a:spcPts val="0"/>
              </a:spcBef>
              <a:spcAft>
                <a:spcPts val="0"/>
              </a:spcAft>
            </a:pPr>
            <a:r>
              <a:rPr sz="1050">
                <a:solidFill>
                  <a:srgbClr val="161B26"/>
                </a:solidFill>
                <a:latin typeface="Consolas"/>
              </a:rPr>
              <a:t>kubectl rollout status deployment webapp</a:t>
            </a:r>
          </a:p>
        </p:txBody>
      </p:sp>
      <p:sp>
        <p:nvSpPr>
          <p:cNvPr id="15" name="TextBox 14"/>
          <p:cNvSpPr txBox="1"/>
          <p:nvPr/>
        </p:nvSpPr>
        <p:spPr>
          <a:xfrm>
            <a:off x="777240" y="4242816"/>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Step 3 -- Simulate a broken rollout</a:t>
            </a:r>
          </a:p>
        </p:txBody>
      </p:sp>
      <p:sp>
        <p:nvSpPr>
          <p:cNvPr id="16" name="Rounded Rectangle 15"/>
          <p:cNvSpPr/>
          <p:nvPr/>
        </p:nvSpPr>
        <p:spPr>
          <a:xfrm>
            <a:off x="777240" y="4626864"/>
            <a:ext cx="10652760" cy="708660"/>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77240" y="4626864"/>
            <a:ext cx="82296" cy="7086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96696" y="4690872"/>
            <a:ext cx="10323576" cy="617220"/>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kubectl set image deployment/webapp webapp=nginx:does-not-exist-999</a:t>
            </a:r>
          </a:p>
          <a:p>
            <a:pPr>
              <a:spcBef>
                <a:spcPts val="0"/>
              </a:spcBef>
              <a:spcAft>
                <a:spcPts val="0"/>
              </a:spcAft>
            </a:pPr>
            <a:r>
              <a:rPr sz="1050">
                <a:solidFill>
                  <a:srgbClr val="161B26"/>
                </a:solidFill>
                <a:latin typeface="Consolas"/>
              </a:rPr>
              <a:t>kubectl get pods -l app=webapp</a:t>
            </a:r>
          </a:p>
          <a:p>
            <a:pPr>
              <a:spcBef>
                <a:spcPts val="0"/>
              </a:spcBef>
              <a:spcAft>
                <a:spcPts val="0"/>
              </a:spcAft>
            </a:pPr>
            <a:r>
              <a:rPr sz="1050">
                <a:solidFill>
                  <a:srgbClr val="161B26"/>
                </a:solidFill>
                <a:latin typeface="Consolas"/>
              </a:rPr>
              <a:t># Old pods Running; new pod ImagePullBackOff</a:t>
            </a:r>
          </a:p>
        </p:txBody>
      </p:sp>
      <p:sp>
        <p:nvSpPr>
          <p:cNvPr id="19" name="TextBox 18"/>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20" name="TextBox 19"/>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21" name="TextBox 20"/>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110</a:t>
            </a:r>
          </a:p>
        </p:txBody>
      </p:sp>
    </p:spTree>
  </p:cSld>
  <p:clrMapOvr>
    <a:masterClrMapping/>
  </p:clrMapOvr>
</p:sld>
</file>

<file path=ppt/slides/slide1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11  ·  COMMANDS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Deployments and Rollouts: Rolling Update, Bad Image, rollout undo, pause/resume (cont.)</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91640"/>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Step 4 -- Roll back</a:t>
            </a:r>
          </a:p>
        </p:txBody>
      </p:sp>
      <p:sp>
        <p:nvSpPr>
          <p:cNvPr id="8" name="Rounded Rectangle 7"/>
          <p:cNvSpPr/>
          <p:nvPr/>
        </p:nvSpPr>
        <p:spPr>
          <a:xfrm>
            <a:off x="777240" y="2075688"/>
            <a:ext cx="10652760" cy="708660"/>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075688"/>
            <a:ext cx="82296" cy="7086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6" y="2139696"/>
            <a:ext cx="10323576" cy="617220"/>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kubectl rollout undo deployment webapp</a:t>
            </a:r>
          </a:p>
          <a:p>
            <a:pPr>
              <a:spcBef>
                <a:spcPts val="0"/>
              </a:spcBef>
              <a:spcAft>
                <a:spcPts val="0"/>
              </a:spcAft>
            </a:pPr>
            <a:r>
              <a:rPr sz="1050">
                <a:solidFill>
                  <a:srgbClr val="161B26"/>
                </a:solidFill>
                <a:latin typeface="Consolas"/>
              </a:rPr>
              <a:t>kubectl rollout status deployment webapp</a:t>
            </a:r>
          </a:p>
          <a:p>
            <a:pPr>
              <a:spcBef>
                <a:spcPts val="0"/>
              </a:spcBef>
              <a:spcAft>
                <a:spcPts val="0"/>
              </a:spcAft>
            </a:pPr>
            <a:r>
              <a:rPr sz="1050">
                <a:solidFill>
                  <a:srgbClr val="161B26"/>
                </a:solidFill>
                <a:latin typeface="Consolas"/>
              </a:rPr>
              <a:t>kubectl rollout undo deployment webapp --to-revision=1</a:t>
            </a:r>
          </a:p>
        </p:txBody>
      </p:sp>
      <p:sp>
        <p:nvSpPr>
          <p:cNvPr id="11" name="TextBox 10"/>
          <p:cNvSpPr txBox="1"/>
          <p:nvPr/>
        </p:nvSpPr>
        <p:spPr>
          <a:xfrm>
            <a:off x="777240" y="2967228"/>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Step 5 -- Pause and resume a rollout</a:t>
            </a:r>
          </a:p>
        </p:txBody>
      </p:sp>
      <p:sp>
        <p:nvSpPr>
          <p:cNvPr id="12" name="Rounded Rectangle 11"/>
          <p:cNvSpPr/>
          <p:nvPr/>
        </p:nvSpPr>
        <p:spPr>
          <a:xfrm>
            <a:off x="777240" y="3351276"/>
            <a:ext cx="10652760" cy="1083563"/>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3351276"/>
            <a:ext cx="82296" cy="1083563"/>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3415284"/>
            <a:ext cx="10323576" cy="992123"/>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kubectl set image deployment/webapp webapp=nginx:1.27</a:t>
            </a:r>
          </a:p>
          <a:p>
            <a:pPr>
              <a:spcBef>
                <a:spcPts val="0"/>
              </a:spcBef>
              <a:spcAft>
                <a:spcPts val="0"/>
              </a:spcAft>
            </a:pPr>
            <a:r>
              <a:rPr sz="1050">
                <a:solidFill>
                  <a:srgbClr val="161B26"/>
                </a:solidFill>
                <a:latin typeface="Consolas"/>
              </a:rPr>
              <a:t>kubectl rollout pause deployment webapp</a:t>
            </a:r>
          </a:p>
          <a:p>
            <a:pPr>
              <a:spcBef>
                <a:spcPts val="0"/>
              </a:spcBef>
              <a:spcAft>
                <a:spcPts val="0"/>
              </a:spcAft>
            </a:pPr>
            <a:r>
              <a:rPr sz="1050">
                <a:solidFill>
                  <a:srgbClr val="161B26"/>
                </a:solidFill>
                <a:latin typeface="Consolas"/>
              </a:rPr>
              <a:t>kubectl set resources deployment webapp --containers=webapp --requests=cpu=100m</a:t>
            </a:r>
          </a:p>
          <a:p>
            <a:pPr>
              <a:spcBef>
                <a:spcPts val="0"/>
              </a:spcBef>
              <a:spcAft>
                <a:spcPts val="0"/>
              </a:spcAft>
            </a:pPr>
            <a:r>
              <a:rPr sz="1050">
                <a:solidFill>
                  <a:srgbClr val="161B26"/>
                </a:solidFill>
                <a:latin typeface="Consolas"/>
              </a:rPr>
              <a:t>kubectl rollout resume deployment webapp</a:t>
            </a:r>
          </a:p>
          <a:p>
            <a:pPr>
              <a:spcBef>
                <a:spcPts val="0"/>
              </a:spcBef>
              <a:spcAft>
                <a:spcPts val="0"/>
              </a:spcAft>
            </a:pPr>
            <a:r>
              <a:rPr sz="1050">
                <a:solidFill>
                  <a:srgbClr val="161B26"/>
                </a:solidFill>
                <a:latin typeface="Consolas"/>
              </a:rPr>
              <a:t>kubectl rollout status deployment webapp</a:t>
            </a:r>
          </a:p>
        </p:txBody>
      </p:sp>
      <p:sp>
        <p:nvSpPr>
          <p:cNvPr id="15" name="TextBox 14"/>
          <p:cNvSpPr txBox="1"/>
          <p:nvPr/>
        </p:nvSpPr>
        <p:spPr>
          <a:xfrm>
            <a:off x="777240" y="4617719"/>
            <a:ext cx="10652760" cy="310896"/>
          </a:xfrm>
          <a:prstGeom prst="rect">
            <a:avLst/>
          </a:prstGeom>
          <a:noFill/>
        </p:spPr>
        <p:txBody>
          <a:bodyPr wrap="square" anchor="t" lIns="0" rIns="0" tIns="0" bIns="0">
            <a:spAutoFit/>
          </a:bodyPr>
          <a:lstStyle/>
          <a:p>
            <a:pPr algn="l">
              <a:spcBef>
                <a:spcPts val="0"/>
              </a:spcBef>
              <a:spcAft>
                <a:spcPts val="400"/>
              </a:spcAft>
            </a:pPr>
            <a:r>
              <a:rPr sz="1300" b="1">
                <a:solidFill>
                  <a:srgbClr val="F59E0B"/>
                </a:solidFill>
                <a:latin typeface="Arial"/>
              </a:rPr>
              <a:t>Note   </a:t>
            </a:r>
            <a:r>
              <a:rPr sz="1300" b="0">
                <a:solidFill>
                  <a:srgbClr val="5B6372"/>
                </a:solidFill>
                <a:latin typeface="Arial"/>
              </a:rPr>
              <a:t>Rolling updates are safe: broken image stalls rollout without taking down healthy pods. kubectl rollout undo creates a NEW revision -- the counter always grows.</a:t>
            </a:r>
          </a:p>
        </p:txBody>
      </p:sp>
      <p:sp>
        <p:nvSpPr>
          <p:cNvPr id="16" name="TextBox 15"/>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7" name="TextBox 16"/>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8" name="TextBox 17"/>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111</a:t>
            </a:r>
          </a:p>
        </p:txBody>
      </p:sp>
    </p:spTree>
  </p:cSld>
  <p:clrMapOvr>
    <a:masterClrMapping/>
  </p:clrMapOvr>
</p:sld>
</file>

<file path=ppt/slides/slide1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11  ·  TEST IT</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Deployments and Rollouts: Rolling Update, Bad Image, rollout undo, pause/resume</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03120"/>
            <a:ext cx="10698480" cy="2560320"/>
          </a:xfrm>
          <a:prstGeom prst="roundRect">
            <a:avLst>
              <a:gd name="adj" fmla="val 5000"/>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lIns="0" rIns="0" tIns="0" bIns="0">
            <a:spAutoFit/>
          </a:bodyPr>
          <a:lstStyle/>
          <a:p>
            <a:pPr algn="l">
              <a:spcBef>
                <a:spcPts val="0"/>
              </a:spcBef>
              <a:spcAft>
                <a:spcPts val="400"/>
              </a:spcAft>
            </a:pPr>
            <a:r>
              <a:rPr sz="2200" b="1">
                <a:solidFill>
                  <a:srgbClr val="127A3E"/>
                </a:solidFill>
                <a:latin typeface="Arial"/>
              </a:rPr>
              <a:t>✅  Test it</a:t>
            </a:r>
          </a:p>
        </p:txBody>
      </p:sp>
      <p:sp>
        <p:nvSpPr>
          <p:cNvPr id="9" name="TextBox 8"/>
          <p:cNvSpPr txBox="1"/>
          <p:nvPr/>
        </p:nvSpPr>
        <p:spPr>
          <a:xfrm>
            <a:off x="1097280" y="3017520"/>
            <a:ext cx="10149840" cy="1463040"/>
          </a:xfrm>
          <a:prstGeom prst="rect">
            <a:avLst/>
          </a:prstGeom>
          <a:noFill/>
        </p:spPr>
        <p:txBody>
          <a:bodyPr wrap="square" anchor="t" lIns="0" rIns="0" tIns="0" bIns="0">
            <a:spAutoFit/>
          </a:bodyPr>
          <a:lstStyle/>
          <a:p>
            <a:pPr algn="l">
              <a:spcBef>
                <a:spcPts val="0"/>
              </a:spcBef>
              <a:spcAft>
                <a:spcPts val="400"/>
              </a:spcAft>
            </a:pPr>
            <a:r>
              <a:rPr sz="1800" b="0">
                <a:solidFill>
                  <a:srgbClr val="161B26"/>
                </a:solidFill>
                <a:latin typeface="Arial"/>
              </a:rPr>
              <a:t>kubectl rollout history shows multiple revisions. After rollback all pods run previous image. Service continues responding during the bad image period.</a:t>
            </a:r>
          </a:p>
        </p:txBody>
      </p:sp>
      <p:sp>
        <p:nvSpPr>
          <p:cNvPr id="10" name="TextBox 9"/>
          <p:cNvSpPr txBox="1"/>
          <p:nvPr/>
        </p:nvSpPr>
        <p:spPr>
          <a:xfrm>
            <a:off x="777240" y="4983480"/>
            <a:ext cx="10698480" cy="365760"/>
          </a:xfrm>
          <a:prstGeom prst="rect">
            <a:avLst/>
          </a:prstGeom>
          <a:noFill/>
        </p:spPr>
        <p:txBody>
          <a:bodyPr wrap="square" anchor="t" lIns="0" rIns="0" tIns="0" bIns="0">
            <a:spAutoFit/>
          </a:bodyPr>
          <a:lstStyle/>
          <a:p>
            <a:pPr algn="l">
              <a:spcBef>
                <a:spcPts val="0"/>
              </a:spcBef>
              <a:spcAft>
                <a:spcPts val="400"/>
              </a:spcAft>
            </a:pPr>
            <a:r>
              <a:rPr sz="1300" b="1">
                <a:solidFill>
                  <a:srgbClr val="10B981"/>
                </a:solidFill>
                <a:latin typeface="Arial"/>
              </a:rPr>
              <a:t>Killercoda:  </a:t>
            </a:r>
            <a:r>
              <a:rPr sz="1300" b="0">
                <a:solidFill>
                  <a:srgbClr val="5B6372"/>
                </a:solidFill>
                <a:latin typeface="Arial"/>
              </a:rPr>
              <a:t>https://killercoda.com/playgrounds/scenario/kubernetes</a:t>
            </a:r>
          </a:p>
        </p:txBody>
      </p:sp>
      <p:sp>
        <p:nvSpPr>
          <p:cNvPr id="11" name="TextBox 10"/>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112</a:t>
            </a:r>
          </a:p>
        </p:txBody>
      </p:sp>
    </p:spTree>
  </p:cSld>
  <p:clrMapOvr>
    <a:masterClrMapping/>
  </p:clrMapOvr>
</p:sld>
</file>

<file path=ppt/slides/slide1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56832"/>
            <a:ext cx="12191695" cy="20116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937760" y="2148840"/>
            <a:ext cx="231343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0" y="2514600"/>
            <a:ext cx="12191695" cy="1097280"/>
          </a:xfrm>
          <a:prstGeom prst="rect">
            <a:avLst/>
          </a:prstGeom>
          <a:noFill/>
        </p:spPr>
        <p:txBody>
          <a:bodyPr wrap="square" anchor="t" lIns="0" rIns="0" tIns="0" bIns="0">
            <a:spAutoFit/>
          </a:bodyPr>
          <a:lstStyle/>
          <a:p>
            <a:pPr algn="ctr">
              <a:spcBef>
                <a:spcPts val="0"/>
              </a:spcBef>
              <a:spcAft>
                <a:spcPts val="400"/>
              </a:spcAft>
            </a:pPr>
            <a:r>
              <a:rPr sz="4800" b="1">
                <a:solidFill>
                  <a:srgbClr val="161B26"/>
                </a:solidFill>
                <a:latin typeface="Arial"/>
              </a:rPr>
              <a:t>Lunch Break</a:t>
            </a:r>
          </a:p>
        </p:txBody>
      </p:sp>
      <p:sp>
        <p:nvSpPr>
          <p:cNvPr id="7" name="TextBox 6"/>
          <p:cNvSpPr txBox="1"/>
          <p:nvPr/>
        </p:nvSpPr>
        <p:spPr>
          <a:xfrm>
            <a:off x="0" y="3703320"/>
            <a:ext cx="12191695" cy="731520"/>
          </a:xfrm>
          <a:prstGeom prst="rect">
            <a:avLst/>
          </a:prstGeom>
          <a:noFill/>
        </p:spPr>
        <p:txBody>
          <a:bodyPr wrap="square" anchor="t" lIns="0" rIns="0" tIns="0" bIns="0">
            <a:spAutoFit/>
          </a:bodyPr>
          <a:lstStyle/>
          <a:p>
            <a:pPr algn="ctr">
              <a:spcBef>
                <a:spcPts val="0"/>
              </a:spcBef>
              <a:spcAft>
                <a:spcPts val="400"/>
              </a:spcAft>
            </a:pPr>
            <a:r>
              <a:rPr sz="2200" b="1">
                <a:solidFill>
                  <a:srgbClr val="1F6FEB"/>
                </a:solidFill>
                <a:latin typeface="Arial"/>
              </a:rPr>
              <a:t>1 hour</a:t>
            </a:r>
          </a:p>
        </p:txBody>
      </p:sp>
    </p:spTree>
  </p:cSld>
  <p:clrMapOvr>
    <a:masterClrMapping/>
  </p:clrMapOvr>
</p:sld>
</file>

<file path=ppt/slides/slide1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lIns="0" rIns="0" tIns="0" bIns="0">
            <a:spAutoFit/>
          </a:bodyPr>
          <a:lstStyle/>
          <a:p>
            <a:pPr algn="l">
              <a:spcBef>
                <a:spcPts val="0"/>
              </a:spcBef>
              <a:spcAft>
                <a:spcPts val="400"/>
              </a:spcAft>
            </a:pPr>
            <a:r>
              <a:rPr sz="1800" b="1">
                <a:solidFill>
                  <a:srgbClr val="1F6FEB"/>
                </a:solidFill>
                <a:latin typeface="Arial"/>
              </a:rPr>
              <a:t>TOPIC 3</a:t>
            </a:r>
          </a:p>
        </p:txBody>
      </p:sp>
      <p:sp>
        <p:nvSpPr>
          <p:cNvPr id="6" name="TextBox 5"/>
          <p:cNvSpPr txBox="1"/>
          <p:nvPr/>
        </p:nvSpPr>
        <p:spPr>
          <a:xfrm>
            <a:off x="1143000" y="2743200"/>
            <a:ext cx="10424160" cy="1463040"/>
          </a:xfrm>
          <a:prstGeom prst="rect">
            <a:avLst/>
          </a:prstGeom>
          <a:noFill/>
        </p:spPr>
        <p:txBody>
          <a:bodyPr wrap="square" anchor="t" lIns="0" rIns="0" tIns="0" bIns="0">
            <a:spAutoFit/>
          </a:bodyPr>
          <a:lstStyle/>
          <a:p>
            <a:pPr algn="l">
              <a:spcBef>
                <a:spcPts val="0"/>
              </a:spcBef>
              <a:spcAft>
                <a:spcPts val="400"/>
              </a:spcAft>
            </a:pPr>
            <a:r>
              <a:rPr sz="4000" b="1">
                <a:solidFill>
                  <a:srgbClr val="161B26"/>
                </a:solidFill>
                <a:latin typeface="Arial"/>
              </a:rPr>
              <a:t>ConfigMaps &amp; Secrets</a:t>
            </a:r>
          </a:p>
        </p:txBody>
      </p:sp>
      <p:sp>
        <p:nvSpPr>
          <p:cNvPr id="7" name="TextBox 6"/>
          <p:cNvSpPr txBox="1"/>
          <p:nvPr/>
        </p:nvSpPr>
        <p:spPr>
          <a:xfrm>
            <a:off x="1161288" y="4114800"/>
            <a:ext cx="10058400" cy="731520"/>
          </a:xfrm>
          <a:prstGeom prst="rect">
            <a:avLst/>
          </a:prstGeom>
          <a:noFill/>
        </p:spPr>
        <p:txBody>
          <a:bodyPr wrap="square" anchor="t" lIns="0" rIns="0" tIns="0" bIns="0">
            <a:spAutoFit/>
          </a:bodyPr>
          <a:lstStyle/>
          <a:p>
            <a:pPr algn="l">
              <a:spcBef>
                <a:spcPts val="0"/>
              </a:spcBef>
              <a:spcAft>
                <a:spcPts val="400"/>
              </a:spcAft>
            </a:pPr>
            <a:r>
              <a:rPr sz="1600" b="0">
                <a:solidFill>
                  <a:srgbClr val="5B6372"/>
                </a:solidFill>
                <a:latin typeface="Arial"/>
              </a:rPr>
              <a:t>Decouple configuration from container images</a:t>
            </a:r>
          </a:p>
        </p:txBody>
      </p:sp>
      <p:sp>
        <p:nvSpPr>
          <p:cNvPr id="8" name="TextBox 7"/>
          <p:cNvSpPr txBox="1"/>
          <p:nvPr/>
        </p:nvSpPr>
        <p:spPr>
          <a:xfrm>
            <a:off x="9418320" y="640080"/>
            <a:ext cx="2286000" cy="1463040"/>
          </a:xfrm>
          <a:prstGeom prst="rect">
            <a:avLst/>
          </a:prstGeom>
          <a:noFill/>
        </p:spPr>
        <p:txBody>
          <a:bodyPr wrap="square" anchor="t" lIns="0" rIns="0" tIns="0" bIns="0">
            <a:spAutoFit/>
          </a:bodyPr>
          <a:lstStyle/>
          <a:p>
            <a:pPr algn="r">
              <a:spcBef>
                <a:spcPts val="0"/>
              </a:spcBef>
              <a:spcAft>
                <a:spcPts val="400"/>
              </a:spcAft>
            </a:pPr>
            <a:r>
              <a:rPr sz="7200" b="1">
                <a:solidFill>
                  <a:srgbClr val="E2E8F0"/>
                </a:solidFill>
                <a:latin typeface="Arial"/>
              </a:rPr>
              <a:t/>
            </a:r>
          </a:p>
        </p:txBody>
      </p:sp>
      <p:sp>
        <p:nvSpPr>
          <p:cNvPr id="9" name="TextBox 8"/>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0" name="TextBox 9"/>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1" name="TextBox 10"/>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114</a:t>
            </a:r>
          </a:p>
        </p:txBody>
      </p:sp>
    </p:spTree>
  </p:cSld>
  <p:clrMapOvr>
    <a:masterClrMapping/>
  </p:clrMapOvr>
</p:sld>
</file>

<file path=ppt/slides/slide1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CONFIGURATION</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ConfigMaps — Non-secret Config</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07040" cy="4480560"/>
          </a:xfrm>
          <a:prstGeom prst="rect">
            <a:avLst/>
          </a:prstGeom>
          <a:noFill/>
        </p:spPr>
        <p:txBody>
          <a:bodyPr wrap="square" lIns="0" rIns="0">
            <a:spAutoFit/>
          </a:bodyPr>
          <a:lstStyle/>
          <a:p>
            <a:pPr>
              <a:spcBef>
                <a:spcPts val="0"/>
              </a:spcBef>
              <a:spcAft>
                <a:spcPts val="1000"/>
              </a:spcAft>
            </a:pPr>
            <a:r>
              <a:rPr sz="1900" b="1">
                <a:solidFill>
                  <a:srgbClr val="1F6FEB"/>
                </a:solidFill>
                <a:latin typeface="Arial"/>
              </a:rPr>
              <a:t>•  </a:t>
            </a:r>
            <a:r>
              <a:rPr sz="1900">
                <a:solidFill>
                  <a:srgbClr val="161B26"/>
                </a:solidFill>
                <a:latin typeface="Arial"/>
              </a:rPr>
              <a:t>A ConfigMap holds non-sensitive key/value data; create with --from-literal, --from-file or --from-env-file.</a:t>
            </a:r>
          </a:p>
          <a:p>
            <a:pPr>
              <a:spcBef>
                <a:spcPts val="0"/>
              </a:spcBef>
              <a:spcAft>
                <a:spcPts val="1000"/>
              </a:spcAft>
            </a:pPr>
            <a:r>
              <a:rPr sz="1900" b="1">
                <a:solidFill>
                  <a:srgbClr val="1F6FEB"/>
                </a:solidFill>
                <a:latin typeface="Arial"/>
              </a:rPr>
              <a:t>•  </a:t>
            </a:r>
            <a:r>
              <a:rPr sz="1900">
                <a:solidFill>
                  <a:srgbClr val="161B26"/>
                </a:solidFill>
                <a:latin typeface="Arial"/>
              </a:rPr>
              <a:t>Inject one key with configMapKeyRef, all keys with envFrom: configMapRef, or mount as a file volume.</a:t>
            </a:r>
          </a:p>
          <a:p>
            <a:pPr>
              <a:spcBef>
                <a:spcPts val="0"/>
              </a:spcBef>
              <a:spcAft>
                <a:spcPts val="1000"/>
              </a:spcAft>
            </a:pPr>
            <a:r>
              <a:rPr sz="1900" b="1">
                <a:solidFill>
                  <a:srgbClr val="1F6FEB"/>
                </a:solidFill>
                <a:latin typeface="Arial"/>
              </a:rPr>
              <a:t>•  </a:t>
            </a:r>
            <a:r>
              <a:rPr sz="1900">
                <a:solidFill>
                  <a:srgbClr val="161B26"/>
                </a:solidFill>
                <a:latin typeface="Arial"/>
              </a:rPr>
              <a:t>Volume-mounted ConfigMaps update live (~60 s); env-var injections are fixed at Pod startup.</a:t>
            </a:r>
          </a:p>
          <a:p>
            <a:pPr>
              <a:spcBef>
                <a:spcPts val="0"/>
              </a:spcBef>
              <a:spcAft>
                <a:spcPts val="1000"/>
              </a:spcAft>
            </a:pPr>
            <a:r>
              <a:rPr sz="1900" b="1">
                <a:solidFill>
                  <a:srgbClr val="1F6FEB"/>
                </a:solidFill>
                <a:latin typeface="Arial"/>
              </a:rPr>
              <a:t>•  </a:t>
            </a:r>
            <a:r>
              <a:rPr sz="1900">
                <a:solidFill>
                  <a:srgbClr val="161B26"/>
                </a:solidFill>
                <a:latin typeface="Arial"/>
              </a:rPr>
              <a:t>Keep configuration out of the image so the same image runs unchanged in every environment.</a:t>
            </a:r>
          </a:p>
        </p:txBody>
      </p:sp>
      <p:sp>
        <p:nvSpPr>
          <p:cNvPr id="8" name="TextBox 7"/>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9" name="TextBox 8"/>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115</a:t>
            </a:r>
          </a:p>
        </p:txBody>
      </p:sp>
    </p:spTree>
  </p:cSld>
  <p:clrMapOvr>
    <a:masterClrMapping/>
  </p:clrMapOvr>
</p:sld>
</file>

<file path=ppt/slides/slide1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SECRETS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Secrets — Sensitive Data</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07040" cy="4480560"/>
          </a:xfrm>
          <a:prstGeom prst="rect">
            <a:avLst/>
          </a:prstGeom>
          <a:noFill/>
        </p:spPr>
        <p:txBody>
          <a:bodyPr wrap="square" lIns="0" rIns="0">
            <a:spAutoFit/>
          </a:bodyPr>
          <a:lstStyle/>
          <a:p>
            <a:pPr>
              <a:spcBef>
                <a:spcPts val="0"/>
              </a:spcBef>
              <a:spcAft>
                <a:spcPts val="1000"/>
              </a:spcAft>
            </a:pPr>
            <a:r>
              <a:rPr sz="1900" b="1">
                <a:solidFill>
                  <a:srgbClr val="1F6FEB"/>
                </a:solidFill>
                <a:latin typeface="Arial"/>
              </a:rPr>
              <a:t>•  </a:t>
            </a:r>
            <a:r>
              <a:rPr sz="1900">
                <a:solidFill>
                  <a:srgbClr val="161B26"/>
                </a:solidFill>
                <a:latin typeface="Arial"/>
              </a:rPr>
              <a:t>Secrets work like ConfigMaps but values are base64-encoded and access is gated by RBAC.</a:t>
            </a:r>
          </a:p>
          <a:p>
            <a:pPr>
              <a:spcBef>
                <a:spcPts val="0"/>
              </a:spcBef>
              <a:spcAft>
                <a:spcPts val="1000"/>
              </a:spcAft>
            </a:pPr>
            <a:r>
              <a:rPr sz="1900" b="1">
                <a:solidFill>
                  <a:srgbClr val="1F6FEB"/>
                </a:solidFill>
                <a:latin typeface="Arial"/>
              </a:rPr>
              <a:t>•  </a:t>
            </a:r>
            <a:r>
              <a:rPr sz="1900">
                <a:solidFill>
                  <a:srgbClr val="161B26"/>
                </a:solidFill>
                <a:latin typeface="Arial"/>
              </a:rPr>
              <a:t>Types: generic (Opaque), kubernetes.io/tls and kubernetes.io/dockerconfigjson.</a:t>
            </a:r>
          </a:p>
          <a:p>
            <a:pPr>
              <a:spcBef>
                <a:spcPts val="0"/>
              </a:spcBef>
              <a:spcAft>
                <a:spcPts val="1000"/>
              </a:spcAft>
            </a:pPr>
            <a:r>
              <a:rPr sz="1900" b="1">
                <a:solidFill>
                  <a:srgbClr val="1F6FEB"/>
                </a:solidFill>
                <a:latin typeface="Arial"/>
              </a:rPr>
              <a:t>•  </a:t>
            </a:r>
            <a:r>
              <a:rPr sz="1900">
                <a:solidFill>
                  <a:srgbClr val="161B26"/>
                </a:solidFill>
                <a:latin typeface="Arial"/>
              </a:rPr>
              <a:t>Inject with envFrom: secretRef (all keys) or secretKeyRef (one key); mount with defaultMode: 0400.</a:t>
            </a:r>
          </a:p>
          <a:p>
            <a:pPr>
              <a:spcBef>
                <a:spcPts val="0"/>
              </a:spcBef>
              <a:spcAft>
                <a:spcPts val="1000"/>
              </a:spcAft>
            </a:pPr>
            <a:r>
              <a:rPr sz="1900" b="1">
                <a:solidFill>
                  <a:srgbClr val="1F6FEB"/>
                </a:solidFill>
                <a:latin typeface="Arial"/>
              </a:rPr>
              <a:t>•  </a:t>
            </a:r>
            <a:r>
              <a:rPr sz="1900">
                <a:solidFill>
                  <a:srgbClr val="161B26"/>
                </a:solidFill>
                <a:latin typeface="Arial"/>
              </a:rPr>
              <a:t>Base64 is encoding, not encryption — enable encryption at rest and restrict access with RBAC.</a:t>
            </a:r>
          </a:p>
        </p:txBody>
      </p:sp>
      <p:sp>
        <p:nvSpPr>
          <p:cNvPr id="8" name="TextBox 7"/>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9" name="TextBox 8"/>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116</a:t>
            </a:r>
          </a:p>
        </p:txBody>
      </p:sp>
    </p:spTree>
  </p:cSld>
  <p:clrMapOvr>
    <a:masterClrMapping/>
  </p:clrMapOvr>
</p:sld>
</file>

<file path=ppt/slides/slide1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CONFIGURATION</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Consuming Configuration Data — ConfigMap &amp; Secret</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day2_s024_i1.jpg"/>
          <p:cNvPicPr>
            <a:picLocks noChangeAspect="1"/>
          </p:cNvPicPr>
          <p:nvPr/>
        </p:nvPicPr>
        <p:blipFill>
          <a:blip r:embed="rId2"/>
          <a:stretch>
            <a:fillRect/>
          </a:stretch>
        </p:blipFill>
        <p:spPr>
          <a:xfrm>
            <a:off x="2750785" y="1627632"/>
            <a:ext cx="6705669" cy="4544568"/>
          </a:xfrm>
          <a:prstGeom prst="rect">
            <a:avLst/>
          </a:prstGeom>
        </p:spPr>
      </p:pic>
      <p:sp>
        <p:nvSpPr>
          <p:cNvPr id="8" name="TextBox 7"/>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9" name="TextBox 8"/>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117</a:t>
            </a:r>
          </a:p>
        </p:txBody>
      </p:sp>
    </p:spTree>
  </p:cSld>
  <p:clrMapOvr>
    <a:masterClrMapping/>
  </p:clrMapOvr>
</p:sld>
</file>

<file path=ppt/slides/slide1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DAY 2 · CONFIGMAPS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ConfigMaps: 3 Creation Methods, envFrom, Volume Mount, Live Update Semantics</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64208"/>
            <a:ext cx="169164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09928"/>
            <a:ext cx="1691640" cy="365760"/>
          </a:xfrm>
          <a:prstGeom prst="rect">
            <a:avLst/>
          </a:prstGeom>
          <a:noFill/>
        </p:spPr>
        <p:txBody>
          <a:bodyPr wrap="square" anchor="t" lIns="0" rIns="0" tIns="0" bIns="0">
            <a:spAutoFit/>
          </a:bodyPr>
          <a:lstStyle/>
          <a:p>
            <a:pPr algn="ctr">
              <a:spcBef>
                <a:spcPts val="0"/>
              </a:spcBef>
              <a:spcAft>
                <a:spcPts val="400"/>
              </a:spcAft>
            </a:pPr>
            <a:r>
              <a:rPr sz="1600" b="1">
                <a:solidFill>
                  <a:srgbClr val="FFFFFF"/>
                </a:solidFill>
                <a:latin typeface="Arial"/>
              </a:rPr>
              <a:t>LAB 12</a:t>
            </a:r>
          </a:p>
        </p:txBody>
      </p:sp>
      <p:sp>
        <p:nvSpPr>
          <p:cNvPr id="9" name="TextBox 8"/>
          <p:cNvSpPr txBox="1"/>
          <p:nvPr/>
        </p:nvSpPr>
        <p:spPr>
          <a:xfrm>
            <a:off x="2697480" y="1691640"/>
            <a:ext cx="8778240" cy="411480"/>
          </a:xfrm>
          <a:prstGeom prst="rect">
            <a:avLst/>
          </a:prstGeom>
          <a:noFill/>
        </p:spPr>
        <p:txBody>
          <a:bodyPr wrap="square" anchor="ctr" lIns="0" rIns="0" tIns="0" bIns="0">
            <a:spAutoFit/>
          </a:bodyPr>
          <a:lstStyle/>
          <a:p>
            <a:pPr algn="l">
              <a:spcBef>
                <a:spcPts val="0"/>
              </a:spcBef>
              <a:spcAft>
                <a:spcPts val="400"/>
              </a:spcAft>
            </a:pPr>
            <a:r>
              <a:rPr sz="1400" b="1">
                <a:solidFill>
                  <a:srgbClr val="5B6372"/>
                </a:solidFill>
                <a:latin typeface="Arial"/>
              </a:rPr>
              <a:t>ConfigMaps</a:t>
            </a:r>
          </a:p>
        </p:txBody>
      </p:sp>
      <p:sp>
        <p:nvSpPr>
          <p:cNvPr id="10" name="TextBox 9"/>
          <p:cNvSpPr txBox="1"/>
          <p:nvPr/>
        </p:nvSpPr>
        <p:spPr>
          <a:xfrm>
            <a:off x="777240" y="2286000"/>
            <a:ext cx="10698480" cy="1554480"/>
          </a:xfrm>
          <a:prstGeom prst="rect">
            <a:avLst/>
          </a:prstGeom>
          <a:noFill/>
        </p:spPr>
        <p:txBody>
          <a:bodyPr wrap="square" anchor="t" lIns="0" rIns="0" tIns="0" bIns="0">
            <a:spAutoFit/>
          </a:bodyPr>
          <a:lstStyle/>
          <a:p>
            <a:pPr algn="l">
              <a:spcBef>
                <a:spcPts val="0"/>
              </a:spcBef>
              <a:spcAft>
                <a:spcPts val="400"/>
              </a:spcAft>
            </a:pPr>
            <a:r>
              <a:rPr sz="1900" b="0">
                <a:solidFill>
                  <a:srgbClr val="161B26"/>
                </a:solidFill>
                <a:latin typeface="Arial"/>
              </a:rPr>
              <a:t>Create ConfigMaps using three methods (literal, file, YAML manifest), inject via envFrom and env.valueFrom, mount as volumes with custom filenames and permissions, and demonstrate the live-update behavior difference. Understanding live vs static updates is a tested CKA concept.</a:t>
            </a:r>
          </a:p>
        </p:txBody>
      </p:sp>
      <p:sp>
        <p:nvSpPr>
          <p:cNvPr id="11" name="Rounded Rectangle 10"/>
          <p:cNvSpPr/>
          <p:nvPr/>
        </p:nvSpPr>
        <p:spPr>
          <a:xfrm>
            <a:off x="777240" y="4069080"/>
            <a:ext cx="10698480" cy="1783080"/>
          </a:xfrm>
          <a:prstGeom prst="roundRect">
            <a:avLst>
              <a:gd name="adj" fmla="val 5000"/>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05840" y="4251960"/>
            <a:ext cx="10058400" cy="365760"/>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You'll build</a:t>
            </a:r>
          </a:p>
        </p:txBody>
      </p:sp>
      <p:sp>
        <p:nvSpPr>
          <p:cNvPr id="13" name="TextBox 12"/>
          <p:cNvSpPr txBox="1"/>
          <p:nvPr/>
        </p:nvSpPr>
        <p:spPr>
          <a:xfrm>
            <a:off x="1005840" y="4617720"/>
            <a:ext cx="10241280" cy="640080"/>
          </a:xfrm>
          <a:prstGeom prst="rect">
            <a:avLst/>
          </a:prstGeom>
          <a:noFill/>
        </p:spPr>
        <p:txBody>
          <a:bodyPr wrap="square" anchor="t" lIns="0" rIns="0" tIns="0" bIns="0">
            <a:spAutoFit/>
          </a:bodyPr>
          <a:lstStyle/>
          <a:p>
            <a:pPr algn="l">
              <a:spcBef>
                <a:spcPts val="0"/>
              </a:spcBef>
              <a:spcAft>
                <a:spcPts val="400"/>
              </a:spcAft>
            </a:pPr>
            <a:r>
              <a:rPr sz="1700" b="1">
                <a:solidFill>
                  <a:srgbClr val="161B26"/>
                </a:solidFill>
                <a:latin typeface="Arial"/>
              </a:rPr>
              <a:t>Create app-config from literals, file-config from files, manifest-config from YAML. Test envFrom with prefix, selective keys, volume mount, subPath, and live update.</a:t>
            </a:r>
          </a:p>
        </p:txBody>
      </p:sp>
      <p:sp>
        <p:nvSpPr>
          <p:cNvPr id="14" name="TextBox 13"/>
          <p:cNvSpPr txBox="1"/>
          <p:nvPr/>
        </p:nvSpPr>
        <p:spPr>
          <a:xfrm>
            <a:off x="1005840" y="5349240"/>
            <a:ext cx="10058400" cy="457200"/>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Key commands:  </a:t>
            </a:r>
            <a:r>
              <a:rPr sz="1300" b="0">
                <a:solidFill>
                  <a:srgbClr val="5B6372"/>
                </a:solidFill>
                <a:latin typeface="Arial"/>
              </a:rPr>
              <a:t>kubectl create · envFrom: · volumeMounts: · kubectl patch · » CRITICAL:</a:t>
            </a:r>
          </a:p>
        </p:txBody>
      </p:sp>
      <p:sp>
        <p:nvSpPr>
          <p:cNvPr id="15" name="TextBox 14"/>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6" name="TextBox 15"/>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7" name="TextBox 16"/>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118</a:t>
            </a:r>
          </a:p>
        </p:txBody>
      </p:sp>
    </p:spTree>
  </p:cSld>
  <p:clrMapOvr>
    <a:masterClrMapping/>
  </p:clrMapOvr>
</p:sld>
</file>

<file path=ppt/slides/slide1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12  ·  COMMANDS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ConfigMaps: 3 Creation Methods, envFrom, Volume Mount, Live Update Semantics</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91640"/>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Step 1 -- Create ConfigMap three ways</a:t>
            </a:r>
          </a:p>
        </p:txBody>
      </p:sp>
      <p:sp>
        <p:nvSpPr>
          <p:cNvPr id="8" name="Rounded Rectangle 7"/>
          <p:cNvSpPr/>
          <p:nvPr/>
        </p:nvSpPr>
        <p:spPr>
          <a:xfrm>
            <a:off x="777240" y="2075688"/>
            <a:ext cx="10652760" cy="1083563"/>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075688"/>
            <a:ext cx="82296" cy="1083563"/>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6" y="2139696"/>
            <a:ext cx="10323576" cy="992123"/>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kubectl create configmap app-config \</a:t>
            </a:r>
          </a:p>
          <a:p>
            <a:pPr>
              <a:spcBef>
                <a:spcPts val="0"/>
              </a:spcBef>
              <a:spcAft>
                <a:spcPts val="0"/>
              </a:spcAft>
            </a:pPr>
            <a:r>
              <a:rPr sz="1050">
                <a:solidFill>
                  <a:srgbClr val="161B26"/>
                </a:solidFill>
                <a:latin typeface="Consolas"/>
              </a:rPr>
              <a:t>  --from-literal=APP_ENV=production \</a:t>
            </a:r>
          </a:p>
          <a:p>
            <a:pPr>
              <a:spcBef>
                <a:spcPts val="0"/>
              </a:spcBef>
              <a:spcAft>
                <a:spcPts val="0"/>
              </a:spcAft>
            </a:pPr>
            <a:r>
              <a:rPr sz="1050">
                <a:solidFill>
                  <a:srgbClr val="161B26"/>
                </a:solidFill>
                <a:latin typeface="Consolas"/>
              </a:rPr>
              <a:t>  --from-literal=LOG_LEVEL=info</a:t>
            </a:r>
          </a:p>
          <a:p>
            <a:pPr>
              <a:spcBef>
                <a:spcPts val="0"/>
              </a:spcBef>
              <a:spcAft>
                <a:spcPts val="0"/>
              </a:spcAft>
            </a:pPr>
            <a:r>
              <a:rPr sz="1050">
                <a:solidFill>
                  <a:srgbClr val="161B26"/>
                </a:solidFill>
                <a:latin typeface="Consolas"/>
              </a:rPr>
              <a:t>kubectl create configmap file-config --from-file=/tmp/nginx.conf</a:t>
            </a:r>
          </a:p>
          <a:p>
            <a:pPr>
              <a:spcBef>
                <a:spcPts val="0"/>
              </a:spcBef>
              <a:spcAft>
                <a:spcPts val="0"/>
              </a:spcAft>
            </a:pPr>
            <a:r>
              <a:rPr sz="1050">
                <a:solidFill>
                  <a:srgbClr val="161B26"/>
                </a:solidFill>
                <a:latin typeface="Consolas"/>
              </a:rPr>
              <a:t>kubectl get configmap app-config -o yaml</a:t>
            </a:r>
          </a:p>
        </p:txBody>
      </p:sp>
      <p:sp>
        <p:nvSpPr>
          <p:cNvPr id="11" name="TextBox 10"/>
          <p:cNvSpPr txBox="1"/>
          <p:nvPr/>
        </p:nvSpPr>
        <p:spPr>
          <a:xfrm>
            <a:off x="777240" y="3342131"/>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Step 2 -- Inject with envFrom</a:t>
            </a:r>
          </a:p>
        </p:txBody>
      </p:sp>
      <p:sp>
        <p:nvSpPr>
          <p:cNvPr id="12" name="Rounded Rectangle 11"/>
          <p:cNvSpPr/>
          <p:nvPr/>
        </p:nvSpPr>
        <p:spPr>
          <a:xfrm>
            <a:off x="777240" y="3726179"/>
            <a:ext cx="10652760" cy="1271016"/>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3726179"/>
            <a:ext cx="82296" cy="127101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3790187"/>
            <a:ext cx="10323576" cy="1179576"/>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 Pod spec:</a:t>
            </a:r>
          </a:p>
          <a:p>
            <a:pPr>
              <a:spcBef>
                <a:spcPts val="0"/>
              </a:spcBef>
              <a:spcAft>
                <a:spcPts val="0"/>
              </a:spcAft>
            </a:pPr>
            <a:r>
              <a:rPr sz="1050">
                <a:solidFill>
                  <a:srgbClr val="161B26"/>
                </a:solidFill>
                <a:latin typeface="Consolas"/>
              </a:rPr>
              <a:t>envFrom:</a:t>
            </a:r>
          </a:p>
          <a:p>
            <a:pPr>
              <a:spcBef>
                <a:spcPts val="0"/>
              </a:spcBef>
              <a:spcAft>
                <a:spcPts val="0"/>
              </a:spcAft>
            </a:pPr>
            <a:r>
              <a:rPr sz="1050">
                <a:solidFill>
                  <a:srgbClr val="161B26"/>
                </a:solidFill>
                <a:latin typeface="Consolas"/>
              </a:rPr>
              <a:t>- configMapRef:</a:t>
            </a:r>
          </a:p>
          <a:p>
            <a:pPr>
              <a:spcBef>
                <a:spcPts val="0"/>
              </a:spcBef>
              <a:spcAft>
                <a:spcPts val="0"/>
              </a:spcAft>
            </a:pPr>
            <a:r>
              <a:rPr sz="1050">
                <a:solidFill>
                  <a:srgbClr val="161B26"/>
                </a:solidFill>
                <a:latin typeface="Consolas"/>
              </a:rPr>
              <a:t>    name: app-config</a:t>
            </a:r>
          </a:p>
          <a:p>
            <a:pPr>
              <a:spcBef>
                <a:spcPts val="0"/>
              </a:spcBef>
              <a:spcAft>
                <a:spcPts val="0"/>
              </a:spcAft>
            </a:pPr>
            <a:r>
              <a:rPr sz="1050">
                <a:solidFill>
                  <a:srgbClr val="161B26"/>
                </a:solidFill>
                <a:latin typeface="Consolas"/>
              </a:rPr>
              <a:t>  prefix: 'CONFIG_'</a:t>
            </a:r>
          </a:p>
          <a:p>
            <a:pPr>
              <a:spcBef>
                <a:spcPts val="0"/>
              </a:spcBef>
              <a:spcAft>
                <a:spcPts val="0"/>
              </a:spcAft>
            </a:pPr>
            <a:r>
              <a:rPr sz="1050">
                <a:solidFill>
                  <a:srgbClr val="161B26"/>
                </a:solidFill>
                <a:latin typeface="Consolas"/>
              </a:rPr>
              <a:t>kubectl exec envfrom-pod -- env | grep CONFIG_</a:t>
            </a:r>
          </a:p>
        </p:txBody>
      </p:sp>
      <p:sp>
        <p:nvSpPr>
          <p:cNvPr id="15" name="TextBox 14"/>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6" name="TextBox 15"/>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7" name="TextBox 16"/>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119</a:t>
            </a:r>
          </a:p>
        </p:txBody>
      </p:sp>
    </p:spTree>
  </p:cSld>
  <p:clrMapOvr>
    <a:masterClrMapping/>
  </p:clrMapOvr>
</p:sld>
</file>

<file path=ppt/slides/slide1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12  ·  COMMANDS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ConfigMaps: 3 Creation Methods, envFrom, Volume Mount, Live Update Semantics (cont.)</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91640"/>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Step 3 -- Mount as volume</a:t>
            </a:r>
          </a:p>
        </p:txBody>
      </p:sp>
      <p:sp>
        <p:nvSpPr>
          <p:cNvPr id="8" name="Rounded Rectangle 7"/>
          <p:cNvSpPr/>
          <p:nvPr/>
        </p:nvSpPr>
        <p:spPr>
          <a:xfrm>
            <a:off x="777240" y="2075688"/>
            <a:ext cx="10652760" cy="2020824"/>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075688"/>
            <a:ext cx="82296" cy="20208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6" y="2139696"/>
            <a:ext cx="10323576" cy="1929384"/>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 Pod spec:</a:t>
            </a:r>
          </a:p>
          <a:p>
            <a:pPr>
              <a:spcBef>
                <a:spcPts val="0"/>
              </a:spcBef>
              <a:spcAft>
                <a:spcPts val="0"/>
              </a:spcAft>
            </a:pPr>
            <a:r>
              <a:rPr sz="1050">
                <a:solidFill>
                  <a:srgbClr val="161B26"/>
                </a:solidFill>
                <a:latin typeface="Consolas"/>
              </a:rPr>
              <a:t>volumeMounts:</a:t>
            </a:r>
          </a:p>
          <a:p>
            <a:pPr>
              <a:spcBef>
                <a:spcPts val="0"/>
              </a:spcBef>
              <a:spcAft>
                <a:spcPts val="0"/>
              </a:spcAft>
            </a:pPr>
            <a:r>
              <a:rPr sz="1050">
                <a:solidFill>
                  <a:srgbClr val="161B26"/>
                </a:solidFill>
                <a:latin typeface="Consolas"/>
              </a:rPr>
              <a:t>- name: config-vol</a:t>
            </a:r>
          </a:p>
          <a:p>
            <a:pPr>
              <a:spcBef>
                <a:spcPts val="0"/>
              </a:spcBef>
              <a:spcAft>
                <a:spcPts val="0"/>
              </a:spcAft>
            </a:pPr>
            <a:r>
              <a:rPr sz="1050">
                <a:solidFill>
                  <a:srgbClr val="161B26"/>
                </a:solidFill>
                <a:latin typeface="Consolas"/>
              </a:rPr>
              <a:t>  mountPath: /config</a:t>
            </a:r>
          </a:p>
          <a:p>
            <a:pPr>
              <a:spcBef>
                <a:spcPts val="0"/>
              </a:spcBef>
              <a:spcAft>
                <a:spcPts val="0"/>
              </a:spcAft>
            </a:pPr>
            <a:r>
              <a:rPr sz="1050">
                <a:solidFill>
                  <a:srgbClr val="161B26"/>
                </a:solidFill>
                <a:latin typeface="Consolas"/>
              </a:rPr>
              <a:t>volumes:</a:t>
            </a:r>
          </a:p>
          <a:p>
            <a:pPr>
              <a:spcBef>
                <a:spcPts val="0"/>
              </a:spcBef>
              <a:spcAft>
                <a:spcPts val="0"/>
              </a:spcAft>
            </a:pPr>
            <a:r>
              <a:rPr sz="1050">
                <a:solidFill>
                  <a:srgbClr val="161B26"/>
                </a:solidFill>
                <a:latin typeface="Consolas"/>
              </a:rPr>
              <a:t>- name: config-vol</a:t>
            </a:r>
          </a:p>
          <a:p>
            <a:pPr>
              <a:spcBef>
                <a:spcPts val="0"/>
              </a:spcBef>
              <a:spcAft>
                <a:spcPts val="0"/>
              </a:spcAft>
            </a:pPr>
            <a:r>
              <a:rPr sz="1050">
                <a:solidFill>
                  <a:srgbClr val="161B26"/>
                </a:solidFill>
                <a:latin typeface="Consolas"/>
              </a:rPr>
              <a:t>  configMap:</a:t>
            </a:r>
          </a:p>
          <a:p>
            <a:pPr>
              <a:spcBef>
                <a:spcPts val="0"/>
              </a:spcBef>
              <a:spcAft>
                <a:spcPts val="0"/>
              </a:spcAft>
            </a:pPr>
            <a:r>
              <a:rPr sz="1050">
                <a:solidFill>
                  <a:srgbClr val="161B26"/>
                </a:solidFill>
                <a:latin typeface="Consolas"/>
              </a:rPr>
              <a:t>    name: app-config</a:t>
            </a:r>
          </a:p>
          <a:p>
            <a:pPr>
              <a:spcBef>
                <a:spcPts val="0"/>
              </a:spcBef>
              <a:spcAft>
                <a:spcPts val="0"/>
              </a:spcAft>
            </a:pPr>
            <a:r>
              <a:rPr sz="1050">
                <a:solidFill>
                  <a:srgbClr val="161B26"/>
                </a:solidFill>
                <a:latin typeface="Consolas"/>
              </a:rPr>
              <a:t>kubectl exec volume-mount-pod -- ls /config</a:t>
            </a:r>
          </a:p>
          <a:p>
            <a:pPr>
              <a:spcBef>
                <a:spcPts val="0"/>
              </a:spcBef>
              <a:spcAft>
                <a:spcPts val="0"/>
              </a:spcAft>
            </a:pPr>
            <a:r>
              <a:rPr sz="1050">
                <a:solidFill>
                  <a:srgbClr val="161B26"/>
                </a:solidFill>
                <a:latin typeface="Consolas"/>
              </a:rPr>
              <a:t>kubectl exec volume-mount-pod -- cat /config/LOG_LEVEL</a:t>
            </a:r>
          </a:p>
        </p:txBody>
      </p:sp>
      <p:sp>
        <p:nvSpPr>
          <p:cNvPr id="11" name="TextBox 10"/>
          <p:cNvSpPr txBox="1"/>
          <p:nvPr/>
        </p:nvSpPr>
        <p:spPr>
          <a:xfrm>
            <a:off x="777240" y="4279392"/>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Step 4 -- Live update semantics</a:t>
            </a:r>
          </a:p>
        </p:txBody>
      </p:sp>
      <p:sp>
        <p:nvSpPr>
          <p:cNvPr id="12" name="Rounded Rectangle 11"/>
          <p:cNvSpPr/>
          <p:nvPr/>
        </p:nvSpPr>
        <p:spPr>
          <a:xfrm>
            <a:off x="777240" y="4663440"/>
            <a:ext cx="10652760" cy="1271016"/>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663440"/>
            <a:ext cx="82296" cy="127101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727448"/>
            <a:ext cx="10323576" cy="1179576"/>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kubectl patch configmap app-config --type=merge -p '{"data":{"LOG_LEVEL":"debug"}}'</a:t>
            </a:r>
          </a:p>
          <a:p>
            <a:pPr>
              <a:spcBef>
                <a:spcPts val="0"/>
              </a:spcBef>
              <a:spcAft>
                <a:spcPts val="0"/>
              </a:spcAft>
            </a:pPr>
            <a:r>
              <a:rPr sz="1050">
                <a:solidFill>
                  <a:srgbClr val="161B26"/>
                </a:solidFill>
                <a:latin typeface="Consolas"/>
              </a:rPr>
              <a:t>sleep 90</a:t>
            </a:r>
          </a:p>
          <a:p>
            <a:pPr>
              <a:spcBef>
                <a:spcPts val="0"/>
              </a:spcBef>
              <a:spcAft>
                <a:spcPts val="0"/>
              </a:spcAft>
            </a:pPr>
            <a:r>
              <a:rPr sz="1050">
                <a:solidFill>
                  <a:srgbClr val="161B26"/>
                </a:solidFill>
                <a:latin typeface="Consolas"/>
              </a:rPr>
              <a:t>kubectl exec volume-mount-pod -- cat /config/LOG_LEVEL</a:t>
            </a:r>
          </a:p>
          <a:p>
            <a:pPr>
              <a:spcBef>
                <a:spcPts val="0"/>
              </a:spcBef>
              <a:spcAft>
                <a:spcPts val="0"/>
              </a:spcAft>
            </a:pPr>
            <a:r>
              <a:rPr sz="1050">
                <a:solidFill>
                  <a:srgbClr val="161B26"/>
                </a:solidFill>
                <a:latin typeface="Consolas"/>
              </a:rPr>
              <a:t># debug -- updated live!</a:t>
            </a:r>
          </a:p>
          <a:p>
            <a:pPr>
              <a:spcBef>
                <a:spcPts val="0"/>
              </a:spcBef>
              <a:spcAft>
                <a:spcPts val="0"/>
              </a:spcAft>
            </a:pPr>
            <a:r>
              <a:rPr sz="1050">
                <a:solidFill>
                  <a:srgbClr val="161B26"/>
                </a:solidFill>
                <a:latin typeface="Consolas"/>
              </a:rPr>
              <a:t>kubectl exec envfrom-pod -- env | grep LOG_LEVEL</a:t>
            </a:r>
          </a:p>
          <a:p>
            <a:pPr>
              <a:spcBef>
                <a:spcPts val="0"/>
              </a:spcBef>
              <a:spcAft>
                <a:spcPts val="0"/>
              </a:spcAft>
            </a:pPr>
            <a:r>
              <a:rPr sz="1050">
                <a:solidFill>
                  <a:srgbClr val="161B26"/>
                </a:solidFill>
                <a:latin typeface="Consolas"/>
              </a:rPr>
              <a:t># info -- NOT updated</a:t>
            </a:r>
          </a:p>
        </p:txBody>
      </p:sp>
      <p:sp>
        <p:nvSpPr>
          <p:cNvPr id="15" name="TextBox 14"/>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6" name="TextBox 15"/>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7" name="TextBox 16"/>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120</a:t>
            </a:r>
          </a:p>
        </p:txBody>
      </p:sp>
    </p:spTree>
  </p:cSld>
  <p:clrMapOvr>
    <a:masterClrMapping/>
  </p:clrMapOvr>
</p:sld>
</file>

<file path=ppt/slides/slide1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12  ·  COMMANDS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ConfigMaps: 3 Creation Methods, envFrom, Volume Mount, Live Update Semantics (cont.)</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91640"/>
            <a:ext cx="10652760" cy="310896"/>
          </a:xfrm>
          <a:prstGeom prst="rect">
            <a:avLst/>
          </a:prstGeom>
          <a:noFill/>
        </p:spPr>
        <p:txBody>
          <a:bodyPr wrap="square" anchor="t" lIns="0" rIns="0" tIns="0" bIns="0">
            <a:spAutoFit/>
          </a:bodyPr>
          <a:lstStyle/>
          <a:p>
            <a:pPr algn="l">
              <a:spcBef>
                <a:spcPts val="0"/>
              </a:spcBef>
              <a:spcAft>
                <a:spcPts val="400"/>
              </a:spcAft>
            </a:pPr>
            <a:r>
              <a:rPr sz="1300" b="1">
                <a:solidFill>
                  <a:srgbClr val="F59E0B"/>
                </a:solidFill>
                <a:latin typeface="Arial"/>
              </a:rPr>
              <a:t>Note   </a:t>
            </a:r>
            <a:r>
              <a:rPr sz="1300" b="0">
                <a:solidFill>
                  <a:srgbClr val="5B6372"/>
                </a:solidFill>
                <a:latin typeface="Arial"/>
              </a:rPr>
              <a:t>CRITICAL: Volume-mounted ConfigMaps update automatically (1-2 min delay). Env vars and subPath mounts require pod restart to pick up changes.</a:t>
            </a:r>
          </a:p>
        </p:txBody>
      </p:sp>
      <p:sp>
        <p:nvSpPr>
          <p:cNvPr id="8" name="TextBox 7"/>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9" name="TextBox 8"/>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121</a:t>
            </a:r>
          </a:p>
        </p:txBody>
      </p:sp>
    </p:spTree>
  </p:cSld>
  <p:clrMapOvr>
    <a:masterClrMapping/>
  </p:clrMapOvr>
</p:sld>
</file>

<file path=ppt/slides/slide1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12  ·  TEST IT</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ConfigMaps: 3 Creation Methods, envFrom, Volume Mount, Live Update Semantics</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03120"/>
            <a:ext cx="10698480" cy="2560320"/>
          </a:xfrm>
          <a:prstGeom prst="roundRect">
            <a:avLst>
              <a:gd name="adj" fmla="val 5000"/>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lIns="0" rIns="0" tIns="0" bIns="0">
            <a:spAutoFit/>
          </a:bodyPr>
          <a:lstStyle/>
          <a:p>
            <a:pPr algn="l">
              <a:spcBef>
                <a:spcPts val="0"/>
              </a:spcBef>
              <a:spcAft>
                <a:spcPts val="400"/>
              </a:spcAft>
            </a:pPr>
            <a:r>
              <a:rPr sz="2200" b="1">
                <a:solidFill>
                  <a:srgbClr val="127A3E"/>
                </a:solidFill>
                <a:latin typeface="Arial"/>
              </a:rPr>
              <a:t>✅  Test it</a:t>
            </a:r>
          </a:p>
        </p:txBody>
      </p:sp>
      <p:sp>
        <p:nvSpPr>
          <p:cNvPr id="9" name="TextBox 8"/>
          <p:cNvSpPr txBox="1"/>
          <p:nvPr/>
        </p:nvSpPr>
        <p:spPr>
          <a:xfrm>
            <a:off x="1097280" y="3017520"/>
            <a:ext cx="10149840" cy="1463040"/>
          </a:xfrm>
          <a:prstGeom prst="rect">
            <a:avLst/>
          </a:prstGeom>
          <a:noFill/>
        </p:spPr>
        <p:txBody>
          <a:bodyPr wrap="square" anchor="t" lIns="0" rIns="0" tIns="0" bIns="0">
            <a:spAutoFit/>
          </a:bodyPr>
          <a:lstStyle/>
          <a:p>
            <a:pPr algn="l">
              <a:spcBef>
                <a:spcPts val="0"/>
              </a:spcBef>
              <a:spcAft>
                <a:spcPts val="400"/>
              </a:spcAft>
            </a:pPr>
            <a:r>
              <a:rPr sz="1800" b="0">
                <a:solidFill>
                  <a:srgbClr val="161B26"/>
                </a:solidFill>
                <a:latin typeface="Arial"/>
              </a:rPr>
              <a:t>volume-mount-pod shows updated LOG_LEVEL=debug after ConfigMap patch. envfrom-pod still shows LOG_LEVEL=info (not live-updated).</a:t>
            </a:r>
          </a:p>
        </p:txBody>
      </p:sp>
      <p:sp>
        <p:nvSpPr>
          <p:cNvPr id="10" name="TextBox 9"/>
          <p:cNvSpPr txBox="1"/>
          <p:nvPr/>
        </p:nvSpPr>
        <p:spPr>
          <a:xfrm>
            <a:off x="777240" y="4983480"/>
            <a:ext cx="10698480" cy="365760"/>
          </a:xfrm>
          <a:prstGeom prst="rect">
            <a:avLst/>
          </a:prstGeom>
          <a:noFill/>
        </p:spPr>
        <p:txBody>
          <a:bodyPr wrap="square" anchor="t" lIns="0" rIns="0" tIns="0" bIns="0">
            <a:spAutoFit/>
          </a:bodyPr>
          <a:lstStyle/>
          <a:p>
            <a:pPr algn="l">
              <a:spcBef>
                <a:spcPts val="0"/>
              </a:spcBef>
              <a:spcAft>
                <a:spcPts val="400"/>
              </a:spcAft>
            </a:pPr>
            <a:r>
              <a:rPr sz="1300" b="1">
                <a:solidFill>
                  <a:srgbClr val="10B981"/>
                </a:solidFill>
                <a:latin typeface="Arial"/>
              </a:rPr>
              <a:t>Killercoda:  </a:t>
            </a:r>
            <a:r>
              <a:rPr sz="1300" b="0">
                <a:solidFill>
                  <a:srgbClr val="5B6372"/>
                </a:solidFill>
                <a:latin typeface="Arial"/>
              </a:rPr>
              <a:t>https://killercoda.com/playgrounds/scenario/kubernetes</a:t>
            </a:r>
          </a:p>
        </p:txBody>
      </p:sp>
      <p:sp>
        <p:nvSpPr>
          <p:cNvPr id="11" name="TextBox 10"/>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122</a:t>
            </a:r>
          </a:p>
        </p:txBody>
      </p:sp>
    </p:spTree>
  </p:cSld>
  <p:clrMapOvr>
    <a:masterClrMapping/>
  </p:clrMapOvr>
</p:sld>
</file>

<file path=ppt/slides/slide1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DAY 2 · SECRETS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Secrets: generic/tls/docker-registry, Env Inject, tmpfs Mount defaultMode 0400</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64208"/>
            <a:ext cx="169164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09928"/>
            <a:ext cx="1691640" cy="365760"/>
          </a:xfrm>
          <a:prstGeom prst="rect">
            <a:avLst/>
          </a:prstGeom>
          <a:noFill/>
        </p:spPr>
        <p:txBody>
          <a:bodyPr wrap="square" anchor="t" lIns="0" rIns="0" tIns="0" bIns="0">
            <a:spAutoFit/>
          </a:bodyPr>
          <a:lstStyle/>
          <a:p>
            <a:pPr algn="ctr">
              <a:spcBef>
                <a:spcPts val="0"/>
              </a:spcBef>
              <a:spcAft>
                <a:spcPts val="400"/>
              </a:spcAft>
            </a:pPr>
            <a:r>
              <a:rPr sz="1600" b="1">
                <a:solidFill>
                  <a:srgbClr val="FFFFFF"/>
                </a:solidFill>
                <a:latin typeface="Arial"/>
              </a:rPr>
              <a:t>LAB 13</a:t>
            </a:r>
          </a:p>
        </p:txBody>
      </p:sp>
      <p:sp>
        <p:nvSpPr>
          <p:cNvPr id="9" name="TextBox 8"/>
          <p:cNvSpPr txBox="1"/>
          <p:nvPr/>
        </p:nvSpPr>
        <p:spPr>
          <a:xfrm>
            <a:off x="2697480" y="1691640"/>
            <a:ext cx="8778240" cy="411480"/>
          </a:xfrm>
          <a:prstGeom prst="rect">
            <a:avLst/>
          </a:prstGeom>
          <a:noFill/>
        </p:spPr>
        <p:txBody>
          <a:bodyPr wrap="square" anchor="ctr" lIns="0" rIns="0" tIns="0" bIns="0">
            <a:spAutoFit/>
          </a:bodyPr>
          <a:lstStyle/>
          <a:p>
            <a:pPr algn="l">
              <a:spcBef>
                <a:spcPts val="0"/>
              </a:spcBef>
              <a:spcAft>
                <a:spcPts val="400"/>
              </a:spcAft>
            </a:pPr>
            <a:r>
              <a:rPr sz="1400" b="1">
                <a:solidFill>
                  <a:srgbClr val="5B6372"/>
                </a:solidFill>
                <a:latin typeface="Arial"/>
              </a:rPr>
              <a:t>Secrets</a:t>
            </a:r>
          </a:p>
        </p:txBody>
      </p:sp>
      <p:sp>
        <p:nvSpPr>
          <p:cNvPr id="10" name="TextBox 9"/>
          <p:cNvSpPr txBox="1"/>
          <p:nvPr/>
        </p:nvSpPr>
        <p:spPr>
          <a:xfrm>
            <a:off x="777240" y="2286000"/>
            <a:ext cx="10698480" cy="1554480"/>
          </a:xfrm>
          <a:prstGeom prst="rect">
            <a:avLst/>
          </a:prstGeom>
          <a:noFill/>
        </p:spPr>
        <p:txBody>
          <a:bodyPr wrap="square" anchor="t" lIns="0" rIns="0" tIns="0" bIns="0">
            <a:spAutoFit/>
          </a:bodyPr>
          <a:lstStyle/>
          <a:p>
            <a:pPr algn="l">
              <a:spcBef>
                <a:spcPts val="0"/>
              </a:spcBef>
              <a:spcAft>
                <a:spcPts val="400"/>
              </a:spcAft>
            </a:pPr>
            <a:r>
              <a:rPr sz="1900" b="0">
                <a:solidFill>
                  <a:srgbClr val="161B26"/>
                </a:solidFill>
                <a:latin typeface="Arial"/>
              </a:rPr>
              <a:t>Create secrets of three types (generic, TLS, docker-registry), inject via environment variables and volume mounts backed by tmpfs, and apply restrictive permissions with defaultMode 0400. Understand that Secrets are base64-encoded but NOT encrypted by default.</a:t>
            </a:r>
          </a:p>
        </p:txBody>
      </p:sp>
      <p:sp>
        <p:nvSpPr>
          <p:cNvPr id="11" name="Rounded Rectangle 10"/>
          <p:cNvSpPr/>
          <p:nvPr/>
        </p:nvSpPr>
        <p:spPr>
          <a:xfrm>
            <a:off x="777240" y="4069080"/>
            <a:ext cx="10698480" cy="1783080"/>
          </a:xfrm>
          <a:prstGeom prst="roundRect">
            <a:avLst>
              <a:gd name="adj" fmla="val 5000"/>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05840" y="4251960"/>
            <a:ext cx="10058400" cy="365760"/>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You'll build</a:t>
            </a:r>
          </a:p>
        </p:txBody>
      </p:sp>
      <p:sp>
        <p:nvSpPr>
          <p:cNvPr id="13" name="TextBox 12"/>
          <p:cNvSpPr txBox="1"/>
          <p:nvPr/>
        </p:nvSpPr>
        <p:spPr>
          <a:xfrm>
            <a:off x="1005840" y="4617720"/>
            <a:ext cx="10241280" cy="640080"/>
          </a:xfrm>
          <a:prstGeom prst="rect">
            <a:avLst/>
          </a:prstGeom>
          <a:noFill/>
        </p:spPr>
        <p:txBody>
          <a:bodyPr wrap="square" anchor="t" lIns="0" rIns="0" tIns="0" bIns="0">
            <a:spAutoFit/>
          </a:bodyPr>
          <a:lstStyle/>
          <a:p>
            <a:pPr algn="l">
              <a:spcBef>
                <a:spcPts val="0"/>
              </a:spcBef>
              <a:spcAft>
                <a:spcPts val="400"/>
              </a:spcAft>
            </a:pPr>
            <a:r>
              <a:rPr sz="1700" b="1">
                <a:solidFill>
                  <a:srgbClr val="161B26"/>
                </a:solidFill>
                <a:latin typeface="Arial"/>
              </a:rPr>
              <a:t>Create db-credentials (generic), webapp-tls (TLS with openssl), registry secret. Mount with defaultMode 0400, verify tmpfs, decode with base64 -d.</a:t>
            </a:r>
          </a:p>
        </p:txBody>
      </p:sp>
      <p:sp>
        <p:nvSpPr>
          <p:cNvPr id="14" name="TextBox 13"/>
          <p:cNvSpPr txBox="1"/>
          <p:nvPr/>
        </p:nvSpPr>
        <p:spPr>
          <a:xfrm>
            <a:off x="1005840" y="5349240"/>
            <a:ext cx="10058400" cy="457200"/>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Key commands:  </a:t>
            </a:r>
            <a:r>
              <a:rPr sz="1300" b="0">
                <a:solidFill>
                  <a:srgbClr val="5B6372"/>
                </a:solidFill>
                <a:latin typeface="Arial"/>
              </a:rPr>
              <a:t>kubectl create · openssl req · volumes: · » Secrets</a:t>
            </a:r>
          </a:p>
        </p:txBody>
      </p:sp>
      <p:sp>
        <p:nvSpPr>
          <p:cNvPr id="15" name="TextBox 14"/>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6" name="TextBox 15"/>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7" name="TextBox 16"/>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123</a:t>
            </a:r>
          </a:p>
        </p:txBody>
      </p:sp>
    </p:spTree>
  </p:cSld>
  <p:clrMapOvr>
    <a:masterClrMapping/>
  </p:clrMapOvr>
</p:sld>
</file>

<file path=ppt/slides/slide1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13  ·  COMMANDS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Secrets: generic/tls/docker-registry, Env Inject, tmpfs Mount defaultMode 0400</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91640"/>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Step 1 -- Create and decode generic secret</a:t>
            </a:r>
          </a:p>
        </p:txBody>
      </p:sp>
      <p:sp>
        <p:nvSpPr>
          <p:cNvPr id="8" name="Rounded Rectangle 7"/>
          <p:cNvSpPr/>
          <p:nvPr/>
        </p:nvSpPr>
        <p:spPr>
          <a:xfrm>
            <a:off x="777240" y="2075688"/>
            <a:ext cx="10652760" cy="1271016"/>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075688"/>
            <a:ext cx="82296" cy="127101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6" y="2139696"/>
            <a:ext cx="10323576" cy="1179576"/>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kubectl create secret generic db-credentials \</a:t>
            </a:r>
          </a:p>
          <a:p>
            <a:pPr>
              <a:spcBef>
                <a:spcPts val="0"/>
              </a:spcBef>
              <a:spcAft>
                <a:spcPts val="0"/>
              </a:spcAft>
            </a:pPr>
            <a:r>
              <a:rPr sz="1050">
                <a:solidFill>
                  <a:srgbClr val="161B26"/>
                </a:solidFill>
                <a:latin typeface="Consolas"/>
              </a:rPr>
              <a:t>  --from-literal=DB_USER=admin \</a:t>
            </a:r>
          </a:p>
          <a:p>
            <a:pPr>
              <a:spcBef>
                <a:spcPts val="0"/>
              </a:spcBef>
              <a:spcAft>
                <a:spcPts val="0"/>
              </a:spcAft>
            </a:pPr>
            <a:r>
              <a:rPr sz="1050">
                <a:solidFill>
                  <a:srgbClr val="161B26"/>
                </a:solidFill>
                <a:latin typeface="Consolas"/>
              </a:rPr>
              <a:t>  --from-literal=DB_PASSWORD=SuperSecret123!</a:t>
            </a:r>
          </a:p>
          <a:p>
            <a:pPr>
              <a:spcBef>
                <a:spcPts val="0"/>
              </a:spcBef>
              <a:spcAft>
                <a:spcPts val="0"/>
              </a:spcAft>
            </a:pPr>
            <a:r>
              <a:rPr sz="1050">
                <a:solidFill>
                  <a:srgbClr val="161B26"/>
                </a:solidFill>
                <a:latin typeface="Consolas"/>
              </a:rPr>
              <a:t>kubectl get secret db-credentials -o yaml</a:t>
            </a:r>
          </a:p>
          <a:p>
            <a:pPr>
              <a:spcBef>
                <a:spcPts val="0"/>
              </a:spcBef>
              <a:spcAft>
                <a:spcPts val="0"/>
              </a:spcAft>
            </a:pPr>
            <a:r>
              <a:rPr sz="1050">
                <a:solidFill>
                  <a:srgbClr val="161B26"/>
                </a:solidFill>
                <a:latin typeface="Consolas"/>
              </a:rPr>
              <a:t>kubectl get secret db-credentials \</a:t>
            </a:r>
          </a:p>
          <a:p>
            <a:pPr>
              <a:spcBef>
                <a:spcPts val="0"/>
              </a:spcBef>
              <a:spcAft>
                <a:spcPts val="0"/>
              </a:spcAft>
            </a:pPr>
            <a:r>
              <a:rPr sz="1050">
                <a:solidFill>
                  <a:srgbClr val="161B26"/>
                </a:solidFill>
                <a:latin typeface="Consolas"/>
              </a:rPr>
              <a:t>  -o jsonpath='{.data.DB_PASSWORD}' | base64 -d</a:t>
            </a:r>
          </a:p>
        </p:txBody>
      </p:sp>
      <p:sp>
        <p:nvSpPr>
          <p:cNvPr id="11" name="TextBox 10"/>
          <p:cNvSpPr txBox="1"/>
          <p:nvPr/>
        </p:nvSpPr>
        <p:spPr>
          <a:xfrm>
            <a:off x="777240" y="3529584"/>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Step 2 -- Create TLS secret</a:t>
            </a:r>
          </a:p>
        </p:txBody>
      </p:sp>
      <p:sp>
        <p:nvSpPr>
          <p:cNvPr id="12" name="Rounded Rectangle 11"/>
          <p:cNvSpPr/>
          <p:nvPr/>
        </p:nvSpPr>
        <p:spPr>
          <a:xfrm>
            <a:off x="777240" y="3913632"/>
            <a:ext cx="10652760" cy="896112"/>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3913632"/>
            <a:ext cx="82296" cy="896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3977640"/>
            <a:ext cx="10323576" cy="804672"/>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openssl req -x509 -nodes -newkey rsa:2048 \</a:t>
            </a:r>
          </a:p>
          <a:p>
            <a:pPr>
              <a:spcBef>
                <a:spcPts val="0"/>
              </a:spcBef>
              <a:spcAft>
                <a:spcPts val="0"/>
              </a:spcAft>
            </a:pPr>
            <a:r>
              <a:rPr sz="1050">
                <a:solidFill>
                  <a:srgbClr val="161B26"/>
                </a:solidFill>
                <a:latin typeface="Consolas"/>
              </a:rPr>
              <a:t>  -keyout /tmp/tls.key -out /tmp/tls.crt -days 365 \</a:t>
            </a:r>
          </a:p>
          <a:p>
            <a:pPr>
              <a:spcBef>
                <a:spcPts val="0"/>
              </a:spcBef>
              <a:spcAft>
                <a:spcPts val="0"/>
              </a:spcAft>
            </a:pPr>
            <a:r>
              <a:rPr sz="1050">
                <a:solidFill>
                  <a:srgbClr val="161B26"/>
                </a:solidFill>
                <a:latin typeface="Consolas"/>
              </a:rPr>
              <a:t>  -subj '/CN=webapp.example.com'</a:t>
            </a:r>
          </a:p>
          <a:p>
            <a:pPr>
              <a:spcBef>
                <a:spcPts val="0"/>
              </a:spcBef>
              <a:spcAft>
                <a:spcPts val="0"/>
              </a:spcAft>
            </a:pPr>
            <a:r>
              <a:rPr sz="1050">
                <a:solidFill>
                  <a:srgbClr val="161B26"/>
                </a:solidFill>
                <a:latin typeface="Consolas"/>
              </a:rPr>
              <a:t>kubectl create secret tls webapp-tls --cert=/tmp/tls.crt --key=/tmp/tls.key</a:t>
            </a:r>
          </a:p>
        </p:txBody>
      </p:sp>
      <p:sp>
        <p:nvSpPr>
          <p:cNvPr id="15" name="TextBox 14"/>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6" name="TextBox 15"/>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7" name="TextBox 16"/>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124</a:t>
            </a:r>
          </a:p>
        </p:txBody>
      </p:sp>
    </p:spTree>
  </p:cSld>
  <p:clrMapOvr>
    <a:masterClrMapping/>
  </p:clrMapOvr>
</p:sld>
</file>

<file path=ppt/slides/slide1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13  ·  COMMANDS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Secrets: generic/tls/docker-registry, Env Inject, tmpfs Mount defaultMode 0400 (cont.)</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91640"/>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Step 3 -- Mount as tmpfs with defaultMode 0400</a:t>
            </a:r>
          </a:p>
        </p:txBody>
      </p:sp>
      <p:sp>
        <p:nvSpPr>
          <p:cNvPr id="8" name="Rounded Rectangle 7"/>
          <p:cNvSpPr/>
          <p:nvPr/>
        </p:nvSpPr>
        <p:spPr>
          <a:xfrm>
            <a:off x="777240" y="2075688"/>
            <a:ext cx="10652760" cy="2020824"/>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075688"/>
            <a:ext cx="82296" cy="20208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6" y="2139696"/>
            <a:ext cx="10323576" cy="1929384"/>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 Pod spec volumes:</a:t>
            </a:r>
          </a:p>
          <a:p>
            <a:pPr>
              <a:spcBef>
                <a:spcPts val="0"/>
              </a:spcBef>
              <a:spcAft>
                <a:spcPts val="0"/>
              </a:spcAft>
            </a:pPr>
            <a:r>
              <a:rPr sz="1050">
                <a:solidFill>
                  <a:srgbClr val="161B26"/>
                </a:solidFill>
                <a:latin typeface="Consolas"/>
              </a:rPr>
              <a:t>volumes:</a:t>
            </a:r>
          </a:p>
          <a:p>
            <a:pPr>
              <a:spcBef>
                <a:spcPts val="0"/>
              </a:spcBef>
              <a:spcAft>
                <a:spcPts val="0"/>
              </a:spcAft>
            </a:pPr>
            <a:r>
              <a:rPr sz="1050">
                <a:solidFill>
                  <a:srgbClr val="161B26"/>
                </a:solidFill>
                <a:latin typeface="Consolas"/>
              </a:rPr>
              <a:t>- name: secret-vol</a:t>
            </a:r>
          </a:p>
          <a:p>
            <a:pPr>
              <a:spcBef>
                <a:spcPts val="0"/>
              </a:spcBef>
              <a:spcAft>
                <a:spcPts val="0"/>
              </a:spcAft>
            </a:pPr>
            <a:r>
              <a:rPr sz="1050">
                <a:solidFill>
                  <a:srgbClr val="161B26"/>
                </a:solidFill>
                <a:latin typeface="Consolas"/>
              </a:rPr>
              <a:t>  secret:</a:t>
            </a:r>
          </a:p>
          <a:p>
            <a:pPr>
              <a:spcBef>
                <a:spcPts val="0"/>
              </a:spcBef>
              <a:spcAft>
                <a:spcPts val="0"/>
              </a:spcAft>
            </a:pPr>
            <a:r>
              <a:rPr sz="1050">
                <a:solidFill>
                  <a:srgbClr val="161B26"/>
                </a:solidFill>
                <a:latin typeface="Consolas"/>
              </a:rPr>
              <a:t>    secretName: db-credentials</a:t>
            </a:r>
          </a:p>
          <a:p>
            <a:pPr>
              <a:spcBef>
                <a:spcPts val="0"/>
              </a:spcBef>
              <a:spcAft>
                <a:spcPts val="0"/>
              </a:spcAft>
            </a:pPr>
            <a:r>
              <a:rPr sz="1050">
                <a:solidFill>
                  <a:srgbClr val="161B26"/>
                </a:solidFill>
                <a:latin typeface="Consolas"/>
              </a:rPr>
              <a:t>    defaultMode: 0400</a:t>
            </a:r>
          </a:p>
          <a:p>
            <a:pPr>
              <a:spcBef>
                <a:spcPts val="0"/>
              </a:spcBef>
              <a:spcAft>
                <a:spcPts val="0"/>
              </a:spcAft>
            </a:pPr>
            <a:r>
              <a:rPr sz="1050">
                <a:solidFill>
                  <a:srgbClr val="161B26"/>
                </a:solidFill>
                <a:latin typeface="Consolas"/>
              </a:rPr>
              <a:t>kubectl exec secret-volume-pod -- ls -la /secrets</a:t>
            </a:r>
          </a:p>
          <a:p>
            <a:pPr>
              <a:spcBef>
                <a:spcPts val="0"/>
              </a:spcBef>
              <a:spcAft>
                <a:spcPts val="0"/>
              </a:spcAft>
            </a:pPr>
            <a:r>
              <a:rPr sz="1050">
                <a:solidFill>
                  <a:srgbClr val="161B26"/>
                </a:solidFill>
                <a:latin typeface="Consolas"/>
              </a:rPr>
              <a:t># -r-------- files</a:t>
            </a:r>
          </a:p>
          <a:p>
            <a:pPr>
              <a:spcBef>
                <a:spcPts val="0"/>
              </a:spcBef>
              <a:spcAft>
                <a:spcPts val="0"/>
              </a:spcAft>
            </a:pPr>
            <a:r>
              <a:rPr sz="1050">
                <a:solidFill>
                  <a:srgbClr val="161B26"/>
                </a:solidFill>
                <a:latin typeface="Consolas"/>
              </a:rPr>
              <a:t>kubectl exec secret-volume-pod -- df -h /secrets</a:t>
            </a:r>
          </a:p>
          <a:p>
            <a:pPr>
              <a:spcBef>
                <a:spcPts val="0"/>
              </a:spcBef>
              <a:spcAft>
                <a:spcPts val="0"/>
              </a:spcAft>
            </a:pPr>
            <a:r>
              <a:rPr sz="1050">
                <a:solidFill>
                  <a:srgbClr val="161B26"/>
                </a:solidFill>
                <a:latin typeface="Consolas"/>
              </a:rPr>
              <a:t># tmpfs</a:t>
            </a:r>
          </a:p>
        </p:txBody>
      </p:sp>
      <p:sp>
        <p:nvSpPr>
          <p:cNvPr id="11" name="TextBox 10"/>
          <p:cNvSpPr txBox="1"/>
          <p:nvPr/>
        </p:nvSpPr>
        <p:spPr>
          <a:xfrm>
            <a:off x="777240" y="4279392"/>
            <a:ext cx="10652760" cy="310896"/>
          </a:xfrm>
          <a:prstGeom prst="rect">
            <a:avLst/>
          </a:prstGeom>
          <a:noFill/>
        </p:spPr>
        <p:txBody>
          <a:bodyPr wrap="square" anchor="t" lIns="0" rIns="0" tIns="0" bIns="0">
            <a:spAutoFit/>
          </a:bodyPr>
          <a:lstStyle/>
          <a:p>
            <a:pPr algn="l">
              <a:spcBef>
                <a:spcPts val="0"/>
              </a:spcBef>
              <a:spcAft>
                <a:spcPts val="400"/>
              </a:spcAft>
            </a:pPr>
            <a:r>
              <a:rPr sz="1300" b="1">
                <a:solidFill>
                  <a:srgbClr val="F59E0B"/>
                </a:solidFill>
                <a:latin typeface="Arial"/>
              </a:rPr>
              <a:t>Note   </a:t>
            </a:r>
            <a:r>
              <a:rPr sz="1300" b="0">
                <a:solidFill>
                  <a:srgbClr val="5B6372"/>
                </a:solidFill>
                <a:latin typeface="Arial"/>
              </a:rPr>
              <a:t>Secrets are base64-encoded (NOT encrypted). Enable etcd encryption at rest for actual security. tmpfs means secrets are never written to node disk. echo -n is critical -- without -n, trailing newline corrupts the base64 value.</a:t>
            </a:r>
          </a:p>
        </p:txBody>
      </p:sp>
      <p:sp>
        <p:nvSpPr>
          <p:cNvPr id="12" name="TextBox 11"/>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3" name="TextBox 12"/>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4" name="TextBox 13"/>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125</a:t>
            </a:r>
          </a:p>
        </p:txBody>
      </p:sp>
    </p:spTree>
  </p:cSld>
  <p:clrMapOvr>
    <a:masterClrMapping/>
  </p:clrMapOvr>
</p:sld>
</file>

<file path=ppt/slides/slide1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13  ·  TEST IT</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Secrets: generic/tls/docker-registry, Env Inject, tmpfs Mount defaultMode 0400</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03120"/>
            <a:ext cx="10698480" cy="2560320"/>
          </a:xfrm>
          <a:prstGeom prst="roundRect">
            <a:avLst>
              <a:gd name="adj" fmla="val 5000"/>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lIns="0" rIns="0" tIns="0" bIns="0">
            <a:spAutoFit/>
          </a:bodyPr>
          <a:lstStyle/>
          <a:p>
            <a:pPr algn="l">
              <a:spcBef>
                <a:spcPts val="0"/>
              </a:spcBef>
              <a:spcAft>
                <a:spcPts val="400"/>
              </a:spcAft>
            </a:pPr>
            <a:r>
              <a:rPr sz="2200" b="1">
                <a:solidFill>
                  <a:srgbClr val="127A3E"/>
                </a:solidFill>
                <a:latin typeface="Arial"/>
              </a:rPr>
              <a:t>✅  Test it</a:t>
            </a:r>
          </a:p>
        </p:txBody>
      </p:sp>
      <p:sp>
        <p:nvSpPr>
          <p:cNvPr id="9" name="TextBox 8"/>
          <p:cNvSpPr txBox="1"/>
          <p:nvPr/>
        </p:nvSpPr>
        <p:spPr>
          <a:xfrm>
            <a:off x="1097280" y="3017520"/>
            <a:ext cx="10149840" cy="1463040"/>
          </a:xfrm>
          <a:prstGeom prst="rect">
            <a:avLst/>
          </a:prstGeom>
          <a:noFill/>
        </p:spPr>
        <p:txBody>
          <a:bodyPr wrap="square" anchor="t" lIns="0" rIns="0" tIns="0" bIns="0">
            <a:spAutoFit/>
          </a:bodyPr>
          <a:lstStyle/>
          <a:p>
            <a:pPr algn="l">
              <a:spcBef>
                <a:spcPts val="0"/>
              </a:spcBef>
              <a:spcAft>
                <a:spcPts val="400"/>
              </a:spcAft>
            </a:pPr>
            <a:r>
              <a:rPr sz="1800" b="0">
                <a:solidFill>
                  <a:srgbClr val="161B26"/>
                </a:solidFill>
                <a:latin typeface="Arial"/>
              </a:rPr>
              <a:t>Secret files have permissions -r-------- (0400). df -h /secrets shows tmpfs. base64 -d decodes the password correctly. TLS secret type is kubernetes.io/tls.</a:t>
            </a:r>
          </a:p>
        </p:txBody>
      </p:sp>
      <p:sp>
        <p:nvSpPr>
          <p:cNvPr id="10" name="TextBox 9"/>
          <p:cNvSpPr txBox="1"/>
          <p:nvPr/>
        </p:nvSpPr>
        <p:spPr>
          <a:xfrm>
            <a:off x="777240" y="4983480"/>
            <a:ext cx="10698480" cy="365760"/>
          </a:xfrm>
          <a:prstGeom prst="rect">
            <a:avLst/>
          </a:prstGeom>
          <a:noFill/>
        </p:spPr>
        <p:txBody>
          <a:bodyPr wrap="square" anchor="t" lIns="0" rIns="0" tIns="0" bIns="0">
            <a:spAutoFit/>
          </a:bodyPr>
          <a:lstStyle/>
          <a:p>
            <a:pPr algn="l">
              <a:spcBef>
                <a:spcPts val="0"/>
              </a:spcBef>
              <a:spcAft>
                <a:spcPts val="400"/>
              </a:spcAft>
            </a:pPr>
            <a:r>
              <a:rPr sz="1300" b="1">
                <a:solidFill>
                  <a:srgbClr val="10B981"/>
                </a:solidFill>
                <a:latin typeface="Arial"/>
              </a:rPr>
              <a:t>Killercoda:  </a:t>
            </a:r>
            <a:r>
              <a:rPr sz="1300" b="0">
                <a:solidFill>
                  <a:srgbClr val="5B6372"/>
                </a:solidFill>
                <a:latin typeface="Arial"/>
              </a:rPr>
              <a:t>https://killercoda.com/playgrounds/scenario/kubernetes</a:t>
            </a:r>
          </a:p>
        </p:txBody>
      </p:sp>
      <p:sp>
        <p:nvSpPr>
          <p:cNvPr id="11" name="TextBox 10"/>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126</a:t>
            </a:r>
          </a:p>
        </p:txBody>
      </p:sp>
    </p:spTree>
  </p:cSld>
  <p:clrMapOvr>
    <a:masterClrMapping/>
  </p:clrMapOvr>
</p:sld>
</file>

<file path=ppt/slides/slide1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56832"/>
            <a:ext cx="12191695" cy="2011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937760" y="2148840"/>
            <a:ext cx="2313432"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0" y="2514600"/>
            <a:ext cx="12191695" cy="1097280"/>
          </a:xfrm>
          <a:prstGeom prst="rect">
            <a:avLst/>
          </a:prstGeom>
          <a:noFill/>
        </p:spPr>
        <p:txBody>
          <a:bodyPr wrap="square" anchor="t" lIns="0" rIns="0" tIns="0" bIns="0">
            <a:spAutoFit/>
          </a:bodyPr>
          <a:lstStyle/>
          <a:p>
            <a:pPr algn="ctr">
              <a:spcBef>
                <a:spcPts val="0"/>
              </a:spcBef>
              <a:spcAft>
                <a:spcPts val="400"/>
              </a:spcAft>
            </a:pPr>
            <a:r>
              <a:rPr sz="4800" b="1">
                <a:solidFill>
                  <a:srgbClr val="161B26"/>
                </a:solidFill>
                <a:latin typeface="Arial"/>
              </a:rPr>
              <a:t>Tea Break</a:t>
            </a:r>
          </a:p>
        </p:txBody>
      </p:sp>
      <p:sp>
        <p:nvSpPr>
          <p:cNvPr id="7" name="TextBox 6"/>
          <p:cNvSpPr txBox="1"/>
          <p:nvPr/>
        </p:nvSpPr>
        <p:spPr>
          <a:xfrm>
            <a:off x="0" y="3703320"/>
            <a:ext cx="12191695" cy="731520"/>
          </a:xfrm>
          <a:prstGeom prst="rect">
            <a:avLst/>
          </a:prstGeom>
          <a:noFill/>
        </p:spPr>
        <p:txBody>
          <a:bodyPr wrap="square" anchor="t" lIns="0" rIns="0" tIns="0" bIns="0">
            <a:spAutoFit/>
          </a:bodyPr>
          <a:lstStyle/>
          <a:p>
            <a:pPr algn="ctr">
              <a:spcBef>
                <a:spcPts val="0"/>
              </a:spcBef>
              <a:spcAft>
                <a:spcPts val="400"/>
              </a:spcAft>
            </a:pPr>
            <a:r>
              <a:rPr sz="2200" b="1">
                <a:solidFill>
                  <a:srgbClr val="10B981"/>
                </a:solidFill>
                <a:latin typeface="Arial"/>
              </a:rPr>
              <a:t>15 minutes</a:t>
            </a:r>
          </a:p>
        </p:txBody>
      </p:sp>
    </p:spTree>
  </p:cSld>
  <p:clrMapOvr>
    <a:masterClrMapping/>
  </p:clrMapOvr>
</p:sld>
</file>

<file path=ppt/slides/slide1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lIns="0" rIns="0" tIns="0" bIns="0">
            <a:spAutoFit/>
          </a:bodyPr>
          <a:lstStyle/>
          <a:p>
            <a:pPr algn="l">
              <a:spcBef>
                <a:spcPts val="0"/>
              </a:spcBef>
              <a:spcAft>
                <a:spcPts val="400"/>
              </a:spcAft>
            </a:pPr>
            <a:r>
              <a:rPr sz="1800" b="1">
                <a:solidFill>
                  <a:srgbClr val="1F6FEB"/>
                </a:solidFill>
                <a:latin typeface="Arial"/>
              </a:rPr>
              <a:t>TOPIC 4</a:t>
            </a:r>
          </a:p>
        </p:txBody>
      </p:sp>
      <p:sp>
        <p:nvSpPr>
          <p:cNvPr id="6" name="TextBox 5"/>
          <p:cNvSpPr txBox="1"/>
          <p:nvPr/>
        </p:nvSpPr>
        <p:spPr>
          <a:xfrm>
            <a:off x="1143000" y="2743200"/>
            <a:ext cx="10424160" cy="1463040"/>
          </a:xfrm>
          <a:prstGeom prst="rect">
            <a:avLst/>
          </a:prstGeom>
          <a:noFill/>
        </p:spPr>
        <p:txBody>
          <a:bodyPr wrap="square" anchor="t" lIns="0" rIns="0" tIns="0" bIns="0">
            <a:spAutoFit/>
          </a:bodyPr>
          <a:lstStyle/>
          <a:p>
            <a:pPr algn="l">
              <a:spcBef>
                <a:spcPts val="0"/>
              </a:spcBef>
              <a:spcAft>
                <a:spcPts val="400"/>
              </a:spcAft>
            </a:pPr>
            <a:r>
              <a:rPr sz="4000" b="1">
                <a:solidFill>
                  <a:srgbClr val="161B26"/>
                </a:solidFill>
                <a:latin typeface="Arial"/>
              </a:rPr>
              <a:t>HPA &amp; Self-Healing Workloads</a:t>
            </a:r>
          </a:p>
        </p:txBody>
      </p:sp>
      <p:sp>
        <p:nvSpPr>
          <p:cNvPr id="7" name="TextBox 6"/>
          <p:cNvSpPr txBox="1"/>
          <p:nvPr/>
        </p:nvSpPr>
        <p:spPr>
          <a:xfrm>
            <a:off x="1161288" y="4114800"/>
            <a:ext cx="10058400" cy="731520"/>
          </a:xfrm>
          <a:prstGeom prst="rect">
            <a:avLst/>
          </a:prstGeom>
          <a:noFill/>
        </p:spPr>
        <p:txBody>
          <a:bodyPr wrap="square" anchor="t" lIns="0" rIns="0" tIns="0" bIns="0">
            <a:spAutoFit/>
          </a:bodyPr>
          <a:lstStyle/>
          <a:p>
            <a:pPr algn="l">
              <a:spcBef>
                <a:spcPts val="0"/>
              </a:spcBef>
              <a:spcAft>
                <a:spcPts val="400"/>
              </a:spcAft>
            </a:pPr>
            <a:r>
              <a:rPr sz="1600" b="0">
                <a:solidFill>
                  <a:srgbClr val="5B6372"/>
                </a:solidFill>
                <a:latin typeface="Arial"/>
              </a:rPr>
              <a:t>Autoscaling and resilient workload patterns</a:t>
            </a:r>
          </a:p>
        </p:txBody>
      </p:sp>
      <p:sp>
        <p:nvSpPr>
          <p:cNvPr id="8" name="TextBox 7"/>
          <p:cNvSpPr txBox="1"/>
          <p:nvPr/>
        </p:nvSpPr>
        <p:spPr>
          <a:xfrm>
            <a:off x="9418320" y="640080"/>
            <a:ext cx="2286000" cy="1463040"/>
          </a:xfrm>
          <a:prstGeom prst="rect">
            <a:avLst/>
          </a:prstGeom>
          <a:noFill/>
        </p:spPr>
        <p:txBody>
          <a:bodyPr wrap="square" anchor="t" lIns="0" rIns="0" tIns="0" bIns="0">
            <a:spAutoFit/>
          </a:bodyPr>
          <a:lstStyle/>
          <a:p>
            <a:pPr algn="r">
              <a:spcBef>
                <a:spcPts val="0"/>
              </a:spcBef>
              <a:spcAft>
                <a:spcPts val="400"/>
              </a:spcAft>
            </a:pPr>
            <a:r>
              <a:rPr sz="7200" b="1">
                <a:solidFill>
                  <a:srgbClr val="E2E8F0"/>
                </a:solidFill>
                <a:latin typeface="Arial"/>
              </a:rPr>
              <a:t/>
            </a:r>
          </a:p>
        </p:txBody>
      </p:sp>
      <p:sp>
        <p:nvSpPr>
          <p:cNvPr id="9" name="TextBox 8"/>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0" name="TextBox 9"/>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1" name="TextBox 10"/>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128</a:t>
            </a:r>
          </a:p>
        </p:txBody>
      </p:sp>
    </p:spTree>
  </p:cSld>
  <p:clrMapOvr>
    <a:masterClrMapping/>
  </p:clrMapOvr>
</p:sld>
</file>

<file path=ppt/slides/slide1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AUTOSCALING</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Horizontal Pod Autoscaler</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07040" cy="4480560"/>
          </a:xfrm>
          <a:prstGeom prst="rect">
            <a:avLst/>
          </a:prstGeom>
          <a:noFill/>
        </p:spPr>
        <p:txBody>
          <a:bodyPr wrap="square" lIns="0" rIns="0">
            <a:spAutoFit/>
          </a:bodyPr>
          <a:lstStyle/>
          <a:p>
            <a:pPr>
              <a:spcBef>
                <a:spcPts val="0"/>
              </a:spcBef>
              <a:spcAft>
                <a:spcPts val="1000"/>
              </a:spcAft>
            </a:pPr>
            <a:r>
              <a:rPr sz="1900" b="1">
                <a:solidFill>
                  <a:srgbClr val="1F6FEB"/>
                </a:solidFill>
                <a:latin typeface="Arial"/>
              </a:rPr>
              <a:t>•  </a:t>
            </a:r>
            <a:r>
              <a:rPr sz="1900">
                <a:solidFill>
                  <a:srgbClr val="161B26"/>
                </a:solidFill>
                <a:latin typeface="Arial"/>
              </a:rPr>
              <a:t>HPA watches metrics-server and adjusts the Deployment replica count to hit a target CPU/memory %.</a:t>
            </a:r>
          </a:p>
          <a:p>
            <a:pPr>
              <a:spcBef>
                <a:spcPts val="0"/>
              </a:spcBef>
              <a:spcAft>
                <a:spcPts val="1000"/>
              </a:spcAft>
            </a:pPr>
            <a:r>
              <a:rPr sz="1900" b="1">
                <a:solidFill>
                  <a:srgbClr val="1F6FEB"/>
                </a:solidFill>
                <a:latin typeface="Arial"/>
              </a:rPr>
              <a:t>•  </a:t>
            </a:r>
            <a:r>
              <a:rPr sz="1900">
                <a:solidFill>
                  <a:srgbClr val="161B26"/>
                </a:solidFill>
                <a:latin typeface="Arial"/>
              </a:rPr>
              <a:t>Pods must have resources.requests defined for HPA to calculate a utilisation ratio.</a:t>
            </a:r>
          </a:p>
          <a:p>
            <a:pPr>
              <a:spcBef>
                <a:spcPts val="0"/>
              </a:spcBef>
              <a:spcAft>
                <a:spcPts val="1000"/>
              </a:spcAft>
            </a:pPr>
            <a:r>
              <a:rPr sz="1900" b="1">
                <a:solidFill>
                  <a:srgbClr val="1F6FEB"/>
                </a:solidFill>
                <a:latin typeface="Arial"/>
              </a:rPr>
              <a:t>•  </a:t>
            </a:r>
            <a:r>
              <a:rPr sz="1900">
                <a:solidFill>
                  <a:srgbClr val="161B26"/>
                </a:solidFill>
                <a:latin typeface="Arial"/>
              </a:rPr>
              <a:t>Scale-out is fast; scale-in has a stabilisation window (~5 min) to prevent thrashing.</a:t>
            </a:r>
          </a:p>
          <a:p>
            <a:pPr>
              <a:spcBef>
                <a:spcPts val="0"/>
              </a:spcBef>
              <a:spcAft>
                <a:spcPts val="1000"/>
              </a:spcAft>
            </a:pPr>
            <a:r>
              <a:rPr sz="1900" b="1">
                <a:solidFill>
                  <a:srgbClr val="1F6FEB"/>
                </a:solidFill>
                <a:latin typeface="Arial"/>
              </a:rPr>
              <a:t>•  </a:t>
            </a:r>
            <a:r>
              <a:rPr sz="1900">
                <a:solidFill>
                  <a:srgbClr val="161B26"/>
                </a:solidFill>
                <a:latin typeface="Arial"/>
              </a:rPr>
              <a:t>Create with: kubectl autoscale deployment &lt;name&gt; --min=2 --max=10 --cpu-percent=50.</a:t>
            </a:r>
          </a:p>
        </p:txBody>
      </p:sp>
      <p:sp>
        <p:nvSpPr>
          <p:cNvPr id="8" name="TextBox 7"/>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9" name="TextBox 8"/>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129</a:t>
            </a:r>
          </a:p>
        </p:txBody>
      </p:sp>
    </p:spTree>
  </p:cSld>
  <p:clrMapOvr>
    <a:masterClrMapping/>
  </p:clrMapOvr>
</p:sld>
</file>

<file path=ppt/slides/slide1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DOMAIN 2  ·  HPA AND METRICS-SERVER</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Horizontal Pod Autoscaler</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468880"/>
            <a:ext cx="3063240" cy="1737360"/>
          </a:xfrm>
          <a:prstGeom prst="roundRect">
            <a:avLst>
              <a:gd name="adj" fmla="val 5000"/>
            </a:avLst>
          </a:prstGeom>
          <a:solidFill>
            <a:srgbClr val="EAF1FE"/>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468880"/>
            <a:ext cx="3063240"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86968" y="2578608"/>
            <a:ext cx="2843784" cy="1627632"/>
          </a:xfrm>
          <a:prstGeom prst="rect">
            <a:avLst/>
          </a:prstGeom>
          <a:noFill/>
        </p:spPr>
        <p:txBody>
          <a:bodyPr wrap="square" anchor="ctr" lIns="0" rIns="0" tIns="0" bIns="0">
            <a:spAutoFit/>
          </a:bodyPr>
          <a:lstStyle/>
          <a:p>
            <a:pPr algn="ctr">
              <a:spcBef>
                <a:spcPts val="0"/>
              </a:spcBef>
              <a:spcAft>
                <a:spcPts val="300"/>
              </a:spcAft>
            </a:pPr>
            <a:r>
              <a:rPr sz="1400" b="1">
                <a:solidFill>
                  <a:srgbClr val="161B26"/>
                </a:solidFill>
                <a:latin typeface="Arial"/>
              </a:rPr>
              <a:t>metrics-server</a:t>
            </a:r>
          </a:p>
          <a:p>
            <a:pPr algn="ctr">
              <a:spcBef>
                <a:spcPts val="0"/>
              </a:spcBef>
              <a:spcAft>
                <a:spcPts val="300"/>
              </a:spcAft>
            </a:pPr>
            <a:r>
              <a:rPr sz="1100" b="0">
                <a:solidFill>
                  <a:srgbClr val="5B6372"/>
                </a:solidFill>
                <a:latin typeface="Arial"/>
              </a:rPr>
              <a:t>scrapes kubelet cAdvisor</a:t>
            </a:r>
          </a:p>
          <a:p>
            <a:pPr algn="ctr">
              <a:spcBef>
                <a:spcPts val="0"/>
              </a:spcBef>
              <a:spcAft>
                <a:spcPts val="300"/>
              </a:spcAft>
            </a:pPr>
            <a:r>
              <a:rPr sz="1100" b="0">
                <a:solidFill>
                  <a:srgbClr val="5B6372"/>
                </a:solidFill>
                <a:latin typeface="Arial"/>
              </a:rPr>
              <a:t>serves metrics.k8s.io</a:t>
            </a:r>
          </a:p>
        </p:txBody>
      </p:sp>
      <p:sp>
        <p:nvSpPr>
          <p:cNvPr id="10" name="Right Arrow 9"/>
          <p:cNvSpPr/>
          <p:nvPr/>
        </p:nvSpPr>
        <p:spPr>
          <a:xfrm>
            <a:off x="3840480" y="3136392"/>
            <a:ext cx="731520" cy="402336"/>
          </a:xfrm>
          <a:prstGeom prst="rightArrow">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611880" y="2157984"/>
            <a:ext cx="1188720" cy="292608"/>
          </a:xfrm>
          <a:prstGeom prst="rect">
            <a:avLst/>
          </a:prstGeom>
          <a:noFill/>
        </p:spPr>
        <p:txBody>
          <a:bodyPr wrap="square" anchor="ctr" lIns="0" rIns="0" tIns="0" bIns="0">
            <a:spAutoFit/>
          </a:bodyPr>
          <a:lstStyle/>
          <a:p>
            <a:pPr algn="ctr">
              <a:spcBef>
                <a:spcPts val="0"/>
              </a:spcBef>
              <a:spcAft>
                <a:spcPts val="400"/>
              </a:spcAft>
            </a:pPr>
            <a:r>
              <a:rPr sz="1000" b="1">
                <a:solidFill>
                  <a:srgbClr val="1F6FEB"/>
                </a:solidFill>
                <a:latin typeface="Arial"/>
              </a:rPr>
              <a:t>observed usage</a:t>
            </a:r>
          </a:p>
        </p:txBody>
      </p:sp>
      <p:sp>
        <p:nvSpPr>
          <p:cNvPr id="12" name="Rounded Rectangle 11"/>
          <p:cNvSpPr/>
          <p:nvPr/>
        </p:nvSpPr>
        <p:spPr>
          <a:xfrm>
            <a:off x="4572000" y="2468880"/>
            <a:ext cx="3063240" cy="1737360"/>
          </a:xfrm>
          <a:prstGeom prst="roundRect">
            <a:avLst>
              <a:gd name="adj" fmla="val 5000"/>
            </a:avLst>
          </a:prstGeom>
          <a:solidFill>
            <a:srgbClr val="E8F7EE"/>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572000" y="2468880"/>
            <a:ext cx="3063240"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681728" y="2578608"/>
            <a:ext cx="2843784" cy="1627632"/>
          </a:xfrm>
          <a:prstGeom prst="rect">
            <a:avLst/>
          </a:prstGeom>
          <a:noFill/>
        </p:spPr>
        <p:txBody>
          <a:bodyPr wrap="square" anchor="ctr" lIns="0" rIns="0" tIns="0" bIns="0">
            <a:spAutoFit/>
          </a:bodyPr>
          <a:lstStyle/>
          <a:p>
            <a:pPr algn="ctr">
              <a:spcBef>
                <a:spcPts val="0"/>
              </a:spcBef>
              <a:spcAft>
                <a:spcPts val="300"/>
              </a:spcAft>
            </a:pPr>
            <a:r>
              <a:rPr sz="1400" b="1">
                <a:solidFill>
                  <a:srgbClr val="161B26"/>
                </a:solidFill>
                <a:latin typeface="Arial"/>
              </a:rPr>
              <a:t>HPA controller</a:t>
            </a:r>
          </a:p>
          <a:p>
            <a:pPr algn="ctr">
              <a:spcBef>
                <a:spcPts val="0"/>
              </a:spcBef>
              <a:spcAft>
                <a:spcPts val="300"/>
              </a:spcAft>
            </a:pPr>
            <a:r>
              <a:rPr sz="1100" b="0">
                <a:solidFill>
                  <a:srgbClr val="5B6372"/>
                </a:solidFill>
                <a:latin typeface="Arial"/>
              </a:rPr>
              <a:t>reads current CPU/mem</a:t>
            </a:r>
          </a:p>
          <a:p>
            <a:pPr algn="ctr">
              <a:spcBef>
                <a:spcPts val="0"/>
              </a:spcBef>
              <a:spcAft>
                <a:spcPts val="300"/>
              </a:spcAft>
            </a:pPr>
            <a:r>
              <a:rPr sz="1100" b="0">
                <a:solidFill>
                  <a:srgbClr val="5B6372"/>
                </a:solidFill>
                <a:latin typeface="Arial"/>
              </a:rPr>
              <a:t>computes desired replicas</a:t>
            </a:r>
          </a:p>
        </p:txBody>
      </p:sp>
      <p:sp>
        <p:nvSpPr>
          <p:cNvPr id="15" name="Right Arrow 14"/>
          <p:cNvSpPr/>
          <p:nvPr/>
        </p:nvSpPr>
        <p:spPr>
          <a:xfrm>
            <a:off x="7635240" y="3136392"/>
            <a:ext cx="731520" cy="402336"/>
          </a:xfrm>
          <a:prstGeom prst="rightArrow">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406640" y="2157984"/>
            <a:ext cx="1188720" cy="292608"/>
          </a:xfrm>
          <a:prstGeom prst="rect">
            <a:avLst/>
          </a:prstGeom>
          <a:noFill/>
        </p:spPr>
        <p:txBody>
          <a:bodyPr wrap="square" anchor="ctr" lIns="0" rIns="0" tIns="0" bIns="0">
            <a:spAutoFit/>
          </a:bodyPr>
          <a:lstStyle/>
          <a:p>
            <a:pPr algn="ctr">
              <a:spcBef>
                <a:spcPts val="0"/>
              </a:spcBef>
              <a:spcAft>
                <a:spcPts val="400"/>
              </a:spcAft>
            </a:pPr>
            <a:r>
              <a:rPr sz="1000" b="1">
                <a:solidFill>
                  <a:srgbClr val="1F6FEB"/>
                </a:solidFill>
                <a:latin typeface="Arial"/>
              </a:rPr>
              <a:t>scales</a:t>
            </a:r>
          </a:p>
        </p:txBody>
      </p:sp>
      <p:sp>
        <p:nvSpPr>
          <p:cNvPr id="17" name="Rounded Rectangle 16"/>
          <p:cNvSpPr/>
          <p:nvPr/>
        </p:nvSpPr>
        <p:spPr>
          <a:xfrm>
            <a:off x="8366760" y="2468880"/>
            <a:ext cx="3063240" cy="1737360"/>
          </a:xfrm>
          <a:prstGeom prst="roundRect">
            <a:avLst>
              <a:gd name="adj" fmla="val 5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76488" y="2468880"/>
            <a:ext cx="2843784" cy="1737360"/>
          </a:xfrm>
          <a:prstGeom prst="rect">
            <a:avLst/>
          </a:prstGeom>
          <a:noFill/>
        </p:spPr>
        <p:txBody>
          <a:bodyPr wrap="square" anchor="ctr" lIns="0" rIns="0" tIns="0" bIns="0">
            <a:spAutoFit/>
          </a:bodyPr>
          <a:lstStyle/>
          <a:p>
            <a:pPr algn="ctr">
              <a:spcBef>
                <a:spcPts val="0"/>
              </a:spcBef>
              <a:spcAft>
                <a:spcPts val="300"/>
              </a:spcAft>
            </a:pPr>
            <a:r>
              <a:rPr sz="1400" b="1">
                <a:solidFill>
                  <a:srgbClr val="161B26"/>
                </a:solidFill>
                <a:latin typeface="Arial"/>
              </a:rPr>
              <a:t>Deployment</a:t>
            </a:r>
          </a:p>
          <a:p>
            <a:pPr algn="ctr">
              <a:spcBef>
                <a:spcPts val="0"/>
              </a:spcBef>
              <a:spcAft>
                <a:spcPts val="300"/>
              </a:spcAft>
            </a:pPr>
            <a:r>
              <a:rPr sz="1100" b="0">
                <a:solidFill>
                  <a:srgbClr val="5B6372"/>
                </a:solidFill>
                <a:latin typeface="Arial"/>
              </a:rPr>
              <a:t>replicas adjusted</a:t>
            </a:r>
          </a:p>
          <a:p>
            <a:pPr algn="ctr">
              <a:spcBef>
                <a:spcPts val="0"/>
              </a:spcBef>
              <a:spcAft>
                <a:spcPts val="300"/>
              </a:spcAft>
            </a:pPr>
            <a:r>
              <a:rPr sz="1100" b="0">
                <a:solidFill>
                  <a:srgbClr val="5B6372"/>
                </a:solidFill>
                <a:latin typeface="Arial"/>
              </a:rPr>
              <a:t>scale-out and scale-in</a:t>
            </a:r>
          </a:p>
        </p:txBody>
      </p:sp>
      <p:sp>
        <p:nvSpPr>
          <p:cNvPr id="19" name="Rounded Rectangle 18"/>
          <p:cNvSpPr/>
          <p:nvPr/>
        </p:nvSpPr>
        <p:spPr>
          <a:xfrm>
            <a:off x="777240" y="5943600"/>
            <a:ext cx="10652760" cy="502920"/>
          </a:xfrm>
          <a:prstGeom prst="roundRect">
            <a:avLst>
              <a:gd name="adj" fmla="val 5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51560" y="5943600"/>
            <a:ext cx="10149840" cy="502920"/>
          </a:xfrm>
          <a:prstGeom prst="rect">
            <a:avLst/>
          </a:prstGeom>
          <a:noFill/>
        </p:spPr>
        <p:txBody>
          <a:bodyPr wrap="square" anchor="ctr" lIns="0" rIns="0" tIns="0" bIns="0">
            <a:spAutoFit/>
          </a:bodyPr>
          <a:lstStyle/>
          <a:p>
            <a:pPr algn="l">
              <a:spcBef>
                <a:spcPts val="0"/>
              </a:spcBef>
              <a:spcAft>
                <a:spcPts val="400"/>
              </a:spcAft>
            </a:pPr>
            <a:r>
              <a:rPr sz="1300" b="0">
                <a:solidFill>
                  <a:srgbClr val="5B6372"/>
                </a:solidFill>
                <a:latin typeface="Arial"/>
              </a:rPr>
              <a:t>HPA requires </a:t>
            </a:r>
            <a:r>
              <a:rPr sz="1300" b="1">
                <a:solidFill>
                  <a:srgbClr val="161B26"/>
                </a:solidFill>
                <a:latin typeface="Arial"/>
              </a:rPr>
              <a:t>resources.requests</a:t>
            </a:r>
            <a:r>
              <a:rPr sz="1300" b="0">
                <a:solidFill>
                  <a:srgbClr val="5B6372"/>
                </a:solidFill>
                <a:latin typeface="Arial"/>
              </a:rPr>
              <a:t> on the Deployment. Scale-in waits ~5 min (stabilization window).</a:t>
            </a:r>
          </a:p>
        </p:txBody>
      </p:sp>
      <p:sp>
        <p:nvSpPr>
          <p:cNvPr id="21" name="TextBox 20"/>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22" name="TextBox 2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23" name="TextBox 2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130</a:t>
            </a:r>
          </a:p>
        </p:txBody>
      </p:sp>
    </p:spTree>
  </p:cSld>
  <p:clrMapOvr>
    <a:masterClrMapping/>
  </p:clrMapOvr>
</p:sld>
</file>

<file path=ppt/slides/slide1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RESILIENCE</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Self-Healing Primitives (DaemonSet, StatefulSet)</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07040" cy="4480560"/>
          </a:xfrm>
          <a:prstGeom prst="rect">
            <a:avLst/>
          </a:prstGeom>
          <a:noFill/>
        </p:spPr>
        <p:txBody>
          <a:bodyPr wrap="square" lIns="0" rIns="0">
            <a:spAutoFit/>
          </a:bodyPr>
          <a:lstStyle/>
          <a:p>
            <a:pPr>
              <a:spcBef>
                <a:spcPts val="0"/>
              </a:spcBef>
              <a:spcAft>
                <a:spcPts val="1000"/>
              </a:spcAft>
            </a:pPr>
            <a:r>
              <a:rPr sz="1900" b="1">
                <a:solidFill>
                  <a:srgbClr val="1F6FEB"/>
                </a:solidFill>
                <a:latin typeface="Arial"/>
              </a:rPr>
              <a:t>•  </a:t>
            </a:r>
            <a:r>
              <a:rPr sz="1900">
                <a:solidFill>
                  <a:srgbClr val="161B26"/>
                </a:solidFill>
                <a:latin typeface="Arial"/>
              </a:rPr>
              <a:t>Liveness probe: restarts the container when it hangs or deadlocks (httpGet / tcpSocket / exec).</a:t>
            </a:r>
          </a:p>
          <a:p>
            <a:pPr>
              <a:spcBef>
                <a:spcPts val="0"/>
              </a:spcBef>
              <a:spcAft>
                <a:spcPts val="1000"/>
              </a:spcAft>
            </a:pPr>
            <a:r>
              <a:rPr sz="1900" b="1">
                <a:solidFill>
                  <a:srgbClr val="1F6FEB"/>
                </a:solidFill>
                <a:latin typeface="Arial"/>
              </a:rPr>
              <a:t>•  </a:t>
            </a:r>
            <a:r>
              <a:rPr sz="1900">
                <a:solidFill>
                  <a:srgbClr val="161B26"/>
                </a:solidFill>
                <a:latin typeface="Arial"/>
              </a:rPr>
              <a:t>Readiness probe: removes the pod from Service endpoints until it can serve traffic — no restart.</a:t>
            </a:r>
          </a:p>
          <a:p>
            <a:pPr>
              <a:spcBef>
                <a:spcPts val="0"/>
              </a:spcBef>
              <a:spcAft>
                <a:spcPts val="1000"/>
              </a:spcAft>
            </a:pPr>
            <a:r>
              <a:rPr sz="1900" b="1">
                <a:solidFill>
                  <a:srgbClr val="1F6FEB"/>
                </a:solidFill>
                <a:latin typeface="Arial"/>
              </a:rPr>
              <a:t>•  </a:t>
            </a:r>
            <a:r>
              <a:rPr sz="1900">
                <a:solidFill>
                  <a:srgbClr val="161B26"/>
                </a:solidFill>
                <a:latin typeface="Arial"/>
              </a:rPr>
              <a:t>DaemonSet: schedules exactly one pod per matching node — for log collectors, CNI agents, node exporters.</a:t>
            </a:r>
          </a:p>
          <a:p>
            <a:pPr>
              <a:spcBef>
                <a:spcPts val="0"/>
              </a:spcBef>
              <a:spcAft>
                <a:spcPts val="1000"/>
              </a:spcAft>
            </a:pPr>
            <a:r>
              <a:rPr sz="1900" b="1">
                <a:solidFill>
                  <a:srgbClr val="1F6FEB"/>
                </a:solidFill>
                <a:latin typeface="Arial"/>
              </a:rPr>
              <a:t>•  </a:t>
            </a:r>
            <a:r>
              <a:rPr sz="1900">
                <a:solidFill>
                  <a:srgbClr val="161B26"/>
                </a:solidFill>
                <a:latin typeface="Arial"/>
              </a:rPr>
              <a:t>StatefulSet: stable names (db-0, db-1), ordered start/stop, volumeClaimTemplates — for databases and queues.</a:t>
            </a:r>
          </a:p>
        </p:txBody>
      </p:sp>
      <p:sp>
        <p:nvSpPr>
          <p:cNvPr id="8" name="TextBox 7"/>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9" name="TextBox 8"/>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131</a:t>
            </a:r>
          </a:p>
        </p:txBody>
      </p:sp>
    </p:spTree>
  </p:cSld>
  <p:clrMapOvr>
    <a:masterClrMapping/>
  </p:clrMapOvr>
</p:sld>
</file>

<file path=ppt/slides/slide1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DOMAIN 2  ·  NODE-WIDE AGENTS  vs  STABLE-IDENTITY WORKLOADS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DaemonSet vs StatefulSet</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1828800"/>
            <a:ext cx="5166360" cy="3657600"/>
          </a:xfrm>
          <a:prstGeom prst="roundRect">
            <a:avLst>
              <a:gd name="adj" fmla="val 5000"/>
            </a:avLst>
          </a:prstGeom>
          <a:solidFill>
            <a:srgbClr val="F8FBFF"/>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975104"/>
            <a:ext cx="5166360" cy="292608"/>
          </a:xfrm>
          <a:prstGeom prst="rect">
            <a:avLst/>
          </a:prstGeom>
          <a:noFill/>
        </p:spPr>
        <p:txBody>
          <a:bodyPr wrap="square" anchor="ctr" lIns="0" rIns="0" tIns="0" bIns="0">
            <a:spAutoFit/>
          </a:bodyPr>
          <a:lstStyle/>
          <a:p>
            <a:pPr algn="ctr">
              <a:spcBef>
                <a:spcPts val="0"/>
              </a:spcBef>
              <a:spcAft>
                <a:spcPts val="400"/>
              </a:spcAft>
            </a:pPr>
            <a:r>
              <a:rPr sz="1500" b="1">
                <a:solidFill>
                  <a:srgbClr val="1F6FEB"/>
                </a:solidFill>
                <a:latin typeface="Arial"/>
              </a:rPr>
              <a:t>DaemonSet — one Pod per node</a:t>
            </a:r>
          </a:p>
        </p:txBody>
      </p:sp>
      <p:sp>
        <p:nvSpPr>
          <p:cNvPr id="9" name="Rounded Rectangle 8"/>
          <p:cNvSpPr/>
          <p:nvPr/>
        </p:nvSpPr>
        <p:spPr>
          <a:xfrm>
            <a:off x="1188720" y="2514600"/>
            <a:ext cx="4343400" cy="777240"/>
          </a:xfrm>
          <a:prstGeom prst="roundRect">
            <a:avLst>
              <a:gd name="adj" fmla="val 5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17320" y="2898648"/>
            <a:ext cx="1463040" cy="292608"/>
          </a:xfrm>
          <a:prstGeom prst="rect">
            <a:avLst/>
          </a:prstGeom>
          <a:noFill/>
        </p:spPr>
        <p:txBody>
          <a:bodyPr wrap="square" anchor="ctr" lIns="0" rIns="0" tIns="0" bIns="0">
            <a:spAutoFit/>
          </a:bodyPr>
          <a:lstStyle/>
          <a:p>
            <a:pPr algn="l">
              <a:spcBef>
                <a:spcPts val="0"/>
              </a:spcBef>
              <a:spcAft>
                <a:spcPts val="400"/>
              </a:spcAft>
            </a:pPr>
            <a:r>
              <a:rPr sz="1200" b="1">
                <a:solidFill>
                  <a:srgbClr val="5B6372"/>
                </a:solidFill>
                <a:latin typeface="Arial"/>
              </a:rPr>
              <a:t>node-1</a:t>
            </a:r>
          </a:p>
        </p:txBody>
      </p:sp>
      <p:sp>
        <p:nvSpPr>
          <p:cNvPr id="11" name="Rounded Rectangle 10"/>
          <p:cNvSpPr/>
          <p:nvPr/>
        </p:nvSpPr>
        <p:spPr>
          <a:xfrm>
            <a:off x="3566160" y="2624328"/>
            <a:ext cx="1828800" cy="548640"/>
          </a:xfrm>
          <a:prstGeom prst="roundRect">
            <a:avLst>
              <a:gd name="adj" fmla="val 5000"/>
            </a:avLst>
          </a:prstGeom>
          <a:solidFill>
            <a:srgbClr val="EAF1FE"/>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675888" y="2624328"/>
            <a:ext cx="1609344" cy="548640"/>
          </a:xfrm>
          <a:prstGeom prst="rect">
            <a:avLst/>
          </a:prstGeom>
          <a:noFill/>
        </p:spPr>
        <p:txBody>
          <a:bodyPr wrap="square" anchor="ctr" lIns="0" rIns="0" tIns="0" bIns="0">
            <a:spAutoFit/>
          </a:bodyPr>
          <a:lstStyle/>
          <a:p>
            <a:pPr algn="ctr">
              <a:spcBef>
                <a:spcPts val="0"/>
              </a:spcBef>
              <a:spcAft>
                <a:spcPts val="300"/>
              </a:spcAft>
            </a:pPr>
            <a:r>
              <a:rPr sz="1200" b="1">
                <a:solidFill>
                  <a:srgbClr val="1F6FEB"/>
                </a:solidFill>
                <a:latin typeface="Arial"/>
              </a:rPr>
              <a:t>agent Pod</a:t>
            </a:r>
          </a:p>
        </p:txBody>
      </p:sp>
      <p:sp>
        <p:nvSpPr>
          <p:cNvPr id="13" name="Rounded Rectangle 12"/>
          <p:cNvSpPr/>
          <p:nvPr/>
        </p:nvSpPr>
        <p:spPr>
          <a:xfrm>
            <a:off x="1188720" y="3429000"/>
            <a:ext cx="4343400" cy="777240"/>
          </a:xfrm>
          <a:prstGeom prst="roundRect">
            <a:avLst>
              <a:gd name="adj" fmla="val 5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417320" y="3813048"/>
            <a:ext cx="1463040" cy="292608"/>
          </a:xfrm>
          <a:prstGeom prst="rect">
            <a:avLst/>
          </a:prstGeom>
          <a:noFill/>
        </p:spPr>
        <p:txBody>
          <a:bodyPr wrap="square" anchor="ctr" lIns="0" rIns="0" tIns="0" bIns="0">
            <a:spAutoFit/>
          </a:bodyPr>
          <a:lstStyle/>
          <a:p>
            <a:pPr algn="l">
              <a:spcBef>
                <a:spcPts val="0"/>
              </a:spcBef>
              <a:spcAft>
                <a:spcPts val="400"/>
              </a:spcAft>
            </a:pPr>
            <a:r>
              <a:rPr sz="1200" b="1">
                <a:solidFill>
                  <a:srgbClr val="5B6372"/>
                </a:solidFill>
                <a:latin typeface="Arial"/>
              </a:rPr>
              <a:t>node-2</a:t>
            </a:r>
          </a:p>
        </p:txBody>
      </p:sp>
      <p:sp>
        <p:nvSpPr>
          <p:cNvPr id="15" name="Rounded Rectangle 14"/>
          <p:cNvSpPr/>
          <p:nvPr/>
        </p:nvSpPr>
        <p:spPr>
          <a:xfrm>
            <a:off x="3566160" y="3538728"/>
            <a:ext cx="1828800" cy="548640"/>
          </a:xfrm>
          <a:prstGeom prst="roundRect">
            <a:avLst>
              <a:gd name="adj" fmla="val 5000"/>
            </a:avLst>
          </a:prstGeom>
          <a:solidFill>
            <a:srgbClr val="EAF1FE"/>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75888" y="3538728"/>
            <a:ext cx="1609344" cy="548640"/>
          </a:xfrm>
          <a:prstGeom prst="rect">
            <a:avLst/>
          </a:prstGeom>
          <a:noFill/>
        </p:spPr>
        <p:txBody>
          <a:bodyPr wrap="square" anchor="ctr" lIns="0" rIns="0" tIns="0" bIns="0">
            <a:spAutoFit/>
          </a:bodyPr>
          <a:lstStyle/>
          <a:p>
            <a:pPr algn="ctr">
              <a:spcBef>
                <a:spcPts val="0"/>
              </a:spcBef>
              <a:spcAft>
                <a:spcPts val="300"/>
              </a:spcAft>
            </a:pPr>
            <a:r>
              <a:rPr sz="1200" b="1">
                <a:solidFill>
                  <a:srgbClr val="1F6FEB"/>
                </a:solidFill>
                <a:latin typeface="Arial"/>
              </a:rPr>
              <a:t>agent Pod</a:t>
            </a:r>
          </a:p>
        </p:txBody>
      </p:sp>
      <p:sp>
        <p:nvSpPr>
          <p:cNvPr id="17" name="Rounded Rectangle 16"/>
          <p:cNvSpPr/>
          <p:nvPr/>
        </p:nvSpPr>
        <p:spPr>
          <a:xfrm>
            <a:off x="1188720" y="4343400"/>
            <a:ext cx="4343400" cy="777240"/>
          </a:xfrm>
          <a:prstGeom prst="roundRect">
            <a:avLst>
              <a:gd name="adj" fmla="val 5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417320" y="4727448"/>
            <a:ext cx="1463040" cy="292608"/>
          </a:xfrm>
          <a:prstGeom prst="rect">
            <a:avLst/>
          </a:prstGeom>
          <a:noFill/>
        </p:spPr>
        <p:txBody>
          <a:bodyPr wrap="square" anchor="ctr" lIns="0" rIns="0" tIns="0" bIns="0">
            <a:spAutoFit/>
          </a:bodyPr>
          <a:lstStyle/>
          <a:p>
            <a:pPr algn="l">
              <a:spcBef>
                <a:spcPts val="0"/>
              </a:spcBef>
              <a:spcAft>
                <a:spcPts val="400"/>
              </a:spcAft>
            </a:pPr>
            <a:r>
              <a:rPr sz="1200" b="1">
                <a:solidFill>
                  <a:srgbClr val="5B6372"/>
                </a:solidFill>
                <a:latin typeface="Arial"/>
              </a:rPr>
              <a:t>node-3</a:t>
            </a:r>
          </a:p>
        </p:txBody>
      </p:sp>
      <p:sp>
        <p:nvSpPr>
          <p:cNvPr id="19" name="Rounded Rectangle 18"/>
          <p:cNvSpPr/>
          <p:nvPr/>
        </p:nvSpPr>
        <p:spPr>
          <a:xfrm>
            <a:off x="3566160" y="4453128"/>
            <a:ext cx="1828800" cy="548640"/>
          </a:xfrm>
          <a:prstGeom prst="roundRect">
            <a:avLst>
              <a:gd name="adj" fmla="val 5000"/>
            </a:avLst>
          </a:prstGeom>
          <a:solidFill>
            <a:srgbClr val="EAF1FE"/>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675888" y="4453128"/>
            <a:ext cx="1609344" cy="548640"/>
          </a:xfrm>
          <a:prstGeom prst="rect">
            <a:avLst/>
          </a:prstGeom>
          <a:noFill/>
        </p:spPr>
        <p:txBody>
          <a:bodyPr wrap="square" anchor="ctr" lIns="0" rIns="0" tIns="0" bIns="0">
            <a:spAutoFit/>
          </a:bodyPr>
          <a:lstStyle/>
          <a:p>
            <a:pPr algn="ctr">
              <a:spcBef>
                <a:spcPts val="0"/>
              </a:spcBef>
              <a:spcAft>
                <a:spcPts val="300"/>
              </a:spcAft>
            </a:pPr>
            <a:r>
              <a:rPr sz="1200" b="1">
                <a:solidFill>
                  <a:srgbClr val="1F6FEB"/>
                </a:solidFill>
                <a:latin typeface="Arial"/>
              </a:rPr>
              <a:t>agent Pod</a:t>
            </a:r>
          </a:p>
        </p:txBody>
      </p:sp>
      <p:sp>
        <p:nvSpPr>
          <p:cNvPr id="21" name="Rounded Rectangle 20"/>
          <p:cNvSpPr/>
          <p:nvPr/>
        </p:nvSpPr>
        <p:spPr>
          <a:xfrm>
            <a:off x="6263640" y="1828800"/>
            <a:ext cx="5166360" cy="3657600"/>
          </a:xfrm>
          <a:prstGeom prst="roundRect">
            <a:avLst>
              <a:gd name="adj" fmla="val 5000"/>
            </a:avLst>
          </a:prstGeom>
          <a:solidFill>
            <a:srgbClr val="F8FBF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263640" y="1975104"/>
            <a:ext cx="5166360" cy="292608"/>
          </a:xfrm>
          <a:prstGeom prst="rect">
            <a:avLst/>
          </a:prstGeom>
          <a:noFill/>
        </p:spPr>
        <p:txBody>
          <a:bodyPr wrap="square" anchor="ctr" lIns="0" rIns="0" tIns="0" bIns="0">
            <a:spAutoFit/>
          </a:bodyPr>
          <a:lstStyle/>
          <a:p>
            <a:pPr algn="ctr">
              <a:spcBef>
                <a:spcPts val="0"/>
              </a:spcBef>
              <a:spcAft>
                <a:spcPts val="400"/>
              </a:spcAft>
            </a:pPr>
            <a:r>
              <a:rPr sz="1500" b="1">
                <a:solidFill>
                  <a:srgbClr val="10B981"/>
                </a:solidFill>
                <a:latin typeface="Arial"/>
              </a:rPr>
              <a:t>StatefulSet — ordered, stable names</a:t>
            </a:r>
          </a:p>
        </p:txBody>
      </p:sp>
      <p:sp>
        <p:nvSpPr>
          <p:cNvPr id="23" name="Rounded Rectangle 22"/>
          <p:cNvSpPr/>
          <p:nvPr/>
        </p:nvSpPr>
        <p:spPr>
          <a:xfrm>
            <a:off x="7543800" y="2468880"/>
            <a:ext cx="2606040" cy="640080"/>
          </a:xfrm>
          <a:prstGeom prst="roundRect">
            <a:avLst>
              <a:gd name="adj" fmla="val 5000"/>
            </a:avLst>
          </a:prstGeom>
          <a:solidFill>
            <a:srgbClr val="FFFFFF"/>
          </a:solidFill>
          <a:ln w="12700">
            <a:solidFill>
              <a:srgbClr val="161B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653528" y="2468880"/>
            <a:ext cx="2386584" cy="640080"/>
          </a:xfrm>
          <a:prstGeom prst="rect">
            <a:avLst/>
          </a:prstGeom>
          <a:noFill/>
        </p:spPr>
        <p:txBody>
          <a:bodyPr wrap="square" anchor="ctr" lIns="0" rIns="0" tIns="0" bIns="0">
            <a:spAutoFit/>
          </a:bodyPr>
          <a:lstStyle/>
          <a:p>
            <a:pPr algn="ctr">
              <a:spcBef>
                <a:spcPts val="0"/>
              </a:spcBef>
              <a:spcAft>
                <a:spcPts val="300"/>
              </a:spcAft>
            </a:pPr>
            <a:r>
              <a:rPr sz="1200" b="1">
                <a:solidFill>
                  <a:srgbClr val="161B26"/>
                </a:solidFill>
                <a:latin typeface="Arial"/>
              </a:rPr>
              <a:t>headless Service (db)</a:t>
            </a:r>
          </a:p>
          <a:p>
            <a:pPr algn="ctr">
              <a:spcBef>
                <a:spcPts val="0"/>
              </a:spcBef>
              <a:spcAft>
                <a:spcPts val="300"/>
              </a:spcAft>
            </a:pPr>
            <a:r>
              <a:rPr sz="1000" b="0">
                <a:solidFill>
                  <a:srgbClr val="5B6372"/>
                </a:solidFill>
                <a:latin typeface="Arial"/>
              </a:rPr>
              <a:t>clusterIP: None</a:t>
            </a:r>
          </a:p>
        </p:txBody>
      </p:sp>
      <p:sp>
        <p:nvSpPr>
          <p:cNvPr id="25" name="Rounded Rectangle 24"/>
          <p:cNvSpPr/>
          <p:nvPr/>
        </p:nvSpPr>
        <p:spPr>
          <a:xfrm>
            <a:off x="7178040" y="3337560"/>
            <a:ext cx="3337560" cy="548640"/>
          </a:xfrm>
          <a:prstGeom prst="roundRect">
            <a:avLst>
              <a:gd name="adj" fmla="val 5000"/>
            </a:avLst>
          </a:prstGeom>
          <a:solidFill>
            <a:srgbClr val="E8F7EE"/>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287768" y="3337560"/>
            <a:ext cx="3118104" cy="548640"/>
          </a:xfrm>
          <a:prstGeom prst="rect">
            <a:avLst/>
          </a:prstGeom>
          <a:noFill/>
        </p:spPr>
        <p:txBody>
          <a:bodyPr wrap="square" anchor="ctr" lIns="0" rIns="0" tIns="0" bIns="0">
            <a:spAutoFit/>
          </a:bodyPr>
          <a:lstStyle/>
          <a:p>
            <a:pPr algn="ctr">
              <a:spcBef>
                <a:spcPts val="0"/>
              </a:spcBef>
              <a:spcAft>
                <a:spcPts val="300"/>
              </a:spcAft>
            </a:pPr>
            <a:r>
              <a:rPr sz="1300" b="1">
                <a:solidFill>
                  <a:srgbClr val="10B981"/>
                </a:solidFill>
                <a:latin typeface="Arial"/>
              </a:rPr>
              <a:t>db-0</a:t>
            </a:r>
          </a:p>
          <a:p>
            <a:pPr algn="ctr">
              <a:spcBef>
                <a:spcPts val="0"/>
              </a:spcBef>
              <a:spcAft>
                <a:spcPts val="300"/>
              </a:spcAft>
            </a:pPr>
            <a:r>
              <a:rPr sz="1000" b="0">
                <a:solidFill>
                  <a:srgbClr val="5B6372"/>
                </a:solidFill>
                <a:latin typeface="Arial"/>
              </a:rPr>
              <a:t>PVC db-data-db-0</a:t>
            </a:r>
          </a:p>
        </p:txBody>
      </p:sp>
      <p:sp>
        <p:nvSpPr>
          <p:cNvPr id="27" name="Rounded Rectangle 26"/>
          <p:cNvSpPr/>
          <p:nvPr/>
        </p:nvSpPr>
        <p:spPr>
          <a:xfrm>
            <a:off x="7178040" y="3995928"/>
            <a:ext cx="3337560" cy="548640"/>
          </a:xfrm>
          <a:prstGeom prst="roundRect">
            <a:avLst>
              <a:gd name="adj" fmla="val 5000"/>
            </a:avLst>
          </a:prstGeom>
          <a:solidFill>
            <a:srgbClr val="E8F7EE"/>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287768" y="3995928"/>
            <a:ext cx="3118104" cy="548640"/>
          </a:xfrm>
          <a:prstGeom prst="rect">
            <a:avLst/>
          </a:prstGeom>
          <a:noFill/>
        </p:spPr>
        <p:txBody>
          <a:bodyPr wrap="square" anchor="ctr" lIns="0" rIns="0" tIns="0" bIns="0">
            <a:spAutoFit/>
          </a:bodyPr>
          <a:lstStyle/>
          <a:p>
            <a:pPr algn="ctr">
              <a:spcBef>
                <a:spcPts val="0"/>
              </a:spcBef>
              <a:spcAft>
                <a:spcPts val="300"/>
              </a:spcAft>
            </a:pPr>
            <a:r>
              <a:rPr sz="1300" b="1">
                <a:solidFill>
                  <a:srgbClr val="10B981"/>
                </a:solidFill>
                <a:latin typeface="Arial"/>
              </a:rPr>
              <a:t>db-1</a:t>
            </a:r>
          </a:p>
          <a:p>
            <a:pPr algn="ctr">
              <a:spcBef>
                <a:spcPts val="0"/>
              </a:spcBef>
              <a:spcAft>
                <a:spcPts val="300"/>
              </a:spcAft>
            </a:pPr>
            <a:r>
              <a:rPr sz="1000" b="0">
                <a:solidFill>
                  <a:srgbClr val="5B6372"/>
                </a:solidFill>
                <a:latin typeface="Arial"/>
              </a:rPr>
              <a:t>PVC db-data-db-1</a:t>
            </a:r>
          </a:p>
        </p:txBody>
      </p:sp>
      <p:sp>
        <p:nvSpPr>
          <p:cNvPr id="29" name="Rounded Rectangle 28"/>
          <p:cNvSpPr/>
          <p:nvPr/>
        </p:nvSpPr>
        <p:spPr>
          <a:xfrm>
            <a:off x="7178040" y="4654296"/>
            <a:ext cx="3337560" cy="548640"/>
          </a:xfrm>
          <a:prstGeom prst="roundRect">
            <a:avLst>
              <a:gd name="adj" fmla="val 5000"/>
            </a:avLst>
          </a:prstGeom>
          <a:solidFill>
            <a:srgbClr val="FFFFF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287768" y="4654296"/>
            <a:ext cx="3118104" cy="548640"/>
          </a:xfrm>
          <a:prstGeom prst="rect">
            <a:avLst/>
          </a:prstGeom>
          <a:noFill/>
        </p:spPr>
        <p:txBody>
          <a:bodyPr wrap="square" anchor="ctr" lIns="0" rIns="0" tIns="0" bIns="0">
            <a:spAutoFit/>
          </a:bodyPr>
          <a:lstStyle/>
          <a:p>
            <a:pPr algn="ctr">
              <a:spcBef>
                <a:spcPts val="0"/>
              </a:spcBef>
              <a:spcAft>
                <a:spcPts val="300"/>
              </a:spcAft>
            </a:pPr>
            <a:r>
              <a:rPr sz="1300" b="1">
                <a:solidFill>
                  <a:srgbClr val="10B981"/>
                </a:solidFill>
                <a:latin typeface="Arial"/>
              </a:rPr>
              <a:t>db-2</a:t>
            </a:r>
          </a:p>
          <a:p>
            <a:pPr algn="ctr">
              <a:spcBef>
                <a:spcPts val="0"/>
              </a:spcBef>
              <a:spcAft>
                <a:spcPts val="300"/>
              </a:spcAft>
            </a:pPr>
            <a:r>
              <a:rPr sz="1000" b="0">
                <a:solidFill>
                  <a:srgbClr val="5B6372"/>
                </a:solidFill>
                <a:latin typeface="Arial"/>
              </a:rPr>
              <a:t>PVC db-data-db-2</a:t>
            </a:r>
          </a:p>
        </p:txBody>
      </p:sp>
      <p:sp>
        <p:nvSpPr>
          <p:cNvPr id="31" name="Rounded Rectangle 30"/>
          <p:cNvSpPr/>
          <p:nvPr/>
        </p:nvSpPr>
        <p:spPr>
          <a:xfrm>
            <a:off x="777240" y="5943600"/>
            <a:ext cx="10652760" cy="502920"/>
          </a:xfrm>
          <a:prstGeom prst="roundRect">
            <a:avLst>
              <a:gd name="adj" fmla="val 5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051560" y="5943600"/>
            <a:ext cx="10149840" cy="502920"/>
          </a:xfrm>
          <a:prstGeom prst="rect">
            <a:avLst/>
          </a:prstGeom>
          <a:noFill/>
        </p:spPr>
        <p:txBody>
          <a:bodyPr wrap="square" anchor="ctr" lIns="0" rIns="0" tIns="0" bIns="0">
            <a:spAutoFit/>
          </a:bodyPr>
          <a:lstStyle/>
          <a:p>
            <a:pPr algn="l">
              <a:spcBef>
                <a:spcPts val="0"/>
              </a:spcBef>
              <a:spcAft>
                <a:spcPts val="400"/>
              </a:spcAft>
            </a:pPr>
            <a:r>
              <a:rPr sz="1300" b="0">
                <a:solidFill>
                  <a:srgbClr val="5B6372"/>
                </a:solidFill>
                <a:latin typeface="Arial"/>
              </a:rPr>
              <a:t>DaemonSet scales with the cluster; StatefulSet gives </a:t>
            </a:r>
            <a:r>
              <a:rPr sz="1300" b="1">
                <a:solidFill>
                  <a:srgbClr val="161B26"/>
                </a:solidFill>
                <a:latin typeface="Arial"/>
              </a:rPr>
              <a:t>stable network identity</a:t>
            </a:r>
            <a:r>
              <a:rPr sz="1300" b="0">
                <a:solidFill>
                  <a:srgbClr val="5B6372"/>
                </a:solidFill>
                <a:latin typeface="Arial"/>
              </a:rPr>
              <a:t> and ordered start/stop — essential for databases.</a:t>
            </a:r>
          </a:p>
        </p:txBody>
      </p:sp>
      <p:sp>
        <p:nvSpPr>
          <p:cNvPr id="33" name="TextBox 32"/>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34" name="TextBox 33"/>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35" name="TextBox 34"/>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132</a:t>
            </a:r>
          </a:p>
        </p:txBody>
      </p:sp>
    </p:spTree>
  </p:cSld>
  <p:clrMapOvr>
    <a:masterClrMapping/>
  </p:clrMapOvr>
</p:sld>
</file>

<file path=ppt/slides/slide1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DAY 2 · HPA</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HPA v2: metrics-server, HorizontalPodAutoscaler, Load Test, Watch Scale</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64208"/>
            <a:ext cx="169164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09928"/>
            <a:ext cx="1691640" cy="365760"/>
          </a:xfrm>
          <a:prstGeom prst="rect">
            <a:avLst/>
          </a:prstGeom>
          <a:noFill/>
        </p:spPr>
        <p:txBody>
          <a:bodyPr wrap="square" anchor="t" lIns="0" rIns="0" tIns="0" bIns="0">
            <a:spAutoFit/>
          </a:bodyPr>
          <a:lstStyle/>
          <a:p>
            <a:pPr algn="ctr">
              <a:spcBef>
                <a:spcPts val="0"/>
              </a:spcBef>
              <a:spcAft>
                <a:spcPts val="400"/>
              </a:spcAft>
            </a:pPr>
            <a:r>
              <a:rPr sz="1600" b="1">
                <a:solidFill>
                  <a:srgbClr val="FFFFFF"/>
                </a:solidFill>
                <a:latin typeface="Arial"/>
              </a:rPr>
              <a:t>LAB 14</a:t>
            </a:r>
          </a:p>
        </p:txBody>
      </p:sp>
      <p:sp>
        <p:nvSpPr>
          <p:cNvPr id="9" name="TextBox 8"/>
          <p:cNvSpPr txBox="1"/>
          <p:nvPr/>
        </p:nvSpPr>
        <p:spPr>
          <a:xfrm>
            <a:off x="2697480" y="1691640"/>
            <a:ext cx="8778240" cy="411480"/>
          </a:xfrm>
          <a:prstGeom prst="rect">
            <a:avLst/>
          </a:prstGeom>
          <a:noFill/>
        </p:spPr>
        <p:txBody>
          <a:bodyPr wrap="square" anchor="ctr" lIns="0" rIns="0" tIns="0" bIns="0">
            <a:spAutoFit/>
          </a:bodyPr>
          <a:lstStyle/>
          <a:p>
            <a:pPr algn="l">
              <a:spcBef>
                <a:spcPts val="0"/>
              </a:spcBef>
              <a:spcAft>
                <a:spcPts val="400"/>
              </a:spcAft>
            </a:pPr>
            <a:r>
              <a:rPr sz="1400" b="1">
                <a:solidFill>
                  <a:srgbClr val="5B6372"/>
                </a:solidFill>
                <a:latin typeface="Arial"/>
              </a:rPr>
              <a:t>Horizontal Pod Autoscaling</a:t>
            </a:r>
          </a:p>
        </p:txBody>
      </p:sp>
      <p:sp>
        <p:nvSpPr>
          <p:cNvPr id="10" name="TextBox 9"/>
          <p:cNvSpPr txBox="1"/>
          <p:nvPr/>
        </p:nvSpPr>
        <p:spPr>
          <a:xfrm>
            <a:off x="777240" y="2286000"/>
            <a:ext cx="10698480" cy="1554480"/>
          </a:xfrm>
          <a:prstGeom prst="rect">
            <a:avLst/>
          </a:prstGeom>
          <a:noFill/>
        </p:spPr>
        <p:txBody>
          <a:bodyPr wrap="square" anchor="t" lIns="0" rIns="0" tIns="0" bIns="0">
            <a:spAutoFit/>
          </a:bodyPr>
          <a:lstStyle/>
          <a:p>
            <a:pPr algn="l">
              <a:spcBef>
                <a:spcPts val="0"/>
              </a:spcBef>
              <a:spcAft>
                <a:spcPts val="400"/>
              </a:spcAft>
            </a:pPr>
            <a:r>
              <a:rPr sz="1900" b="0">
                <a:solidFill>
                  <a:srgbClr val="161B26"/>
                </a:solidFill>
                <a:latin typeface="Arial"/>
              </a:rPr>
              <a:t>Install metrics-server to provide CPU metrics, create an HPA using autoscaling/v2 API, generate CPU load, and watch the HPA scale up then back down. HPA requires resource requests on containers; without them, utilization cannot be calculated.</a:t>
            </a:r>
          </a:p>
        </p:txBody>
      </p:sp>
      <p:sp>
        <p:nvSpPr>
          <p:cNvPr id="11" name="Rounded Rectangle 10"/>
          <p:cNvSpPr/>
          <p:nvPr/>
        </p:nvSpPr>
        <p:spPr>
          <a:xfrm>
            <a:off x="777240" y="4069080"/>
            <a:ext cx="10698480" cy="1783080"/>
          </a:xfrm>
          <a:prstGeom prst="roundRect">
            <a:avLst>
              <a:gd name="adj" fmla="val 5000"/>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05840" y="4251960"/>
            <a:ext cx="10058400" cy="365760"/>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You'll build</a:t>
            </a:r>
          </a:p>
        </p:txBody>
      </p:sp>
      <p:sp>
        <p:nvSpPr>
          <p:cNvPr id="13" name="TextBox 12"/>
          <p:cNvSpPr txBox="1"/>
          <p:nvPr/>
        </p:nvSpPr>
        <p:spPr>
          <a:xfrm>
            <a:off x="1005840" y="4617720"/>
            <a:ext cx="10241280" cy="640080"/>
          </a:xfrm>
          <a:prstGeom prst="rect">
            <a:avLst/>
          </a:prstGeom>
          <a:noFill/>
        </p:spPr>
        <p:txBody>
          <a:bodyPr wrap="square" anchor="t" lIns="0" rIns="0" tIns="0" bIns="0">
            <a:spAutoFit/>
          </a:bodyPr>
          <a:lstStyle/>
          <a:p>
            <a:pPr algn="l">
              <a:spcBef>
                <a:spcPts val="0"/>
              </a:spcBef>
              <a:spcAft>
                <a:spcPts val="400"/>
              </a:spcAft>
            </a:pPr>
            <a:r>
              <a:rPr sz="1700" b="1">
                <a:solidFill>
                  <a:srgbClr val="161B26"/>
                </a:solidFill>
                <a:latin typeface="Arial"/>
              </a:rPr>
              <a:t>Install metrics-server (with --kubelet-insecure-tls patch), create HPA targeting 50% CPU, run stress test, watch scale-up, wait for scale-down.</a:t>
            </a:r>
          </a:p>
        </p:txBody>
      </p:sp>
      <p:sp>
        <p:nvSpPr>
          <p:cNvPr id="14" name="TextBox 13"/>
          <p:cNvSpPr txBox="1"/>
          <p:nvPr/>
        </p:nvSpPr>
        <p:spPr>
          <a:xfrm>
            <a:off x="1005840" y="5349240"/>
            <a:ext cx="10058400" cy="457200"/>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Key commands:  </a:t>
            </a:r>
            <a:r>
              <a:rPr sz="1300" b="0">
                <a:solidFill>
                  <a:srgbClr val="5B6372"/>
                </a:solidFill>
                <a:latin typeface="Arial"/>
              </a:rPr>
              <a:t>kubectl apply · kubectl create · kubectl autoscale · kubectl run · » HPA</a:t>
            </a:r>
          </a:p>
        </p:txBody>
      </p:sp>
      <p:sp>
        <p:nvSpPr>
          <p:cNvPr id="15" name="TextBox 14"/>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6" name="TextBox 15"/>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7" name="TextBox 16"/>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133</a:t>
            </a:r>
          </a:p>
        </p:txBody>
      </p:sp>
    </p:spTree>
  </p:cSld>
  <p:clrMapOvr>
    <a:masterClrMapping/>
  </p:clrMapOvr>
</p:sld>
</file>

<file path=ppt/slides/slide1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14  ·  COMMANDS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HPA v2: metrics-server, HorizontalPodAutoscaler, Load Test, Watch Scale</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91640"/>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Step 1 -- Install metrics-server</a:t>
            </a:r>
          </a:p>
        </p:txBody>
      </p:sp>
      <p:sp>
        <p:nvSpPr>
          <p:cNvPr id="8" name="Rounded Rectangle 7"/>
          <p:cNvSpPr/>
          <p:nvPr/>
        </p:nvSpPr>
        <p:spPr>
          <a:xfrm>
            <a:off x="777240" y="2075688"/>
            <a:ext cx="10652760" cy="896112"/>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075688"/>
            <a:ext cx="82296" cy="896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6" y="2139696"/>
            <a:ext cx="10323576" cy="804672"/>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kubectl apply -f https://github.com/kubernetes-sigs/metrics-server/releases/latest/download/components.yaml</a:t>
            </a:r>
          </a:p>
          <a:p>
            <a:pPr>
              <a:spcBef>
                <a:spcPts val="0"/>
              </a:spcBef>
              <a:spcAft>
                <a:spcPts val="0"/>
              </a:spcAft>
            </a:pPr>
            <a:r>
              <a:rPr sz="1050">
                <a:solidFill>
                  <a:srgbClr val="161B26"/>
                </a:solidFill>
                <a:latin typeface="Consolas"/>
              </a:rPr>
              <a:t>kubectl patch deployment metrics-server -n kube-system --type=json \</a:t>
            </a:r>
          </a:p>
          <a:p>
            <a:pPr>
              <a:spcBef>
                <a:spcPts val="0"/>
              </a:spcBef>
              <a:spcAft>
                <a:spcPts val="0"/>
              </a:spcAft>
            </a:pPr>
            <a:r>
              <a:rPr sz="1050">
                <a:solidFill>
                  <a:srgbClr val="161B26"/>
                </a:solidFill>
                <a:latin typeface="Consolas"/>
              </a:rPr>
              <a:t>  -p='[{"op":"add","path":"/spec/template/spec/containers/0/args/-","value":"--kubelet-insecure-tls"}]'</a:t>
            </a:r>
          </a:p>
          <a:p>
            <a:pPr>
              <a:spcBef>
                <a:spcPts val="0"/>
              </a:spcBef>
              <a:spcAft>
                <a:spcPts val="0"/>
              </a:spcAft>
            </a:pPr>
            <a:r>
              <a:rPr sz="1050">
                <a:solidFill>
                  <a:srgbClr val="161B26"/>
                </a:solidFill>
                <a:latin typeface="Consolas"/>
              </a:rPr>
              <a:t>until kubectl top node 2&gt;/dev/null; do echo 'waiting...'; sleep 5; done</a:t>
            </a:r>
          </a:p>
        </p:txBody>
      </p:sp>
      <p:sp>
        <p:nvSpPr>
          <p:cNvPr id="11" name="TextBox 10"/>
          <p:cNvSpPr txBox="1"/>
          <p:nvPr/>
        </p:nvSpPr>
        <p:spPr>
          <a:xfrm>
            <a:off x="777240" y="3154680"/>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Step 2 -- Deployment with resource requests</a:t>
            </a:r>
          </a:p>
        </p:txBody>
      </p:sp>
      <p:sp>
        <p:nvSpPr>
          <p:cNvPr id="12" name="Rounded Rectangle 11"/>
          <p:cNvSpPr/>
          <p:nvPr/>
        </p:nvSpPr>
        <p:spPr>
          <a:xfrm>
            <a:off x="777240" y="3538728"/>
            <a:ext cx="10652760" cy="708660"/>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3538728"/>
            <a:ext cx="82296" cy="7086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3602736"/>
            <a:ext cx="10323576" cy="617220"/>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kubectl create deployment cpu-app --image=nginx --replicas=1</a:t>
            </a:r>
          </a:p>
          <a:p>
            <a:pPr>
              <a:spcBef>
                <a:spcPts val="0"/>
              </a:spcBef>
              <a:spcAft>
                <a:spcPts val="0"/>
              </a:spcAft>
            </a:pPr>
            <a:r>
              <a:rPr sz="1050">
                <a:solidFill>
                  <a:srgbClr val="161B26"/>
                </a:solidFill>
                <a:latin typeface="Consolas"/>
              </a:rPr>
              <a:t>kubectl set resources deployment cpu-app --containers=nginx \</a:t>
            </a:r>
          </a:p>
          <a:p>
            <a:pPr>
              <a:spcBef>
                <a:spcPts val="0"/>
              </a:spcBef>
              <a:spcAft>
                <a:spcPts val="0"/>
              </a:spcAft>
            </a:pPr>
            <a:r>
              <a:rPr sz="1050">
                <a:solidFill>
                  <a:srgbClr val="161B26"/>
                </a:solidFill>
                <a:latin typeface="Consolas"/>
              </a:rPr>
              <a:t>  --requests=cpu=100m --limits=cpu=500m</a:t>
            </a:r>
          </a:p>
        </p:txBody>
      </p:sp>
      <p:sp>
        <p:nvSpPr>
          <p:cNvPr id="15" name="TextBox 14"/>
          <p:cNvSpPr txBox="1"/>
          <p:nvPr/>
        </p:nvSpPr>
        <p:spPr>
          <a:xfrm>
            <a:off x="777240" y="4430268"/>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Step 3 -- Create HPA</a:t>
            </a:r>
          </a:p>
        </p:txBody>
      </p:sp>
      <p:sp>
        <p:nvSpPr>
          <p:cNvPr id="16" name="Rounded Rectangle 15"/>
          <p:cNvSpPr/>
          <p:nvPr/>
        </p:nvSpPr>
        <p:spPr>
          <a:xfrm>
            <a:off x="777240" y="4814316"/>
            <a:ext cx="10652760" cy="521207"/>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77240" y="4814316"/>
            <a:ext cx="82296" cy="521207"/>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96696" y="4878324"/>
            <a:ext cx="10323576" cy="429767"/>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kubectl autoscale deployment cpu-app --min=1 --max=10 --cpu-percent=50</a:t>
            </a:r>
          </a:p>
          <a:p>
            <a:pPr>
              <a:spcBef>
                <a:spcPts val="0"/>
              </a:spcBef>
              <a:spcAft>
                <a:spcPts val="0"/>
              </a:spcAft>
            </a:pPr>
            <a:r>
              <a:rPr sz="1050">
                <a:solidFill>
                  <a:srgbClr val="161B26"/>
                </a:solidFill>
                <a:latin typeface="Consolas"/>
              </a:rPr>
              <a:t>kubectl get hpa &amp;&amp; kubectl describe hpa cpu-app</a:t>
            </a:r>
          </a:p>
        </p:txBody>
      </p:sp>
      <p:sp>
        <p:nvSpPr>
          <p:cNvPr id="19" name="TextBox 18"/>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20" name="TextBox 19"/>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21" name="TextBox 20"/>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134</a:t>
            </a:r>
          </a:p>
        </p:txBody>
      </p:sp>
    </p:spTree>
  </p:cSld>
  <p:clrMapOvr>
    <a:masterClrMapping/>
  </p:clrMapOvr>
</p:sld>
</file>

<file path=ppt/slides/slide1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14  ·  COMMANDS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HPA v2: metrics-server, HorizontalPodAutoscaler, Load Test, Watch Scale (cont.)</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91640"/>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Step 4 -- Generate load and watch scaling</a:t>
            </a:r>
          </a:p>
        </p:txBody>
      </p:sp>
      <p:sp>
        <p:nvSpPr>
          <p:cNvPr id="8" name="Rounded Rectangle 7"/>
          <p:cNvSpPr/>
          <p:nvPr/>
        </p:nvSpPr>
        <p:spPr>
          <a:xfrm>
            <a:off x="777240" y="2075688"/>
            <a:ext cx="10652760" cy="896112"/>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075688"/>
            <a:ext cx="82296" cy="896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6" y="2139696"/>
            <a:ext cx="10323576" cy="804672"/>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kubectl run load-gen --image=busybox --restart=Never \</a:t>
            </a:r>
          </a:p>
          <a:p>
            <a:pPr>
              <a:spcBef>
                <a:spcPts val="0"/>
              </a:spcBef>
              <a:spcAft>
                <a:spcPts val="0"/>
              </a:spcAft>
            </a:pPr>
            <a:r>
              <a:rPr sz="1050">
                <a:solidFill>
                  <a:srgbClr val="161B26"/>
                </a:solidFill>
                <a:latin typeface="Consolas"/>
              </a:rPr>
              <a:t>  -- sh -c 'while true; do wget -q -O- http://cpu-app; done'</a:t>
            </a:r>
          </a:p>
          <a:p>
            <a:pPr>
              <a:spcBef>
                <a:spcPts val="0"/>
              </a:spcBef>
              <a:spcAft>
                <a:spcPts val="0"/>
              </a:spcAft>
            </a:pPr>
            <a:r>
              <a:rPr sz="1050">
                <a:solidFill>
                  <a:srgbClr val="161B26"/>
                </a:solidFill>
                <a:latin typeface="Consolas"/>
              </a:rPr>
              <a:t>kubectl get hpa cpu-app -w</a:t>
            </a:r>
          </a:p>
          <a:p>
            <a:pPr>
              <a:spcBef>
                <a:spcPts val="0"/>
              </a:spcBef>
              <a:spcAft>
                <a:spcPts val="0"/>
              </a:spcAft>
            </a:pPr>
            <a:r>
              <a:rPr sz="1050">
                <a:solidFill>
                  <a:srgbClr val="161B26"/>
                </a:solidFill>
                <a:latin typeface="Consolas"/>
              </a:rPr>
              <a:t>kubectl get pods -w</a:t>
            </a:r>
          </a:p>
        </p:txBody>
      </p:sp>
      <p:sp>
        <p:nvSpPr>
          <p:cNvPr id="11" name="TextBox 10"/>
          <p:cNvSpPr txBox="1"/>
          <p:nvPr/>
        </p:nvSpPr>
        <p:spPr>
          <a:xfrm>
            <a:off x="777240" y="3154680"/>
            <a:ext cx="10652760" cy="310896"/>
          </a:xfrm>
          <a:prstGeom prst="rect">
            <a:avLst/>
          </a:prstGeom>
          <a:noFill/>
        </p:spPr>
        <p:txBody>
          <a:bodyPr wrap="square" anchor="t" lIns="0" rIns="0" tIns="0" bIns="0">
            <a:spAutoFit/>
          </a:bodyPr>
          <a:lstStyle/>
          <a:p>
            <a:pPr algn="l">
              <a:spcBef>
                <a:spcPts val="0"/>
              </a:spcBef>
              <a:spcAft>
                <a:spcPts val="400"/>
              </a:spcAft>
            </a:pPr>
            <a:r>
              <a:rPr sz="1300" b="1">
                <a:solidFill>
                  <a:srgbClr val="F59E0B"/>
                </a:solidFill>
                <a:latin typeface="Arial"/>
              </a:rPr>
              <a:t>Note   </a:t>
            </a:r>
            <a:r>
              <a:rPr sz="1300" b="0">
                <a:solidFill>
                  <a:srgbClr val="5B6372"/>
                </a:solidFill>
                <a:latin typeface="Arial"/>
              </a:rPr>
              <a:t>HPA requires resource requests -- without them metrics-server cannot calculate % utilization. Scale-down has a 5-minute cooldown by default.</a:t>
            </a:r>
          </a:p>
        </p:txBody>
      </p:sp>
      <p:sp>
        <p:nvSpPr>
          <p:cNvPr id="12" name="TextBox 11"/>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3" name="TextBox 12"/>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4" name="TextBox 13"/>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135</a:t>
            </a:r>
          </a:p>
        </p:txBody>
      </p:sp>
    </p:spTree>
  </p:cSld>
  <p:clrMapOvr>
    <a:masterClrMapping/>
  </p:clrMapOvr>
</p:sld>
</file>

<file path=ppt/slides/slide1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14  ·  TEST IT</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HPA v2: metrics-server, HorizontalPodAutoscaler, Load Test, Watch Scale</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03120"/>
            <a:ext cx="10698480" cy="2560320"/>
          </a:xfrm>
          <a:prstGeom prst="roundRect">
            <a:avLst>
              <a:gd name="adj" fmla="val 5000"/>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lIns="0" rIns="0" tIns="0" bIns="0">
            <a:spAutoFit/>
          </a:bodyPr>
          <a:lstStyle/>
          <a:p>
            <a:pPr algn="l">
              <a:spcBef>
                <a:spcPts val="0"/>
              </a:spcBef>
              <a:spcAft>
                <a:spcPts val="400"/>
              </a:spcAft>
            </a:pPr>
            <a:r>
              <a:rPr sz="2200" b="1">
                <a:solidFill>
                  <a:srgbClr val="127A3E"/>
                </a:solidFill>
                <a:latin typeface="Arial"/>
              </a:rPr>
              <a:t>✅  Test it</a:t>
            </a:r>
          </a:p>
        </p:txBody>
      </p:sp>
      <p:sp>
        <p:nvSpPr>
          <p:cNvPr id="9" name="TextBox 8"/>
          <p:cNvSpPr txBox="1"/>
          <p:nvPr/>
        </p:nvSpPr>
        <p:spPr>
          <a:xfrm>
            <a:off x="1097280" y="3017520"/>
            <a:ext cx="10149840" cy="1463040"/>
          </a:xfrm>
          <a:prstGeom prst="rect">
            <a:avLst/>
          </a:prstGeom>
          <a:noFill/>
        </p:spPr>
        <p:txBody>
          <a:bodyPr wrap="square" anchor="t" lIns="0" rIns="0" tIns="0" bIns="0">
            <a:spAutoFit/>
          </a:bodyPr>
          <a:lstStyle/>
          <a:p>
            <a:pPr algn="l">
              <a:spcBef>
                <a:spcPts val="0"/>
              </a:spcBef>
              <a:spcAft>
                <a:spcPts val="400"/>
              </a:spcAft>
            </a:pPr>
            <a:r>
              <a:rPr sz="1800" b="0">
                <a:solidFill>
                  <a:srgbClr val="161B26"/>
                </a:solidFill>
                <a:latin typeface="Arial"/>
              </a:rPr>
              <a:t>kubectl get hpa shows non-zero CPU% and increasing replicas under load. After removing load-gen, replicas scale back to 1 within 5-10 minutes.</a:t>
            </a:r>
          </a:p>
        </p:txBody>
      </p:sp>
      <p:sp>
        <p:nvSpPr>
          <p:cNvPr id="10" name="TextBox 9"/>
          <p:cNvSpPr txBox="1"/>
          <p:nvPr/>
        </p:nvSpPr>
        <p:spPr>
          <a:xfrm>
            <a:off x="777240" y="4983480"/>
            <a:ext cx="10698480" cy="365760"/>
          </a:xfrm>
          <a:prstGeom prst="rect">
            <a:avLst/>
          </a:prstGeom>
          <a:noFill/>
        </p:spPr>
        <p:txBody>
          <a:bodyPr wrap="square" anchor="t" lIns="0" rIns="0" tIns="0" bIns="0">
            <a:spAutoFit/>
          </a:bodyPr>
          <a:lstStyle/>
          <a:p>
            <a:pPr algn="l">
              <a:spcBef>
                <a:spcPts val="0"/>
              </a:spcBef>
              <a:spcAft>
                <a:spcPts val="400"/>
              </a:spcAft>
            </a:pPr>
            <a:r>
              <a:rPr sz="1300" b="1">
                <a:solidFill>
                  <a:srgbClr val="10B981"/>
                </a:solidFill>
                <a:latin typeface="Arial"/>
              </a:rPr>
              <a:t>Killercoda:  </a:t>
            </a:r>
            <a:r>
              <a:rPr sz="1300" b="0">
                <a:solidFill>
                  <a:srgbClr val="5B6372"/>
                </a:solidFill>
                <a:latin typeface="Arial"/>
              </a:rPr>
              <a:t>https://killercoda.com/playgrounds/scenario/kubernetes</a:t>
            </a:r>
          </a:p>
        </p:txBody>
      </p:sp>
      <p:sp>
        <p:nvSpPr>
          <p:cNvPr id="11" name="TextBox 10"/>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136</a:t>
            </a:r>
          </a:p>
        </p:txBody>
      </p:sp>
    </p:spTree>
  </p:cSld>
  <p:clrMapOvr>
    <a:masterClrMapping/>
  </p:clrMapOvr>
</p:sld>
</file>

<file path=ppt/slides/slide1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DAY 2 · SELF-HEALING</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Self-Healing: Liveness/Readiness Probes, ReplicaSet, DaemonSet, StatefulSet</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64208"/>
            <a:ext cx="169164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09928"/>
            <a:ext cx="1691640" cy="365760"/>
          </a:xfrm>
          <a:prstGeom prst="rect">
            <a:avLst/>
          </a:prstGeom>
          <a:noFill/>
        </p:spPr>
        <p:txBody>
          <a:bodyPr wrap="square" anchor="t" lIns="0" rIns="0" tIns="0" bIns="0">
            <a:spAutoFit/>
          </a:bodyPr>
          <a:lstStyle/>
          <a:p>
            <a:pPr algn="ctr">
              <a:spcBef>
                <a:spcPts val="0"/>
              </a:spcBef>
              <a:spcAft>
                <a:spcPts val="400"/>
              </a:spcAft>
            </a:pPr>
            <a:r>
              <a:rPr sz="1600" b="1">
                <a:solidFill>
                  <a:srgbClr val="FFFFFF"/>
                </a:solidFill>
                <a:latin typeface="Arial"/>
              </a:rPr>
              <a:t>LAB 15</a:t>
            </a:r>
          </a:p>
        </p:txBody>
      </p:sp>
      <p:sp>
        <p:nvSpPr>
          <p:cNvPr id="9" name="TextBox 8"/>
          <p:cNvSpPr txBox="1"/>
          <p:nvPr/>
        </p:nvSpPr>
        <p:spPr>
          <a:xfrm>
            <a:off x="2697480" y="1691640"/>
            <a:ext cx="8778240" cy="411480"/>
          </a:xfrm>
          <a:prstGeom prst="rect">
            <a:avLst/>
          </a:prstGeom>
          <a:noFill/>
        </p:spPr>
        <p:txBody>
          <a:bodyPr wrap="square" anchor="ctr" lIns="0" rIns="0" tIns="0" bIns="0">
            <a:spAutoFit/>
          </a:bodyPr>
          <a:lstStyle/>
          <a:p>
            <a:pPr algn="l">
              <a:spcBef>
                <a:spcPts val="0"/>
              </a:spcBef>
              <a:spcAft>
                <a:spcPts val="400"/>
              </a:spcAft>
            </a:pPr>
            <a:r>
              <a:rPr sz="1400" b="1">
                <a:solidFill>
                  <a:srgbClr val="5B6372"/>
                </a:solidFill>
                <a:latin typeface="Arial"/>
              </a:rPr>
              <a:t>Self-healing workloads</a:t>
            </a:r>
          </a:p>
        </p:txBody>
      </p:sp>
      <p:sp>
        <p:nvSpPr>
          <p:cNvPr id="10" name="TextBox 9"/>
          <p:cNvSpPr txBox="1"/>
          <p:nvPr/>
        </p:nvSpPr>
        <p:spPr>
          <a:xfrm>
            <a:off x="777240" y="2286000"/>
            <a:ext cx="10698480" cy="1554480"/>
          </a:xfrm>
          <a:prstGeom prst="rect">
            <a:avLst/>
          </a:prstGeom>
          <a:noFill/>
        </p:spPr>
        <p:txBody>
          <a:bodyPr wrap="square" anchor="t" lIns="0" rIns="0" tIns="0" bIns="0">
            <a:spAutoFit/>
          </a:bodyPr>
          <a:lstStyle/>
          <a:p>
            <a:pPr algn="l">
              <a:spcBef>
                <a:spcPts val="0"/>
              </a:spcBef>
              <a:spcAft>
                <a:spcPts val="400"/>
              </a:spcAft>
            </a:pPr>
            <a:r>
              <a:rPr sz="1900" b="0">
                <a:solidFill>
                  <a:srgbClr val="161B26"/>
                </a:solidFill>
                <a:latin typeface="Arial"/>
              </a:rPr>
              <a:t>Configure liveness and readiness probes to control container health, demonstrate ReplicaSet self-healing when pods are manually deleted, deploy a DaemonSet that runs one pod per node, and create a StatefulSet with stable network identity.</a:t>
            </a:r>
          </a:p>
        </p:txBody>
      </p:sp>
      <p:sp>
        <p:nvSpPr>
          <p:cNvPr id="11" name="Rounded Rectangle 10"/>
          <p:cNvSpPr/>
          <p:nvPr/>
        </p:nvSpPr>
        <p:spPr>
          <a:xfrm>
            <a:off x="777240" y="4069080"/>
            <a:ext cx="10698480" cy="1783080"/>
          </a:xfrm>
          <a:prstGeom prst="roundRect">
            <a:avLst>
              <a:gd name="adj" fmla="val 5000"/>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05840" y="4251960"/>
            <a:ext cx="10058400" cy="365760"/>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You'll build</a:t>
            </a:r>
          </a:p>
        </p:txBody>
      </p:sp>
      <p:sp>
        <p:nvSpPr>
          <p:cNvPr id="13" name="TextBox 12"/>
          <p:cNvSpPr txBox="1"/>
          <p:nvPr/>
        </p:nvSpPr>
        <p:spPr>
          <a:xfrm>
            <a:off x="1005840" y="4617720"/>
            <a:ext cx="10241280" cy="640080"/>
          </a:xfrm>
          <a:prstGeom prst="rect">
            <a:avLst/>
          </a:prstGeom>
          <a:noFill/>
        </p:spPr>
        <p:txBody>
          <a:bodyPr wrap="square" anchor="t" lIns="0" rIns="0" tIns="0" bIns="0">
            <a:spAutoFit/>
          </a:bodyPr>
          <a:lstStyle/>
          <a:p>
            <a:pPr algn="l">
              <a:spcBef>
                <a:spcPts val="0"/>
              </a:spcBef>
              <a:spcAft>
                <a:spcPts val="400"/>
              </a:spcAft>
            </a:pPr>
            <a:r>
              <a:rPr sz="1700" b="1">
                <a:solidFill>
                  <a:srgbClr val="161B26"/>
                </a:solidFill>
                <a:latin typeface="Arial"/>
              </a:rPr>
              <a:t>Deploy pod with httpGet liveness probe, show ReplicaSet maintains desired count, deploy nginx DaemonSet, create StatefulSet with volumeClaimTemplates.</a:t>
            </a:r>
          </a:p>
        </p:txBody>
      </p:sp>
      <p:sp>
        <p:nvSpPr>
          <p:cNvPr id="14" name="TextBox 13"/>
          <p:cNvSpPr txBox="1"/>
          <p:nvPr/>
        </p:nvSpPr>
        <p:spPr>
          <a:xfrm>
            <a:off x="1005840" y="5349240"/>
            <a:ext cx="10058400" cy="457200"/>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Key commands:  </a:t>
            </a:r>
            <a:r>
              <a:rPr sz="1300" b="0">
                <a:solidFill>
                  <a:srgbClr val="5B6372"/>
                </a:solidFill>
                <a:latin typeface="Arial"/>
              </a:rPr>
              <a:t>cat &lt;&lt;'EOF' · readinessProbe: · kubectl create · » Liveness:</a:t>
            </a:r>
          </a:p>
        </p:txBody>
      </p:sp>
      <p:sp>
        <p:nvSpPr>
          <p:cNvPr id="15" name="TextBox 14"/>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6" name="TextBox 15"/>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7" name="TextBox 16"/>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137</a:t>
            </a:r>
          </a:p>
        </p:txBody>
      </p:sp>
    </p:spTree>
  </p:cSld>
  <p:clrMapOvr>
    <a:masterClrMapping/>
  </p:clrMapOvr>
</p:sld>
</file>

<file path=ppt/slides/slide1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15  ·  COMMANDS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Self-Healing: Liveness/Readiness Probes, ReplicaSet, DaemonSet, StatefulSet</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91640"/>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Step 1 -- Liveness probe: httpGet</a:t>
            </a:r>
          </a:p>
        </p:txBody>
      </p:sp>
      <p:sp>
        <p:nvSpPr>
          <p:cNvPr id="8" name="Rounded Rectangle 7"/>
          <p:cNvSpPr/>
          <p:nvPr/>
        </p:nvSpPr>
        <p:spPr>
          <a:xfrm>
            <a:off x="777240" y="2075688"/>
            <a:ext cx="10652760" cy="3520440"/>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075688"/>
            <a:ext cx="82296" cy="3520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6" y="2139696"/>
            <a:ext cx="10323576" cy="3429000"/>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cat &lt;&lt;'EOF' | kubectl apply -f -</a:t>
            </a:r>
          </a:p>
          <a:p>
            <a:pPr>
              <a:spcBef>
                <a:spcPts val="0"/>
              </a:spcBef>
              <a:spcAft>
                <a:spcPts val="0"/>
              </a:spcAft>
            </a:pPr>
            <a:r>
              <a:rPr sz="1050">
                <a:solidFill>
                  <a:srgbClr val="161B26"/>
                </a:solidFill>
                <a:latin typeface="Consolas"/>
              </a:rPr>
              <a:t>apiVersion: v1</a:t>
            </a:r>
          </a:p>
          <a:p>
            <a:pPr>
              <a:spcBef>
                <a:spcPts val="0"/>
              </a:spcBef>
              <a:spcAft>
                <a:spcPts val="0"/>
              </a:spcAft>
            </a:pPr>
            <a:r>
              <a:rPr sz="1050">
                <a:solidFill>
                  <a:srgbClr val="161B26"/>
                </a:solidFill>
                <a:latin typeface="Consolas"/>
              </a:rPr>
              <a:t>kind: Pod</a:t>
            </a:r>
          </a:p>
          <a:p>
            <a:pPr>
              <a:spcBef>
                <a:spcPts val="0"/>
              </a:spcBef>
              <a:spcAft>
                <a:spcPts val="0"/>
              </a:spcAft>
            </a:pPr>
            <a:r>
              <a:rPr sz="1050">
                <a:solidFill>
                  <a:srgbClr val="161B26"/>
                </a:solidFill>
                <a:latin typeface="Consolas"/>
              </a:rPr>
              <a:t>metadata:</a:t>
            </a:r>
          </a:p>
          <a:p>
            <a:pPr>
              <a:spcBef>
                <a:spcPts val="0"/>
              </a:spcBef>
              <a:spcAft>
                <a:spcPts val="0"/>
              </a:spcAft>
            </a:pPr>
            <a:r>
              <a:rPr sz="1050">
                <a:solidFill>
                  <a:srgbClr val="161B26"/>
                </a:solidFill>
                <a:latin typeface="Consolas"/>
              </a:rPr>
              <a:t>  name: liveness-http</a:t>
            </a:r>
          </a:p>
          <a:p>
            <a:pPr>
              <a:spcBef>
                <a:spcPts val="0"/>
              </a:spcBef>
              <a:spcAft>
                <a:spcPts val="0"/>
              </a:spcAft>
            </a:pPr>
            <a:r>
              <a:rPr sz="1050">
                <a:solidFill>
                  <a:srgbClr val="161B26"/>
                </a:solidFill>
                <a:latin typeface="Consolas"/>
              </a:rPr>
              <a:t>spec:</a:t>
            </a:r>
          </a:p>
          <a:p>
            <a:pPr>
              <a:spcBef>
                <a:spcPts val="0"/>
              </a:spcBef>
              <a:spcAft>
                <a:spcPts val="0"/>
              </a:spcAft>
            </a:pPr>
            <a:r>
              <a:rPr sz="1050">
                <a:solidFill>
                  <a:srgbClr val="161B26"/>
                </a:solidFill>
                <a:latin typeface="Consolas"/>
              </a:rPr>
              <a:t>  containers:</a:t>
            </a:r>
          </a:p>
          <a:p>
            <a:pPr>
              <a:spcBef>
                <a:spcPts val="0"/>
              </a:spcBef>
              <a:spcAft>
                <a:spcPts val="0"/>
              </a:spcAft>
            </a:pPr>
            <a:r>
              <a:rPr sz="1050">
                <a:solidFill>
                  <a:srgbClr val="161B26"/>
                </a:solidFill>
                <a:latin typeface="Consolas"/>
              </a:rPr>
              <a:t>  - name: webapp</a:t>
            </a:r>
          </a:p>
          <a:p>
            <a:pPr>
              <a:spcBef>
                <a:spcPts val="0"/>
              </a:spcBef>
              <a:spcAft>
                <a:spcPts val="0"/>
              </a:spcAft>
            </a:pPr>
            <a:r>
              <a:rPr sz="1050">
                <a:solidFill>
                  <a:srgbClr val="161B26"/>
                </a:solidFill>
                <a:latin typeface="Consolas"/>
              </a:rPr>
              <a:t>    image: nginx:alpine</a:t>
            </a:r>
          </a:p>
          <a:p>
            <a:pPr>
              <a:spcBef>
                <a:spcPts val="0"/>
              </a:spcBef>
              <a:spcAft>
                <a:spcPts val="0"/>
              </a:spcAft>
            </a:pPr>
            <a:r>
              <a:rPr sz="1050">
                <a:solidFill>
                  <a:srgbClr val="161B26"/>
                </a:solidFill>
                <a:latin typeface="Consolas"/>
              </a:rPr>
              <a:t>    livenessProbe:</a:t>
            </a:r>
          </a:p>
          <a:p>
            <a:pPr>
              <a:spcBef>
                <a:spcPts val="0"/>
              </a:spcBef>
              <a:spcAft>
                <a:spcPts val="0"/>
              </a:spcAft>
            </a:pPr>
            <a:r>
              <a:rPr sz="1050">
                <a:solidFill>
                  <a:srgbClr val="161B26"/>
                </a:solidFill>
                <a:latin typeface="Consolas"/>
              </a:rPr>
              <a:t>      httpGet:</a:t>
            </a:r>
          </a:p>
          <a:p>
            <a:pPr>
              <a:spcBef>
                <a:spcPts val="0"/>
              </a:spcBef>
              <a:spcAft>
                <a:spcPts val="0"/>
              </a:spcAft>
            </a:pPr>
            <a:r>
              <a:rPr sz="1050">
                <a:solidFill>
                  <a:srgbClr val="161B26"/>
                </a:solidFill>
                <a:latin typeface="Consolas"/>
              </a:rPr>
              <a:t>        path: /</a:t>
            </a:r>
          </a:p>
          <a:p>
            <a:pPr>
              <a:spcBef>
                <a:spcPts val="0"/>
              </a:spcBef>
              <a:spcAft>
                <a:spcPts val="0"/>
              </a:spcAft>
            </a:pPr>
            <a:r>
              <a:rPr sz="1050">
                <a:solidFill>
                  <a:srgbClr val="161B26"/>
                </a:solidFill>
                <a:latin typeface="Consolas"/>
              </a:rPr>
              <a:t>        port: 80</a:t>
            </a:r>
          </a:p>
          <a:p>
            <a:pPr>
              <a:spcBef>
                <a:spcPts val="0"/>
              </a:spcBef>
              <a:spcAft>
                <a:spcPts val="0"/>
              </a:spcAft>
            </a:pPr>
            <a:r>
              <a:rPr sz="1050">
                <a:solidFill>
                  <a:srgbClr val="161B26"/>
                </a:solidFill>
                <a:latin typeface="Consolas"/>
              </a:rPr>
              <a:t>      initialDelaySeconds: 5</a:t>
            </a:r>
          </a:p>
          <a:p>
            <a:pPr>
              <a:spcBef>
                <a:spcPts val="0"/>
              </a:spcBef>
              <a:spcAft>
                <a:spcPts val="0"/>
              </a:spcAft>
            </a:pPr>
            <a:r>
              <a:rPr sz="1050">
                <a:solidFill>
                  <a:srgbClr val="161B26"/>
                </a:solidFill>
                <a:latin typeface="Consolas"/>
              </a:rPr>
              <a:t>      periodSeconds: 10</a:t>
            </a:r>
          </a:p>
          <a:p>
            <a:pPr>
              <a:spcBef>
                <a:spcPts val="0"/>
              </a:spcBef>
              <a:spcAft>
                <a:spcPts val="0"/>
              </a:spcAft>
            </a:pPr>
            <a:r>
              <a:rPr sz="1050">
                <a:solidFill>
                  <a:srgbClr val="161B26"/>
                </a:solidFill>
                <a:latin typeface="Consolas"/>
              </a:rPr>
              <a:t>      failureThreshold: 3</a:t>
            </a:r>
          </a:p>
          <a:p>
            <a:pPr>
              <a:spcBef>
                <a:spcPts val="0"/>
              </a:spcBef>
              <a:spcAft>
                <a:spcPts val="0"/>
              </a:spcAft>
            </a:pPr>
            <a:r>
              <a:rPr sz="1050">
                <a:solidFill>
                  <a:srgbClr val="161B26"/>
                </a:solidFill>
                <a:latin typeface="Consolas"/>
              </a:rPr>
              <a:t>EOF</a:t>
            </a:r>
          </a:p>
          <a:p>
            <a:pPr>
              <a:spcBef>
                <a:spcPts val="0"/>
              </a:spcBef>
              <a:spcAft>
                <a:spcPts val="0"/>
              </a:spcAft>
            </a:pPr>
            <a:r>
              <a:rPr sz="1050">
                <a:solidFill>
                  <a:srgbClr val="161B26"/>
                </a:solidFill>
                <a:latin typeface="Consolas"/>
              </a:rPr>
              <a:t>kubectl get pod liveness-http -w</a:t>
            </a:r>
          </a:p>
        </p:txBody>
      </p:sp>
      <p:sp>
        <p:nvSpPr>
          <p:cNvPr id="11" name="TextBox 10"/>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138</a:t>
            </a:r>
          </a:p>
        </p:txBody>
      </p:sp>
    </p:spTree>
  </p:cSld>
  <p:clrMapOvr>
    <a:masterClrMapping/>
  </p:clrMapOvr>
</p:sld>
</file>

<file path=ppt/slides/slide1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15  ·  COMMANDS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Self-Healing: Liveness/Readiness Probes, ReplicaSet, DaemonSet, StatefulSet (cont.)</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91640"/>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Step 2 -- Readiness probe blocks traffic</a:t>
            </a:r>
          </a:p>
        </p:txBody>
      </p:sp>
      <p:sp>
        <p:nvSpPr>
          <p:cNvPr id="8" name="Rounded Rectangle 7"/>
          <p:cNvSpPr/>
          <p:nvPr/>
        </p:nvSpPr>
        <p:spPr>
          <a:xfrm>
            <a:off x="777240" y="2075688"/>
            <a:ext cx="10652760" cy="1271016"/>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075688"/>
            <a:ext cx="82296" cy="127101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6" y="2139696"/>
            <a:ext cx="10323576" cy="1179576"/>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 Readiness probe -- pod not added to Service endpoints until probe passes</a:t>
            </a:r>
          </a:p>
          <a:p>
            <a:pPr>
              <a:spcBef>
                <a:spcPts val="0"/>
              </a:spcBef>
              <a:spcAft>
                <a:spcPts val="0"/>
              </a:spcAft>
            </a:pPr>
            <a:r>
              <a:rPr sz="1050">
                <a:solidFill>
                  <a:srgbClr val="161B26"/>
                </a:solidFill>
                <a:latin typeface="Consolas"/>
              </a:rPr>
              <a:t>readinessProbe:</a:t>
            </a:r>
          </a:p>
          <a:p>
            <a:pPr>
              <a:spcBef>
                <a:spcPts val="0"/>
              </a:spcBef>
              <a:spcAft>
                <a:spcPts val="0"/>
              </a:spcAft>
            </a:pPr>
            <a:r>
              <a:rPr sz="1050">
                <a:solidFill>
                  <a:srgbClr val="161B26"/>
                </a:solidFill>
                <a:latin typeface="Consolas"/>
              </a:rPr>
              <a:t>  httpGet:</a:t>
            </a:r>
          </a:p>
          <a:p>
            <a:pPr>
              <a:spcBef>
                <a:spcPts val="0"/>
              </a:spcBef>
              <a:spcAft>
                <a:spcPts val="0"/>
              </a:spcAft>
            </a:pPr>
            <a:r>
              <a:rPr sz="1050">
                <a:solidFill>
                  <a:srgbClr val="161B26"/>
                </a:solidFill>
                <a:latin typeface="Consolas"/>
              </a:rPr>
              <a:t>    path: /ready</a:t>
            </a:r>
          </a:p>
          <a:p>
            <a:pPr>
              <a:spcBef>
                <a:spcPts val="0"/>
              </a:spcBef>
              <a:spcAft>
                <a:spcPts val="0"/>
              </a:spcAft>
            </a:pPr>
            <a:r>
              <a:rPr sz="1050">
                <a:solidFill>
                  <a:srgbClr val="161B26"/>
                </a:solidFill>
                <a:latin typeface="Consolas"/>
              </a:rPr>
              <a:t>    port: 8080</a:t>
            </a:r>
          </a:p>
          <a:p>
            <a:pPr>
              <a:spcBef>
                <a:spcPts val="0"/>
              </a:spcBef>
              <a:spcAft>
                <a:spcPts val="0"/>
              </a:spcAft>
            </a:pPr>
            <a:r>
              <a:rPr sz="1050">
                <a:solidFill>
                  <a:srgbClr val="161B26"/>
                </a:solidFill>
                <a:latin typeface="Consolas"/>
              </a:rPr>
              <a:t>  initialDelaySeconds: 10</a:t>
            </a:r>
          </a:p>
        </p:txBody>
      </p:sp>
      <p:sp>
        <p:nvSpPr>
          <p:cNvPr id="11" name="TextBox 10"/>
          <p:cNvSpPr txBox="1"/>
          <p:nvPr/>
        </p:nvSpPr>
        <p:spPr>
          <a:xfrm>
            <a:off x="777240" y="3529584"/>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Step 3 -- ReplicaSet self-healing</a:t>
            </a:r>
          </a:p>
        </p:txBody>
      </p:sp>
      <p:sp>
        <p:nvSpPr>
          <p:cNvPr id="12" name="Rounded Rectangle 11"/>
          <p:cNvSpPr/>
          <p:nvPr/>
        </p:nvSpPr>
        <p:spPr>
          <a:xfrm>
            <a:off x="777240" y="3913632"/>
            <a:ext cx="10652760" cy="896112"/>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3913632"/>
            <a:ext cx="82296" cy="896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3977640"/>
            <a:ext cx="10323576" cy="804672"/>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kubectl create deployment selfheal --image=nginx --replicas=3</a:t>
            </a:r>
          </a:p>
          <a:p>
            <a:pPr>
              <a:spcBef>
                <a:spcPts val="0"/>
              </a:spcBef>
              <a:spcAft>
                <a:spcPts val="0"/>
              </a:spcAft>
            </a:pPr>
            <a:r>
              <a:rPr sz="1050">
                <a:solidFill>
                  <a:srgbClr val="161B26"/>
                </a:solidFill>
                <a:latin typeface="Consolas"/>
              </a:rPr>
              <a:t>kubectl delete pod -l app=selfheal --force</a:t>
            </a:r>
          </a:p>
          <a:p>
            <a:pPr>
              <a:spcBef>
                <a:spcPts val="0"/>
              </a:spcBef>
              <a:spcAft>
                <a:spcPts val="0"/>
              </a:spcAft>
            </a:pPr>
            <a:r>
              <a:rPr sz="1050">
                <a:solidFill>
                  <a:srgbClr val="161B26"/>
                </a:solidFill>
                <a:latin typeface="Consolas"/>
              </a:rPr>
              <a:t>kubectl get pods -l app=selfheal -w</a:t>
            </a:r>
          </a:p>
          <a:p>
            <a:pPr>
              <a:spcBef>
                <a:spcPts val="0"/>
              </a:spcBef>
              <a:spcAft>
                <a:spcPts val="0"/>
              </a:spcAft>
            </a:pPr>
            <a:r>
              <a:rPr sz="1050">
                <a:solidFill>
                  <a:srgbClr val="161B26"/>
                </a:solidFill>
                <a:latin typeface="Consolas"/>
              </a:rPr>
              <a:t># New pods created immediately</a:t>
            </a:r>
          </a:p>
        </p:txBody>
      </p:sp>
      <p:sp>
        <p:nvSpPr>
          <p:cNvPr id="15" name="TextBox 14"/>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6" name="TextBox 15"/>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7" name="TextBox 16"/>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139</a:t>
            </a:r>
          </a:p>
        </p:txBody>
      </p:sp>
    </p:spTree>
  </p:cSld>
  <p:clrMapOvr>
    <a:masterClrMapping/>
  </p:clrMapOvr>
</p:sld>
</file>

<file path=ppt/slides/slide1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15  ·  COMMANDS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Self-Healing: Liveness/Readiness Probes, ReplicaSet, DaemonSet, StatefulSet (cont.)</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91640"/>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Step 4 -- DaemonSet: one pod per node</a:t>
            </a:r>
          </a:p>
        </p:txBody>
      </p:sp>
      <p:sp>
        <p:nvSpPr>
          <p:cNvPr id="8" name="Rounded Rectangle 7"/>
          <p:cNvSpPr/>
          <p:nvPr/>
        </p:nvSpPr>
        <p:spPr>
          <a:xfrm>
            <a:off x="777240" y="2075688"/>
            <a:ext cx="10652760" cy="4082796"/>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075688"/>
            <a:ext cx="82296" cy="40827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6" y="2139696"/>
            <a:ext cx="10323576" cy="3991356"/>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cat &lt;&lt;'EOF' | kubectl apply -f -</a:t>
            </a:r>
          </a:p>
          <a:p>
            <a:pPr>
              <a:spcBef>
                <a:spcPts val="0"/>
              </a:spcBef>
              <a:spcAft>
                <a:spcPts val="0"/>
              </a:spcAft>
            </a:pPr>
            <a:r>
              <a:rPr sz="1050">
                <a:solidFill>
                  <a:srgbClr val="161B26"/>
                </a:solidFill>
                <a:latin typeface="Consolas"/>
              </a:rPr>
              <a:t>apiVersion: apps/v1</a:t>
            </a:r>
          </a:p>
          <a:p>
            <a:pPr>
              <a:spcBef>
                <a:spcPts val="0"/>
              </a:spcBef>
              <a:spcAft>
                <a:spcPts val="0"/>
              </a:spcAft>
            </a:pPr>
            <a:r>
              <a:rPr sz="1050">
                <a:solidFill>
                  <a:srgbClr val="161B26"/>
                </a:solidFill>
                <a:latin typeface="Consolas"/>
              </a:rPr>
              <a:t>kind: DaemonSet</a:t>
            </a:r>
          </a:p>
          <a:p>
            <a:pPr>
              <a:spcBef>
                <a:spcPts val="0"/>
              </a:spcBef>
              <a:spcAft>
                <a:spcPts val="0"/>
              </a:spcAft>
            </a:pPr>
            <a:r>
              <a:rPr sz="1050">
                <a:solidFill>
                  <a:srgbClr val="161B26"/>
                </a:solidFill>
                <a:latin typeface="Consolas"/>
              </a:rPr>
              <a:t>metadata:</a:t>
            </a:r>
          </a:p>
          <a:p>
            <a:pPr>
              <a:spcBef>
                <a:spcPts val="0"/>
              </a:spcBef>
              <a:spcAft>
                <a:spcPts val="0"/>
              </a:spcAft>
            </a:pPr>
            <a:r>
              <a:rPr sz="1050">
                <a:solidFill>
                  <a:srgbClr val="161B26"/>
                </a:solidFill>
                <a:latin typeface="Consolas"/>
              </a:rPr>
              <a:t>  name: node-monitor</a:t>
            </a:r>
          </a:p>
          <a:p>
            <a:pPr>
              <a:spcBef>
                <a:spcPts val="0"/>
              </a:spcBef>
              <a:spcAft>
                <a:spcPts val="0"/>
              </a:spcAft>
            </a:pPr>
            <a:r>
              <a:rPr sz="1050">
                <a:solidFill>
                  <a:srgbClr val="161B26"/>
                </a:solidFill>
                <a:latin typeface="Consolas"/>
              </a:rPr>
              <a:t>spec:</a:t>
            </a:r>
          </a:p>
          <a:p>
            <a:pPr>
              <a:spcBef>
                <a:spcPts val="0"/>
              </a:spcBef>
              <a:spcAft>
                <a:spcPts val="0"/>
              </a:spcAft>
            </a:pPr>
            <a:r>
              <a:rPr sz="1050">
                <a:solidFill>
                  <a:srgbClr val="161B26"/>
                </a:solidFill>
                <a:latin typeface="Consolas"/>
              </a:rPr>
              <a:t>  selector:</a:t>
            </a:r>
          </a:p>
          <a:p>
            <a:pPr>
              <a:spcBef>
                <a:spcPts val="0"/>
              </a:spcBef>
              <a:spcAft>
                <a:spcPts val="0"/>
              </a:spcAft>
            </a:pPr>
            <a:r>
              <a:rPr sz="1050">
                <a:solidFill>
                  <a:srgbClr val="161B26"/>
                </a:solidFill>
                <a:latin typeface="Consolas"/>
              </a:rPr>
              <a:t>    matchLabels:</a:t>
            </a:r>
          </a:p>
          <a:p>
            <a:pPr>
              <a:spcBef>
                <a:spcPts val="0"/>
              </a:spcBef>
              <a:spcAft>
                <a:spcPts val="0"/>
              </a:spcAft>
            </a:pPr>
            <a:r>
              <a:rPr sz="1050">
                <a:solidFill>
                  <a:srgbClr val="161B26"/>
                </a:solidFill>
                <a:latin typeface="Consolas"/>
              </a:rPr>
              <a:t>      app: node-monitor</a:t>
            </a:r>
          </a:p>
          <a:p>
            <a:pPr>
              <a:spcBef>
                <a:spcPts val="0"/>
              </a:spcBef>
              <a:spcAft>
                <a:spcPts val="0"/>
              </a:spcAft>
            </a:pPr>
            <a:r>
              <a:rPr sz="1050">
                <a:solidFill>
                  <a:srgbClr val="161B26"/>
                </a:solidFill>
                <a:latin typeface="Consolas"/>
              </a:rPr>
              <a:t>  template:</a:t>
            </a:r>
          </a:p>
          <a:p>
            <a:pPr>
              <a:spcBef>
                <a:spcPts val="0"/>
              </a:spcBef>
              <a:spcAft>
                <a:spcPts val="0"/>
              </a:spcAft>
            </a:pPr>
            <a:r>
              <a:rPr sz="1050">
                <a:solidFill>
                  <a:srgbClr val="161B26"/>
                </a:solidFill>
                <a:latin typeface="Consolas"/>
              </a:rPr>
              <a:t>    metadata:</a:t>
            </a:r>
          </a:p>
          <a:p>
            <a:pPr>
              <a:spcBef>
                <a:spcPts val="0"/>
              </a:spcBef>
              <a:spcAft>
                <a:spcPts val="0"/>
              </a:spcAft>
            </a:pPr>
            <a:r>
              <a:rPr sz="1050">
                <a:solidFill>
                  <a:srgbClr val="161B26"/>
                </a:solidFill>
                <a:latin typeface="Consolas"/>
              </a:rPr>
              <a:t>      labels:</a:t>
            </a:r>
          </a:p>
          <a:p>
            <a:pPr>
              <a:spcBef>
                <a:spcPts val="0"/>
              </a:spcBef>
              <a:spcAft>
                <a:spcPts val="0"/>
              </a:spcAft>
            </a:pPr>
            <a:r>
              <a:rPr sz="1050">
                <a:solidFill>
                  <a:srgbClr val="161B26"/>
                </a:solidFill>
                <a:latin typeface="Consolas"/>
              </a:rPr>
              <a:t>        app: node-monitor</a:t>
            </a:r>
          </a:p>
          <a:p>
            <a:pPr>
              <a:spcBef>
                <a:spcPts val="0"/>
              </a:spcBef>
              <a:spcAft>
                <a:spcPts val="0"/>
              </a:spcAft>
            </a:pPr>
            <a:r>
              <a:rPr sz="1050">
                <a:solidFill>
                  <a:srgbClr val="161B26"/>
                </a:solidFill>
                <a:latin typeface="Consolas"/>
              </a:rPr>
              <a:t>    spec:</a:t>
            </a:r>
          </a:p>
          <a:p>
            <a:pPr>
              <a:spcBef>
                <a:spcPts val="0"/>
              </a:spcBef>
              <a:spcAft>
                <a:spcPts val="0"/>
              </a:spcAft>
            </a:pPr>
            <a:r>
              <a:rPr sz="1050">
                <a:solidFill>
                  <a:srgbClr val="161B26"/>
                </a:solidFill>
                <a:latin typeface="Consolas"/>
              </a:rPr>
              <a:t>      containers:</a:t>
            </a:r>
          </a:p>
          <a:p>
            <a:pPr>
              <a:spcBef>
                <a:spcPts val="0"/>
              </a:spcBef>
              <a:spcAft>
                <a:spcPts val="0"/>
              </a:spcAft>
            </a:pPr>
            <a:r>
              <a:rPr sz="1050">
                <a:solidFill>
                  <a:srgbClr val="161B26"/>
                </a:solidFill>
                <a:latin typeface="Consolas"/>
              </a:rPr>
              <a:t>      - name: monitor</a:t>
            </a:r>
          </a:p>
          <a:p>
            <a:pPr>
              <a:spcBef>
                <a:spcPts val="0"/>
              </a:spcBef>
              <a:spcAft>
                <a:spcPts val="0"/>
              </a:spcAft>
            </a:pPr>
            <a:r>
              <a:rPr sz="1050">
                <a:solidFill>
                  <a:srgbClr val="161B26"/>
                </a:solidFill>
                <a:latin typeface="Consolas"/>
              </a:rPr>
              <a:t>        image: busybox</a:t>
            </a:r>
          </a:p>
          <a:p>
            <a:pPr>
              <a:spcBef>
                <a:spcPts val="0"/>
              </a:spcBef>
              <a:spcAft>
                <a:spcPts val="0"/>
              </a:spcAft>
            </a:pPr>
            <a:r>
              <a:rPr sz="1050">
                <a:solidFill>
                  <a:srgbClr val="161B26"/>
                </a:solidFill>
                <a:latin typeface="Consolas"/>
              </a:rPr>
              <a:t>        command: ['sleep', '3600']</a:t>
            </a:r>
          </a:p>
          <a:p>
            <a:pPr>
              <a:spcBef>
                <a:spcPts val="0"/>
              </a:spcBef>
              <a:spcAft>
                <a:spcPts val="0"/>
              </a:spcAft>
            </a:pPr>
            <a:r>
              <a:rPr sz="1050">
                <a:solidFill>
                  <a:srgbClr val="161B26"/>
                </a:solidFill>
                <a:latin typeface="Consolas"/>
              </a:rPr>
              <a:t>EOF</a:t>
            </a:r>
          </a:p>
          <a:p>
            <a:pPr>
              <a:spcBef>
                <a:spcPts val="0"/>
              </a:spcBef>
              <a:spcAft>
                <a:spcPts val="0"/>
              </a:spcAft>
            </a:pPr>
            <a:r>
              <a:rPr sz="1050">
                <a:solidFill>
                  <a:srgbClr val="161B26"/>
                </a:solidFill>
                <a:latin typeface="Consolas"/>
              </a:rPr>
              <a:t>kubectl get daemonset</a:t>
            </a:r>
          </a:p>
          <a:p>
            <a:pPr>
              <a:spcBef>
                <a:spcPts val="0"/>
              </a:spcBef>
              <a:spcAft>
                <a:spcPts val="0"/>
              </a:spcAft>
            </a:pPr>
            <a:r>
              <a:rPr sz="1050">
                <a:solidFill>
                  <a:srgbClr val="161B26"/>
                </a:solidFill>
                <a:latin typeface="Consolas"/>
              </a:rPr>
              <a:t>kubectl get pods -l app=node-monitor -o wide</a:t>
            </a:r>
          </a:p>
        </p:txBody>
      </p:sp>
      <p:sp>
        <p:nvSpPr>
          <p:cNvPr id="11" name="TextBox 10"/>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140</a:t>
            </a:r>
          </a:p>
        </p:txBody>
      </p:sp>
    </p:spTree>
  </p:cSld>
  <p:clrMapOvr>
    <a:masterClrMapping/>
  </p:clrMapOvr>
</p:sld>
</file>

<file path=ppt/slides/slide1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15  ·  COMMANDS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Self-Healing: Liveness/Readiness Probes, ReplicaSet, DaemonSet, StatefulSet (cont.)</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91640"/>
            <a:ext cx="10652760" cy="310896"/>
          </a:xfrm>
          <a:prstGeom prst="rect">
            <a:avLst/>
          </a:prstGeom>
          <a:noFill/>
        </p:spPr>
        <p:txBody>
          <a:bodyPr wrap="square" anchor="t" lIns="0" rIns="0" tIns="0" bIns="0">
            <a:spAutoFit/>
          </a:bodyPr>
          <a:lstStyle/>
          <a:p>
            <a:pPr algn="l">
              <a:spcBef>
                <a:spcPts val="0"/>
              </a:spcBef>
              <a:spcAft>
                <a:spcPts val="400"/>
              </a:spcAft>
            </a:pPr>
            <a:r>
              <a:rPr sz="1300" b="1">
                <a:solidFill>
                  <a:srgbClr val="F59E0B"/>
                </a:solidFill>
                <a:latin typeface="Arial"/>
              </a:rPr>
              <a:t>Note   </a:t>
            </a:r>
            <a:r>
              <a:rPr sz="1300" b="0">
                <a:solidFill>
                  <a:srgbClr val="5B6372"/>
                </a:solidFill>
                <a:latin typeface="Arial"/>
              </a:rPr>
              <a:t>Liveness: fail -&gt; container restart. Readiness: fail -&gt; removed from Service endpoints. DaemonSet automatically places one pod per node, including newly joined nodes.</a:t>
            </a:r>
          </a:p>
        </p:txBody>
      </p:sp>
      <p:sp>
        <p:nvSpPr>
          <p:cNvPr id="8" name="TextBox 7"/>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9" name="TextBox 8"/>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141</a:t>
            </a:r>
          </a:p>
        </p:txBody>
      </p:sp>
    </p:spTree>
  </p:cSld>
  <p:clrMapOvr>
    <a:masterClrMapping/>
  </p:clrMapOvr>
</p:sld>
</file>

<file path=ppt/slides/slide1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15  ·  TEST IT</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Self-Healing: Liveness/Readiness Probes, ReplicaSet, DaemonSet, StatefulSet</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03120"/>
            <a:ext cx="10698480" cy="2560320"/>
          </a:xfrm>
          <a:prstGeom prst="roundRect">
            <a:avLst>
              <a:gd name="adj" fmla="val 5000"/>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lIns="0" rIns="0" tIns="0" bIns="0">
            <a:spAutoFit/>
          </a:bodyPr>
          <a:lstStyle/>
          <a:p>
            <a:pPr algn="l">
              <a:spcBef>
                <a:spcPts val="0"/>
              </a:spcBef>
              <a:spcAft>
                <a:spcPts val="400"/>
              </a:spcAft>
            </a:pPr>
            <a:r>
              <a:rPr sz="2200" b="1">
                <a:solidFill>
                  <a:srgbClr val="127A3E"/>
                </a:solidFill>
                <a:latin typeface="Arial"/>
              </a:rPr>
              <a:t>✅  Test it</a:t>
            </a:r>
          </a:p>
        </p:txBody>
      </p:sp>
      <p:sp>
        <p:nvSpPr>
          <p:cNvPr id="9" name="TextBox 8"/>
          <p:cNvSpPr txBox="1"/>
          <p:nvPr/>
        </p:nvSpPr>
        <p:spPr>
          <a:xfrm>
            <a:off x="1097280" y="3017520"/>
            <a:ext cx="10149840" cy="1463040"/>
          </a:xfrm>
          <a:prstGeom prst="rect">
            <a:avLst/>
          </a:prstGeom>
          <a:noFill/>
        </p:spPr>
        <p:txBody>
          <a:bodyPr wrap="square" anchor="t" lIns="0" rIns="0" tIns="0" bIns="0">
            <a:spAutoFit/>
          </a:bodyPr>
          <a:lstStyle/>
          <a:p>
            <a:pPr algn="l">
              <a:spcBef>
                <a:spcPts val="0"/>
              </a:spcBef>
              <a:spcAft>
                <a:spcPts val="400"/>
              </a:spcAft>
            </a:pPr>
            <a:r>
              <a:rPr sz="1800" b="0">
                <a:solidFill>
                  <a:srgbClr val="161B26"/>
                </a:solidFill>
                <a:latin typeface="Arial"/>
              </a:rPr>
              <a:t>Pod restarts when liveness probe fails. kubectl delete pod does not reduce ReplicaSet count. DaemonSet has exactly one pod per node.</a:t>
            </a:r>
          </a:p>
        </p:txBody>
      </p:sp>
      <p:sp>
        <p:nvSpPr>
          <p:cNvPr id="10" name="TextBox 9"/>
          <p:cNvSpPr txBox="1"/>
          <p:nvPr/>
        </p:nvSpPr>
        <p:spPr>
          <a:xfrm>
            <a:off x="777240" y="4983480"/>
            <a:ext cx="10698480" cy="365760"/>
          </a:xfrm>
          <a:prstGeom prst="rect">
            <a:avLst/>
          </a:prstGeom>
          <a:noFill/>
        </p:spPr>
        <p:txBody>
          <a:bodyPr wrap="square" anchor="t" lIns="0" rIns="0" tIns="0" bIns="0">
            <a:spAutoFit/>
          </a:bodyPr>
          <a:lstStyle/>
          <a:p>
            <a:pPr algn="l">
              <a:spcBef>
                <a:spcPts val="0"/>
              </a:spcBef>
              <a:spcAft>
                <a:spcPts val="400"/>
              </a:spcAft>
            </a:pPr>
            <a:r>
              <a:rPr sz="1300" b="1">
                <a:solidFill>
                  <a:srgbClr val="10B981"/>
                </a:solidFill>
                <a:latin typeface="Arial"/>
              </a:rPr>
              <a:t>Killercoda:  </a:t>
            </a:r>
            <a:r>
              <a:rPr sz="1300" b="0">
                <a:solidFill>
                  <a:srgbClr val="5B6372"/>
                </a:solidFill>
                <a:latin typeface="Arial"/>
              </a:rPr>
              <a:t>https://killercoda.com/playgrounds/scenario/kubernetes</a:t>
            </a:r>
          </a:p>
        </p:txBody>
      </p:sp>
      <p:sp>
        <p:nvSpPr>
          <p:cNvPr id="11" name="TextBox 10"/>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142</a:t>
            </a:r>
          </a:p>
        </p:txBody>
      </p:sp>
    </p:spTree>
  </p:cSld>
  <p:clrMapOvr>
    <a:masterClrMapping/>
  </p:clrMapOvr>
</p:sld>
</file>

<file path=ppt/slides/slide1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lIns="0" rIns="0" tIns="0" bIns="0">
            <a:spAutoFit/>
          </a:bodyPr>
          <a:lstStyle/>
          <a:p>
            <a:pPr algn="l">
              <a:spcBef>
                <a:spcPts val="0"/>
              </a:spcBef>
              <a:spcAft>
                <a:spcPts val="400"/>
              </a:spcAft>
            </a:pPr>
            <a:r>
              <a:rPr sz="1800" b="1">
                <a:solidFill>
                  <a:srgbClr val="1F6FEB"/>
                </a:solidFill>
                <a:latin typeface="Arial"/>
              </a:rPr>
              <a:t>TOPIC 5</a:t>
            </a:r>
          </a:p>
        </p:txBody>
      </p:sp>
      <p:sp>
        <p:nvSpPr>
          <p:cNvPr id="6" name="TextBox 5"/>
          <p:cNvSpPr txBox="1"/>
          <p:nvPr/>
        </p:nvSpPr>
        <p:spPr>
          <a:xfrm>
            <a:off x="1143000" y="2743200"/>
            <a:ext cx="10424160" cy="1463040"/>
          </a:xfrm>
          <a:prstGeom prst="rect">
            <a:avLst/>
          </a:prstGeom>
          <a:noFill/>
        </p:spPr>
        <p:txBody>
          <a:bodyPr wrap="square" anchor="t" lIns="0" rIns="0" tIns="0" bIns="0">
            <a:spAutoFit/>
          </a:bodyPr>
          <a:lstStyle/>
          <a:p>
            <a:pPr algn="l">
              <a:spcBef>
                <a:spcPts val="0"/>
              </a:spcBef>
              <a:spcAft>
                <a:spcPts val="400"/>
              </a:spcAft>
            </a:pPr>
            <a:r>
              <a:rPr sz="4000" b="1">
                <a:solidFill>
                  <a:srgbClr val="161B26"/>
                </a:solidFill>
                <a:latin typeface="Arial"/>
              </a:rPr>
              <a:t>Pod Scheduling</a:t>
            </a:r>
          </a:p>
        </p:txBody>
      </p:sp>
      <p:sp>
        <p:nvSpPr>
          <p:cNvPr id="7" name="TextBox 6"/>
          <p:cNvSpPr txBox="1"/>
          <p:nvPr/>
        </p:nvSpPr>
        <p:spPr>
          <a:xfrm>
            <a:off x="1161288" y="4114800"/>
            <a:ext cx="10058400" cy="731520"/>
          </a:xfrm>
          <a:prstGeom prst="rect">
            <a:avLst/>
          </a:prstGeom>
          <a:noFill/>
        </p:spPr>
        <p:txBody>
          <a:bodyPr wrap="square" anchor="t" lIns="0" rIns="0" tIns="0" bIns="0">
            <a:spAutoFit/>
          </a:bodyPr>
          <a:lstStyle/>
          <a:p>
            <a:pPr algn="l">
              <a:spcBef>
                <a:spcPts val="0"/>
              </a:spcBef>
              <a:spcAft>
                <a:spcPts val="400"/>
              </a:spcAft>
            </a:pPr>
            <a:r>
              <a:rPr sz="1600" b="0">
                <a:solidFill>
                  <a:srgbClr val="5B6372"/>
                </a:solidFill>
                <a:latin typeface="Arial"/>
              </a:rPr>
              <a:t>Taints, tolerations, node affinity and resource requests</a:t>
            </a:r>
          </a:p>
        </p:txBody>
      </p:sp>
      <p:sp>
        <p:nvSpPr>
          <p:cNvPr id="8" name="TextBox 7"/>
          <p:cNvSpPr txBox="1"/>
          <p:nvPr/>
        </p:nvSpPr>
        <p:spPr>
          <a:xfrm>
            <a:off x="9418320" y="640080"/>
            <a:ext cx="2286000" cy="1463040"/>
          </a:xfrm>
          <a:prstGeom prst="rect">
            <a:avLst/>
          </a:prstGeom>
          <a:noFill/>
        </p:spPr>
        <p:txBody>
          <a:bodyPr wrap="square" anchor="t" lIns="0" rIns="0" tIns="0" bIns="0">
            <a:spAutoFit/>
          </a:bodyPr>
          <a:lstStyle/>
          <a:p>
            <a:pPr algn="r">
              <a:spcBef>
                <a:spcPts val="0"/>
              </a:spcBef>
              <a:spcAft>
                <a:spcPts val="400"/>
              </a:spcAft>
            </a:pPr>
            <a:r>
              <a:rPr sz="7200" b="1">
                <a:solidFill>
                  <a:srgbClr val="E2E8F0"/>
                </a:solidFill>
                <a:latin typeface="Arial"/>
              </a:rPr>
              <a:t/>
            </a:r>
          </a:p>
        </p:txBody>
      </p:sp>
      <p:sp>
        <p:nvSpPr>
          <p:cNvPr id="9" name="TextBox 8"/>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0" name="TextBox 9"/>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1" name="TextBox 10"/>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143</a:t>
            </a:r>
          </a:p>
        </p:txBody>
      </p:sp>
    </p:spTree>
  </p:cSld>
  <p:clrMapOvr>
    <a:masterClrMapping/>
  </p:clrMapOvr>
</p:sld>
</file>

<file path=ppt/slides/slide1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WHERE PODS LAND</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Scheduling Controls</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07040" cy="4480560"/>
          </a:xfrm>
          <a:prstGeom prst="rect">
            <a:avLst/>
          </a:prstGeom>
          <a:noFill/>
        </p:spPr>
        <p:txBody>
          <a:bodyPr wrap="square" lIns="0" rIns="0">
            <a:spAutoFit/>
          </a:bodyPr>
          <a:lstStyle/>
          <a:p>
            <a:pPr>
              <a:spcBef>
                <a:spcPts val="0"/>
              </a:spcBef>
              <a:spcAft>
                <a:spcPts val="1000"/>
              </a:spcAft>
            </a:pPr>
            <a:r>
              <a:rPr sz="1900" b="1">
                <a:solidFill>
                  <a:srgbClr val="1F6FEB"/>
                </a:solidFill>
                <a:latin typeface="Arial"/>
              </a:rPr>
              <a:t>•  </a:t>
            </a:r>
            <a:r>
              <a:rPr sz="1900">
                <a:solidFill>
                  <a:srgbClr val="161B26"/>
                </a:solidFill>
                <a:latin typeface="Arial"/>
              </a:rPr>
              <a:t>nodeSelector is the simplest control — schedule only on nodes with matching key=value labels.</a:t>
            </a:r>
          </a:p>
          <a:p>
            <a:pPr>
              <a:spcBef>
                <a:spcPts val="0"/>
              </a:spcBef>
              <a:spcAft>
                <a:spcPts val="1000"/>
              </a:spcAft>
            </a:pPr>
            <a:r>
              <a:rPr sz="1900" b="1">
                <a:solidFill>
                  <a:srgbClr val="1F6FEB"/>
                </a:solidFill>
                <a:latin typeface="Arial"/>
              </a:rPr>
              <a:t>•  </a:t>
            </a:r>
            <a:r>
              <a:rPr sz="1900">
                <a:solidFill>
                  <a:srgbClr val="161B26"/>
                </a:solidFill>
                <a:latin typeface="Arial"/>
              </a:rPr>
              <a:t>Taints repel pods without a matching toleration; effects are NoSchedule, PreferNoSchedule and NoExecute.</a:t>
            </a:r>
          </a:p>
          <a:p>
            <a:pPr>
              <a:spcBef>
                <a:spcPts val="0"/>
              </a:spcBef>
              <a:spcAft>
                <a:spcPts val="1000"/>
              </a:spcAft>
            </a:pPr>
            <a:r>
              <a:rPr sz="1900" b="1">
                <a:solidFill>
                  <a:srgbClr val="1F6FEB"/>
                </a:solidFill>
                <a:latin typeface="Arial"/>
              </a:rPr>
              <a:t>•  </a:t>
            </a:r>
            <a:r>
              <a:rPr sz="1900">
                <a:solidFill>
                  <a:srgbClr val="161B26"/>
                </a:solidFill>
                <a:latin typeface="Arial"/>
              </a:rPr>
              <a:t>nodeAffinity allows required (hard) and preferred (soft) constraints using In/NotIn/Exists operators.</a:t>
            </a:r>
          </a:p>
          <a:p>
            <a:pPr>
              <a:spcBef>
                <a:spcPts val="0"/>
              </a:spcBef>
              <a:spcAft>
                <a:spcPts val="1000"/>
              </a:spcAft>
            </a:pPr>
            <a:r>
              <a:rPr sz="1900" b="1">
                <a:solidFill>
                  <a:srgbClr val="1F6FEB"/>
                </a:solidFill>
                <a:latin typeface="Arial"/>
              </a:rPr>
              <a:t>•  </a:t>
            </a:r>
            <a:r>
              <a:rPr sz="1900">
                <a:solidFill>
                  <a:srgbClr val="161B26"/>
                </a:solidFill>
                <a:latin typeface="Arial"/>
              </a:rPr>
              <a:t>resources.requests tell the scheduler how much CPU/memory a pod needs; limits cap consumption at runtime.</a:t>
            </a:r>
          </a:p>
        </p:txBody>
      </p:sp>
      <p:sp>
        <p:nvSpPr>
          <p:cNvPr id="8" name="TextBox 7"/>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9" name="TextBox 8"/>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144</a:t>
            </a:r>
          </a:p>
        </p:txBody>
      </p:sp>
    </p:spTree>
  </p:cSld>
  <p:clrMapOvr>
    <a:masterClrMapping/>
  </p:clrMapOvr>
</p:sld>
</file>

<file path=ppt/slides/slide1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DOMAIN 2  ·  SCHEDULING</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Pod Scheduling Controls</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1965960"/>
            <a:ext cx="10652760" cy="1078992"/>
          </a:xfrm>
          <a:prstGeom prst="roundRect">
            <a:avLst>
              <a:gd name="adj" fmla="val 5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965960"/>
            <a:ext cx="109728" cy="10789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65960"/>
            <a:ext cx="3840480" cy="1078992"/>
          </a:xfrm>
          <a:prstGeom prst="rect">
            <a:avLst/>
          </a:prstGeom>
          <a:noFill/>
        </p:spPr>
        <p:txBody>
          <a:bodyPr wrap="square" anchor="ctr" lIns="0" rIns="0" tIns="0" bIns="0">
            <a:spAutoFit/>
          </a:bodyPr>
          <a:lstStyle/>
          <a:p>
            <a:pPr algn="l">
              <a:spcBef>
                <a:spcPts val="0"/>
              </a:spcBef>
              <a:spcAft>
                <a:spcPts val="300"/>
              </a:spcAft>
            </a:pPr>
            <a:r>
              <a:rPr sz="1500" b="1">
                <a:solidFill>
                  <a:srgbClr val="1F6FEB"/>
                </a:solidFill>
                <a:latin typeface="Arial"/>
              </a:rPr>
              <a:t>nodeSelector</a:t>
            </a:r>
          </a:p>
          <a:p>
            <a:pPr algn="l">
              <a:spcBef>
                <a:spcPts val="0"/>
              </a:spcBef>
              <a:spcAft>
                <a:spcPts val="300"/>
              </a:spcAft>
            </a:pPr>
            <a:r>
              <a:rPr sz="1200" b="0">
                <a:solidFill>
                  <a:srgbClr val="5B6372"/>
                </a:solidFill>
                <a:latin typeface="Arial"/>
              </a:rPr>
              <a:t>spec.nodeSelector: {gpu: 'true'}</a:t>
            </a:r>
          </a:p>
        </p:txBody>
      </p:sp>
      <p:sp>
        <p:nvSpPr>
          <p:cNvPr id="10" name="Right Arrow 9"/>
          <p:cNvSpPr/>
          <p:nvPr/>
        </p:nvSpPr>
        <p:spPr>
          <a:xfrm>
            <a:off x="5074920" y="2340864"/>
            <a:ext cx="640080" cy="329184"/>
          </a:xfrm>
          <a:prstGeom prst="rightArrow">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989320" y="1965960"/>
            <a:ext cx="5349240" cy="1078992"/>
          </a:xfrm>
          <a:prstGeom prst="rect">
            <a:avLst/>
          </a:prstGeom>
          <a:noFill/>
        </p:spPr>
        <p:txBody>
          <a:bodyPr wrap="square" anchor="ctr" lIns="0" rIns="0" tIns="0" bIns="0">
            <a:spAutoFit/>
          </a:bodyPr>
          <a:lstStyle/>
          <a:p>
            <a:pPr algn="l">
              <a:spcBef>
                <a:spcPts val="0"/>
              </a:spcBef>
              <a:spcAft>
                <a:spcPts val="400"/>
              </a:spcAft>
            </a:pPr>
            <a:r>
              <a:rPr sz="1400" b="0">
                <a:solidFill>
                  <a:srgbClr val="161B26"/>
                </a:solidFill>
                <a:latin typeface="Arial"/>
              </a:rPr>
              <a:t>Schedules only on nodes with matching labels — simplest scheduling control.</a:t>
            </a:r>
          </a:p>
        </p:txBody>
      </p:sp>
      <p:sp>
        <p:nvSpPr>
          <p:cNvPr id="12" name="Rounded Rectangle 11"/>
          <p:cNvSpPr/>
          <p:nvPr/>
        </p:nvSpPr>
        <p:spPr>
          <a:xfrm>
            <a:off x="777240" y="3163824"/>
            <a:ext cx="10652760" cy="1078992"/>
          </a:xfrm>
          <a:prstGeom prst="roundRect">
            <a:avLst>
              <a:gd name="adj" fmla="val 5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3163824"/>
            <a:ext cx="109728" cy="107899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97280" y="3163824"/>
            <a:ext cx="3840480" cy="1078992"/>
          </a:xfrm>
          <a:prstGeom prst="rect">
            <a:avLst/>
          </a:prstGeom>
          <a:noFill/>
        </p:spPr>
        <p:txBody>
          <a:bodyPr wrap="square" anchor="ctr" lIns="0" rIns="0" tIns="0" bIns="0">
            <a:spAutoFit/>
          </a:bodyPr>
          <a:lstStyle/>
          <a:p>
            <a:pPr algn="l">
              <a:spcBef>
                <a:spcPts val="0"/>
              </a:spcBef>
              <a:spcAft>
                <a:spcPts val="300"/>
              </a:spcAft>
            </a:pPr>
            <a:r>
              <a:rPr sz="1500" b="1">
                <a:solidFill>
                  <a:srgbClr val="10B981"/>
                </a:solidFill>
                <a:latin typeface="Arial"/>
              </a:rPr>
              <a:t>Taints &amp; Tolerations</a:t>
            </a:r>
          </a:p>
          <a:p>
            <a:pPr algn="l">
              <a:spcBef>
                <a:spcPts val="0"/>
              </a:spcBef>
              <a:spcAft>
                <a:spcPts val="300"/>
              </a:spcAft>
            </a:pPr>
            <a:r>
              <a:rPr sz="1200" b="0">
                <a:solidFill>
                  <a:srgbClr val="5B6372"/>
                </a:solidFill>
                <a:latin typeface="Arial"/>
              </a:rPr>
              <a:t>kubectl taint node &lt;n&gt; key=val:NoSchedule</a:t>
            </a:r>
          </a:p>
        </p:txBody>
      </p:sp>
      <p:sp>
        <p:nvSpPr>
          <p:cNvPr id="15" name="Right Arrow 14"/>
          <p:cNvSpPr/>
          <p:nvPr/>
        </p:nvSpPr>
        <p:spPr>
          <a:xfrm>
            <a:off x="5074920" y="3538728"/>
            <a:ext cx="640080" cy="329184"/>
          </a:xfrm>
          <a:prstGeom prst="rightArrow">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989320" y="3163824"/>
            <a:ext cx="5349240" cy="1078992"/>
          </a:xfrm>
          <a:prstGeom prst="rect">
            <a:avLst/>
          </a:prstGeom>
          <a:noFill/>
        </p:spPr>
        <p:txBody>
          <a:bodyPr wrap="square" anchor="ctr" lIns="0" rIns="0" tIns="0" bIns="0">
            <a:spAutoFit/>
          </a:bodyPr>
          <a:lstStyle/>
          <a:p>
            <a:pPr algn="l">
              <a:spcBef>
                <a:spcPts val="0"/>
              </a:spcBef>
              <a:spcAft>
                <a:spcPts val="400"/>
              </a:spcAft>
            </a:pPr>
            <a:r>
              <a:rPr sz="1400" b="0">
                <a:solidFill>
                  <a:srgbClr val="161B26"/>
                </a:solidFill>
                <a:latin typeface="Arial"/>
              </a:rPr>
              <a:t>Node repels pods without a matching toleration. NoExecute also evicts running pods.</a:t>
            </a:r>
          </a:p>
        </p:txBody>
      </p:sp>
      <p:sp>
        <p:nvSpPr>
          <p:cNvPr id="17" name="Rounded Rectangle 16"/>
          <p:cNvSpPr/>
          <p:nvPr/>
        </p:nvSpPr>
        <p:spPr>
          <a:xfrm>
            <a:off x="777240" y="4361688"/>
            <a:ext cx="10652760" cy="1078992"/>
          </a:xfrm>
          <a:prstGeom prst="roundRect">
            <a:avLst>
              <a:gd name="adj" fmla="val 5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361688"/>
            <a:ext cx="109728" cy="107899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97280" y="4361688"/>
            <a:ext cx="3840480" cy="1078992"/>
          </a:xfrm>
          <a:prstGeom prst="rect">
            <a:avLst/>
          </a:prstGeom>
          <a:noFill/>
        </p:spPr>
        <p:txBody>
          <a:bodyPr wrap="square" anchor="ctr" lIns="0" rIns="0" tIns="0" bIns="0">
            <a:spAutoFit/>
          </a:bodyPr>
          <a:lstStyle/>
          <a:p>
            <a:pPr algn="l">
              <a:spcBef>
                <a:spcPts val="0"/>
              </a:spcBef>
              <a:spcAft>
                <a:spcPts val="300"/>
              </a:spcAft>
            </a:pPr>
            <a:r>
              <a:rPr sz="1500" b="1">
                <a:solidFill>
                  <a:srgbClr val="7C3AED"/>
                </a:solidFill>
                <a:latin typeface="Arial"/>
              </a:rPr>
              <a:t>nodeAffinity</a:t>
            </a:r>
          </a:p>
          <a:p>
            <a:pPr algn="l">
              <a:spcBef>
                <a:spcPts val="0"/>
              </a:spcBef>
              <a:spcAft>
                <a:spcPts val="300"/>
              </a:spcAft>
            </a:pPr>
            <a:r>
              <a:rPr sz="1200" b="0">
                <a:solidFill>
                  <a:srgbClr val="5B6372"/>
                </a:solidFill>
                <a:latin typeface="Arial"/>
              </a:rPr>
              <a:t>requiredDuringSchedulingIgnoredDuringExecution</a:t>
            </a:r>
          </a:p>
        </p:txBody>
      </p:sp>
      <p:sp>
        <p:nvSpPr>
          <p:cNvPr id="20" name="Right Arrow 19"/>
          <p:cNvSpPr/>
          <p:nvPr/>
        </p:nvSpPr>
        <p:spPr>
          <a:xfrm>
            <a:off x="5074920" y="4736592"/>
            <a:ext cx="640080" cy="329184"/>
          </a:xfrm>
          <a:prstGeom prst="rightArrow">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989320" y="4361688"/>
            <a:ext cx="5349240" cy="1078992"/>
          </a:xfrm>
          <a:prstGeom prst="rect">
            <a:avLst/>
          </a:prstGeom>
          <a:noFill/>
        </p:spPr>
        <p:txBody>
          <a:bodyPr wrap="square" anchor="ctr" lIns="0" rIns="0" tIns="0" bIns="0">
            <a:spAutoFit/>
          </a:bodyPr>
          <a:lstStyle/>
          <a:p>
            <a:pPr algn="l">
              <a:spcBef>
                <a:spcPts val="0"/>
              </a:spcBef>
              <a:spcAft>
                <a:spcPts val="400"/>
              </a:spcAft>
            </a:pPr>
            <a:r>
              <a:rPr sz="1400" b="0">
                <a:solidFill>
                  <a:srgbClr val="161B26"/>
                </a:solidFill>
                <a:latin typeface="Arial"/>
              </a:rPr>
              <a:t>Hard (required) or soft (preferred) rules. Operators: In / NotIn / Exists / Gt / Lt.</a:t>
            </a:r>
          </a:p>
        </p:txBody>
      </p:sp>
      <p:sp>
        <p:nvSpPr>
          <p:cNvPr id="22" name="Rounded Rectangle 21"/>
          <p:cNvSpPr/>
          <p:nvPr/>
        </p:nvSpPr>
        <p:spPr>
          <a:xfrm>
            <a:off x="777240" y="5486400"/>
            <a:ext cx="10652760" cy="384048"/>
          </a:xfrm>
          <a:prstGeom prst="roundRect">
            <a:avLst>
              <a:gd name="adj" fmla="val 5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51560" y="5486400"/>
            <a:ext cx="10149840" cy="384048"/>
          </a:xfrm>
          <a:prstGeom prst="rect">
            <a:avLst/>
          </a:prstGeom>
          <a:noFill/>
        </p:spPr>
        <p:txBody>
          <a:bodyPr wrap="square" anchor="ctr" lIns="0" rIns="0" tIns="0" bIns="0">
            <a:spAutoFit/>
          </a:bodyPr>
          <a:lstStyle/>
          <a:p>
            <a:pPr algn="l">
              <a:spcBef>
                <a:spcPts val="0"/>
              </a:spcBef>
              <a:spcAft>
                <a:spcPts val="400"/>
              </a:spcAft>
            </a:pPr>
            <a:r>
              <a:rPr sz="1200" b="1">
                <a:solidFill>
                  <a:srgbClr val="1F6FEB"/>
                </a:solidFill>
                <a:latin typeface="Arial"/>
              </a:rPr>
              <a:t>Also: </a:t>
            </a:r>
            <a:r>
              <a:rPr sz="1200" b="0">
                <a:solidFill>
                  <a:srgbClr val="161B26"/>
                </a:solidFill>
                <a:latin typeface="Arial"/>
              </a:rPr>
              <a:t>podAffinity / podAntiAffinity</a:t>
            </a:r>
            <a:r>
              <a:rPr sz="1200" b="0">
                <a:solidFill>
                  <a:srgbClr val="161B26"/>
                </a:solidFill>
                <a:latin typeface="Arial"/>
              </a:rPr>
              <a:t>  ·  resources.requests</a:t>
            </a:r>
            <a:r>
              <a:rPr sz="1200" b="0">
                <a:solidFill>
                  <a:srgbClr val="5B6372"/>
                </a:solidFill>
                <a:latin typeface="Arial"/>
              </a:rPr>
              <a:t> drive scheduling  ·  </a:t>
            </a:r>
            <a:r>
              <a:rPr sz="1200" b="0">
                <a:solidFill>
                  <a:srgbClr val="161B26"/>
                </a:solidFill>
                <a:latin typeface="Arial"/>
              </a:rPr>
              <a:t>priorityClass</a:t>
            </a:r>
            <a:r>
              <a:rPr sz="1200" b="0">
                <a:solidFill>
                  <a:srgbClr val="161B26"/>
                </a:solidFill>
                <a:latin typeface="Arial"/>
              </a:rPr>
              <a:t> pre-empts lower-priority pods</a:t>
            </a:r>
          </a:p>
        </p:txBody>
      </p:sp>
      <p:sp>
        <p:nvSpPr>
          <p:cNvPr id="24" name="TextBox 23"/>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25" name="TextBox 24"/>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26" name="TextBox 25"/>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145</a:t>
            </a:r>
          </a:p>
        </p:txBody>
      </p:sp>
    </p:spTree>
  </p:cSld>
  <p:clrMapOvr>
    <a:masterClrMapping/>
  </p:clrMapOvr>
</p:sld>
</file>

<file path=ppt/slides/slide1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WHERE PODS LAND</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Pod Scheduling Algorithm — Filter, Score, Select Node</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day2_s004_i1.png"/>
          <p:cNvPicPr>
            <a:picLocks noChangeAspect="1"/>
          </p:cNvPicPr>
          <p:nvPr/>
        </p:nvPicPr>
        <p:blipFill>
          <a:blip r:embed="rId2"/>
          <a:stretch>
            <a:fillRect/>
          </a:stretch>
        </p:blipFill>
        <p:spPr>
          <a:xfrm>
            <a:off x="5103570" y="1627632"/>
            <a:ext cx="2000099" cy="4544568"/>
          </a:xfrm>
          <a:prstGeom prst="rect">
            <a:avLst/>
          </a:prstGeom>
        </p:spPr>
      </p:pic>
      <p:sp>
        <p:nvSpPr>
          <p:cNvPr id="8" name="TextBox 7"/>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9" name="TextBox 8"/>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146</a:t>
            </a:r>
          </a:p>
        </p:txBody>
      </p:sp>
    </p:spTree>
  </p:cSld>
  <p:clrMapOvr>
    <a:masterClrMapping/>
  </p:clrMapOvr>
</p:sld>
</file>

<file path=ppt/slides/slide1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DAY 2 · SCHEDULING</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Scheduling: nodeSelector, Node Affinity, Taints + Tolerations, Resource Requests</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64208"/>
            <a:ext cx="169164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09928"/>
            <a:ext cx="1691640" cy="365760"/>
          </a:xfrm>
          <a:prstGeom prst="rect">
            <a:avLst/>
          </a:prstGeom>
          <a:noFill/>
        </p:spPr>
        <p:txBody>
          <a:bodyPr wrap="square" anchor="t" lIns="0" rIns="0" tIns="0" bIns="0">
            <a:spAutoFit/>
          </a:bodyPr>
          <a:lstStyle/>
          <a:p>
            <a:pPr algn="ctr">
              <a:spcBef>
                <a:spcPts val="0"/>
              </a:spcBef>
              <a:spcAft>
                <a:spcPts val="400"/>
              </a:spcAft>
            </a:pPr>
            <a:r>
              <a:rPr sz="1600" b="1">
                <a:solidFill>
                  <a:srgbClr val="FFFFFF"/>
                </a:solidFill>
                <a:latin typeface="Arial"/>
              </a:rPr>
              <a:t>LAB 16</a:t>
            </a:r>
          </a:p>
        </p:txBody>
      </p:sp>
      <p:sp>
        <p:nvSpPr>
          <p:cNvPr id="9" name="TextBox 8"/>
          <p:cNvSpPr txBox="1"/>
          <p:nvPr/>
        </p:nvSpPr>
        <p:spPr>
          <a:xfrm>
            <a:off x="2697480" y="1691640"/>
            <a:ext cx="8778240" cy="411480"/>
          </a:xfrm>
          <a:prstGeom prst="rect">
            <a:avLst/>
          </a:prstGeom>
          <a:noFill/>
        </p:spPr>
        <p:txBody>
          <a:bodyPr wrap="square" anchor="ctr" lIns="0" rIns="0" tIns="0" bIns="0">
            <a:spAutoFit/>
          </a:bodyPr>
          <a:lstStyle/>
          <a:p>
            <a:pPr algn="l">
              <a:spcBef>
                <a:spcPts val="0"/>
              </a:spcBef>
              <a:spcAft>
                <a:spcPts val="400"/>
              </a:spcAft>
            </a:pPr>
            <a:r>
              <a:rPr sz="1400" b="1">
                <a:solidFill>
                  <a:srgbClr val="5B6372"/>
                </a:solidFill>
                <a:latin typeface="Arial"/>
              </a:rPr>
              <a:t>Scheduling</a:t>
            </a:r>
          </a:p>
        </p:txBody>
      </p:sp>
      <p:sp>
        <p:nvSpPr>
          <p:cNvPr id="10" name="TextBox 9"/>
          <p:cNvSpPr txBox="1"/>
          <p:nvPr/>
        </p:nvSpPr>
        <p:spPr>
          <a:xfrm>
            <a:off x="777240" y="2286000"/>
            <a:ext cx="10698480" cy="1554480"/>
          </a:xfrm>
          <a:prstGeom prst="rect">
            <a:avLst/>
          </a:prstGeom>
          <a:noFill/>
        </p:spPr>
        <p:txBody>
          <a:bodyPr wrap="square" anchor="t" lIns="0" rIns="0" tIns="0" bIns="0">
            <a:spAutoFit/>
          </a:bodyPr>
          <a:lstStyle/>
          <a:p>
            <a:pPr algn="l">
              <a:spcBef>
                <a:spcPts val="0"/>
              </a:spcBef>
              <a:spcAft>
                <a:spcPts val="400"/>
              </a:spcAft>
            </a:pPr>
            <a:r>
              <a:rPr sz="1900" b="0">
                <a:solidFill>
                  <a:srgbClr val="161B26"/>
                </a:solidFill>
                <a:latin typeface="Arial"/>
              </a:rPr>
              <a:t>Control pod placement using nodeSelector for simple label matching, node affinity for flexible required/preferred placement rules, taints to repel pods from nodes, and tolerations to allow specific pods through taints.</a:t>
            </a:r>
          </a:p>
        </p:txBody>
      </p:sp>
      <p:sp>
        <p:nvSpPr>
          <p:cNvPr id="11" name="Rounded Rectangle 10"/>
          <p:cNvSpPr/>
          <p:nvPr/>
        </p:nvSpPr>
        <p:spPr>
          <a:xfrm>
            <a:off x="777240" y="4069080"/>
            <a:ext cx="10698480" cy="1783080"/>
          </a:xfrm>
          <a:prstGeom prst="roundRect">
            <a:avLst>
              <a:gd name="adj" fmla="val 5000"/>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05840" y="4251960"/>
            <a:ext cx="10058400" cy="365760"/>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You'll build</a:t>
            </a:r>
          </a:p>
        </p:txBody>
      </p:sp>
      <p:sp>
        <p:nvSpPr>
          <p:cNvPr id="13" name="TextBox 12"/>
          <p:cNvSpPr txBox="1"/>
          <p:nvPr/>
        </p:nvSpPr>
        <p:spPr>
          <a:xfrm>
            <a:off x="1005840" y="4617720"/>
            <a:ext cx="10241280" cy="640080"/>
          </a:xfrm>
          <a:prstGeom prst="rect">
            <a:avLst/>
          </a:prstGeom>
          <a:noFill/>
        </p:spPr>
        <p:txBody>
          <a:bodyPr wrap="square" anchor="t" lIns="0" rIns="0" tIns="0" bIns="0">
            <a:spAutoFit/>
          </a:bodyPr>
          <a:lstStyle/>
          <a:p>
            <a:pPr algn="l">
              <a:spcBef>
                <a:spcPts val="0"/>
              </a:spcBef>
              <a:spcAft>
                <a:spcPts val="400"/>
              </a:spcAft>
            </a:pPr>
            <a:r>
              <a:rPr sz="1700" b="1">
                <a:solidFill>
                  <a:srgbClr val="161B26"/>
                </a:solidFill>
                <a:latin typeface="Arial"/>
              </a:rPr>
              <a:t>Label nodes, create pod with nodeSelector, add required/preferred node affinity, taint a node (NoSchedule), add toleration, demonstrate resource-based scheduling.</a:t>
            </a:r>
          </a:p>
        </p:txBody>
      </p:sp>
      <p:sp>
        <p:nvSpPr>
          <p:cNvPr id="14" name="TextBox 13"/>
          <p:cNvSpPr txBox="1"/>
          <p:nvPr/>
        </p:nvSpPr>
        <p:spPr>
          <a:xfrm>
            <a:off x="1005840" y="5349240"/>
            <a:ext cx="10058400" cy="457200"/>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Key commands:  </a:t>
            </a:r>
            <a:r>
              <a:rPr sz="1300" b="0">
                <a:solidFill>
                  <a:srgbClr val="5B6372"/>
                </a:solidFill>
                <a:latin typeface="Arial"/>
              </a:rPr>
              <a:t>kubectl label · kubectl taint · » Taint</a:t>
            </a:r>
          </a:p>
        </p:txBody>
      </p:sp>
      <p:sp>
        <p:nvSpPr>
          <p:cNvPr id="15" name="TextBox 14"/>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6" name="TextBox 15"/>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7" name="TextBox 16"/>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147</a:t>
            </a:r>
          </a:p>
        </p:txBody>
      </p:sp>
    </p:spTree>
  </p:cSld>
  <p:clrMapOvr>
    <a:masterClrMapping/>
  </p:clrMapOvr>
</p:sld>
</file>

<file path=ppt/slides/slide1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16  ·  COMMANDS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Scheduling: nodeSelector, Node Affinity, Taints + Tolerations, Resource Requests</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91640"/>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Step 1 -- nodeSelector: simple label matching</a:t>
            </a:r>
          </a:p>
        </p:txBody>
      </p:sp>
      <p:sp>
        <p:nvSpPr>
          <p:cNvPr id="8" name="Rounded Rectangle 7"/>
          <p:cNvSpPr/>
          <p:nvPr/>
        </p:nvSpPr>
        <p:spPr>
          <a:xfrm>
            <a:off x="777240" y="2075688"/>
            <a:ext cx="10652760" cy="2770632"/>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075688"/>
            <a:ext cx="82296" cy="277063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6" y="2139696"/>
            <a:ext cx="10323576" cy="2679192"/>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kubectl label node worker01 disk=ssd</a:t>
            </a:r>
          </a:p>
          <a:p>
            <a:pPr>
              <a:spcBef>
                <a:spcPts val="0"/>
              </a:spcBef>
              <a:spcAft>
                <a:spcPts val="0"/>
              </a:spcAft>
            </a:pPr>
            <a:r>
              <a:rPr sz="1050">
                <a:solidFill>
                  <a:srgbClr val="161B26"/>
                </a:solidFill>
                <a:latin typeface="Consolas"/>
              </a:rPr>
              <a:t>cat &lt;&lt;'EOF' | kubectl apply -f -</a:t>
            </a:r>
          </a:p>
          <a:p>
            <a:pPr>
              <a:spcBef>
                <a:spcPts val="0"/>
              </a:spcBef>
              <a:spcAft>
                <a:spcPts val="0"/>
              </a:spcAft>
            </a:pPr>
            <a:r>
              <a:rPr sz="1050">
                <a:solidFill>
                  <a:srgbClr val="161B26"/>
                </a:solidFill>
                <a:latin typeface="Consolas"/>
              </a:rPr>
              <a:t>apiVersion: v1</a:t>
            </a:r>
          </a:p>
          <a:p>
            <a:pPr>
              <a:spcBef>
                <a:spcPts val="0"/>
              </a:spcBef>
              <a:spcAft>
                <a:spcPts val="0"/>
              </a:spcAft>
            </a:pPr>
            <a:r>
              <a:rPr sz="1050">
                <a:solidFill>
                  <a:srgbClr val="161B26"/>
                </a:solidFill>
                <a:latin typeface="Consolas"/>
              </a:rPr>
              <a:t>kind: Pod</a:t>
            </a:r>
          </a:p>
          <a:p>
            <a:pPr>
              <a:spcBef>
                <a:spcPts val="0"/>
              </a:spcBef>
              <a:spcAft>
                <a:spcPts val="0"/>
              </a:spcAft>
            </a:pPr>
            <a:r>
              <a:rPr sz="1050">
                <a:solidFill>
                  <a:srgbClr val="161B26"/>
                </a:solidFill>
                <a:latin typeface="Consolas"/>
              </a:rPr>
              <a:t>metadata:</a:t>
            </a:r>
          </a:p>
          <a:p>
            <a:pPr>
              <a:spcBef>
                <a:spcPts val="0"/>
              </a:spcBef>
              <a:spcAft>
                <a:spcPts val="0"/>
              </a:spcAft>
            </a:pPr>
            <a:r>
              <a:rPr sz="1050">
                <a:solidFill>
                  <a:srgbClr val="161B26"/>
                </a:solidFill>
                <a:latin typeface="Consolas"/>
              </a:rPr>
              <a:t>  name: ssd-pod</a:t>
            </a:r>
          </a:p>
          <a:p>
            <a:pPr>
              <a:spcBef>
                <a:spcPts val="0"/>
              </a:spcBef>
              <a:spcAft>
                <a:spcPts val="0"/>
              </a:spcAft>
            </a:pPr>
            <a:r>
              <a:rPr sz="1050">
                <a:solidFill>
                  <a:srgbClr val="161B26"/>
                </a:solidFill>
                <a:latin typeface="Consolas"/>
              </a:rPr>
              <a:t>spec:</a:t>
            </a:r>
          </a:p>
          <a:p>
            <a:pPr>
              <a:spcBef>
                <a:spcPts val="0"/>
              </a:spcBef>
              <a:spcAft>
                <a:spcPts val="0"/>
              </a:spcAft>
            </a:pPr>
            <a:r>
              <a:rPr sz="1050">
                <a:solidFill>
                  <a:srgbClr val="161B26"/>
                </a:solidFill>
                <a:latin typeface="Consolas"/>
              </a:rPr>
              <a:t>  nodeSelector:</a:t>
            </a:r>
          </a:p>
          <a:p>
            <a:pPr>
              <a:spcBef>
                <a:spcPts val="0"/>
              </a:spcBef>
              <a:spcAft>
                <a:spcPts val="0"/>
              </a:spcAft>
            </a:pPr>
            <a:r>
              <a:rPr sz="1050">
                <a:solidFill>
                  <a:srgbClr val="161B26"/>
                </a:solidFill>
                <a:latin typeface="Consolas"/>
              </a:rPr>
              <a:t>    disk: ssd</a:t>
            </a:r>
          </a:p>
          <a:p>
            <a:pPr>
              <a:spcBef>
                <a:spcPts val="0"/>
              </a:spcBef>
              <a:spcAft>
                <a:spcPts val="0"/>
              </a:spcAft>
            </a:pPr>
            <a:r>
              <a:rPr sz="1050">
                <a:solidFill>
                  <a:srgbClr val="161B26"/>
                </a:solidFill>
                <a:latin typeface="Consolas"/>
              </a:rPr>
              <a:t>  containers:</a:t>
            </a:r>
          </a:p>
          <a:p>
            <a:pPr>
              <a:spcBef>
                <a:spcPts val="0"/>
              </a:spcBef>
              <a:spcAft>
                <a:spcPts val="0"/>
              </a:spcAft>
            </a:pPr>
            <a:r>
              <a:rPr sz="1050">
                <a:solidFill>
                  <a:srgbClr val="161B26"/>
                </a:solidFill>
                <a:latin typeface="Consolas"/>
              </a:rPr>
              <a:t>  - name: app</a:t>
            </a:r>
          </a:p>
          <a:p>
            <a:pPr>
              <a:spcBef>
                <a:spcPts val="0"/>
              </a:spcBef>
              <a:spcAft>
                <a:spcPts val="0"/>
              </a:spcAft>
            </a:pPr>
            <a:r>
              <a:rPr sz="1050">
                <a:solidFill>
                  <a:srgbClr val="161B26"/>
                </a:solidFill>
                <a:latin typeface="Consolas"/>
              </a:rPr>
              <a:t>    image: nginx</a:t>
            </a:r>
          </a:p>
          <a:p>
            <a:pPr>
              <a:spcBef>
                <a:spcPts val="0"/>
              </a:spcBef>
              <a:spcAft>
                <a:spcPts val="0"/>
              </a:spcAft>
            </a:pPr>
            <a:r>
              <a:rPr sz="1050">
                <a:solidFill>
                  <a:srgbClr val="161B26"/>
                </a:solidFill>
                <a:latin typeface="Consolas"/>
              </a:rPr>
              <a:t>EOF</a:t>
            </a:r>
          </a:p>
          <a:p>
            <a:pPr>
              <a:spcBef>
                <a:spcPts val="0"/>
              </a:spcBef>
              <a:spcAft>
                <a:spcPts val="0"/>
              </a:spcAft>
            </a:pPr>
            <a:r>
              <a:rPr sz="1050">
                <a:solidFill>
                  <a:srgbClr val="161B26"/>
                </a:solidFill>
                <a:latin typeface="Consolas"/>
              </a:rPr>
              <a:t>kubectl get pod ssd-pod -o wide</a:t>
            </a:r>
          </a:p>
        </p:txBody>
      </p:sp>
      <p:sp>
        <p:nvSpPr>
          <p:cNvPr id="11" name="TextBox 10"/>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148</a:t>
            </a:r>
          </a:p>
        </p:txBody>
      </p:sp>
    </p:spTree>
  </p:cSld>
  <p:clrMapOvr>
    <a:masterClrMapping/>
  </p:clrMapOvr>
</p:sld>
</file>

<file path=ppt/slides/slide1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16  ·  COMMANDS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Scheduling: nodeSelector, Node Affinity, Taints + Tolerations, Resource Requests (cont.)</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91640"/>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Step 2 -- Node Affinity</a:t>
            </a:r>
          </a:p>
        </p:txBody>
      </p:sp>
      <p:sp>
        <p:nvSpPr>
          <p:cNvPr id="8" name="Rounded Rectangle 7"/>
          <p:cNvSpPr/>
          <p:nvPr/>
        </p:nvSpPr>
        <p:spPr>
          <a:xfrm>
            <a:off x="777240" y="2075688"/>
            <a:ext cx="10652760" cy="708660"/>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075688"/>
            <a:ext cx="82296" cy="7086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6" y="2139696"/>
            <a:ext cx="10323576" cy="617220"/>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 requiredDuringSchedulingIgnoredDuringExecution: hard constraint</a:t>
            </a:r>
          </a:p>
          <a:p>
            <a:pPr>
              <a:spcBef>
                <a:spcPts val="0"/>
              </a:spcBef>
              <a:spcAft>
                <a:spcPts val="0"/>
              </a:spcAft>
            </a:pPr>
            <a:r>
              <a:rPr sz="1050">
                <a:solidFill>
                  <a:srgbClr val="161B26"/>
                </a:solidFill>
                <a:latin typeface="Consolas"/>
              </a:rPr>
              <a:t># preferredDuringSchedulingIgnoredDuringExecution: soft preference</a:t>
            </a:r>
          </a:p>
          <a:p>
            <a:pPr>
              <a:spcBef>
                <a:spcPts val="0"/>
              </a:spcBef>
              <a:spcAft>
                <a:spcPts val="0"/>
              </a:spcAft>
            </a:pPr>
            <a:r>
              <a:rPr sz="1050">
                <a:solidFill>
                  <a:srgbClr val="161B26"/>
                </a:solidFill>
                <a:latin typeface="Consolas"/>
              </a:rPr>
              <a:t># Check: kubectl get pod affinity-pod -o wide</a:t>
            </a:r>
          </a:p>
        </p:txBody>
      </p:sp>
      <p:sp>
        <p:nvSpPr>
          <p:cNvPr id="11" name="TextBox 10"/>
          <p:cNvSpPr txBox="1"/>
          <p:nvPr/>
        </p:nvSpPr>
        <p:spPr>
          <a:xfrm>
            <a:off x="777240" y="2967228"/>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Step 3 -- Taints and Tolerations</a:t>
            </a:r>
          </a:p>
        </p:txBody>
      </p:sp>
      <p:sp>
        <p:nvSpPr>
          <p:cNvPr id="12" name="Rounded Rectangle 11"/>
          <p:cNvSpPr/>
          <p:nvPr/>
        </p:nvSpPr>
        <p:spPr>
          <a:xfrm>
            <a:off x="777240" y="3351276"/>
            <a:ext cx="10652760" cy="2020824"/>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3351276"/>
            <a:ext cx="82296" cy="20208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3415284"/>
            <a:ext cx="10323576" cy="1929384"/>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kubectl taint node worker01 special=gpu:NoSchedule</a:t>
            </a:r>
          </a:p>
          <a:p>
            <a:pPr>
              <a:spcBef>
                <a:spcPts val="0"/>
              </a:spcBef>
              <a:spcAft>
                <a:spcPts val="0"/>
              </a:spcAft>
            </a:pPr>
            <a:r>
              <a:rPr sz="1050">
                <a:solidFill>
                  <a:srgbClr val="161B26"/>
                </a:solidFill>
                <a:latin typeface="Consolas"/>
              </a:rPr>
              <a:t>kubectl run blocked --image=nginx</a:t>
            </a:r>
          </a:p>
          <a:p>
            <a:pPr>
              <a:spcBef>
                <a:spcPts val="0"/>
              </a:spcBef>
              <a:spcAft>
                <a:spcPts val="0"/>
              </a:spcAft>
            </a:pPr>
            <a:r>
              <a:rPr sz="1050">
                <a:solidFill>
                  <a:srgbClr val="161B26"/>
                </a:solidFill>
                <a:latin typeface="Consolas"/>
              </a:rPr>
              <a:t>kubectl get pod blocked -o wide</a:t>
            </a:r>
          </a:p>
          <a:p>
            <a:pPr>
              <a:spcBef>
                <a:spcPts val="0"/>
              </a:spcBef>
              <a:spcAft>
                <a:spcPts val="0"/>
              </a:spcAft>
            </a:pPr>
            <a:r>
              <a:rPr sz="1050">
                <a:solidFill>
                  <a:srgbClr val="161B26"/>
                </a:solidFill>
                <a:latin typeface="Consolas"/>
              </a:rPr>
              <a:t># Stays Pending -- no toleration</a:t>
            </a:r>
          </a:p>
          <a:p>
            <a:pPr>
              <a:spcBef>
                <a:spcPts val="0"/>
              </a:spcBef>
              <a:spcAft>
                <a:spcPts val="0"/>
              </a:spcAft>
            </a:pPr>
            <a:r>
              <a:rPr sz="1050">
                <a:solidFill>
                  <a:srgbClr val="161B26"/>
                </a:solidFill>
                <a:latin typeface="Consolas"/>
              </a:rPr>
              <a:t># Add toleration:</a:t>
            </a:r>
          </a:p>
          <a:p>
            <a:pPr>
              <a:spcBef>
                <a:spcPts val="0"/>
              </a:spcBef>
              <a:spcAft>
                <a:spcPts val="0"/>
              </a:spcAft>
            </a:pPr>
            <a:r>
              <a:rPr sz="1050">
                <a:solidFill>
                  <a:srgbClr val="161B26"/>
                </a:solidFill>
                <a:latin typeface="Consolas"/>
              </a:rPr>
              <a:t>tolerations:</a:t>
            </a:r>
          </a:p>
          <a:p>
            <a:pPr>
              <a:spcBef>
                <a:spcPts val="0"/>
              </a:spcBef>
              <a:spcAft>
                <a:spcPts val="0"/>
              </a:spcAft>
            </a:pPr>
            <a:r>
              <a:rPr sz="1050">
                <a:solidFill>
                  <a:srgbClr val="161B26"/>
                </a:solidFill>
                <a:latin typeface="Consolas"/>
              </a:rPr>
              <a:t>- key: special</a:t>
            </a:r>
          </a:p>
          <a:p>
            <a:pPr>
              <a:spcBef>
                <a:spcPts val="0"/>
              </a:spcBef>
              <a:spcAft>
                <a:spcPts val="0"/>
              </a:spcAft>
            </a:pPr>
            <a:r>
              <a:rPr sz="1050">
                <a:solidFill>
                  <a:srgbClr val="161B26"/>
                </a:solidFill>
                <a:latin typeface="Consolas"/>
              </a:rPr>
              <a:t>  operator: Equal</a:t>
            </a:r>
          </a:p>
          <a:p>
            <a:pPr>
              <a:spcBef>
                <a:spcPts val="0"/>
              </a:spcBef>
              <a:spcAft>
                <a:spcPts val="0"/>
              </a:spcAft>
            </a:pPr>
            <a:r>
              <a:rPr sz="1050">
                <a:solidFill>
                  <a:srgbClr val="161B26"/>
                </a:solidFill>
                <a:latin typeface="Consolas"/>
              </a:rPr>
              <a:t>  value: gpu</a:t>
            </a:r>
          </a:p>
          <a:p>
            <a:pPr>
              <a:spcBef>
                <a:spcPts val="0"/>
              </a:spcBef>
              <a:spcAft>
                <a:spcPts val="0"/>
              </a:spcAft>
            </a:pPr>
            <a:r>
              <a:rPr sz="1050">
                <a:solidFill>
                  <a:srgbClr val="161B26"/>
                </a:solidFill>
                <a:latin typeface="Consolas"/>
              </a:rPr>
              <a:t>  effect: NoSchedule</a:t>
            </a:r>
          </a:p>
        </p:txBody>
      </p:sp>
      <p:sp>
        <p:nvSpPr>
          <p:cNvPr id="15" name="TextBox 14"/>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6" name="TextBox 15"/>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7" name="TextBox 16"/>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149</a:t>
            </a:r>
          </a:p>
        </p:txBody>
      </p:sp>
    </p:spTree>
  </p:cSld>
  <p:clrMapOvr>
    <a:masterClrMapping/>
  </p:clrMapOvr>
</p:sld>
</file>

<file path=ppt/slides/slide1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16  ·  COMMANDS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Scheduling: nodeSelector, Node Affinity, Taints + Tolerations, Resource Requests (cont.)</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91640"/>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Step 4 -- Remove taint and clean up</a:t>
            </a:r>
          </a:p>
        </p:txBody>
      </p:sp>
      <p:sp>
        <p:nvSpPr>
          <p:cNvPr id="8" name="Rounded Rectangle 7"/>
          <p:cNvSpPr/>
          <p:nvPr/>
        </p:nvSpPr>
        <p:spPr>
          <a:xfrm>
            <a:off x="777240" y="2075688"/>
            <a:ext cx="10652760" cy="521207"/>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075688"/>
            <a:ext cx="82296" cy="521207"/>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6" y="2139696"/>
            <a:ext cx="10323576" cy="429767"/>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kubectl taint node worker01 special=gpu:NoSchedule-</a:t>
            </a:r>
          </a:p>
          <a:p>
            <a:pPr>
              <a:spcBef>
                <a:spcPts val="0"/>
              </a:spcBef>
              <a:spcAft>
                <a:spcPts val="0"/>
              </a:spcAft>
            </a:pPr>
            <a:r>
              <a:rPr sz="1050">
                <a:solidFill>
                  <a:srgbClr val="161B26"/>
                </a:solidFill>
                <a:latin typeface="Consolas"/>
              </a:rPr>
              <a:t>kubectl get pods</a:t>
            </a:r>
          </a:p>
        </p:txBody>
      </p:sp>
      <p:sp>
        <p:nvSpPr>
          <p:cNvPr id="11" name="TextBox 10"/>
          <p:cNvSpPr txBox="1"/>
          <p:nvPr/>
        </p:nvSpPr>
        <p:spPr>
          <a:xfrm>
            <a:off x="777240" y="2779775"/>
            <a:ext cx="10652760" cy="310896"/>
          </a:xfrm>
          <a:prstGeom prst="rect">
            <a:avLst/>
          </a:prstGeom>
          <a:noFill/>
        </p:spPr>
        <p:txBody>
          <a:bodyPr wrap="square" anchor="t" lIns="0" rIns="0" tIns="0" bIns="0">
            <a:spAutoFit/>
          </a:bodyPr>
          <a:lstStyle/>
          <a:p>
            <a:pPr algn="l">
              <a:spcBef>
                <a:spcPts val="0"/>
              </a:spcBef>
              <a:spcAft>
                <a:spcPts val="400"/>
              </a:spcAft>
            </a:pPr>
            <a:r>
              <a:rPr sz="1300" b="1">
                <a:solidFill>
                  <a:srgbClr val="F59E0B"/>
                </a:solidFill>
                <a:latin typeface="Arial"/>
              </a:rPr>
              <a:t>Note   </a:t>
            </a:r>
            <a:r>
              <a:rPr sz="1300" b="0">
                <a:solidFill>
                  <a:srgbClr val="5B6372"/>
                </a:solidFill>
                <a:latin typeface="Arial"/>
              </a:rPr>
              <a:t>Taint effects: NoSchedule (hard reject), PreferNoSchedule (soft reject), NoExecute (evict existing pods). Tolerations do NOT guarantee placement on the tainted node.</a:t>
            </a:r>
          </a:p>
        </p:txBody>
      </p:sp>
      <p:sp>
        <p:nvSpPr>
          <p:cNvPr id="12" name="TextBox 11"/>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3" name="TextBox 12"/>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4" name="TextBox 13"/>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150</a:t>
            </a:r>
          </a:p>
        </p:txBody>
      </p:sp>
    </p:spTree>
  </p:cSld>
  <p:clrMapOvr>
    <a:masterClrMapping/>
  </p:clrMapOvr>
</p:sld>
</file>

<file path=ppt/slides/slide1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16  ·  TEST IT</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Scheduling: nodeSelector, Node Affinity, Taints + Tolerations, Resource Requests</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03120"/>
            <a:ext cx="10698480" cy="2560320"/>
          </a:xfrm>
          <a:prstGeom prst="roundRect">
            <a:avLst>
              <a:gd name="adj" fmla="val 5000"/>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lIns="0" rIns="0" tIns="0" bIns="0">
            <a:spAutoFit/>
          </a:bodyPr>
          <a:lstStyle/>
          <a:p>
            <a:pPr algn="l">
              <a:spcBef>
                <a:spcPts val="0"/>
              </a:spcBef>
              <a:spcAft>
                <a:spcPts val="400"/>
              </a:spcAft>
            </a:pPr>
            <a:r>
              <a:rPr sz="2200" b="1">
                <a:solidFill>
                  <a:srgbClr val="127A3E"/>
                </a:solidFill>
                <a:latin typeface="Arial"/>
              </a:rPr>
              <a:t>✅  Test it</a:t>
            </a:r>
          </a:p>
        </p:txBody>
      </p:sp>
      <p:sp>
        <p:nvSpPr>
          <p:cNvPr id="9" name="TextBox 8"/>
          <p:cNvSpPr txBox="1"/>
          <p:nvPr/>
        </p:nvSpPr>
        <p:spPr>
          <a:xfrm>
            <a:off x="1097280" y="3017520"/>
            <a:ext cx="10149840" cy="1463040"/>
          </a:xfrm>
          <a:prstGeom prst="rect">
            <a:avLst/>
          </a:prstGeom>
          <a:noFill/>
        </p:spPr>
        <p:txBody>
          <a:bodyPr wrap="square" anchor="t" lIns="0" rIns="0" tIns="0" bIns="0">
            <a:spAutoFit/>
          </a:bodyPr>
          <a:lstStyle/>
          <a:p>
            <a:pPr algn="l">
              <a:spcBef>
                <a:spcPts val="0"/>
              </a:spcBef>
              <a:spcAft>
                <a:spcPts val="400"/>
              </a:spcAft>
            </a:pPr>
            <a:r>
              <a:rPr sz="1800" b="0">
                <a:solidFill>
                  <a:srgbClr val="161B26"/>
                </a:solidFill>
                <a:latin typeface="Arial"/>
              </a:rPr>
              <a:t>nodeSelector pod lands on worker01 (disk=ssd). Tainted node rejects pods without toleration. Pod with matching toleration schedules on the tainted node.</a:t>
            </a:r>
          </a:p>
        </p:txBody>
      </p:sp>
      <p:sp>
        <p:nvSpPr>
          <p:cNvPr id="10" name="TextBox 9"/>
          <p:cNvSpPr txBox="1"/>
          <p:nvPr/>
        </p:nvSpPr>
        <p:spPr>
          <a:xfrm>
            <a:off x="777240" y="4983480"/>
            <a:ext cx="10698480" cy="365760"/>
          </a:xfrm>
          <a:prstGeom prst="rect">
            <a:avLst/>
          </a:prstGeom>
          <a:noFill/>
        </p:spPr>
        <p:txBody>
          <a:bodyPr wrap="square" anchor="t" lIns="0" rIns="0" tIns="0" bIns="0">
            <a:spAutoFit/>
          </a:bodyPr>
          <a:lstStyle/>
          <a:p>
            <a:pPr algn="l">
              <a:spcBef>
                <a:spcPts val="0"/>
              </a:spcBef>
              <a:spcAft>
                <a:spcPts val="400"/>
              </a:spcAft>
            </a:pPr>
            <a:r>
              <a:rPr sz="1300" b="1">
                <a:solidFill>
                  <a:srgbClr val="10B981"/>
                </a:solidFill>
                <a:latin typeface="Arial"/>
              </a:rPr>
              <a:t>Killercoda:  </a:t>
            </a:r>
            <a:r>
              <a:rPr sz="1300" b="0">
                <a:solidFill>
                  <a:srgbClr val="5B6372"/>
                </a:solidFill>
                <a:latin typeface="Arial"/>
              </a:rPr>
              <a:t>https://killercoda.com/playgrounds/scenario/kubernetes</a:t>
            </a:r>
          </a:p>
        </p:txBody>
      </p:sp>
      <p:sp>
        <p:nvSpPr>
          <p:cNvPr id="11" name="TextBox 10"/>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151</a:t>
            </a:r>
          </a:p>
        </p:txBody>
      </p:sp>
    </p:spTree>
  </p:cSld>
  <p:clrMapOvr>
    <a:masterClrMapping/>
  </p:clrMapOvr>
</p:sld>
</file>

<file path=ppt/slides/slide1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lIns="0" rIns="0" tIns="0" bIns="0">
            <a:spAutoFit/>
          </a:bodyPr>
          <a:lstStyle/>
          <a:p>
            <a:pPr algn="l">
              <a:spcBef>
                <a:spcPts val="0"/>
              </a:spcBef>
              <a:spcAft>
                <a:spcPts val="400"/>
              </a:spcAft>
            </a:pPr>
            <a:r>
              <a:rPr sz="1800" b="1">
                <a:solidFill>
                  <a:srgbClr val="1F6FEB"/>
                </a:solidFill>
                <a:latin typeface="Arial"/>
              </a:rPr>
              <a:t>TOPIC 6</a:t>
            </a:r>
          </a:p>
        </p:txBody>
      </p:sp>
      <p:sp>
        <p:nvSpPr>
          <p:cNvPr id="6" name="TextBox 5"/>
          <p:cNvSpPr txBox="1"/>
          <p:nvPr/>
        </p:nvSpPr>
        <p:spPr>
          <a:xfrm>
            <a:off x="1143000" y="2743200"/>
            <a:ext cx="10424160" cy="1463040"/>
          </a:xfrm>
          <a:prstGeom prst="rect">
            <a:avLst/>
          </a:prstGeom>
          <a:noFill/>
        </p:spPr>
        <p:txBody>
          <a:bodyPr wrap="square" anchor="t" lIns="0" rIns="0" tIns="0" bIns="0">
            <a:spAutoFit/>
          </a:bodyPr>
          <a:lstStyle/>
          <a:p>
            <a:pPr algn="l">
              <a:spcBef>
                <a:spcPts val="0"/>
              </a:spcBef>
              <a:spcAft>
                <a:spcPts val="400"/>
              </a:spcAft>
            </a:pPr>
            <a:r>
              <a:rPr sz="4000" b="1">
                <a:solidFill>
                  <a:srgbClr val="161B26"/>
                </a:solidFill>
                <a:latin typeface="Arial"/>
              </a:rPr>
              <a:t>Pod Connectivity &amp; Services</a:t>
            </a:r>
          </a:p>
        </p:txBody>
      </p:sp>
      <p:sp>
        <p:nvSpPr>
          <p:cNvPr id="7" name="TextBox 6"/>
          <p:cNvSpPr txBox="1"/>
          <p:nvPr/>
        </p:nvSpPr>
        <p:spPr>
          <a:xfrm>
            <a:off x="1161288" y="4114800"/>
            <a:ext cx="10058400" cy="731520"/>
          </a:xfrm>
          <a:prstGeom prst="rect">
            <a:avLst/>
          </a:prstGeom>
          <a:noFill/>
        </p:spPr>
        <p:txBody>
          <a:bodyPr wrap="square" anchor="t" lIns="0" rIns="0" tIns="0" bIns="0">
            <a:spAutoFit/>
          </a:bodyPr>
          <a:lstStyle/>
          <a:p>
            <a:pPr algn="l">
              <a:spcBef>
                <a:spcPts val="0"/>
              </a:spcBef>
              <a:spcAft>
                <a:spcPts val="400"/>
              </a:spcAft>
            </a:pPr>
            <a:r>
              <a:rPr sz="1600" b="0">
                <a:solidFill>
                  <a:srgbClr val="5B6372"/>
                </a:solidFill>
                <a:latin typeface="Arial"/>
              </a:rPr>
              <a:t>How Pods communicate and are exposed</a:t>
            </a:r>
          </a:p>
        </p:txBody>
      </p:sp>
      <p:sp>
        <p:nvSpPr>
          <p:cNvPr id="8" name="TextBox 7"/>
          <p:cNvSpPr txBox="1"/>
          <p:nvPr/>
        </p:nvSpPr>
        <p:spPr>
          <a:xfrm>
            <a:off x="9418320" y="640080"/>
            <a:ext cx="2286000" cy="1463040"/>
          </a:xfrm>
          <a:prstGeom prst="rect">
            <a:avLst/>
          </a:prstGeom>
          <a:noFill/>
        </p:spPr>
        <p:txBody>
          <a:bodyPr wrap="square" anchor="t" lIns="0" rIns="0" tIns="0" bIns="0">
            <a:spAutoFit/>
          </a:bodyPr>
          <a:lstStyle/>
          <a:p>
            <a:pPr algn="r">
              <a:spcBef>
                <a:spcPts val="0"/>
              </a:spcBef>
              <a:spcAft>
                <a:spcPts val="400"/>
              </a:spcAft>
            </a:pPr>
            <a:r>
              <a:rPr sz="7200" b="1">
                <a:solidFill>
                  <a:srgbClr val="E2E8F0"/>
                </a:solidFill>
                <a:latin typeface="Arial"/>
              </a:rPr>
              <a:t/>
            </a:r>
          </a:p>
        </p:txBody>
      </p:sp>
      <p:sp>
        <p:nvSpPr>
          <p:cNvPr id="9" name="TextBox 8"/>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0" name="TextBox 9"/>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1" name="TextBox 10"/>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152</a:t>
            </a:r>
          </a:p>
        </p:txBody>
      </p:sp>
    </p:spTree>
  </p:cSld>
  <p:clrMapOvr>
    <a:masterClrMapping/>
  </p:clrMapOvr>
</p:sld>
</file>

<file path=ppt/slides/slide1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NETWORKING BASICS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Pod-to-Pod Connectivity</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07040" cy="4480560"/>
          </a:xfrm>
          <a:prstGeom prst="rect">
            <a:avLst/>
          </a:prstGeom>
          <a:noFill/>
        </p:spPr>
        <p:txBody>
          <a:bodyPr wrap="square" lIns="0" rIns="0">
            <a:spAutoFit/>
          </a:bodyPr>
          <a:lstStyle/>
          <a:p>
            <a:pPr>
              <a:spcBef>
                <a:spcPts val="0"/>
              </a:spcBef>
              <a:spcAft>
                <a:spcPts val="1000"/>
              </a:spcAft>
            </a:pPr>
            <a:r>
              <a:rPr sz="1900" b="1">
                <a:solidFill>
                  <a:srgbClr val="1F6FEB"/>
                </a:solidFill>
                <a:latin typeface="Arial"/>
              </a:rPr>
              <a:t>•  </a:t>
            </a:r>
            <a:r>
              <a:rPr sz="1900">
                <a:solidFill>
                  <a:srgbClr val="161B26"/>
                </a:solidFill>
                <a:latin typeface="Arial"/>
              </a:rPr>
              <a:t>Every pod gets a unique IP from the pod CIDR; all pods can reach each other without NAT (flat network).</a:t>
            </a:r>
          </a:p>
          <a:p>
            <a:pPr>
              <a:spcBef>
                <a:spcPts val="0"/>
              </a:spcBef>
              <a:spcAft>
                <a:spcPts val="1000"/>
              </a:spcAft>
            </a:pPr>
            <a:r>
              <a:rPr sz="1900" b="1">
                <a:solidFill>
                  <a:srgbClr val="1F6FEB"/>
                </a:solidFill>
                <a:latin typeface="Arial"/>
              </a:rPr>
              <a:t>•  </a:t>
            </a:r>
            <a:r>
              <a:rPr sz="1900">
                <a:solidFill>
                  <a:srgbClr val="161B26"/>
                </a:solidFill>
                <a:latin typeface="Arial"/>
              </a:rPr>
              <a:t>The CNI plugin implements this — without it, cross-node pod traffic fails.</a:t>
            </a:r>
          </a:p>
          <a:p>
            <a:pPr>
              <a:spcBef>
                <a:spcPts val="0"/>
              </a:spcBef>
              <a:spcAft>
                <a:spcPts val="1000"/>
              </a:spcAft>
            </a:pPr>
            <a:r>
              <a:rPr sz="1900" b="1">
                <a:solidFill>
                  <a:srgbClr val="1F6FEB"/>
                </a:solidFill>
                <a:latin typeface="Arial"/>
              </a:rPr>
              <a:t>•  </a:t>
            </a:r>
            <a:r>
              <a:rPr sz="1900">
                <a:solidFill>
                  <a:srgbClr val="161B26"/>
                </a:solidFill>
                <a:latin typeface="Arial"/>
              </a:rPr>
              <a:t>Pod IPs are ephemeral — use a Service for stable addressing across restarts and scaling.</a:t>
            </a:r>
          </a:p>
          <a:p>
            <a:pPr>
              <a:spcBef>
                <a:spcPts val="0"/>
              </a:spcBef>
              <a:spcAft>
                <a:spcPts val="1000"/>
              </a:spcAft>
            </a:pPr>
            <a:r>
              <a:rPr sz="1900" b="1">
                <a:solidFill>
                  <a:srgbClr val="1F6FEB"/>
                </a:solidFill>
                <a:latin typeface="Arial"/>
              </a:rPr>
              <a:t>•  </a:t>
            </a:r>
            <a:r>
              <a:rPr sz="1900">
                <a:solidFill>
                  <a:srgbClr val="161B26"/>
                </a:solidFill>
                <a:latin typeface="Arial"/>
              </a:rPr>
              <a:t>kubectl exec &lt;pod&gt; -- curl &lt;podIP&gt;:&lt;port&gt; verifies direct pod-level connectivity bypassing the Service.</a:t>
            </a:r>
          </a:p>
        </p:txBody>
      </p:sp>
      <p:sp>
        <p:nvSpPr>
          <p:cNvPr id="8" name="TextBox 7"/>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9" name="TextBox 8"/>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153</a:t>
            </a:r>
          </a:p>
        </p:txBody>
      </p:sp>
    </p:spTree>
  </p:cSld>
  <p:clrMapOvr>
    <a:masterClrMapping/>
  </p:clrMapOvr>
</p:sld>
</file>

<file path=ppt/slides/slide1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DOMAIN 3  ·  CLUSTERIP  NODEPORT  LOADBALANCER</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Service Types</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1965960"/>
            <a:ext cx="10652760" cy="1078992"/>
          </a:xfrm>
          <a:prstGeom prst="roundRect">
            <a:avLst>
              <a:gd name="adj" fmla="val 5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965960"/>
            <a:ext cx="109728" cy="10789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65960"/>
            <a:ext cx="3840480" cy="1078992"/>
          </a:xfrm>
          <a:prstGeom prst="rect">
            <a:avLst/>
          </a:prstGeom>
          <a:noFill/>
        </p:spPr>
        <p:txBody>
          <a:bodyPr wrap="square" anchor="ctr" lIns="0" rIns="0" tIns="0" bIns="0">
            <a:spAutoFit/>
          </a:bodyPr>
          <a:lstStyle/>
          <a:p>
            <a:pPr algn="l">
              <a:spcBef>
                <a:spcPts val="0"/>
              </a:spcBef>
              <a:spcAft>
                <a:spcPts val="300"/>
              </a:spcAft>
            </a:pPr>
            <a:r>
              <a:rPr sz="1500" b="1">
                <a:solidFill>
                  <a:srgbClr val="1F6FEB"/>
                </a:solidFill>
                <a:latin typeface="Arial"/>
              </a:rPr>
              <a:t>ClusterIP</a:t>
            </a:r>
          </a:p>
          <a:p>
            <a:pPr algn="l">
              <a:spcBef>
                <a:spcPts val="0"/>
              </a:spcBef>
              <a:spcAft>
                <a:spcPts val="300"/>
              </a:spcAft>
            </a:pPr>
            <a:r>
              <a:rPr sz="1200" b="0">
                <a:solidFill>
                  <a:srgbClr val="5B6372"/>
                </a:solidFill>
                <a:latin typeface="Arial"/>
              </a:rPr>
              <a:t>default — virtual IP only inside cluster</a:t>
            </a:r>
          </a:p>
        </p:txBody>
      </p:sp>
      <p:sp>
        <p:nvSpPr>
          <p:cNvPr id="10" name="Right Arrow 9"/>
          <p:cNvSpPr/>
          <p:nvPr/>
        </p:nvSpPr>
        <p:spPr>
          <a:xfrm>
            <a:off x="5074920" y="2340864"/>
            <a:ext cx="640080" cy="329184"/>
          </a:xfrm>
          <a:prstGeom prst="rightArrow">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989320" y="1965960"/>
            <a:ext cx="5349240" cy="1078992"/>
          </a:xfrm>
          <a:prstGeom prst="rect">
            <a:avLst/>
          </a:prstGeom>
          <a:noFill/>
        </p:spPr>
        <p:txBody>
          <a:bodyPr wrap="square" anchor="ctr" lIns="0" rIns="0" tIns="0" bIns="0">
            <a:spAutoFit/>
          </a:bodyPr>
          <a:lstStyle/>
          <a:p>
            <a:pPr algn="l">
              <a:spcBef>
                <a:spcPts val="0"/>
              </a:spcBef>
              <a:spcAft>
                <a:spcPts val="400"/>
              </a:spcAft>
            </a:pPr>
            <a:r>
              <a:rPr sz="1400" b="0">
                <a:solidFill>
                  <a:srgbClr val="161B26"/>
                </a:solidFill>
                <a:latin typeface="Arial"/>
              </a:rPr>
              <a:t>stable DNS + VIP for pod-to-pod; not reachable from outside</a:t>
            </a:r>
          </a:p>
        </p:txBody>
      </p:sp>
      <p:sp>
        <p:nvSpPr>
          <p:cNvPr id="12" name="Rounded Rectangle 11"/>
          <p:cNvSpPr/>
          <p:nvPr/>
        </p:nvSpPr>
        <p:spPr>
          <a:xfrm>
            <a:off x="777240" y="3163824"/>
            <a:ext cx="10652760" cy="1078992"/>
          </a:xfrm>
          <a:prstGeom prst="roundRect">
            <a:avLst>
              <a:gd name="adj" fmla="val 5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3163824"/>
            <a:ext cx="109728" cy="107899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97280" y="3163824"/>
            <a:ext cx="3840480" cy="1078992"/>
          </a:xfrm>
          <a:prstGeom prst="rect">
            <a:avLst/>
          </a:prstGeom>
          <a:noFill/>
        </p:spPr>
        <p:txBody>
          <a:bodyPr wrap="square" anchor="ctr" lIns="0" rIns="0" tIns="0" bIns="0">
            <a:spAutoFit/>
          </a:bodyPr>
          <a:lstStyle/>
          <a:p>
            <a:pPr algn="l">
              <a:spcBef>
                <a:spcPts val="0"/>
              </a:spcBef>
              <a:spcAft>
                <a:spcPts val="300"/>
              </a:spcAft>
            </a:pPr>
            <a:r>
              <a:rPr sz="1500" b="1">
                <a:solidFill>
                  <a:srgbClr val="10B981"/>
                </a:solidFill>
                <a:latin typeface="Arial"/>
              </a:rPr>
              <a:t>NodePort</a:t>
            </a:r>
          </a:p>
          <a:p>
            <a:pPr algn="l">
              <a:spcBef>
                <a:spcPts val="0"/>
              </a:spcBef>
              <a:spcAft>
                <a:spcPts val="300"/>
              </a:spcAft>
            </a:pPr>
            <a:r>
              <a:rPr sz="1200" b="0">
                <a:solidFill>
                  <a:srgbClr val="5B6372"/>
                </a:solidFill>
                <a:latin typeface="Arial"/>
              </a:rPr>
              <a:t>exposes port 30000-32767 on every node</a:t>
            </a:r>
          </a:p>
        </p:txBody>
      </p:sp>
      <p:sp>
        <p:nvSpPr>
          <p:cNvPr id="15" name="Right Arrow 14"/>
          <p:cNvSpPr/>
          <p:nvPr/>
        </p:nvSpPr>
        <p:spPr>
          <a:xfrm>
            <a:off x="5074920" y="3538728"/>
            <a:ext cx="640080" cy="329184"/>
          </a:xfrm>
          <a:prstGeom prst="rightArrow">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989320" y="3163824"/>
            <a:ext cx="5349240" cy="1078992"/>
          </a:xfrm>
          <a:prstGeom prst="rect">
            <a:avLst/>
          </a:prstGeom>
          <a:noFill/>
        </p:spPr>
        <p:txBody>
          <a:bodyPr wrap="square" anchor="ctr" lIns="0" rIns="0" tIns="0" bIns="0">
            <a:spAutoFit/>
          </a:bodyPr>
          <a:lstStyle/>
          <a:p>
            <a:pPr algn="l">
              <a:spcBef>
                <a:spcPts val="0"/>
              </a:spcBef>
              <a:spcAft>
                <a:spcPts val="400"/>
              </a:spcAft>
            </a:pPr>
            <a:r>
              <a:rPr sz="1400" b="0">
                <a:solidFill>
                  <a:srgbClr val="161B26"/>
                </a:solidFill>
                <a:latin typeface="Arial"/>
              </a:rPr>
              <a:t>external access without a cloud LB; good for bare-metal</a:t>
            </a:r>
          </a:p>
        </p:txBody>
      </p:sp>
      <p:sp>
        <p:nvSpPr>
          <p:cNvPr id="17" name="Rounded Rectangle 16"/>
          <p:cNvSpPr/>
          <p:nvPr/>
        </p:nvSpPr>
        <p:spPr>
          <a:xfrm>
            <a:off x="777240" y="4361688"/>
            <a:ext cx="10652760" cy="1078992"/>
          </a:xfrm>
          <a:prstGeom prst="roundRect">
            <a:avLst>
              <a:gd name="adj" fmla="val 5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361688"/>
            <a:ext cx="109728" cy="107899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97280" y="4361688"/>
            <a:ext cx="3840480" cy="1078992"/>
          </a:xfrm>
          <a:prstGeom prst="rect">
            <a:avLst/>
          </a:prstGeom>
          <a:noFill/>
        </p:spPr>
        <p:txBody>
          <a:bodyPr wrap="square" anchor="ctr" lIns="0" rIns="0" tIns="0" bIns="0">
            <a:spAutoFit/>
          </a:bodyPr>
          <a:lstStyle/>
          <a:p>
            <a:pPr algn="l">
              <a:spcBef>
                <a:spcPts val="0"/>
              </a:spcBef>
              <a:spcAft>
                <a:spcPts val="300"/>
              </a:spcAft>
            </a:pPr>
            <a:r>
              <a:rPr sz="1500" b="1">
                <a:solidFill>
                  <a:srgbClr val="7C3AED"/>
                </a:solidFill>
                <a:latin typeface="Arial"/>
              </a:rPr>
              <a:t>LoadBalancer</a:t>
            </a:r>
          </a:p>
          <a:p>
            <a:pPr algn="l">
              <a:spcBef>
                <a:spcPts val="0"/>
              </a:spcBef>
              <a:spcAft>
                <a:spcPts val="300"/>
              </a:spcAft>
            </a:pPr>
            <a:r>
              <a:rPr sz="1200" b="0">
                <a:solidFill>
                  <a:srgbClr val="5B6372"/>
                </a:solidFill>
                <a:latin typeface="Arial"/>
              </a:rPr>
              <a:t>provisions cloud/MetalLB external IP</a:t>
            </a:r>
          </a:p>
        </p:txBody>
      </p:sp>
      <p:sp>
        <p:nvSpPr>
          <p:cNvPr id="20" name="Right Arrow 19"/>
          <p:cNvSpPr/>
          <p:nvPr/>
        </p:nvSpPr>
        <p:spPr>
          <a:xfrm>
            <a:off x="5074920" y="4736592"/>
            <a:ext cx="640080" cy="329184"/>
          </a:xfrm>
          <a:prstGeom prst="rightArrow">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989320" y="4361688"/>
            <a:ext cx="5349240" cy="1078992"/>
          </a:xfrm>
          <a:prstGeom prst="rect">
            <a:avLst/>
          </a:prstGeom>
          <a:noFill/>
        </p:spPr>
        <p:txBody>
          <a:bodyPr wrap="square" anchor="ctr" lIns="0" rIns="0" tIns="0" bIns="0">
            <a:spAutoFit/>
          </a:bodyPr>
          <a:lstStyle/>
          <a:p>
            <a:pPr algn="l">
              <a:spcBef>
                <a:spcPts val="0"/>
              </a:spcBef>
              <a:spcAft>
                <a:spcPts val="400"/>
              </a:spcAft>
            </a:pPr>
            <a:r>
              <a:rPr sz="1400" b="0">
                <a:solidFill>
                  <a:srgbClr val="161B26"/>
                </a:solidFill>
                <a:latin typeface="Arial"/>
              </a:rPr>
              <a:t>production external access; builds on NodePort</a:t>
            </a:r>
          </a:p>
        </p:txBody>
      </p:sp>
      <p:sp>
        <p:nvSpPr>
          <p:cNvPr id="22" name="Rounded Rectangle 21"/>
          <p:cNvSpPr/>
          <p:nvPr/>
        </p:nvSpPr>
        <p:spPr>
          <a:xfrm>
            <a:off x="777240" y="5943600"/>
            <a:ext cx="10652760" cy="502920"/>
          </a:xfrm>
          <a:prstGeom prst="roundRect">
            <a:avLst>
              <a:gd name="adj" fmla="val 5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51560" y="5943600"/>
            <a:ext cx="10149840" cy="502920"/>
          </a:xfrm>
          <a:prstGeom prst="rect">
            <a:avLst/>
          </a:prstGeom>
          <a:noFill/>
        </p:spPr>
        <p:txBody>
          <a:bodyPr wrap="square" anchor="ctr" lIns="0" rIns="0" tIns="0" bIns="0">
            <a:spAutoFit/>
          </a:bodyPr>
          <a:lstStyle/>
          <a:p>
            <a:pPr algn="l">
              <a:spcBef>
                <a:spcPts val="0"/>
              </a:spcBef>
              <a:spcAft>
                <a:spcPts val="400"/>
              </a:spcAft>
            </a:pPr>
            <a:r>
              <a:rPr sz="1300" b="1">
                <a:solidFill>
                  <a:srgbClr val="161B26"/>
                </a:solidFill>
                <a:latin typeface="Arial"/>
              </a:rPr>
              <a:t>kubectl get endpoints &lt;svc&gt;</a:t>
            </a:r>
            <a:r>
              <a:rPr sz="1300" b="0">
                <a:solidFill>
                  <a:srgbClr val="5B6372"/>
                </a:solidFill>
                <a:latin typeface="Arial"/>
              </a:rPr>
              <a:t> — verify the Service is selecting the right pods.</a:t>
            </a:r>
          </a:p>
        </p:txBody>
      </p:sp>
      <p:sp>
        <p:nvSpPr>
          <p:cNvPr id="24" name="TextBox 23"/>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25" name="TextBox 24"/>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26" name="TextBox 25"/>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154</a:t>
            </a:r>
          </a:p>
        </p:txBody>
      </p:sp>
    </p:spTree>
  </p:cSld>
  <p:clrMapOvr>
    <a:masterClrMapping/>
  </p:clrMapOvr>
</p:sld>
</file>

<file path=ppt/slides/slide1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DAY 2 · POD CONNECTIVITY</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Pod Connectivity: Flat Pod Network, ping, curl, DNS Discovery, netshoot</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64208"/>
            <a:ext cx="169164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09928"/>
            <a:ext cx="1691640" cy="365760"/>
          </a:xfrm>
          <a:prstGeom prst="rect">
            <a:avLst/>
          </a:prstGeom>
          <a:noFill/>
        </p:spPr>
        <p:txBody>
          <a:bodyPr wrap="square" anchor="t" lIns="0" rIns="0" tIns="0" bIns="0">
            <a:spAutoFit/>
          </a:bodyPr>
          <a:lstStyle/>
          <a:p>
            <a:pPr algn="ctr">
              <a:spcBef>
                <a:spcPts val="0"/>
              </a:spcBef>
              <a:spcAft>
                <a:spcPts val="400"/>
              </a:spcAft>
            </a:pPr>
            <a:r>
              <a:rPr sz="1600" b="1">
                <a:solidFill>
                  <a:srgbClr val="FFFFFF"/>
                </a:solidFill>
                <a:latin typeface="Arial"/>
              </a:rPr>
              <a:t>LAB 17</a:t>
            </a:r>
          </a:p>
        </p:txBody>
      </p:sp>
      <p:sp>
        <p:nvSpPr>
          <p:cNvPr id="9" name="TextBox 8"/>
          <p:cNvSpPr txBox="1"/>
          <p:nvPr/>
        </p:nvSpPr>
        <p:spPr>
          <a:xfrm>
            <a:off x="2697480" y="1691640"/>
            <a:ext cx="8778240" cy="411480"/>
          </a:xfrm>
          <a:prstGeom prst="rect">
            <a:avLst/>
          </a:prstGeom>
          <a:noFill/>
        </p:spPr>
        <p:txBody>
          <a:bodyPr wrap="square" anchor="ctr" lIns="0" rIns="0" tIns="0" bIns="0">
            <a:spAutoFit/>
          </a:bodyPr>
          <a:lstStyle/>
          <a:p>
            <a:pPr algn="l">
              <a:spcBef>
                <a:spcPts val="0"/>
              </a:spcBef>
              <a:spcAft>
                <a:spcPts val="400"/>
              </a:spcAft>
            </a:pPr>
            <a:r>
              <a:rPr sz="1400" b="1">
                <a:solidFill>
                  <a:srgbClr val="5B6372"/>
                </a:solidFill>
                <a:latin typeface="Arial"/>
              </a:rPr>
              <a:t>Pod networking</a:t>
            </a:r>
          </a:p>
        </p:txBody>
      </p:sp>
      <p:sp>
        <p:nvSpPr>
          <p:cNvPr id="10" name="TextBox 9"/>
          <p:cNvSpPr txBox="1"/>
          <p:nvPr/>
        </p:nvSpPr>
        <p:spPr>
          <a:xfrm>
            <a:off x="777240" y="2286000"/>
            <a:ext cx="10698480" cy="1554480"/>
          </a:xfrm>
          <a:prstGeom prst="rect">
            <a:avLst/>
          </a:prstGeom>
          <a:noFill/>
        </p:spPr>
        <p:txBody>
          <a:bodyPr wrap="square" anchor="t" lIns="0" rIns="0" tIns="0" bIns="0">
            <a:spAutoFit/>
          </a:bodyPr>
          <a:lstStyle/>
          <a:p>
            <a:pPr algn="l">
              <a:spcBef>
                <a:spcPts val="0"/>
              </a:spcBef>
              <a:spcAft>
                <a:spcPts val="400"/>
              </a:spcAft>
            </a:pPr>
            <a:r>
              <a:rPr sz="1900" b="0">
                <a:solidFill>
                  <a:srgbClr val="161B26"/>
                </a:solidFill>
                <a:latin typeface="Arial"/>
              </a:rPr>
              <a:t>Verify pod-to-pod communication using ping and curl, test DNS-based service discovery, trace network paths with traceroute, and use nicolaka/netshoot as a network debugging toolkit. Pod networking fundamentals are the foundation for the 20% Services &amp; Networking domain.</a:t>
            </a:r>
          </a:p>
        </p:txBody>
      </p:sp>
      <p:sp>
        <p:nvSpPr>
          <p:cNvPr id="11" name="Rounded Rectangle 10"/>
          <p:cNvSpPr/>
          <p:nvPr/>
        </p:nvSpPr>
        <p:spPr>
          <a:xfrm>
            <a:off x="777240" y="4069080"/>
            <a:ext cx="10698480" cy="1783080"/>
          </a:xfrm>
          <a:prstGeom prst="roundRect">
            <a:avLst>
              <a:gd name="adj" fmla="val 5000"/>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05840" y="4251960"/>
            <a:ext cx="10058400" cy="365760"/>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You'll build</a:t>
            </a:r>
          </a:p>
        </p:txBody>
      </p:sp>
      <p:sp>
        <p:nvSpPr>
          <p:cNvPr id="13" name="TextBox 12"/>
          <p:cNvSpPr txBox="1"/>
          <p:nvPr/>
        </p:nvSpPr>
        <p:spPr>
          <a:xfrm>
            <a:off x="1005840" y="4617720"/>
            <a:ext cx="10241280" cy="640080"/>
          </a:xfrm>
          <a:prstGeom prst="rect">
            <a:avLst/>
          </a:prstGeom>
          <a:noFill/>
        </p:spPr>
        <p:txBody>
          <a:bodyPr wrap="square" anchor="t" lIns="0" rIns="0" tIns="0" bIns="0">
            <a:spAutoFit/>
          </a:bodyPr>
          <a:lstStyle/>
          <a:p>
            <a:pPr algn="l">
              <a:spcBef>
                <a:spcPts val="0"/>
              </a:spcBef>
              <a:spcAft>
                <a:spcPts val="400"/>
              </a:spcAft>
            </a:pPr>
            <a:r>
              <a:rPr sz="1700" b="1">
                <a:solidFill>
                  <a:srgbClr val="161B26"/>
                </a:solidFill>
                <a:latin typeface="Arial"/>
              </a:rPr>
              <a:t>Deploy server-pod and client-pod, ping by Pod IP, curl by Service DNS name, nslookup kubernetes.default, traceroute between pods.</a:t>
            </a:r>
          </a:p>
        </p:txBody>
      </p:sp>
      <p:sp>
        <p:nvSpPr>
          <p:cNvPr id="14" name="TextBox 13"/>
          <p:cNvSpPr txBox="1"/>
          <p:nvPr/>
        </p:nvSpPr>
        <p:spPr>
          <a:xfrm>
            <a:off x="1005840" y="5349240"/>
            <a:ext cx="10058400" cy="457200"/>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Key commands:  </a:t>
            </a:r>
            <a:r>
              <a:rPr sz="1300" b="0">
                <a:solidFill>
                  <a:srgbClr val="5B6372"/>
                </a:solidFill>
                <a:latin typeface="Arial"/>
              </a:rPr>
              <a:t>kubectl run · SERVER_IP=$(kubectl get · kubectl exec · » DNS</a:t>
            </a:r>
          </a:p>
        </p:txBody>
      </p:sp>
      <p:sp>
        <p:nvSpPr>
          <p:cNvPr id="15" name="TextBox 14"/>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6" name="TextBox 15"/>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7" name="TextBox 16"/>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155</a:t>
            </a:r>
          </a:p>
        </p:txBody>
      </p:sp>
    </p:spTree>
  </p:cSld>
  <p:clrMapOvr>
    <a:masterClrMapping/>
  </p:clrMapOvr>
</p:sld>
</file>

<file path=ppt/slides/slide1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17  ·  COMMANDS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Pod Connectivity: Flat Pod Network, ping, curl, DNS Discovery, netshoot</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91640"/>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Step 1 -- Deploy test pods</a:t>
            </a:r>
          </a:p>
        </p:txBody>
      </p:sp>
      <p:sp>
        <p:nvSpPr>
          <p:cNvPr id="8" name="Rounded Rectangle 7"/>
          <p:cNvSpPr/>
          <p:nvPr/>
        </p:nvSpPr>
        <p:spPr>
          <a:xfrm>
            <a:off x="777240" y="2075688"/>
            <a:ext cx="10652760" cy="896112"/>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075688"/>
            <a:ext cx="82296" cy="896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6" y="2139696"/>
            <a:ext cx="10323576" cy="804672"/>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kubectl run server-pod --image=nginx --labels='role=server'</a:t>
            </a:r>
          </a:p>
          <a:p>
            <a:pPr>
              <a:spcBef>
                <a:spcPts val="0"/>
              </a:spcBef>
              <a:spcAft>
                <a:spcPts val="0"/>
              </a:spcAft>
            </a:pPr>
            <a:r>
              <a:rPr sz="1050">
                <a:solidFill>
                  <a:srgbClr val="161B26"/>
                </a:solidFill>
                <a:latin typeface="Consolas"/>
              </a:rPr>
              <a:t>kubectl expose pod server-pod --port=80 --name=server-svc</a:t>
            </a:r>
          </a:p>
          <a:p>
            <a:pPr>
              <a:spcBef>
                <a:spcPts val="0"/>
              </a:spcBef>
              <a:spcAft>
                <a:spcPts val="0"/>
              </a:spcAft>
            </a:pPr>
            <a:r>
              <a:rPr sz="1050">
                <a:solidFill>
                  <a:srgbClr val="161B26"/>
                </a:solidFill>
                <a:latin typeface="Consolas"/>
              </a:rPr>
              <a:t>kubectl run client-pod --image=nicolaka/netshoot --command -- sleep 3600</a:t>
            </a:r>
          </a:p>
          <a:p>
            <a:pPr>
              <a:spcBef>
                <a:spcPts val="0"/>
              </a:spcBef>
              <a:spcAft>
                <a:spcPts val="0"/>
              </a:spcAft>
            </a:pPr>
            <a:r>
              <a:rPr sz="1050">
                <a:solidFill>
                  <a:srgbClr val="161B26"/>
                </a:solidFill>
                <a:latin typeface="Consolas"/>
              </a:rPr>
              <a:t>kubectl get pods -o wide</a:t>
            </a:r>
          </a:p>
        </p:txBody>
      </p:sp>
      <p:sp>
        <p:nvSpPr>
          <p:cNvPr id="11" name="TextBox 10"/>
          <p:cNvSpPr txBox="1"/>
          <p:nvPr/>
        </p:nvSpPr>
        <p:spPr>
          <a:xfrm>
            <a:off x="777240" y="3154680"/>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Step 2 -- Ping by Pod IP</a:t>
            </a:r>
          </a:p>
        </p:txBody>
      </p:sp>
      <p:sp>
        <p:nvSpPr>
          <p:cNvPr id="12" name="Rounded Rectangle 11"/>
          <p:cNvSpPr/>
          <p:nvPr/>
        </p:nvSpPr>
        <p:spPr>
          <a:xfrm>
            <a:off x="777240" y="3538728"/>
            <a:ext cx="10652760" cy="521207"/>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3538728"/>
            <a:ext cx="82296" cy="521207"/>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3602736"/>
            <a:ext cx="10323576" cy="429767"/>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SERVER_IP=$(kubectl get pod server-pod -o jsonpath='{.status.podIP}')</a:t>
            </a:r>
          </a:p>
          <a:p>
            <a:pPr>
              <a:spcBef>
                <a:spcPts val="0"/>
              </a:spcBef>
              <a:spcAft>
                <a:spcPts val="0"/>
              </a:spcAft>
            </a:pPr>
            <a:r>
              <a:rPr sz="1050">
                <a:solidFill>
                  <a:srgbClr val="161B26"/>
                </a:solidFill>
                <a:latin typeface="Consolas"/>
              </a:rPr>
              <a:t>kubectl exec client-pod -- ping -c 4 $SERVER_IP</a:t>
            </a:r>
          </a:p>
        </p:txBody>
      </p:sp>
      <p:sp>
        <p:nvSpPr>
          <p:cNvPr id="15" name="TextBox 14"/>
          <p:cNvSpPr txBox="1"/>
          <p:nvPr/>
        </p:nvSpPr>
        <p:spPr>
          <a:xfrm>
            <a:off x="777240" y="4242815"/>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Step 3 -- DNS-based service discovery</a:t>
            </a:r>
          </a:p>
        </p:txBody>
      </p:sp>
      <p:sp>
        <p:nvSpPr>
          <p:cNvPr id="16" name="Rounded Rectangle 15"/>
          <p:cNvSpPr/>
          <p:nvPr/>
        </p:nvSpPr>
        <p:spPr>
          <a:xfrm>
            <a:off x="777240" y="4626863"/>
            <a:ext cx="10652760" cy="708660"/>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77240" y="4626863"/>
            <a:ext cx="82296" cy="7086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96696" y="4690871"/>
            <a:ext cx="10323576" cy="617220"/>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kubectl exec client-pod -- curl -s http://server-svc.default.svc.cluster.local</a:t>
            </a:r>
          </a:p>
          <a:p>
            <a:pPr>
              <a:spcBef>
                <a:spcPts val="0"/>
              </a:spcBef>
              <a:spcAft>
                <a:spcPts val="0"/>
              </a:spcAft>
            </a:pPr>
            <a:r>
              <a:rPr sz="1050">
                <a:solidFill>
                  <a:srgbClr val="161B26"/>
                </a:solidFill>
                <a:latin typeface="Consolas"/>
              </a:rPr>
              <a:t>kubectl exec client-pod -- nslookup kubernetes.default.svc.cluster.local</a:t>
            </a:r>
          </a:p>
          <a:p>
            <a:pPr>
              <a:spcBef>
                <a:spcPts val="0"/>
              </a:spcBef>
              <a:spcAft>
                <a:spcPts val="0"/>
              </a:spcAft>
            </a:pPr>
            <a:r>
              <a:rPr sz="1050">
                <a:solidFill>
                  <a:srgbClr val="161B26"/>
                </a:solidFill>
                <a:latin typeface="Consolas"/>
              </a:rPr>
              <a:t>kubectl exec client-pod -- cat /etc/resolv.conf</a:t>
            </a:r>
          </a:p>
        </p:txBody>
      </p:sp>
      <p:sp>
        <p:nvSpPr>
          <p:cNvPr id="19" name="TextBox 18"/>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20" name="TextBox 19"/>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21" name="TextBox 20"/>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156</a:t>
            </a:r>
          </a:p>
        </p:txBody>
      </p:sp>
    </p:spTree>
  </p:cSld>
  <p:clrMapOvr>
    <a:masterClrMapping/>
  </p:clrMapOvr>
</p:sld>
</file>

<file path=ppt/slides/slide1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17  ·  COMMANDS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Pod Connectivity: Flat Pod Network, ping, curl, DNS Discovery, netshoot (cont.)</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91640"/>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Step 4 -- Network debugging with netshoot</a:t>
            </a:r>
          </a:p>
        </p:txBody>
      </p:sp>
      <p:sp>
        <p:nvSpPr>
          <p:cNvPr id="8" name="Rounded Rectangle 7"/>
          <p:cNvSpPr/>
          <p:nvPr/>
        </p:nvSpPr>
        <p:spPr>
          <a:xfrm>
            <a:off x="777240" y="2075688"/>
            <a:ext cx="10652760" cy="708660"/>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075688"/>
            <a:ext cx="82296" cy="7086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6" y="2139696"/>
            <a:ext cx="10323576" cy="617220"/>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kubectl exec client-pod -- traceroute $SERVER_IP</a:t>
            </a:r>
          </a:p>
          <a:p>
            <a:pPr>
              <a:spcBef>
                <a:spcPts val="0"/>
              </a:spcBef>
              <a:spcAft>
                <a:spcPts val="0"/>
              </a:spcAft>
            </a:pPr>
            <a:r>
              <a:rPr sz="1050">
                <a:solidFill>
                  <a:srgbClr val="161B26"/>
                </a:solidFill>
                <a:latin typeface="Consolas"/>
              </a:rPr>
              <a:t>kubectl exec client-pod -- dig server-svc.default.svc.cluster.local</a:t>
            </a:r>
          </a:p>
          <a:p>
            <a:pPr>
              <a:spcBef>
                <a:spcPts val="0"/>
              </a:spcBef>
              <a:spcAft>
                <a:spcPts val="0"/>
              </a:spcAft>
            </a:pPr>
            <a:r>
              <a:rPr sz="1050">
                <a:solidFill>
                  <a:srgbClr val="161B26"/>
                </a:solidFill>
                <a:latin typeface="Consolas"/>
              </a:rPr>
              <a:t>kubectl exec client-pod -- ss -tulpn</a:t>
            </a:r>
          </a:p>
        </p:txBody>
      </p:sp>
      <p:sp>
        <p:nvSpPr>
          <p:cNvPr id="11" name="TextBox 10"/>
          <p:cNvSpPr txBox="1"/>
          <p:nvPr/>
        </p:nvSpPr>
        <p:spPr>
          <a:xfrm>
            <a:off x="777240" y="2967228"/>
            <a:ext cx="10652760" cy="310896"/>
          </a:xfrm>
          <a:prstGeom prst="rect">
            <a:avLst/>
          </a:prstGeom>
          <a:noFill/>
        </p:spPr>
        <p:txBody>
          <a:bodyPr wrap="square" anchor="t" lIns="0" rIns="0" tIns="0" bIns="0">
            <a:spAutoFit/>
          </a:bodyPr>
          <a:lstStyle/>
          <a:p>
            <a:pPr algn="l">
              <a:spcBef>
                <a:spcPts val="0"/>
              </a:spcBef>
              <a:spcAft>
                <a:spcPts val="400"/>
              </a:spcAft>
            </a:pPr>
            <a:r>
              <a:rPr sz="1300" b="1">
                <a:solidFill>
                  <a:srgbClr val="F59E0B"/>
                </a:solidFill>
                <a:latin typeface="Arial"/>
              </a:rPr>
              <a:t>Note   </a:t>
            </a:r>
            <a:r>
              <a:rPr sz="1300" b="0">
                <a:solidFill>
                  <a:srgbClr val="5B6372"/>
                </a:solidFill>
                <a:latin typeface="Arial"/>
              </a:rPr>
              <a:t>DNS pattern: &lt;service&gt;.&lt;namespace&gt;.svc.cluster.local. nicolaka/netshoot includes ping, curl, dig, traceroute, nmap, tshark, tcpdump.</a:t>
            </a:r>
          </a:p>
        </p:txBody>
      </p:sp>
      <p:sp>
        <p:nvSpPr>
          <p:cNvPr id="12" name="TextBox 11"/>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3" name="TextBox 12"/>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4" name="TextBox 13"/>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157</a:t>
            </a:r>
          </a:p>
        </p:txBody>
      </p:sp>
    </p:spTree>
  </p:cSld>
  <p:clrMapOvr>
    <a:masterClrMapping/>
  </p:clrMapOvr>
</p:sld>
</file>

<file path=ppt/slides/slide1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17  ·  TEST IT</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Pod Connectivity: Flat Pod Network, ping, curl, DNS Discovery, netshoot</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03120"/>
            <a:ext cx="10698480" cy="2560320"/>
          </a:xfrm>
          <a:prstGeom prst="roundRect">
            <a:avLst>
              <a:gd name="adj" fmla="val 5000"/>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lIns="0" rIns="0" tIns="0" bIns="0">
            <a:spAutoFit/>
          </a:bodyPr>
          <a:lstStyle/>
          <a:p>
            <a:pPr algn="l">
              <a:spcBef>
                <a:spcPts val="0"/>
              </a:spcBef>
              <a:spcAft>
                <a:spcPts val="400"/>
              </a:spcAft>
            </a:pPr>
            <a:r>
              <a:rPr sz="2200" b="1">
                <a:solidFill>
                  <a:srgbClr val="127A3E"/>
                </a:solidFill>
                <a:latin typeface="Arial"/>
              </a:rPr>
              <a:t>✅  Test it</a:t>
            </a:r>
          </a:p>
        </p:txBody>
      </p:sp>
      <p:sp>
        <p:nvSpPr>
          <p:cNvPr id="9" name="TextBox 8"/>
          <p:cNvSpPr txBox="1"/>
          <p:nvPr/>
        </p:nvSpPr>
        <p:spPr>
          <a:xfrm>
            <a:off x="1097280" y="3017520"/>
            <a:ext cx="10149840" cy="1463040"/>
          </a:xfrm>
          <a:prstGeom prst="rect">
            <a:avLst/>
          </a:prstGeom>
          <a:noFill/>
        </p:spPr>
        <p:txBody>
          <a:bodyPr wrap="square" anchor="t" lIns="0" rIns="0" tIns="0" bIns="0">
            <a:spAutoFit/>
          </a:bodyPr>
          <a:lstStyle/>
          <a:p>
            <a:pPr algn="l">
              <a:spcBef>
                <a:spcPts val="0"/>
              </a:spcBef>
              <a:spcAft>
                <a:spcPts val="400"/>
              </a:spcAft>
            </a:pPr>
            <a:r>
              <a:rPr sz="1800" b="0">
                <a:solidFill>
                  <a:srgbClr val="161B26"/>
                </a:solidFill>
                <a:latin typeface="Arial"/>
              </a:rPr>
              <a:t>Ping to server-pod IP returns 0% loss. curl to service DNS returns nginx HTML. nslookup kubernetes.default resolves to the ClusterIP of the kubernetes service.</a:t>
            </a:r>
          </a:p>
        </p:txBody>
      </p:sp>
      <p:sp>
        <p:nvSpPr>
          <p:cNvPr id="10" name="TextBox 9"/>
          <p:cNvSpPr txBox="1"/>
          <p:nvPr/>
        </p:nvSpPr>
        <p:spPr>
          <a:xfrm>
            <a:off x="777240" y="4983480"/>
            <a:ext cx="10698480" cy="365760"/>
          </a:xfrm>
          <a:prstGeom prst="rect">
            <a:avLst/>
          </a:prstGeom>
          <a:noFill/>
        </p:spPr>
        <p:txBody>
          <a:bodyPr wrap="square" anchor="t" lIns="0" rIns="0" tIns="0" bIns="0">
            <a:spAutoFit/>
          </a:bodyPr>
          <a:lstStyle/>
          <a:p>
            <a:pPr algn="l">
              <a:spcBef>
                <a:spcPts val="0"/>
              </a:spcBef>
              <a:spcAft>
                <a:spcPts val="400"/>
              </a:spcAft>
            </a:pPr>
            <a:r>
              <a:rPr sz="1300" b="1">
                <a:solidFill>
                  <a:srgbClr val="10B981"/>
                </a:solidFill>
                <a:latin typeface="Arial"/>
              </a:rPr>
              <a:t>Killercoda:  </a:t>
            </a:r>
            <a:r>
              <a:rPr sz="1300" b="0">
                <a:solidFill>
                  <a:srgbClr val="5B6372"/>
                </a:solidFill>
                <a:latin typeface="Arial"/>
              </a:rPr>
              <a:t>https://killercoda.com/playgrounds/scenario/kubernetes</a:t>
            </a:r>
          </a:p>
        </p:txBody>
      </p:sp>
      <p:sp>
        <p:nvSpPr>
          <p:cNvPr id="11" name="TextBox 10"/>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158</a:t>
            </a:r>
          </a:p>
        </p:txBody>
      </p:sp>
    </p:spTree>
  </p:cSld>
  <p:clrMapOvr>
    <a:masterClrMapping/>
  </p:clrMapOvr>
</p:sld>
</file>

<file path=ppt/slides/slide1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DAY 2 · SERVICE TYPES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Service Types: ClusterIP, NodePort, LoadBalancer (MetalLB), EndpointSlices, Selector Debug</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64208"/>
            <a:ext cx="169164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09928"/>
            <a:ext cx="1691640" cy="365760"/>
          </a:xfrm>
          <a:prstGeom prst="rect">
            <a:avLst/>
          </a:prstGeom>
          <a:noFill/>
        </p:spPr>
        <p:txBody>
          <a:bodyPr wrap="square" anchor="t" lIns="0" rIns="0" tIns="0" bIns="0">
            <a:spAutoFit/>
          </a:bodyPr>
          <a:lstStyle/>
          <a:p>
            <a:pPr algn="ctr">
              <a:spcBef>
                <a:spcPts val="0"/>
              </a:spcBef>
              <a:spcAft>
                <a:spcPts val="400"/>
              </a:spcAft>
            </a:pPr>
            <a:r>
              <a:rPr sz="1600" b="1">
                <a:solidFill>
                  <a:srgbClr val="FFFFFF"/>
                </a:solidFill>
                <a:latin typeface="Arial"/>
              </a:rPr>
              <a:t>LAB 18</a:t>
            </a:r>
          </a:p>
        </p:txBody>
      </p:sp>
      <p:sp>
        <p:nvSpPr>
          <p:cNvPr id="9" name="TextBox 8"/>
          <p:cNvSpPr txBox="1"/>
          <p:nvPr/>
        </p:nvSpPr>
        <p:spPr>
          <a:xfrm>
            <a:off x="2697480" y="1691640"/>
            <a:ext cx="8778240" cy="411480"/>
          </a:xfrm>
          <a:prstGeom prst="rect">
            <a:avLst/>
          </a:prstGeom>
          <a:noFill/>
        </p:spPr>
        <p:txBody>
          <a:bodyPr wrap="square" anchor="ctr" lIns="0" rIns="0" tIns="0" bIns="0">
            <a:spAutoFit/>
          </a:bodyPr>
          <a:lstStyle/>
          <a:p>
            <a:pPr algn="l">
              <a:spcBef>
                <a:spcPts val="0"/>
              </a:spcBef>
              <a:spcAft>
                <a:spcPts val="400"/>
              </a:spcAft>
            </a:pPr>
            <a:r>
              <a:rPr sz="1400" b="1">
                <a:solidFill>
                  <a:srgbClr val="5B6372"/>
                </a:solidFill>
                <a:latin typeface="Arial"/>
              </a:rPr>
              <a:t>Service types</a:t>
            </a:r>
          </a:p>
        </p:txBody>
      </p:sp>
      <p:sp>
        <p:nvSpPr>
          <p:cNvPr id="10" name="TextBox 9"/>
          <p:cNvSpPr txBox="1"/>
          <p:nvPr/>
        </p:nvSpPr>
        <p:spPr>
          <a:xfrm>
            <a:off x="777240" y="2286000"/>
            <a:ext cx="10698480" cy="1554480"/>
          </a:xfrm>
          <a:prstGeom prst="rect">
            <a:avLst/>
          </a:prstGeom>
          <a:noFill/>
        </p:spPr>
        <p:txBody>
          <a:bodyPr wrap="square" anchor="t" lIns="0" rIns="0" tIns="0" bIns="0">
            <a:spAutoFit/>
          </a:bodyPr>
          <a:lstStyle/>
          <a:p>
            <a:pPr algn="l">
              <a:spcBef>
                <a:spcPts val="0"/>
              </a:spcBef>
              <a:spcAft>
                <a:spcPts val="400"/>
              </a:spcAft>
            </a:pPr>
            <a:r>
              <a:rPr sz="1900" b="0">
                <a:solidFill>
                  <a:srgbClr val="161B26"/>
                </a:solidFill>
                <a:latin typeface="Arial"/>
              </a:rPr>
              <a:t>Create and test all three primary service types -- ClusterIP, NodePort, and LoadBalancer with MetalLB -- inspect EndpointSlice objects, and debug selector mismatches that cause services to have no endpoints. Service types are heavily tested (20% CKA domain).</a:t>
            </a:r>
          </a:p>
        </p:txBody>
      </p:sp>
      <p:sp>
        <p:nvSpPr>
          <p:cNvPr id="11" name="Rounded Rectangle 10"/>
          <p:cNvSpPr/>
          <p:nvPr/>
        </p:nvSpPr>
        <p:spPr>
          <a:xfrm>
            <a:off x="777240" y="4069080"/>
            <a:ext cx="10698480" cy="1783080"/>
          </a:xfrm>
          <a:prstGeom prst="roundRect">
            <a:avLst>
              <a:gd name="adj" fmla="val 5000"/>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05840" y="4251960"/>
            <a:ext cx="10058400" cy="365760"/>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You'll build</a:t>
            </a:r>
          </a:p>
        </p:txBody>
      </p:sp>
      <p:sp>
        <p:nvSpPr>
          <p:cNvPr id="13" name="TextBox 12"/>
          <p:cNvSpPr txBox="1"/>
          <p:nvPr/>
        </p:nvSpPr>
        <p:spPr>
          <a:xfrm>
            <a:off x="1005840" y="4617720"/>
            <a:ext cx="10241280" cy="640080"/>
          </a:xfrm>
          <a:prstGeom prst="rect">
            <a:avLst/>
          </a:prstGeom>
          <a:noFill/>
        </p:spPr>
        <p:txBody>
          <a:bodyPr wrap="square" anchor="t" lIns="0" rIns="0" tIns="0" bIns="0">
            <a:spAutoFit/>
          </a:bodyPr>
          <a:lstStyle/>
          <a:p>
            <a:pPr algn="l">
              <a:spcBef>
                <a:spcPts val="0"/>
              </a:spcBef>
              <a:spcAft>
                <a:spcPts val="400"/>
              </a:spcAft>
            </a:pPr>
            <a:r>
              <a:rPr sz="1700" b="1">
                <a:solidFill>
                  <a:srgbClr val="161B26"/>
                </a:solidFill>
                <a:latin typeface="Arial"/>
              </a:rPr>
              <a:t>Create ClusterIP, NodePort with custom port, inspect EndpointSlices, create service with wrong selector and debug/fix it.</a:t>
            </a:r>
          </a:p>
        </p:txBody>
      </p:sp>
      <p:sp>
        <p:nvSpPr>
          <p:cNvPr id="14" name="TextBox 13"/>
          <p:cNvSpPr txBox="1"/>
          <p:nvPr/>
        </p:nvSpPr>
        <p:spPr>
          <a:xfrm>
            <a:off x="1005840" y="5349240"/>
            <a:ext cx="10058400" cy="457200"/>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Key commands:  </a:t>
            </a:r>
            <a:r>
              <a:rPr sz="1300" b="0">
                <a:solidFill>
                  <a:srgbClr val="5B6372"/>
                </a:solidFill>
                <a:latin typeface="Arial"/>
              </a:rPr>
              <a:t>kubectl create · kubectl expose · » EndpointSlices</a:t>
            </a:r>
          </a:p>
        </p:txBody>
      </p:sp>
      <p:sp>
        <p:nvSpPr>
          <p:cNvPr id="15" name="TextBox 14"/>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6" name="TextBox 15"/>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7" name="TextBox 16"/>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159</a:t>
            </a:r>
          </a:p>
        </p:txBody>
      </p:sp>
    </p:spTree>
  </p:cSld>
  <p:clrMapOvr>
    <a:masterClrMapping/>
  </p:clrMapOvr>
</p:sld>
</file>

<file path=ppt/slides/slide1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18  ·  COMMANDS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Service Types: ClusterIP, NodePort, LoadBalancer (MetalLB), EndpointSlices, Selector Debug</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91640"/>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Step 1 -- ClusterIP service</a:t>
            </a:r>
          </a:p>
        </p:txBody>
      </p:sp>
      <p:sp>
        <p:nvSpPr>
          <p:cNvPr id="8" name="Rounded Rectangle 7"/>
          <p:cNvSpPr/>
          <p:nvPr/>
        </p:nvSpPr>
        <p:spPr>
          <a:xfrm>
            <a:off x="777240" y="2075688"/>
            <a:ext cx="10652760" cy="896112"/>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075688"/>
            <a:ext cx="82296" cy="896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6" y="2139696"/>
            <a:ext cx="10323576" cy="804672"/>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kubectl create deployment webapp --image=nginx --replicas=3</a:t>
            </a:r>
          </a:p>
          <a:p>
            <a:pPr>
              <a:spcBef>
                <a:spcPts val="0"/>
              </a:spcBef>
              <a:spcAft>
                <a:spcPts val="0"/>
              </a:spcAft>
            </a:pPr>
            <a:r>
              <a:rPr sz="1050">
                <a:solidFill>
                  <a:srgbClr val="161B26"/>
                </a:solidFill>
                <a:latin typeface="Consolas"/>
              </a:rPr>
              <a:t>kubectl expose deployment webapp --port=80 --type=ClusterIP</a:t>
            </a:r>
          </a:p>
          <a:p>
            <a:pPr>
              <a:spcBef>
                <a:spcPts val="0"/>
              </a:spcBef>
              <a:spcAft>
                <a:spcPts val="0"/>
              </a:spcAft>
            </a:pPr>
            <a:r>
              <a:rPr sz="1050">
                <a:solidFill>
                  <a:srgbClr val="161B26"/>
                </a:solidFill>
                <a:latin typeface="Consolas"/>
              </a:rPr>
              <a:t>kubectl get svc webapp</a:t>
            </a:r>
          </a:p>
          <a:p>
            <a:pPr>
              <a:spcBef>
                <a:spcPts val="0"/>
              </a:spcBef>
              <a:spcAft>
                <a:spcPts val="0"/>
              </a:spcAft>
            </a:pPr>
            <a:r>
              <a:rPr sz="1050">
                <a:solidFill>
                  <a:srgbClr val="161B26"/>
                </a:solidFill>
                <a:latin typeface="Consolas"/>
              </a:rPr>
              <a:t>kubectl get endpointslices -l kubernetes.io/service-name=webapp</a:t>
            </a:r>
          </a:p>
        </p:txBody>
      </p:sp>
      <p:sp>
        <p:nvSpPr>
          <p:cNvPr id="11" name="TextBox 10"/>
          <p:cNvSpPr txBox="1"/>
          <p:nvPr/>
        </p:nvSpPr>
        <p:spPr>
          <a:xfrm>
            <a:off x="777240" y="3154680"/>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Step 2 -- NodePort service</a:t>
            </a:r>
          </a:p>
        </p:txBody>
      </p:sp>
      <p:sp>
        <p:nvSpPr>
          <p:cNvPr id="12" name="Rounded Rectangle 11"/>
          <p:cNvSpPr/>
          <p:nvPr/>
        </p:nvSpPr>
        <p:spPr>
          <a:xfrm>
            <a:off x="777240" y="3538728"/>
            <a:ext cx="10652760" cy="708660"/>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3538728"/>
            <a:ext cx="82296" cy="7086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3602736"/>
            <a:ext cx="10323576" cy="617220"/>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kubectl expose deployment webapp --port=80 --type=NodePort --name=webapp-np</a:t>
            </a:r>
          </a:p>
          <a:p>
            <a:pPr>
              <a:spcBef>
                <a:spcPts val="0"/>
              </a:spcBef>
              <a:spcAft>
                <a:spcPts val="0"/>
              </a:spcAft>
            </a:pPr>
            <a:r>
              <a:rPr sz="1050">
                <a:solidFill>
                  <a:srgbClr val="161B26"/>
                </a:solidFill>
                <a:latin typeface="Consolas"/>
              </a:rPr>
              <a:t>NODE_PORT=$(kubectl get svc webapp-np -o jsonpath='{.spec.ports[0].nodePort}')</a:t>
            </a:r>
          </a:p>
          <a:p>
            <a:pPr>
              <a:spcBef>
                <a:spcPts val="0"/>
              </a:spcBef>
              <a:spcAft>
                <a:spcPts val="0"/>
              </a:spcAft>
            </a:pPr>
            <a:r>
              <a:rPr sz="1050">
                <a:solidFill>
                  <a:srgbClr val="161B26"/>
                </a:solidFill>
                <a:latin typeface="Consolas"/>
              </a:rPr>
              <a:t>echo "NodePort: $NODE_PORT"</a:t>
            </a:r>
          </a:p>
        </p:txBody>
      </p:sp>
      <p:sp>
        <p:nvSpPr>
          <p:cNvPr id="15" name="TextBox 14"/>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6" name="TextBox 15"/>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7" name="TextBox 16"/>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160</a:t>
            </a:r>
          </a:p>
        </p:txBody>
      </p:sp>
    </p:spTree>
  </p:cSld>
  <p:clrMapOvr>
    <a:masterClrMapping/>
  </p:clrMapOvr>
</p:sld>
</file>

<file path=ppt/slides/slide1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18  ·  COMMANDS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Service Types: ClusterIP, NodePort, LoadBalancer (MetalLB), EndpointSlices, Selector Debug (cont.)</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91640"/>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Step 3 -- Debug: selector mismatch causing no endpoints</a:t>
            </a:r>
          </a:p>
        </p:txBody>
      </p:sp>
      <p:sp>
        <p:nvSpPr>
          <p:cNvPr id="8" name="Rounded Rectangle 7"/>
          <p:cNvSpPr/>
          <p:nvPr/>
        </p:nvSpPr>
        <p:spPr>
          <a:xfrm>
            <a:off x="777240" y="2075688"/>
            <a:ext cx="10652760" cy="1458467"/>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075688"/>
            <a:ext cx="82296" cy="1458467"/>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6" y="2139696"/>
            <a:ext cx="10323576" cy="1367027"/>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 Create service with wrong selector</a:t>
            </a:r>
          </a:p>
          <a:p>
            <a:pPr>
              <a:spcBef>
                <a:spcPts val="0"/>
              </a:spcBef>
              <a:spcAft>
                <a:spcPts val="0"/>
              </a:spcAft>
            </a:pPr>
            <a:r>
              <a:rPr sz="1050">
                <a:solidFill>
                  <a:srgbClr val="161B26"/>
                </a:solidFill>
                <a:latin typeface="Consolas"/>
              </a:rPr>
              <a:t>kubectl expose deployment webapp --port=80 --name=broken-svc</a:t>
            </a:r>
          </a:p>
          <a:p>
            <a:pPr>
              <a:spcBef>
                <a:spcPts val="0"/>
              </a:spcBef>
              <a:spcAft>
                <a:spcPts val="0"/>
              </a:spcAft>
            </a:pPr>
            <a:r>
              <a:rPr sz="1050">
                <a:solidFill>
                  <a:srgbClr val="161B26"/>
                </a:solidFill>
                <a:latin typeface="Consolas"/>
              </a:rPr>
              <a:t>kubectl patch svc broken-svc -p '{"spec":{"selector":{"app":"wrong"}}}'</a:t>
            </a:r>
          </a:p>
          <a:p>
            <a:pPr>
              <a:spcBef>
                <a:spcPts val="0"/>
              </a:spcBef>
              <a:spcAft>
                <a:spcPts val="0"/>
              </a:spcAft>
            </a:pPr>
            <a:r>
              <a:rPr sz="1050">
                <a:solidFill>
                  <a:srgbClr val="161B26"/>
                </a:solidFill>
                <a:latin typeface="Consolas"/>
              </a:rPr>
              <a:t>kubectl get endpoints broken-svc</a:t>
            </a:r>
          </a:p>
          <a:p>
            <a:pPr>
              <a:spcBef>
                <a:spcPts val="0"/>
              </a:spcBef>
              <a:spcAft>
                <a:spcPts val="0"/>
              </a:spcAft>
            </a:pPr>
            <a:r>
              <a:rPr sz="1050">
                <a:solidFill>
                  <a:srgbClr val="161B26"/>
                </a:solidFill>
                <a:latin typeface="Consolas"/>
              </a:rPr>
              <a:t># &lt;none&gt; -- no matching pods</a:t>
            </a:r>
          </a:p>
          <a:p>
            <a:pPr>
              <a:spcBef>
                <a:spcPts val="0"/>
              </a:spcBef>
              <a:spcAft>
                <a:spcPts val="0"/>
              </a:spcAft>
            </a:pPr>
            <a:r>
              <a:rPr sz="1050">
                <a:solidFill>
                  <a:srgbClr val="161B26"/>
                </a:solidFill>
                <a:latin typeface="Consolas"/>
              </a:rPr>
              <a:t># Fix: correct the selector</a:t>
            </a:r>
          </a:p>
          <a:p>
            <a:pPr>
              <a:spcBef>
                <a:spcPts val="0"/>
              </a:spcBef>
              <a:spcAft>
                <a:spcPts val="0"/>
              </a:spcAft>
            </a:pPr>
            <a:r>
              <a:rPr sz="1050">
                <a:solidFill>
                  <a:srgbClr val="161B26"/>
                </a:solidFill>
                <a:latin typeface="Consolas"/>
              </a:rPr>
              <a:t>kubectl patch svc broken-svc -p '{"spec":{"selector":{"app":"webapp"}}}'</a:t>
            </a:r>
          </a:p>
        </p:txBody>
      </p:sp>
      <p:sp>
        <p:nvSpPr>
          <p:cNvPr id="11" name="TextBox 10"/>
          <p:cNvSpPr txBox="1"/>
          <p:nvPr/>
        </p:nvSpPr>
        <p:spPr>
          <a:xfrm>
            <a:off x="777240" y="3717035"/>
            <a:ext cx="10652760" cy="310896"/>
          </a:xfrm>
          <a:prstGeom prst="rect">
            <a:avLst/>
          </a:prstGeom>
          <a:noFill/>
        </p:spPr>
        <p:txBody>
          <a:bodyPr wrap="square" anchor="t" lIns="0" rIns="0" tIns="0" bIns="0">
            <a:spAutoFit/>
          </a:bodyPr>
          <a:lstStyle/>
          <a:p>
            <a:pPr algn="l">
              <a:spcBef>
                <a:spcPts val="0"/>
              </a:spcBef>
              <a:spcAft>
                <a:spcPts val="400"/>
              </a:spcAft>
            </a:pPr>
            <a:r>
              <a:rPr sz="1300" b="1">
                <a:solidFill>
                  <a:srgbClr val="F59E0B"/>
                </a:solidFill>
                <a:latin typeface="Arial"/>
              </a:rPr>
              <a:t>Note   </a:t>
            </a:r>
            <a:r>
              <a:rPr sz="1300" b="0">
                <a:solidFill>
                  <a:srgbClr val="5B6372"/>
                </a:solidFill>
                <a:latin typeface="Arial"/>
              </a:rPr>
              <a:t>EndpointSlices replace Endpoints in Kubernetes v1.21+. A service with no endpoints usually means a selector label mismatch. Compare: kubectl describe svc vs kubectl get pods --show-labels.</a:t>
            </a:r>
          </a:p>
        </p:txBody>
      </p:sp>
      <p:sp>
        <p:nvSpPr>
          <p:cNvPr id="12" name="TextBox 11"/>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3" name="TextBox 12"/>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4" name="TextBox 13"/>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161</a:t>
            </a:r>
          </a:p>
        </p:txBody>
      </p:sp>
    </p:spTree>
  </p:cSld>
  <p:clrMapOvr>
    <a:masterClrMapping/>
  </p:clrMapOvr>
</p:sld>
</file>

<file path=ppt/slides/slide1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18  ·  TEST IT</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Service Types: ClusterIP, NodePort, LoadBalancer (MetalLB), EndpointSlices, Selector Debug</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03120"/>
            <a:ext cx="10698480" cy="2560320"/>
          </a:xfrm>
          <a:prstGeom prst="roundRect">
            <a:avLst>
              <a:gd name="adj" fmla="val 5000"/>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lIns="0" rIns="0" tIns="0" bIns="0">
            <a:spAutoFit/>
          </a:bodyPr>
          <a:lstStyle/>
          <a:p>
            <a:pPr algn="l">
              <a:spcBef>
                <a:spcPts val="0"/>
              </a:spcBef>
              <a:spcAft>
                <a:spcPts val="400"/>
              </a:spcAft>
            </a:pPr>
            <a:r>
              <a:rPr sz="2200" b="1">
                <a:solidFill>
                  <a:srgbClr val="127A3E"/>
                </a:solidFill>
                <a:latin typeface="Arial"/>
              </a:rPr>
              <a:t>✅  Test it</a:t>
            </a:r>
          </a:p>
        </p:txBody>
      </p:sp>
      <p:sp>
        <p:nvSpPr>
          <p:cNvPr id="9" name="TextBox 8"/>
          <p:cNvSpPr txBox="1"/>
          <p:nvPr/>
        </p:nvSpPr>
        <p:spPr>
          <a:xfrm>
            <a:off x="1097280" y="3017520"/>
            <a:ext cx="10149840" cy="1463040"/>
          </a:xfrm>
          <a:prstGeom prst="rect">
            <a:avLst/>
          </a:prstGeom>
          <a:noFill/>
        </p:spPr>
        <p:txBody>
          <a:bodyPr wrap="square" anchor="t" lIns="0" rIns="0" tIns="0" bIns="0">
            <a:spAutoFit/>
          </a:bodyPr>
          <a:lstStyle/>
          <a:p>
            <a:pPr algn="l">
              <a:spcBef>
                <a:spcPts val="0"/>
              </a:spcBef>
              <a:spcAft>
                <a:spcPts val="400"/>
              </a:spcAft>
            </a:pPr>
            <a:r>
              <a:rPr sz="1800" b="0">
                <a:solidFill>
                  <a:srgbClr val="161B26"/>
                </a:solidFill>
                <a:latin typeface="Arial"/>
              </a:rPr>
              <a:t>ClusterIP routes traffic to all 3 pods. NodePort is accessible from node IP. broken-svc has no endpoints; fixing selector restores them immediately.</a:t>
            </a:r>
          </a:p>
        </p:txBody>
      </p:sp>
      <p:sp>
        <p:nvSpPr>
          <p:cNvPr id="10" name="TextBox 9"/>
          <p:cNvSpPr txBox="1"/>
          <p:nvPr/>
        </p:nvSpPr>
        <p:spPr>
          <a:xfrm>
            <a:off x="777240" y="4983480"/>
            <a:ext cx="10698480" cy="365760"/>
          </a:xfrm>
          <a:prstGeom prst="rect">
            <a:avLst/>
          </a:prstGeom>
          <a:noFill/>
        </p:spPr>
        <p:txBody>
          <a:bodyPr wrap="square" anchor="t" lIns="0" rIns="0" tIns="0" bIns="0">
            <a:spAutoFit/>
          </a:bodyPr>
          <a:lstStyle/>
          <a:p>
            <a:pPr algn="l">
              <a:spcBef>
                <a:spcPts val="0"/>
              </a:spcBef>
              <a:spcAft>
                <a:spcPts val="400"/>
              </a:spcAft>
            </a:pPr>
            <a:r>
              <a:rPr sz="1300" b="1">
                <a:solidFill>
                  <a:srgbClr val="10B981"/>
                </a:solidFill>
                <a:latin typeface="Arial"/>
              </a:rPr>
              <a:t>Killercoda:  </a:t>
            </a:r>
            <a:r>
              <a:rPr sz="1300" b="0">
                <a:solidFill>
                  <a:srgbClr val="5B6372"/>
                </a:solidFill>
                <a:latin typeface="Arial"/>
              </a:rPr>
              <a:t>https://killercoda.com/playgrounds/scenario/kubernetes</a:t>
            </a:r>
          </a:p>
        </p:txBody>
      </p:sp>
      <p:sp>
        <p:nvSpPr>
          <p:cNvPr id="11" name="TextBox 10"/>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162</a:t>
            </a:r>
          </a:p>
        </p:txBody>
      </p:sp>
    </p:spTree>
  </p:cSld>
  <p:clrMapOvr>
    <a:masterClrMapping/>
  </p:clrMapOvr>
</p:sld>
</file>

<file path=ppt/slides/slide1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lIns="0" rIns="0" tIns="0" bIns="0">
            <a:spAutoFit/>
          </a:bodyPr>
          <a:lstStyle/>
          <a:p>
            <a:pPr algn="l">
              <a:spcBef>
                <a:spcPts val="0"/>
              </a:spcBef>
              <a:spcAft>
                <a:spcPts val="400"/>
              </a:spcAft>
            </a:pPr>
            <a:r>
              <a:rPr sz="1600" b="1">
                <a:solidFill>
                  <a:srgbClr val="1F6FEB"/>
                </a:solidFill>
                <a:latin typeface="Arial"/>
              </a:rPr>
              <a:t>WRAP-UP</a:t>
            </a:r>
          </a:p>
        </p:txBody>
      </p:sp>
      <p:sp>
        <p:nvSpPr>
          <p:cNvPr id="5" name="TextBox 4"/>
          <p:cNvSpPr txBox="1"/>
          <p:nvPr/>
        </p:nvSpPr>
        <p:spPr>
          <a:xfrm>
            <a:off x="1005840" y="2560320"/>
            <a:ext cx="10332720" cy="2194560"/>
          </a:xfrm>
          <a:prstGeom prst="rect">
            <a:avLst/>
          </a:prstGeom>
          <a:noFill/>
        </p:spPr>
        <p:txBody>
          <a:bodyPr wrap="square" anchor="t" lIns="0" rIns="0" tIns="0" bIns="0">
            <a:spAutoFit/>
          </a:bodyPr>
          <a:lstStyle/>
          <a:p>
            <a:pPr algn="l">
              <a:spcBef>
                <a:spcPts val="0"/>
              </a:spcBef>
              <a:spcAft>
                <a:spcPts val="400"/>
              </a:spcAft>
            </a:pPr>
            <a:r>
              <a:rPr sz="3800" b="1">
                <a:solidFill>
                  <a:srgbClr val="161B26"/>
                </a:solidFill>
                <a:latin typeface="Arial"/>
              </a:rPr>
              <a:t>Day 2 done — workloads, scheduling and basic services.</a:t>
            </a:r>
          </a:p>
        </p:txBody>
      </p:sp>
      <p:sp>
        <p:nvSpPr>
          <p:cNvPr id="6" name="TextBox 5"/>
          <p:cNvSpPr txBox="1"/>
          <p:nvPr/>
        </p:nvSpPr>
        <p:spPr>
          <a:xfrm>
            <a:off x="1024128" y="4389120"/>
            <a:ext cx="10058400" cy="1097280"/>
          </a:xfrm>
          <a:prstGeom prst="rect">
            <a:avLst/>
          </a:prstGeom>
          <a:noFill/>
        </p:spPr>
        <p:txBody>
          <a:bodyPr wrap="square" anchor="t" lIns="0" rIns="0" tIns="0" bIns="0">
            <a:spAutoFit/>
          </a:bodyPr>
          <a:lstStyle/>
          <a:p>
            <a:pPr algn="l">
              <a:spcBef>
                <a:spcPts val="0"/>
              </a:spcBef>
              <a:spcAft>
                <a:spcPts val="400"/>
              </a:spcAft>
            </a:pPr>
            <a:r>
              <a:rPr sz="2000" b="0">
                <a:solidFill>
                  <a:srgbClr val="5B6372"/>
                </a:solidFill>
                <a:latin typeface="Arial"/>
              </a:rPr>
              <a:t>Tomorrow: Ingress, Gateway API, NetworkPolicy, Storage and Troubleshooting.</a:t>
            </a:r>
          </a:p>
        </p:txBody>
      </p:sp>
      <p:sp>
        <p:nvSpPr>
          <p:cNvPr id="7" name="TextBox 6"/>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8" name="TextBox 7"/>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9" name="TextBox 8"/>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163</a:t>
            </a:r>
          </a:p>
        </p:txBody>
      </p:sp>
    </p:spTree>
  </p:cSld>
  <p:clrMapOvr>
    <a:masterClrMapping/>
  </p:clrMapOvr>
</p:sld>
</file>

<file path=ppt/slides/slide1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56832"/>
            <a:ext cx="12191695" cy="2011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2103120"/>
            <a:ext cx="10972800" cy="548640"/>
          </a:xfrm>
          <a:prstGeom prst="rect">
            <a:avLst/>
          </a:prstGeom>
          <a:noFill/>
        </p:spPr>
        <p:txBody>
          <a:bodyPr wrap="square" anchor="t" lIns="0" rIns="0" tIns="0" bIns="0">
            <a:spAutoFit/>
          </a:bodyPr>
          <a:lstStyle/>
          <a:p>
            <a:pPr algn="l">
              <a:spcBef>
                <a:spcPts val="0"/>
              </a:spcBef>
              <a:spcAft>
                <a:spcPts val="400"/>
              </a:spcAft>
            </a:pPr>
            <a:r>
              <a:rPr sz="1600" b="1">
                <a:solidFill>
                  <a:srgbClr val="1F6FEB"/>
                </a:solidFill>
                <a:latin typeface="Arial"/>
              </a:rPr>
              <a:t>COURSE SLIDES</a:t>
            </a:r>
          </a:p>
        </p:txBody>
      </p:sp>
      <p:sp>
        <p:nvSpPr>
          <p:cNvPr id="6" name="TextBox 5"/>
          <p:cNvSpPr txBox="1"/>
          <p:nvPr/>
        </p:nvSpPr>
        <p:spPr>
          <a:xfrm>
            <a:off x="822960" y="2606040"/>
            <a:ext cx="10972800" cy="1737360"/>
          </a:xfrm>
          <a:prstGeom prst="rect">
            <a:avLst/>
          </a:prstGeom>
          <a:noFill/>
        </p:spPr>
        <p:txBody>
          <a:bodyPr wrap="square" anchor="t" lIns="0" rIns="0" tIns="0" bIns="0">
            <a:spAutoFit/>
          </a:bodyPr>
          <a:lstStyle/>
          <a:p>
            <a:pPr algn="l">
              <a:spcBef>
                <a:spcPts val="0"/>
              </a:spcBef>
              <a:spcAft>
                <a:spcPts val="400"/>
              </a:spcAft>
            </a:pPr>
            <a:r>
              <a:rPr sz="4400" b="1">
                <a:solidFill>
                  <a:srgbClr val="161B26"/>
                </a:solidFill>
                <a:latin typeface="Arial"/>
              </a:rPr>
              <a:t>Certified Kubernetes Administrator (CKA)</a:t>
            </a:r>
          </a:p>
        </p:txBody>
      </p:sp>
      <p:sp>
        <p:nvSpPr>
          <p:cNvPr id="7" name="Rectangle 6"/>
          <p:cNvSpPr/>
          <p:nvPr/>
        </p:nvSpPr>
        <p:spPr>
          <a:xfrm>
            <a:off x="841248" y="4526280"/>
            <a:ext cx="2194560" cy="5486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4800600"/>
            <a:ext cx="10972800" cy="1280160"/>
          </a:xfrm>
          <a:prstGeom prst="rect">
            <a:avLst/>
          </a:prstGeom>
          <a:noFill/>
        </p:spPr>
        <p:txBody>
          <a:bodyPr wrap="square" anchor="t" lIns="0" rIns="0" tIns="0" bIns="0">
            <a:spAutoFit/>
          </a:bodyPr>
          <a:lstStyle/>
          <a:p>
            <a:pPr algn="l">
              <a:spcBef>
                <a:spcPts val="0"/>
              </a:spcBef>
              <a:spcAft>
                <a:spcPts val="600"/>
              </a:spcAft>
            </a:pPr>
            <a:r>
              <a:rPr sz="1600" b="0">
                <a:solidFill>
                  <a:srgbClr val="5B6372"/>
                </a:solidFill>
                <a:latin typeface="Arial"/>
              </a:rPr>
              <a:t>WSQ Course Code: TGS-2025054612</a:t>
            </a:r>
          </a:p>
          <a:p>
            <a:pPr algn="l">
              <a:spcBef>
                <a:spcPts val="0"/>
              </a:spcBef>
              <a:spcAft>
                <a:spcPts val="600"/>
              </a:spcAft>
            </a:pPr>
            <a:r>
              <a:rPr sz="1400" b="0">
                <a:solidFill>
                  <a:srgbClr val="5B6372"/>
                </a:solidFill>
                <a:latin typeface="Arial"/>
              </a:rPr>
              <a:t>Conducted by Tertiary Infotech Academy Pte Ltd  ·  UEN 201200696W</a:t>
            </a:r>
          </a:p>
        </p:txBody>
      </p:sp>
      <p:sp>
        <p:nvSpPr>
          <p:cNvPr id="9" name="TextBox 8"/>
          <p:cNvSpPr txBox="1"/>
          <p:nvPr/>
        </p:nvSpPr>
        <p:spPr>
          <a:xfrm>
            <a:off x="822960" y="6126480"/>
            <a:ext cx="10972800" cy="310896"/>
          </a:xfrm>
          <a:prstGeom prst="rect">
            <a:avLst/>
          </a:prstGeom>
          <a:noFill/>
        </p:spPr>
        <p:txBody>
          <a:bodyPr wrap="square" anchor="t" lIns="0" rIns="0" tIns="0" bIns="0">
            <a:spAutoFit/>
          </a:bodyPr>
          <a:lstStyle/>
          <a:p>
            <a:pPr algn="l">
              <a:spcBef>
                <a:spcPts val="0"/>
              </a:spcBef>
              <a:spcAft>
                <a:spcPts val="400"/>
              </a:spcAft>
            </a:pPr>
            <a:r>
              <a:rPr sz="1000" b="0">
                <a:solidFill>
                  <a:srgbClr val="5B6372"/>
                </a:solidFill>
                <a:latin typeface="Arial"/>
              </a:rPr>
              <a:t>© 2026 Tertiary Infotech Academy Pte Ltd. All rights reserved.  ·  www.tertiarycourses.com.sg</a:t>
            </a:r>
          </a:p>
        </p:txBody>
      </p:sp>
    </p:spTree>
  </p:cSld>
  <p:clrMapOvr>
    <a:masterClrMapping/>
  </p:clrMapOvr>
</p:sld>
</file>

<file path=ppt/slides/slide1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lIns="0" rIns="0" tIns="0" bIns="0">
            <a:spAutoFit/>
          </a:bodyPr>
          <a:lstStyle/>
          <a:p>
            <a:pPr algn="l">
              <a:spcBef>
                <a:spcPts val="0"/>
              </a:spcBef>
              <a:spcAft>
                <a:spcPts val="400"/>
              </a:spcAft>
            </a:pPr>
            <a:r>
              <a:rPr sz="1800" b="1">
                <a:solidFill>
                  <a:srgbClr val="1F6FEB"/>
                </a:solidFill>
                <a:latin typeface="Arial"/>
              </a:rPr>
              <a:t>DAY 3</a:t>
            </a:r>
          </a:p>
        </p:txBody>
      </p:sp>
      <p:sp>
        <p:nvSpPr>
          <p:cNvPr id="6" name="TextBox 5"/>
          <p:cNvSpPr txBox="1"/>
          <p:nvPr/>
        </p:nvSpPr>
        <p:spPr>
          <a:xfrm>
            <a:off x="1143000" y="2743200"/>
            <a:ext cx="10424160" cy="1463040"/>
          </a:xfrm>
          <a:prstGeom prst="rect">
            <a:avLst/>
          </a:prstGeom>
          <a:noFill/>
        </p:spPr>
        <p:txBody>
          <a:bodyPr wrap="square" anchor="t" lIns="0" rIns="0" tIns="0" bIns="0">
            <a:spAutoFit/>
          </a:bodyPr>
          <a:lstStyle/>
          <a:p>
            <a:pPr algn="l">
              <a:spcBef>
                <a:spcPts val="0"/>
              </a:spcBef>
              <a:spcAft>
                <a:spcPts val="400"/>
              </a:spcAft>
            </a:pPr>
            <a:r>
              <a:rPr sz="4000" b="1">
                <a:solidFill>
                  <a:srgbClr val="161B26"/>
                </a:solidFill>
                <a:latin typeface="Arial"/>
              </a:rPr>
              <a:t>Networking, Storage &amp; Troubleshooting</a:t>
            </a:r>
          </a:p>
        </p:txBody>
      </p:sp>
      <p:sp>
        <p:nvSpPr>
          <p:cNvPr id="7" name="TextBox 6"/>
          <p:cNvSpPr txBox="1"/>
          <p:nvPr/>
        </p:nvSpPr>
        <p:spPr>
          <a:xfrm>
            <a:off x="1161288" y="4114800"/>
            <a:ext cx="10058400" cy="731520"/>
          </a:xfrm>
          <a:prstGeom prst="rect">
            <a:avLst/>
          </a:prstGeom>
          <a:noFill/>
        </p:spPr>
        <p:txBody>
          <a:bodyPr wrap="square" anchor="t" lIns="0" rIns="0" tIns="0" bIns="0">
            <a:spAutoFit/>
          </a:bodyPr>
          <a:lstStyle/>
          <a:p>
            <a:pPr algn="l">
              <a:spcBef>
                <a:spcPts val="0"/>
              </a:spcBef>
              <a:spcAft>
                <a:spcPts val="400"/>
              </a:spcAft>
            </a:pPr>
            <a:r>
              <a:rPr sz="1600" b="0">
                <a:solidFill>
                  <a:srgbClr val="5B6372"/>
                </a:solidFill>
                <a:latin typeface="Arial"/>
              </a:rPr>
              <a:t>Domains 3, 4 &amp; 5 — Labs 19–28</a:t>
            </a:r>
          </a:p>
        </p:txBody>
      </p:sp>
      <p:sp>
        <p:nvSpPr>
          <p:cNvPr id="8" name="TextBox 7"/>
          <p:cNvSpPr txBox="1"/>
          <p:nvPr/>
        </p:nvSpPr>
        <p:spPr>
          <a:xfrm>
            <a:off x="9418320" y="640080"/>
            <a:ext cx="2286000" cy="1463040"/>
          </a:xfrm>
          <a:prstGeom prst="rect">
            <a:avLst/>
          </a:prstGeom>
          <a:noFill/>
        </p:spPr>
        <p:txBody>
          <a:bodyPr wrap="square" anchor="t" lIns="0" rIns="0" tIns="0" bIns="0">
            <a:spAutoFit/>
          </a:bodyPr>
          <a:lstStyle/>
          <a:p>
            <a:pPr algn="r">
              <a:spcBef>
                <a:spcPts val="0"/>
              </a:spcBef>
              <a:spcAft>
                <a:spcPts val="400"/>
              </a:spcAft>
            </a:pPr>
            <a:r>
              <a:rPr sz="7200" b="1">
                <a:solidFill>
                  <a:srgbClr val="E2E8F0"/>
                </a:solidFill>
                <a:latin typeface="Arial"/>
              </a:rPr>
              <a:t>03</a:t>
            </a:r>
          </a:p>
        </p:txBody>
      </p:sp>
      <p:sp>
        <p:nvSpPr>
          <p:cNvPr id="9" name="TextBox 8"/>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0" name="TextBox 9"/>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1" name="TextBox 10"/>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164</a:t>
            </a:r>
          </a:p>
        </p:txBody>
      </p:sp>
    </p:spTree>
  </p:cSld>
  <p:clrMapOvr>
    <a:masterClrMapping/>
  </p:clrMapOvr>
</p:sld>
</file>

<file path=ppt/slides/slide1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TRAQOM · SSG DIGITAL ATTENDANCE</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Digital Attendance (Mandatory)</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828800"/>
            <a:ext cx="5760720" cy="3840480"/>
          </a:xfrm>
          <a:prstGeom prst="rect">
            <a:avLst/>
          </a:prstGeom>
          <a:noFill/>
        </p:spPr>
        <p:txBody>
          <a:bodyPr wrap="square" lIns="0" rIns="0">
            <a:spAutoFit/>
          </a:bodyPr>
          <a:lstStyle/>
          <a:p>
            <a:pPr>
              <a:spcBef>
                <a:spcPts val="0"/>
              </a:spcBef>
              <a:spcAft>
                <a:spcPts val="1400"/>
              </a:spcAft>
            </a:pPr>
            <a:r>
              <a:rPr sz="1600" b="1">
                <a:solidFill>
                  <a:srgbClr val="1F6FEB"/>
                </a:solidFill>
                <a:latin typeface="Arial"/>
              </a:rPr>
              <a:t>•  </a:t>
            </a:r>
            <a:r>
              <a:rPr sz="1600">
                <a:solidFill>
                  <a:srgbClr val="161B26"/>
                </a:solidFill>
                <a:latin typeface="Arial"/>
              </a:rPr>
              <a:t>It is mandatory to take the AM, PM and Assessment digital attendance for WSQ-funded courses.</a:t>
            </a:r>
          </a:p>
          <a:p>
            <a:pPr>
              <a:spcBef>
                <a:spcPts val="0"/>
              </a:spcBef>
              <a:spcAft>
                <a:spcPts val="1400"/>
              </a:spcAft>
            </a:pPr>
            <a:r>
              <a:rPr sz="1600" b="1">
                <a:solidFill>
                  <a:srgbClr val="1F6FEB"/>
                </a:solidFill>
                <a:latin typeface="Arial"/>
              </a:rPr>
              <a:t>•  </a:t>
            </a:r>
            <a:r>
              <a:rPr sz="1600">
                <a:solidFill>
                  <a:srgbClr val="161B26"/>
                </a:solidFill>
                <a:latin typeface="Arial"/>
              </a:rPr>
              <a:t>The trainer displays the digital attendance QR code from the SSG portal.</a:t>
            </a:r>
          </a:p>
          <a:p>
            <a:pPr>
              <a:spcBef>
                <a:spcPts val="0"/>
              </a:spcBef>
              <a:spcAft>
                <a:spcPts val="1400"/>
              </a:spcAft>
            </a:pPr>
            <a:r>
              <a:rPr sz="1600" b="1">
                <a:solidFill>
                  <a:srgbClr val="1F6FEB"/>
                </a:solidFill>
                <a:latin typeface="Arial"/>
              </a:rPr>
              <a:t>•  </a:t>
            </a:r>
            <a:r>
              <a:rPr sz="1600">
                <a:solidFill>
                  <a:srgbClr val="161B26"/>
                </a:solidFill>
                <a:latin typeface="Arial"/>
              </a:rPr>
              <a:t>Scan the QR code with your phone camera and submit your attendance.</a:t>
            </a:r>
          </a:p>
          <a:p>
            <a:pPr>
              <a:spcBef>
                <a:spcPts val="0"/>
              </a:spcBef>
              <a:spcAft>
                <a:spcPts val="1400"/>
              </a:spcAft>
            </a:pPr>
            <a:r>
              <a:rPr sz="1600" b="1">
                <a:solidFill>
                  <a:srgbClr val="1F6FEB"/>
                </a:solidFill>
                <a:latin typeface="Arial"/>
              </a:rPr>
              <a:t>•  </a:t>
            </a:r>
            <a:r>
              <a:rPr sz="1600">
                <a:solidFill>
                  <a:srgbClr val="161B26"/>
                </a:solidFill>
                <a:latin typeface="Arial"/>
              </a:rPr>
              <a:t>A minimum of 75% attendance is required for assessment and funding.</a:t>
            </a:r>
          </a:p>
        </p:txBody>
      </p:sp>
      <p:sp>
        <p:nvSpPr>
          <p:cNvPr id="8" name="Rounded Rectangle 7"/>
          <p:cNvSpPr/>
          <p:nvPr/>
        </p:nvSpPr>
        <p:spPr>
          <a:xfrm>
            <a:off x="6903720" y="1828800"/>
            <a:ext cx="4389120" cy="2743200"/>
          </a:xfrm>
          <a:prstGeom prst="roundRect">
            <a:avLst>
              <a:gd name="adj" fmla="val 5000"/>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595360" y="2148840"/>
            <a:ext cx="1005840" cy="10058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ic_attend.png"/>
          <p:cNvPicPr>
            <a:picLocks noChangeAspect="1"/>
          </p:cNvPicPr>
          <p:nvPr/>
        </p:nvPicPr>
        <p:blipFill>
          <a:blip r:embed="rId2"/>
          <a:stretch>
            <a:fillRect/>
          </a:stretch>
        </p:blipFill>
        <p:spPr>
          <a:xfrm>
            <a:off x="8866936" y="2420416"/>
            <a:ext cx="462688" cy="462688"/>
          </a:xfrm>
          <a:prstGeom prst="rect">
            <a:avLst/>
          </a:prstGeom>
        </p:spPr>
      </p:pic>
      <p:sp>
        <p:nvSpPr>
          <p:cNvPr id="11" name="TextBox 10"/>
          <p:cNvSpPr txBox="1"/>
          <p:nvPr/>
        </p:nvSpPr>
        <p:spPr>
          <a:xfrm>
            <a:off x="7178040" y="3337560"/>
            <a:ext cx="3840480" cy="1097280"/>
          </a:xfrm>
          <a:prstGeom prst="rect">
            <a:avLst/>
          </a:prstGeom>
          <a:noFill/>
        </p:spPr>
        <p:txBody>
          <a:bodyPr wrap="square" anchor="t" lIns="0" rIns="0" tIns="0" bIns="0">
            <a:spAutoFit/>
          </a:bodyPr>
          <a:lstStyle/>
          <a:p>
            <a:pPr algn="ctr">
              <a:spcBef>
                <a:spcPts val="0"/>
              </a:spcBef>
              <a:spcAft>
                <a:spcPts val="200"/>
              </a:spcAft>
            </a:pPr>
            <a:r>
              <a:rPr sz="2600" b="1">
                <a:solidFill>
                  <a:srgbClr val="1F6FEB"/>
                </a:solidFill>
                <a:latin typeface="Arial"/>
              </a:rPr>
              <a:t>Minimum 75%</a:t>
            </a:r>
          </a:p>
          <a:p>
            <a:pPr algn="ctr">
              <a:spcBef>
                <a:spcPts val="0"/>
              </a:spcBef>
              <a:spcAft>
                <a:spcPts val="200"/>
              </a:spcAft>
            </a:pPr>
            <a:r>
              <a:rPr sz="2600" b="1">
                <a:solidFill>
                  <a:srgbClr val="1F6FEB"/>
                </a:solidFill>
                <a:latin typeface="Arial"/>
              </a:rPr>
              <a:t>attendance required</a:t>
            </a:r>
          </a:p>
        </p:txBody>
      </p:sp>
      <p:sp>
        <p:nvSpPr>
          <p:cNvPr id="12" name="TextBox 11"/>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3" name="TextBox 12"/>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4" name="TextBox 13"/>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165</a:t>
            </a:r>
          </a:p>
        </p:txBody>
      </p:sp>
    </p:spTree>
  </p:cSld>
  <p:clrMapOvr>
    <a:masterClrMapping/>
  </p:clrMapOvr>
</p:sld>
</file>

<file path=ppt/slides/slide1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DAY 3 OBJECTIVES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Recap &amp; Today</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07040" cy="4480560"/>
          </a:xfrm>
          <a:prstGeom prst="rect">
            <a:avLst/>
          </a:prstGeom>
          <a:noFill/>
        </p:spPr>
        <p:txBody>
          <a:bodyPr wrap="square" lIns="0" rIns="0">
            <a:spAutoFit/>
          </a:bodyPr>
          <a:lstStyle/>
          <a:p>
            <a:pPr>
              <a:spcBef>
                <a:spcPts val="0"/>
              </a:spcBef>
              <a:spcAft>
                <a:spcPts val="1000"/>
              </a:spcAft>
            </a:pPr>
            <a:r>
              <a:rPr sz="1900" b="1">
                <a:solidFill>
                  <a:srgbClr val="1F6FEB"/>
                </a:solidFill>
                <a:latin typeface="Arial"/>
              </a:rPr>
              <a:t>•  </a:t>
            </a:r>
            <a:r>
              <a:rPr sz="1900">
                <a:solidFill>
                  <a:srgbClr val="161B26"/>
                </a:solidFill>
                <a:latin typeface="Arial"/>
              </a:rPr>
              <a:t>Yesterday: CRDs, extension interfaces, Deployments, ConfigMaps, Secrets, HPA, scheduling and Services.</a:t>
            </a:r>
          </a:p>
          <a:p>
            <a:pPr>
              <a:spcBef>
                <a:spcPts val="0"/>
              </a:spcBef>
              <a:spcAft>
                <a:spcPts val="1000"/>
              </a:spcAft>
            </a:pPr>
            <a:r>
              <a:rPr sz="1900" b="1">
                <a:solidFill>
                  <a:srgbClr val="1F6FEB"/>
                </a:solidFill>
                <a:latin typeface="Arial"/>
              </a:rPr>
              <a:t>•  </a:t>
            </a:r>
            <a:r>
              <a:rPr sz="1900">
                <a:solidFill>
                  <a:srgbClr val="161B26"/>
                </a:solidFill>
                <a:latin typeface="Arial"/>
              </a:rPr>
              <a:t>Morning — Domain 3 remaining (20%): Ingress, Gateway API, NetworkPolicy, CoreDNS.</a:t>
            </a:r>
          </a:p>
          <a:p>
            <a:pPr>
              <a:spcBef>
                <a:spcPts val="0"/>
              </a:spcBef>
              <a:spcAft>
                <a:spcPts val="1000"/>
              </a:spcAft>
            </a:pPr>
            <a:r>
              <a:rPr sz="1900" b="1">
                <a:solidFill>
                  <a:srgbClr val="1F6FEB"/>
                </a:solidFill>
                <a:latin typeface="Arial"/>
              </a:rPr>
              <a:t>•  </a:t>
            </a:r>
            <a:r>
              <a:rPr sz="1900">
                <a:solidFill>
                  <a:srgbClr val="161B26"/>
                </a:solidFill>
                <a:latin typeface="Arial"/>
              </a:rPr>
              <a:t>Afternoon — Domain 4 (10%): PV/PVC, StorageClass, dynamic provisioning.</a:t>
            </a:r>
          </a:p>
          <a:p>
            <a:pPr>
              <a:spcBef>
                <a:spcPts val="0"/>
              </a:spcBef>
              <a:spcAft>
                <a:spcPts val="1000"/>
              </a:spcAft>
            </a:pPr>
            <a:r>
              <a:rPr sz="1900" b="1">
                <a:solidFill>
                  <a:srgbClr val="1F6FEB"/>
                </a:solidFill>
                <a:latin typeface="Arial"/>
              </a:rPr>
              <a:t>•  </a:t>
            </a:r>
            <a:r>
              <a:rPr sz="1900">
                <a:solidFill>
                  <a:srgbClr val="161B26"/>
                </a:solidFill>
                <a:latin typeface="Arial"/>
              </a:rPr>
              <a:t>Late afternoon — Domain 5 start (30%): cluster component failures, node troubleshooting, pod debugging.</a:t>
            </a:r>
          </a:p>
        </p:txBody>
      </p:sp>
      <p:sp>
        <p:nvSpPr>
          <p:cNvPr id="8" name="TextBox 7"/>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9" name="TextBox 8"/>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166</a:t>
            </a:r>
          </a:p>
        </p:txBody>
      </p:sp>
    </p:spTree>
  </p:cSld>
  <p:clrMapOvr>
    <a:masterClrMapping/>
  </p:clrMapOvr>
</p:sld>
</file>

<file path=ppt/slides/slide1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lIns="0" rIns="0" tIns="0" bIns="0">
            <a:spAutoFit/>
          </a:bodyPr>
          <a:lstStyle/>
          <a:p>
            <a:pPr algn="l">
              <a:spcBef>
                <a:spcPts val="0"/>
              </a:spcBef>
              <a:spcAft>
                <a:spcPts val="400"/>
              </a:spcAft>
            </a:pPr>
            <a:r>
              <a:rPr sz="1800" b="1">
                <a:solidFill>
                  <a:srgbClr val="1F6FEB"/>
                </a:solidFill>
                <a:latin typeface="Arial"/>
              </a:rPr>
              <a:t>TOPIC 1</a:t>
            </a:r>
          </a:p>
        </p:txBody>
      </p:sp>
      <p:sp>
        <p:nvSpPr>
          <p:cNvPr id="6" name="TextBox 5"/>
          <p:cNvSpPr txBox="1"/>
          <p:nvPr/>
        </p:nvSpPr>
        <p:spPr>
          <a:xfrm>
            <a:off x="1143000" y="2743200"/>
            <a:ext cx="10424160" cy="1463040"/>
          </a:xfrm>
          <a:prstGeom prst="rect">
            <a:avLst/>
          </a:prstGeom>
          <a:noFill/>
        </p:spPr>
        <p:txBody>
          <a:bodyPr wrap="square" anchor="t" lIns="0" rIns="0" tIns="0" bIns="0">
            <a:spAutoFit/>
          </a:bodyPr>
          <a:lstStyle/>
          <a:p>
            <a:pPr algn="l">
              <a:spcBef>
                <a:spcPts val="0"/>
              </a:spcBef>
              <a:spcAft>
                <a:spcPts val="400"/>
              </a:spcAft>
            </a:pPr>
            <a:r>
              <a:rPr sz="4000" b="1">
                <a:solidFill>
                  <a:srgbClr val="161B26"/>
                </a:solidFill>
                <a:latin typeface="Arial"/>
              </a:rPr>
              <a:t>Ingress &amp; Gateway API</a:t>
            </a:r>
          </a:p>
        </p:txBody>
      </p:sp>
      <p:sp>
        <p:nvSpPr>
          <p:cNvPr id="7" name="TextBox 6"/>
          <p:cNvSpPr txBox="1"/>
          <p:nvPr/>
        </p:nvSpPr>
        <p:spPr>
          <a:xfrm>
            <a:off x="1161288" y="4114800"/>
            <a:ext cx="10058400" cy="731520"/>
          </a:xfrm>
          <a:prstGeom prst="rect">
            <a:avLst/>
          </a:prstGeom>
          <a:noFill/>
        </p:spPr>
        <p:txBody>
          <a:bodyPr wrap="square" anchor="t" lIns="0" rIns="0" tIns="0" bIns="0">
            <a:spAutoFit/>
          </a:bodyPr>
          <a:lstStyle/>
          <a:p>
            <a:pPr algn="l">
              <a:spcBef>
                <a:spcPts val="0"/>
              </a:spcBef>
              <a:spcAft>
                <a:spcPts val="400"/>
              </a:spcAft>
            </a:pPr>
            <a:r>
              <a:rPr sz="1600" b="0">
                <a:solidFill>
                  <a:srgbClr val="5B6372"/>
                </a:solidFill>
                <a:latin typeface="Arial"/>
              </a:rPr>
              <a:t>Layer-7 HTTP/HTTPS routing into the cluster</a:t>
            </a:r>
          </a:p>
        </p:txBody>
      </p:sp>
      <p:sp>
        <p:nvSpPr>
          <p:cNvPr id="8" name="TextBox 7"/>
          <p:cNvSpPr txBox="1"/>
          <p:nvPr/>
        </p:nvSpPr>
        <p:spPr>
          <a:xfrm>
            <a:off x="9418320" y="640080"/>
            <a:ext cx="2286000" cy="1463040"/>
          </a:xfrm>
          <a:prstGeom prst="rect">
            <a:avLst/>
          </a:prstGeom>
          <a:noFill/>
        </p:spPr>
        <p:txBody>
          <a:bodyPr wrap="square" anchor="t" lIns="0" rIns="0" tIns="0" bIns="0">
            <a:spAutoFit/>
          </a:bodyPr>
          <a:lstStyle/>
          <a:p>
            <a:pPr algn="r">
              <a:spcBef>
                <a:spcPts val="0"/>
              </a:spcBef>
              <a:spcAft>
                <a:spcPts val="400"/>
              </a:spcAft>
            </a:pPr>
            <a:r>
              <a:rPr sz="7200" b="1">
                <a:solidFill>
                  <a:srgbClr val="E2E8F0"/>
                </a:solidFill>
                <a:latin typeface="Arial"/>
              </a:rPr>
              <a:t/>
            </a:r>
          </a:p>
        </p:txBody>
      </p:sp>
      <p:sp>
        <p:nvSpPr>
          <p:cNvPr id="9" name="TextBox 8"/>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0" name="TextBox 9"/>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1" name="TextBox 10"/>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167</a:t>
            </a:r>
          </a:p>
        </p:txBody>
      </p:sp>
    </p:spTree>
  </p:cSld>
  <p:clrMapOvr>
    <a:masterClrMapping/>
  </p:clrMapOvr>
</p:sld>
</file>

<file path=ppt/slides/slide1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HTTP ROUTING</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Ingress — L7 Routing</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07040" cy="4480560"/>
          </a:xfrm>
          <a:prstGeom prst="rect">
            <a:avLst/>
          </a:prstGeom>
          <a:noFill/>
        </p:spPr>
        <p:txBody>
          <a:bodyPr wrap="square" lIns="0" rIns="0">
            <a:spAutoFit/>
          </a:bodyPr>
          <a:lstStyle/>
          <a:p>
            <a:pPr>
              <a:spcBef>
                <a:spcPts val="0"/>
              </a:spcBef>
              <a:spcAft>
                <a:spcPts val="1000"/>
              </a:spcAft>
            </a:pPr>
            <a:r>
              <a:rPr sz="1900" b="1">
                <a:solidFill>
                  <a:srgbClr val="1F6FEB"/>
                </a:solidFill>
                <a:latin typeface="Arial"/>
              </a:rPr>
              <a:t>•  </a:t>
            </a:r>
            <a:r>
              <a:rPr sz="1900">
                <a:solidFill>
                  <a:srgbClr val="161B26"/>
                </a:solidFill>
                <a:latin typeface="Arial"/>
              </a:rPr>
              <a:t>An Ingress defines host- and path-based HTTP/HTTPS rules that forward traffic to backend Services.</a:t>
            </a:r>
          </a:p>
          <a:p>
            <a:pPr>
              <a:spcBef>
                <a:spcPts val="0"/>
              </a:spcBef>
              <a:spcAft>
                <a:spcPts val="1000"/>
              </a:spcAft>
            </a:pPr>
            <a:r>
              <a:rPr sz="1900" b="1">
                <a:solidFill>
                  <a:srgbClr val="1F6FEB"/>
                </a:solidFill>
                <a:latin typeface="Arial"/>
              </a:rPr>
              <a:t>•  </a:t>
            </a:r>
            <a:r>
              <a:rPr sz="1900">
                <a:solidFill>
                  <a:srgbClr val="161B26"/>
                </a:solidFill>
                <a:latin typeface="Arial"/>
              </a:rPr>
              <a:t>An Ingress controller (e.g. ingress-nginx) must be running; ingressClassName selects it.</a:t>
            </a:r>
          </a:p>
          <a:p>
            <a:pPr>
              <a:spcBef>
                <a:spcPts val="0"/>
              </a:spcBef>
              <a:spcAft>
                <a:spcPts val="1000"/>
              </a:spcAft>
            </a:pPr>
            <a:r>
              <a:rPr sz="1900" b="1">
                <a:solidFill>
                  <a:srgbClr val="1F6FEB"/>
                </a:solidFill>
                <a:latin typeface="Arial"/>
              </a:rPr>
              <a:t>•  </a:t>
            </a:r>
            <a:r>
              <a:rPr sz="1900">
                <a:solidFill>
                  <a:srgbClr val="161B26"/>
                </a:solidFill>
                <a:latin typeface="Arial"/>
              </a:rPr>
              <a:t>TLS terminates at the controller — tls.secretName points at a kubernetes.io/tls Secret.</a:t>
            </a:r>
          </a:p>
          <a:p>
            <a:pPr>
              <a:spcBef>
                <a:spcPts val="0"/>
              </a:spcBef>
              <a:spcAft>
                <a:spcPts val="1000"/>
              </a:spcAft>
            </a:pPr>
            <a:r>
              <a:rPr sz="1900" b="1">
                <a:solidFill>
                  <a:srgbClr val="1F6FEB"/>
                </a:solidFill>
                <a:latin typeface="Arial"/>
              </a:rPr>
              <a:t>•  </a:t>
            </a:r>
            <a:r>
              <a:rPr sz="1900">
                <a:solidFill>
                  <a:srgbClr val="161B26"/>
                </a:solidFill>
                <a:latin typeface="Arial"/>
              </a:rPr>
              <a:t>pathType: Prefix matches a path and everything below it; Exact requires a literal match.</a:t>
            </a:r>
          </a:p>
        </p:txBody>
      </p:sp>
      <p:sp>
        <p:nvSpPr>
          <p:cNvPr id="8" name="TextBox 7"/>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9" name="TextBox 8"/>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168</a:t>
            </a:r>
          </a:p>
        </p:txBody>
      </p:sp>
    </p:spTree>
  </p:cSld>
  <p:clrMapOvr>
    <a:masterClrMapping/>
  </p:clrMapOvr>
</p:sld>
</file>

<file path=ppt/slides/slide1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HTTP ROUTING</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Ingress Traffic Routing — Host/Path to Service</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day3_s028_i1.jpg"/>
          <p:cNvPicPr>
            <a:picLocks noChangeAspect="1"/>
          </p:cNvPicPr>
          <p:nvPr/>
        </p:nvPicPr>
        <p:blipFill>
          <a:blip r:embed="rId2"/>
          <a:stretch>
            <a:fillRect/>
          </a:stretch>
        </p:blipFill>
        <p:spPr>
          <a:xfrm>
            <a:off x="777240" y="2187999"/>
            <a:ext cx="10652760" cy="3423834"/>
          </a:xfrm>
          <a:prstGeom prst="rect">
            <a:avLst/>
          </a:prstGeom>
        </p:spPr>
      </p:pic>
      <p:sp>
        <p:nvSpPr>
          <p:cNvPr id="8" name="TextBox 7"/>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9" name="TextBox 8"/>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169</a:t>
            </a:r>
          </a:p>
        </p:txBody>
      </p:sp>
    </p:spTree>
  </p:cSld>
  <p:clrMapOvr>
    <a:masterClrMapping/>
  </p:clrMapOvr>
</p:sld>
</file>

<file path=ppt/slides/slide1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DOMAIN 3  ·  INGRESS CONTROLLER</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Ingress — L7 HTTP/HTTPS Routing</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468880"/>
            <a:ext cx="3063240" cy="1737360"/>
          </a:xfrm>
          <a:prstGeom prst="roundRect">
            <a:avLst>
              <a:gd name="adj" fmla="val 5000"/>
            </a:avLst>
          </a:prstGeom>
          <a:solidFill>
            <a:srgbClr val="EAF1FE"/>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468880"/>
            <a:ext cx="3063240"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86968" y="2578608"/>
            <a:ext cx="2843784" cy="1627632"/>
          </a:xfrm>
          <a:prstGeom prst="rect">
            <a:avLst/>
          </a:prstGeom>
          <a:noFill/>
        </p:spPr>
        <p:txBody>
          <a:bodyPr wrap="square" anchor="ctr" lIns="0" rIns="0" tIns="0" bIns="0">
            <a:spAutoFit/>
          </a:bodyPr>
          <a:lstStyle/>
          <a:p>
            <a:pPr algn="ctr">
              <a:spcBef>
                <a:spcPts val="0"/>
              </a:spcBef>
              <a:spcAft>
                <a:spcPts val="300"/>
              </a:spcAft>
            </a:pPr>
            <a:r>
              <a:rPr sz="1500" b="1">
                <a:solidFill>
                  <a:srgbClr val="161B26"/>
                </a:solidFill>
                <a:latin typeface="Arial"/>
              </a:rPr>
              <a:t>Client</a:t>
            </a:r>
          </a:p>
          <a:p>
            <a:pPr algn="ctr">
              <a:spcBef>
                <a:spcPts val="0"/>
              </a:spcBef>
              <a:spcAft>
                <a:spcPts val="300"/>
              </a:spcAft>
            </a:pPr>
            <a:r>
              <a:rPr sz="1100" b="0">
                <a:solidFill>
                  <a:srgbClr val="5B6372"/>
                </a:solidFill>
                <a:latin typeface="Arial"/>
              </a:rPr>
              <a:t>HTTPS :443</a:t>
            </a:r>
          </a:p>
          <a:p>
            <a:pPr algn="ctr">
              <a:spcBef>
                <a:spcPts val="0"/>
              </a:spcBef>
              <a:spcAft>
                <a:spcPts val="300"/>
              </a:spcAft>
            </a:pPr>
            <a:r>
              <a:rPr sz="1100" b="0">
                <a:solidFill>
                  <a:srgbClr val="5B6372"/>
                </a:solidFill>
                <a:latin typeface="Arial"/>
              </a:rPr>
              <a:t>Host: app.example.com</a:t>
            </a:r>
          </a:p>
        </p:txBody>
      </p:sp>
      <p:sp>
        <p:nvSpPr>
          <p:cNvPr id="10" name="Right Arrow 9"/>
          <p:cNvSpPr/>
          <p:nvPr/>
        </p:nvSpPr>
        <p:spPr>
          <a:xfrm>
            <a:off x="3840480" y="3136392"/>
            <a:ext cx="731520" cy="402336"/>
          </a:xfrm>
          <a:prstGeom prst="rightArrow">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611880" y="2157984"/>
            <a:ext cx="1188720" cy="292608"/>
          </a:xfrm>
          <a:prstGeom prst="rect">
            <a:avLst/>
          </a:prstGeom>
          <a:noFill/>
        </p:spPr>
        <p:txBody>
          <a:bodyPr wrap="square" anchor="ctr" lIns="0" rIns="0" tIns="0" bIns="0">
            <a:spAutoFit/>
          </a:bodyPr>
          <a:lstStyle/>
          <a:p>
            <a:pPr algn="ctr">
              <a:spcBef>
                <a:spcPts val="0"/>
              </a:spcBef>
              <a:spcAft>
                <a:spcPts val="400"/>
              </a:spcAft>
            </a:pPr>
            <a:r>
              <a:rPr sz="1000" b="1">
                <a:solidFill>
                  <a:srgbClr val="10B981"/>
                </a:solidFill>
                <a:latin typeface="Arial"/>
              </a:rPr>
              <a:t>TLS terminates</a:t>
            </a:r>
          </a:p>
        </p:txBody>
      </p:sp>
      <p:sp>
        <p:nvSpPr>
          <p:cNvPr id="12" name="Rounded Rectangle 11"/>
          <p:cNvSpPr/>
          <p:nvPr/>
        </p:nvSpPr>
        <p:spPr>
          <a:xfrm>
            <a:off x="4572000" y="2468880"/>
            <a:ext cx="3063240" cy="1737360"/>
          </a:xfrm>
          <a:prstGeom prst="roundRect">
            <a:avLst>
              <a:gd name="adj" fmla="val 5000"/>
            </a:avLst>
          </a:prstGeom>
          <a:solidFill>
            <a:srgbClr val="E8F7EE"/>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572000" y="2468880"/>
            <a:ext cx="3063240"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681728" y="2578608"/>
            <a:ext cx="2843784" cy="1627632"/>
          </a:xfrm>
          <a:prstGeom prst="rect">
            <a:avLst/>
          </a:prstGeom>
          <a:noFill/>
        </p:spPr>
        <p:txBody>
          <a:bodyPr wrap="square" anchor="ctr" lIns="0" rIns="0" tIns="0" bIns="0">
            <a:spAutoFit/>
          </a:bodyPr>
          <a:lstStyle/>
          <a:p>
            <a:pPr algn="ctr">
              <a:spcBef>
                <a:spcPts val="0"/>
              </a:spcBef>
              <a:spcAft>
                <a:spcPts val="300"/>
              </a:spcAft>
            </a:pPr>
            <a:r>
              <a:rPr sz="1500" b="1">
                <a:solidFill>
                  <a:srgbClr val="161B26"/>
                </a:solidFill>
                <a:latin typeface="Arial"/>
              </a:rPr>
              <a:t>Ingress Controller</a:t>
            </a:r>
          </a:p>
          <a:p>
            <a:pPr algn="ctr">
              <a:spcBef>
                <a:spcPts val="0"/>
              </a:spcBef>
              <a:spcAft>
                <a:spcPts val="300"/>
              </a:spcAft>
            </a:pPr>
            <a:r>
              <a:rPr sz="1100" b="0">
                <a:solidFill>
                  <a:srgbClr val="5B6372"/>
                </a:solidFill>
                <a:latin typeface="Arial"/>
              </a:rPr>
              <a:t>ingress-nginx · Traefik</a:t>
            </a:r>
          </a:p>
          <a:p>
            <a:pPr algn="ctr">
              <a:spcBef>
                <a:spcPts val="0"/>
              </a:spcBef>
              <a:spcAft>
                <a:spcPts val="300"/>
              </a:spcAft>
            </a:pPr>
            <a:r>
              <a:rPr sz="1100" b="0">
                <a:solidFill>
                  <a:srgbClr val="5B6372"/>
                </a:solidFill>
                <a:latin typeface="Arial"/>
              </a:rPr>
              <a:t>reads Ingress rules</a:t>
            </a:r>
          </a:p>
          <a:p>
            <a:pPr algn="ctr">
              <a:spcBef>
                <a:spcPts val="0"/>
              </a:spcBef>
              <a:spcAft>
                <a:spcPts val="300"/>
              </a:spcAft>
            </a:pPr>
            <a:r>
              <a:rPr sz="1100" b="0">
                <a:solidFill>
                  <a:srgbClr val="5B6372"/>
                </a:solidFill>
                <a:latin typeface="Arial"/>
              </a:rPr>
              <a:t>TLS termination here</a:t>
            </a:r>
          </a:p>
        </p:txBody>
      </p:sp>
      <p:sp>
        <p:nvSpPr>
          <p:cNvPr id="15" name="Right Arrow 14"/>
          <p:cNvSpPr/>
          <p:nvPr/>
        </p:nvSpPr>
        <p:spPr>
          <a:xfrm>
            <a:off x="7635240" y="3136392"/>
            <a:ext cx="731520" cy="402336"/>
          </a:xfrm>
          <a:prstGeom prst="rightArrow">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406640" y="2157984"/>
            <a:ext cx="1188720" cy="292608"/>
          </a:xfrm>
          <a:prstGeom prst="rect">
            <a:avLst/>
          </a:prstGeom>
          <a:noFill/>
        </p:spPr>
        <p:txBody>
          <a:bodyPr wrap="square" anchor="ctr" lIns="0" rIns="0" tIns="0" bIns="0">
            <a:spAutoFit/>
          </a:bodyPr>
          <a:lstStyle/>
          <a:p>
            <a:pPr algn="ctr">
              <a:spcBef>
                <a:spcPts val="0"/>
              </a:spcBef>
              <a:spcAft>
                <a:spcPts val="400"/>
              </a:spcAft>
            </a:pPr>
            <a:r>
              <a:rPr sz="1000" b="1">
                <a:solidFill>
                  <a:srgbClr val="10B981"/>
                </a:solidFill>
                <a:latin typeface="Arial"/>
              </a:rPr>
              <a:t>forwards plain HTTP</a:t>
            </a:r>
          </a:p>
        </p:txBody>
      </p:sp>
      <p:sp>
        <p:nvSpPr>
          <p:cNvPr id="17" name="Rounded Rectangle 16"/>
          <p:cNvSpPr/>
          <p:nvPr/>
        </p:nvSpPr>
        <p:spPr>
          <a:xfrm>
            <a:off x="8366760" y="2468880"/>
            <a:ext cx="3063240" cy="1737360"/>
          </a:xfrm>
          <a:prstGeom prst="roundRect">
            <a:avLst>
              <a:gd name="adj" fmla="val 5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76488" y="2468880"/>
            <a:ext cx="2843784" cy="1737360"/>
          </a:xfrm>
          <a:prstGeom prst="rect">
            <a:avLst/>
          </a:prstGeom>
          <a:noFill/>
        </p:spPr>
        <p:txBody>
          <a:bodyPr wrap="square" anchor="ctr" lIns="0" rIns="0" tIns="0" bIns="0">
            <a:spAutoFit/>
          </a:bodyPr>
          <a:lstStyle/>
          <a:p>
            <a:pPr algn="ctr">
              <a:spcBef>
                <a:spcPts val="0"/>
              </a:spcBef>
              <a:spcAft>
                <a:spcPts val="300"/>
              </a:spcAft>
            </a:pPr>
            <a:r>
              <a:rPr sz="1500" b="1">
                <a:solidFill>
                  <a:srgbClr val="161B26"/>
                </a:solidFill>
                <a:latin typeface="Arial"/>
              </a:rPr>
              <a:t>Service → Pods</a:t>
            </a:r>
          </a:p>
          <a:p>
            <a:pPr algn="ctr">
              <a:spcBef>
                <a:spcPts val="0"/>
              </a:spcBef>
              <a:spcAft>
                <a:spcPts val="300"/>
              </a:spcAft>
            </a:pPr>
            <a:r>
              <a:rPr sz="1100" b="0">
                <a:solidFill>
                  <a:srgbClr val="5B6372"/>
                </a:solidFill>
                <a:latin typeface="Arial"/>
              </a:rPr>
              <a:t>/app → svc-frontend</a:t>
            </a:r>
          </a:p>
          <a:p>
            <a:pPr algn="ctr">
              <a:spcBef>
                <a:spcPts val="0"/>
              </a:spcBef>
              <a:spcAft>
                <a:spcPts val="300"/>
              </a:spcAft>
            </a:pPr>
            <a:r>
              <a:rPr sz="1100" b="0">
                <a:solidFill>
                  <a:srgbClr val="5B6372"/>
                </a:solidFill>
                <a:latin typeface="Arial"/>
              </a:rPr>
              <a:t>/api  → svc-backend</a:t>
            </a:r>
          </a:p>
        </p:txBody>
      </p:sp>
      <p:sp>
        <p:nvSpPr>
          <p:cNvPr id="19" name="Rounded Rectangle 18"/>
          <p:cNvSpPr/>
          <p:nvPr/>
        </p:nvSpPr>
        <p:spPr>
          <a:xfrm>
            <a:off x="777240" y="4754880"/>
            <a:ext cx="10652760" cy="530352"/>
          </a:xfrm>
          <a:prstGeom prst="roundRect">
            <a:avLst>
              <a:gd name="adj" fmla="val 5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51560" y="4754880"/>
            <a:ext cx="10058400" cy="530352"/>
          </a:xfrm>
          <a:prstGeom prst="rect">
            <a:avLst/>
          </a:prstGeom>
          <a:noFill/>
        </p:spPr>
        <p:txBody>
          <a:bodyPr wrap="square" anchor="ctr" lIns="0" rIns="0" tIns="0" bIns="0">
            <a:spAutoFit/>
          </a:bodyPr>
          <a:lstStyle/>
          <a:p>
            <a:pPr algn="l">
              <a:spcBef>
                <a:spcPts val="0"/>
              </a:spcBef>
              <a:spcAft>
                <a:spcPts val="400"/>
              </a:spcAft>
            </a:pPr>
            <a:r>
              <a:rPr sz="1200" b="0">
                <a:solidFill>
                  <a:srgbClr val="161B26"/>
                </a:solidFill>
                <a:latin typeface="Arial"/>
              </a:rPr>
              <a:t>ingressClassName: nginx  ·  tls.secretName: tls-secret  ·  pathType: Prefix | Exact</a:t>
            </a:r>
          </a:p>
        </p:txBody>
      </p:sp>
      <p:sp>
        <p:nvSpPr>
          <p:cNvPr id="21" name="Rounded Rectangle 20"/>
          <p:cNvSpPr/>
          <p:nvPr/>
        </p:nvSpPr>
        <p:spPr>
          <a:xfrm>
            <a:off x="777240" y="5943600"/>
            <a:ext cx="10652760" cy="502920"/>
          </a:xfrm>
          <a:prstGeom prst="roundRect">
            <a:avLst>
              <a:gd name="adj" fmla="val 5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051560" y="5943600"/>
            <a:ext cx="10149840" cy="502920"/>
          </a:xfrm>
          <a:prstGeom prst="rect">
            <a:avLst/>
          </a:prstGeom>
          <a:noFill/>
        </p:spPr>
        <p:txBody>
          <a:bodyPr wrap="square" anchor="ctr" lIns="0" rIns="0" tIns="0" bIns="0">
            <a:spAutoFit/>
          </a:bodyPr>
          <a:lstStyle/>
          <a:p>
            <a:pPr algn="l">
              <a:spcBef>
                <a:spcPts val="0"/>
              </a:spcBef>
              <a:spcAft>
                <a:spcPts val="400"/>
              </a:spcAft>
            </a:pPr>
            <a:r>
              <a:rPr sz="1300" b="0">
                <a:solidFill>
                  <a:srgbClr val="5B6372"/>
                </a:solidFill>
                <a:latin typeface="Arial"/>
              </a:rPr>
              <a:t>apiVersion: networking.k8s.io/v1 (extensions/v1beta1 removed in 1.22). </a:t>
            </a:r>
            <a:r>
              <a:rPr sz="1300" b="1">
                <a:solidFill>
                  <a:srgbClr val="161B26"/>
                </a:solidFill>
                <a:latin typeface="Arial"/>
              </a:rPr>
              <a:t>A controller must be running</a:t>
            </a:r>
            <a:r>
              <a:rPr sz="1300" b="0">
                <a:solidFill>
                  <a:srgbClr val="5B6372"/>
                </a:solidFill>
                <a:latin typeface="Arial"/>
              </a:rPr>
              <a:t> — ingressClassName selects it.</a:t>
            </a:r>
          </a:p>
        </p:txBody>
      </p:sp>
      <p:sp>
        <p:nvSpPr>
          <p:cNvPr id="23" name="TextBox 22"/>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24" name="TextBox 23"/>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25" name="TextBox 24"/>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170</a:t>
            </a:r>
          </a:p>
        </p:txBody>
      </p:sp>
    </p:spTree>
  </p:cSld>
  <p:clrMapOvr>
    <a:masterClrMapping/>
  </p:clrMapOvr>
</p:sld>
</file>

<file path=ppt/slides/slide1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GATEWAY API</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Gateway API — The Modern Alternative</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07040" cy="4480560"/>
          </a:xfrm>
          <a:prstGeom prst="rect">
            <a:avLst/>
          </a:prstGeom>
          <a:noFill/>
        </p:spPr>
        <p:txBody>
          <a:bodyPr wrap="square" lIns="0" rIns="0">
            <a:spAutoFit/>
          </a:bodyPr>
          <a:lstStyle/>
          <a:p>
            <a:pPr>
              <a:spcBef>
                <a:spcPts val="0"/>
              </a:spcBef>
              <a:spcAft>
                <a:spcPts val="1000"/>
              </a:spcAft>
            </a:pPr>
            <a:r>
              <a:rPr sz="1900" b="1">
                <a:solidFill>
                  <a:srgbClr val="1F6FEB"/>
                </a:solidFill>
                <a:latin typeface="Arial"/>
              </a:rPr>
              <a:t>•  </a:t>
            </a:r>
            <a:r>
              <a:rPr sz="1900">
                <a:solidFill>
                  <a:srgbClr val="161B26"/>
                </a:solidFill>
                <a:latin typeface="Arial"/>
              </a:rPr>
              <a:t>Gateway API is the successor to Ingress — role-oriented (infra / cluster-operator / app dev).</a:t>
            </a:r>
          </a:p>
          <a:p>
            <a:pPr>
              <a:spcBef>
                <a:spcPts val="0"/>
              </a:spcBef>
              <a:spcAft>
                <a:spcPts val="1000"/>
              </a:spcAft>
            </a:pPr>
            <a:r>
              <a:rPr sz="1900" b="1">
                <a:solidFill>
                  <a:srgbClr val="1F6FEB"/>
                </a:solidFill>
                <a:latin typeface="Arial"/>
              </a:rPr>
              <a:t>•  </a:t>
            </a:r>
            <a:r>
              <a:rPr sz="1900">
                <a:solidFill>
                  <a:srgbClr val="161B26"/>
                </a:solidFill>
                <a:latin typeface="Arial"/>
              </a:rPr>
              <a:t>GatewayClass defines the controller; Gateway binds a listener; HTTPRoute attaches rules.</a:t>
            </a:r>
          </a:p>
          <a:p>
            <a:pPr>
              <a:spcBef>
                <a:spcPts val="0"/>
              </a:spcBef>
              <a:spcAft>
                <a:spcPts val="1000"/>
              </a:spcAft>
            </a:pPr>
            <a:r>
              <a:rPr sz="1900" b="1">
                <a:solidFill>
                  <a:srgbClr val="1F6FEB"/>
                </a:solidFill>
                <a:latin typeface="Arial"/>
              </a:rPr>
              <a:t>•  </a:t>
            </a:r>
            <a:r>
              <a:rPr sz="1900">
                <a:solidFill>
                  <a:srgbClr val="161B26"/>
                </a:solidFill>
                <a:latin typeface="Arial"/>
              </a:rPr>
              <a:t>Supports HTTP, HTTPS, TCP, TLS and gRPC routing with cross-namespace route attachment.</a:t>
            </a:r>
          </a:p>
          <a:p>
            <a:pPr>
              <a:spcBef>
                <a:spcPts val="0"/>
              </a:spcBef>
              <a:spcAft>
                <a:spcPts val="1000"/>
              </a:spcAft>
            </a:pPr>
            <a:r>
              <a:rPr sz="1900" b="1">
                <a:solidFill>
                  <a:srgbClr val="1F6FEB"/>
                </a:solidFill>
                <a:latin typeface="Arial"/>
              </a:rPr>
              <a:t>•  </a:t>
            </a:r>
            <a:r>
              <a:rPr sz="1900">
                <a:solidFill>
                  <a:srgbClr val="161B26"/>
                </a:solidFill>
                <a:latin typeface="Arial"/>
              </a:rPr>
              <a:t>apiVersion: gateway.networking.k8s.io/v1 — install the CRDs separately before using it.</a:t>
            </a:r>
          </a:p>
        </p:txBody>
      </p:sp>
      <p:sp>
        <p:nvSpPr>
          <p:cNvPr id="8" name="TextBox 7"/>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9" name="TextBox 8"/>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171</a:t>
            </a:r>
          </a:p>
        </p:txBody>
      </p:sp>
    </p:spTree>
  </p:cSld>
  <p:clrMapOvr>
    <a:masterClrMapping/>
  </p:clrMapOvr>
</p:sld>
</file>

<file path=ppt/slides/slide1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DOMAIN 3  ·  THE SUCCESSOR TO INGRESS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Gateway API — Role-Oriented Routing</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286000"/>
            <a:ext cx="3200400" cy="1828800"/>
          </a:xfrm>
          <a:prstGeom prst="roundRect">
            <a:avLst>
              <a:gd name="adj" fmla="val 5000"/>
            </a:avLst>
          </a:prstGeom>
          <a:solidFill>
            <a:srgbClr val="EAF1FE"/>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286000"/>
            <a:ext cx="3200400"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86968" y="2395728"/>
            <a:ext cx="2980944" cy="1719072"/>
          </a:xfrm>
          <a:prstGeom prst="rect">
            <a:avLst/>
          </a:prstGeom>
          <a:noFill/>
        </p:spPr>
        <p:txBody>
          <a:bodyPr wrap="square" anchor="ctr" lIns="0" rIns="0" tIns="0" bIns="0">
            <a:spAutoFit/>
          </a:bodyPr>
          <a:lstStyle/>
          <a:p>
            <a:pPr algn="ctr">
              <a:spcBef>
                <a:spcPts val="0"/>
              </a:spcBef>
              <a:spcAft>
                <a:spcPts val="300"/>
              </a:spcAft>
            </a:pPr>
            <a:r>
              <a:rPr sz="1400" b="1">
                <a:solidFill>
                  <a:srgbClr val="161B26"/>
                </a:solidFill>
                <a:latin typeface="Arial"/>
              </a:rPr>
              <a:t>GatewayClass</a:t>
            </a:r>
          </a:p>
          <a:p>
            <a:pPr algn="ctr">
              <a:spcBef>
                <a:spcPts val="0"/>
              </a:spcBef>
              <a:spcAft>
                <a:spcPts val="300"/>
              </a:spcAft>
            </a:pPr>
            <a:r>
              <a:rPr sz="1200" b="0">
                <a:solidFill>
                  <a:srgbClr val="5B6372"/>
                </a:solidFill>
                <a:latin typeface="Arial"/>
              </a:rPr>
              <a:t>provisioner: nginx</a:t>
            </a:r>
          </a:p>
          <a:p>
            <a:pPr algn="ctr">
              <a:spcBef>
                <a:spcPts val="0"/>
              </a:spcBef>
              <a:spcAft>
                <a:spcPts val="300"/>
              </a:spcAft>
            </a:pPr>
            <a:r>
              <a:rPr sz="1200" b="0">
                <a:solidFill>
                  <a:srgbClr val="5B6372"/>
                </a:solidFill>
                <a:latin typeface="Arial"/>
              </a:rPr>
              <a:t>infra team manages</a:t>
            </a:r>
          </a:p>
          <a:p>
            <a:pPr algn="ctr">
              <a:spcBef>
                <a:spcPts val="0"/>
              </a:spcBef>
              <a:spcAft>
                <a:spcPts val="300"/>
              </a:spcAft>
            </a:pPr>
            <a:r>
              <a:rPr sz="1200" b="0">
                <a:solidFill>
                  <a:srgbClr val="5B6372"/>
                </a:solidFill>
                <a:latin typeface="Arial"/>
              </a:rPr>
              <a:t>cluster-scoped</a:t>
            </a:r>
          </a:p>
        </p:txBody>
      </p:sp>
      <p:sp>
        <p:nvSpPr>
          <p:cNvPr id="10" name="Right Arrow 9"/>
          <p:cNvSpPr/>
          <p:nvPr/>
        </p:nvSpPr>
        <p:spPr>
          <a:xfrm>
            <a:off x="3977640" y="3017520"/>
            <a:ext cx="548640" cy="365760"/>
          </a:xfrm>
          <a:prstGeom prst="rightArrow">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526279" y="2286000"/>
            <a:ext cx="3200400" cy="1828800"/>
          </a:xfrm>
          <a:prstGeom prst="roundRect">
            <a:avLst>
              <a:gd name="adj" fmla="val 5000"/>
            </a:avLst>
          </a:prstGeom>
          <a:solidFill>
            <a:srgbClr val="E8F7EE"/>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26279" y="2286000"/>
            <a:ext cx="3200400"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636007" y="2395728"/>
            <a:ext cx="2980944" cy="1719072"/>
          </a:xfrm>
          <a:prstGeom prst="rect">
            <a:avLst/>
          </a:prstGeom>
          <a:noFill/>
        </p:spPr>
        <p:txBody>
          <a:bodyPr wrap="square" anchor="ctr" lIns="0" rIns="0" tIns="0" bIns="0">
            <a:spAutoFit/>
          </a:bodyPr>
          <a:lstStyle/>
          <a:p>
            <a:pPr algn="ctr">
              <a:spcBef>
                <a:spcPts val="0"/>
              </a:spcBef>
              <a:spcAft>
                <a:spcPts val="300"/>
              </a:spcAft>
            </a:pPr>
            <a:r>
              <a:rPr sz="1400" b="1">
                <a:solidFill>
                  <a:srgbClr val="161B26"/>
                </a:solidFill>
                <a:latin typeface="Arial"/>
              </a:rPr>
              <a:t>Gateway</a:t>
            </a:r>
          </a:p>
          <a:p>
            <a:pPr algn="ctr">
              <a:spcBef>
                <a:spcPts val="0"/>
              </a:spcBef>
              <a:spcAft>
                <a:spcPts val="300"/>
              </a:spcAft>
            </a:pPr>
            <a:r>
              <a:rPr sz="1200" b="0">
                <a:solidFill>
                  <a:srgbClr val="5B6372"/>
                </a:solidFill>
                <a:latin typeface="Arial"/>
              </a:rPr>
              <a:t>binds a listener</a:t>
            </a:r>
          </a:p>
          <a:p>
            <a:pPr algn="ctr">
              <a:spcBef>
                <a:spcPts val="0"/>
              </a:spcBef>
              <a:spcAft>
                <a:spcPts val="300"/>
              </a:spcAft>
            </a:pPr>
            <a:r>
              <a:rPr sz="1200" b="0">
                <a:solidFill>
                  <a:srgbClr val="5B6372"/>
                </a:solidFill>
                <a:latin typeface="Arial"/>
              </a:rPr>
              <a:t>HTTPS :443</a:t>
            </a:r>
          </a:p>
          <a:p>
            <a:pPr algn="ctr">
              <a:spcBef>
                <a:spcPts val="0"/>
              </a:spcBef>
              <a:spcAft>
                <a:spcPts val="300"/>
              </a:spcAft>
            </a:pPr>
            <a:r>
              <a:rPr sz="1200" b="0">
                <a:solidFill>
                  <a:srgbClr val="5B6372"/>
                </a:solidFill>
                <a:latin typeface="Arial"/>
              </a:rPr>
              <a:t>cluster-operator owns</a:t>
            </a:r>
          </a:p>
        </p:txBody>
      </p:sp>
      <p:sp>
        <p:nvSpPr>
          <p:cNvPr id="14" name="Right Arrow 13"/>
          <p:cNvSpPr/>
          <p:nvPr/>
        </p:nvSpPr>
        <p:spPr>
          <a:xfrm>
            <a:off x="7726679" y="3017520"/>
            <a:ext cx="548640" cy="365760"/>
          </a:xfrm>
          <a:prstGeom prst="rightArrow">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275318" y="2286000"/>
            <a:ext cx="3200400" cy="1828800"/>
          </a:xfrm>
          <a:prstGeom prst="roundRect">
            <a:avLst>
              <a:gd name="adj" fmla="val 5000"/>
            </a:avLst>
          </a:prstGeom>
          <a:solidFill>
            <a:srgbClr val="F1EBFD"/>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275318" y="2286000"/>
            <a:ext cx="3200400"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385046" y="2395728"/>
            <a:ext cx="2980944" cy="1719072"/>
          </a:xfrm>
          <a:prstGeom prst="rect">
            <a:avLst/>
          </a:prstGeom>
          <a:noFill/>
        </p:spPr>
        <p:txBody>
          <a:bodyPr wrap="square" anchor="ctr" lIns="0" rIns="0" tIns="0" bIns="0">
            <a:spAutoFit/>
          </a:bodyPr>
          <a:lstStyle/>
          <a:p>
            <a:pPr algn="ctr">
              <a:spcBef>
                <a:spcPts val="0"/>
              </a:spcBef>
              <a:spcAft>
                <a:spcPts val="300"/>
              </a:spcAft>
            </a:pPr>
            <a:r>
              <a:rPr sz="1400" b="1">
                <a:solidFill>
                  <a:srgbClr val="161B26"/>
                </a:solidFill>
                <a:latin typeface="Arial"/>
              </a:rPr>
              <a:t>HTTPRoute</a:t>
            </a:r>
          </a:p>
          <a:p>
            <a:pPr algn="ctr">
              <a:spcBef>
                <a:spcPts val="0"/>
              </a:spcBef>
              <a:spcAft>
                <a:spcPts val="300"/>
              </a:spcAft>
            </a:pPr>
            <a:r>
              <a:rPr sz="1200" b="0">
                <a:solidFill>
                  <a:srgbClr val="5B6372"/>
                </a:solidFill>
                <a:latin typeface="Arial"/>
              </a:rPr>
              <a:t>host + path rules</a:t>
            </a:r>
          </a:p>
          <a:p>
            <a:pPr algn="ctr">
              <a:spcBef>
                <a:spcPts val="0"/>
              </a:spcBef>
              <a:spcAft>
                <a:spcPts val="300"/>
              </a:spcAft>
            </a:pPr>
            <a:r>
              <a:rPr sz="1200" b="0">
                <a:solidFill>
                  <a:srgbClr val="5B6372"/>
                </a:solidFill>
                <a:latin typeface="Arial"/>
              </a:rPr>
              <a:t>→ backend Services</a:t>
            </a:r>
          </a:p>
          <a:p>
            <a:pPr algn="ctr">
              <a:spcBef>
                <a:spcPts val="0"/>
              </a:spcBef>
              <a:spcAft>
                <a:spcPts val="300"/>
              </a:spcAft>
            </a:pPr>
            <a:r>
              <a:rPr sz="1200" b="0">
                <a:solidFill>
                  <a:srgbClr val="5B6372"/>
                </a:solidFill>
                <a:latin typeface="Arial"/>
              </a:rPr>
              <a:t>app dev attaches</a:t>
            </a:r>
          </a:p>
        </p:txBody>
      </p:sp>
      <p:sp>
        <p:nvSpPr>
          <p:cNvPr id="18" name="Rounded Rectangle 17"/>
          <p:cNvSpPr/>
          <p:nvPr/>
        </p:nvSpPr>
        <p:spPr>
          <a:xfrm>
            <a:off x="777240" y="5943600"/>
            <a:ext cx="10652760" cy="502920"/>
          </a:xfrm>
          <a:prstGeom prst="roundRect">
            <a:avLst>
              <a:gd name="adj" fmla="val 5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51560" y="5943600"/>
            <a:ext cx="10149840" cy="502920"/>
          </a:xfrm>
          <a:prstGeom prst="rect">
            <a:avLst/>
          </a:prstGeom>
          <a:noFill/>
        </p:spPr>
        <p:txBody>
          <a:bodyPr wrap="square" anchor="ctr" lIns="0" rIns="0" tIns="0" bIns="0">
            <a:spAutoFit/>
          </a:bodyPr>
          <a:lstStyle/>
          <a:p>
            <a:pPr algn="l">
              <a:spcBef>
                <a:spcPts val="0"/>
              </a:spcBef>
              <a:spcAft>
                <a:spcPts val="400"/>
              </a:spcAft>
            </a:pPr>
            <a:r>
              <a:rPr sz="1300" b="0">
                <a:solidFill>
                  <a:srgbClr val="5B6372"/>
                </a:solidFill>
                <a:latin typeface="Arial"/>
              </a:rPr>
              <a:t>apiVersion: gateway.networking.k8s.io/v1  ·  </a:t>
            </a:r>
            <a:r>
              <a:rPr sz="1300" b="1">
                <a:solidFill>
                  <a:srgbClr val="161B26"/>
                </a:solidFill>
                <a:latin typeface="Arial"/>
              </a:rPr>
              <a:t>install CRDs first</a:t>
            </a:r>
            <a:r>
              <a:rPr sz="1300" b="0">
                <a:solidFill>
                  <a:srgbClr val="5B6372"/>
                </a:solidFill>
                <a:latin typeface="Arial"/>
              </a:rPr>
              <a:t>  →  kubectl apply -f standard-install.yaml from the Gateway API releases.</a:t>
            </a:r>
          </a:p>
        </p:txBody>
      </p:sp>
      <p:sp>
        <p:nvSpPr>
          <p:cNvPr id="20" name="TextBox 19"/>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21" name="TextBox 20"/>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22" name="TextBox 21"/>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172</a:t>
            </a:r>
          </a:p>
        </p:txBody>
      </p:sp>
    </p:spTree>
  </p:cSld>
  <p:clrMapOvr>
    <a:masterClrMapping/>
  </p:clrMapOvr>
</p:sld>
</file>

<file path=ppt/slides/slide1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DAY 3 · INGRESS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Ingress Controller: Host Routing, TLS Termination, Path Rules, Debug</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64208"/>
            <a:ext cx="169164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09928"/>
            <a:ext cx="1691640" cy="365760"/>
          </a:xfrm>
          <a:prstGeom prst="rect">
            <a:avLst/>
          </a:prstGeom>
          <a:noFill/>
        </p:spPr>
        <p:txBody>
          <a:bodyPr wrap="square" anchor="t" lIns="0" rIns="0" tIns="0" bIns="0">
            <a:spAutoFit/>
          </a:bodyPr>
          <a:lstStyle/>
          <a:p>
            <a:pPr algn="ctr">
              <a:spcBef>
                <a:spcPts val="0"/>
              </a:spcBef>
              <a:spcAft>
                <a:spcPts val="400"/>
              </a:spcAft>
            </a:pPr>
            <a:r>
              <a:rPr sz="1600" b="1">
                <a:solidFill>
                  <a:srgbClr val="FFFFFF"/>
                </a:solidFill>
                <a:latin typeface="Arial"/>
              </a:rPr>
              <a:t>LAB 19</a:t>
            </a:r>
          </a:p>
        </p:txBody>
      </p:sp>
      <p:sp>
        <p:nvSpPr>
          <p:cNvPr id="9" name="TextBox 8"/>
          <p:cNvSpPr txBox="1"/>
          <p:nvPr/>
        </p:nvSpPr>
        <p:spPr>
          <a:xfrm>
            <a:off x="2697480" y="1691640"/>
            <a:ext cx="8778240" cy="411480"/>
          </a:xfrm>
          <a:prstGeom prst="rect">
            <a:avLst/>
          </a:prstGeom>
          <a:noFill/>
        </p:spPr>
        <p:txBody>
          <a:bodyPr wrap="square" anchor="ctr" lIns="0" rIns="0" tIns="0" bIns="0">
            <a:spAutoFit/>
          </a:bodyPr>
          <a:lstStyle/>
          <a:p>
            <a:pPr algn="l">
              <a:spcBef>
                <a:spcPts val="0"/>
              </a:spcBef>
              <a:spcAft>
                <a:spcPts val="400"/>
              </a:spcAft>
            </a:pPr>
            <a:r>
              <a:rPr sz="1400" b="1">
                <a:solidFill>
                  <a:srgbClr val="5B6372"/>
                </a:solidFill>
                <a:latin typeface="Arial"/>
              </a:rPr>
              <a:t>Ingress</a:t>
            </a:r>
          </a:p>
        </p:txBody>
      </p:sp>
      <p:sp>
        <p:nvSpPr>
          <p:cNvPr id="10" name="TextBox 9"/>
          <p:cNvSpPr txBox="1"/>
          <p:nvPr/>
        </p:nvSpPr>
        <p:spPr>
          <a:xfrm>
            <a:off x="777240" y="2286000"/>
            <a:ext cx="10698480" cy="1554480"/>
          </a:xfrm>
          <a:prstGeom prst="rect">
            <a:avLst/>
          </a:prstGeom>
          <a:noFill/>
        </p:spPr>
        <p:txBody>
          <a:bodyPr wrap="square" anchor="t" lIns="0" rIns="0" tIns="0" bIns="0">
            <a:spAutoFit/>
          </a:bodyPr>
          <a:lstStyle/>
          <a:p>
            <a:pPr algn="l">
              <a:spcBef>
                <a:spcPts val="0"/>
              </a:spcBef>
              <a:spcAft>
                <a:spcPts val="400"/>
              </a:spcAft>
            </a:pPr>
            <a:r>
              <a:rPr sz="1900" b="0">
                <a:solidFill>
                  <a:srgbClr val="161B26"/>
                </a:solidFill>
                <a:latin typeface="Arial"/>
              </a:rPr>
              <a:t>Install ingress-nginx controller, configure host-based routing to multiple backends, terminate TLS using a Kubernetes Secret, and debug misconfigured Ingress resources. CKA 2026 tests installing ingress-nginx, host routing, and TLS termination.</a:t>
            </a:r>
          </a:p>
        </p:txBody>
      </p:sp>
      <p:sp>
        <p:nvSpPr>
          <p:cNvPr id="11" name="Rounded Rectangle 10"/>
          <p:cNvSpPr/>
          <p:nvPr/>
        </p:nvSpPr>
        <p:spPr>
          <a:xfrm>
            <a:off x="777240" y="4069080"/>
            <a:ext cx="10698480" cy="1783080"/>
          </a:xfrm>
          <a:prstGeom prst="roundRect">
            <a:avLst>
              <a:gd name="adj" fmla="val 5000"/>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05840" y="4251960"/>
            <a:ext cx="10058400" cy="365760"/>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You'll build</a:t>
            </a:r>
          </a:p>
        </p:txBody>
      </p:sp>
      <p:sp>
        <p:nvSpPr>
          <p:cNvPr id="13" name="TextBox 12"/>
          <p:cNvSpPr txBox="1"/>
          <p:nvPr/>
        </p:nvSpPr>
        <p:spPr>
          <a:xfrm>
            <a:off x="1005840" y="4617720"/>
            <a:ext cx="10241280" cy="640080"/>
          </a:xfrm>
          <a:prstGeom prst="rect">
            <a:avLst/>
          </a:prstGeom>
          <a:noFill/>
        </p:spPr>
        <p:txBody>
          <a:bodyPr wrap="square" anchor="t" lIns="0" rIns="0" tIns="0" bIns="0">
            <a:spAutoFit/>
          </a:bodyPr>
          <a:lstStyle/>
          <a:p>
            <a:pPr algn="l">
              <a:spcBef>
                <a:spcPts val="0"/>
              </a:spcBef>
              <a:spcAft>
                <a:spcPts val="400"/>
              </a:spcAft>
            </a:pPr>
            <a:r>
              <a:rPr sz="1700" b="1">
                <a:solidFill>
                  <a:srgbClr val="161B26"/>
                </a:solidFill>
                <a:latin typeface="Arial"/>
              </a:rPr>
              <a:t>Install ingress-nginx via bare-metal manifest, create Ingress for two apps with host rules, add TLS block with secret, debug 404 by checking ingressClassName.</a:t>
            </a:r>
          </a:p>
        </p:txBody>
      </p:sp>
      <p:sp>
        <p:nvSpPr>
          <p:cNvPr id="14" name="TextBox 13"/>
          <p:cNvSpPr txBox="1"/>
          <p:nvPr/>
        </p:nvSpPr>
        <p:spPr>
          <a:xfrm>
            <a:off x="1005840" y="5349240"/>
            <a:ext cx="10058400" cy="457200"/>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Key commands:  </a:t>
            </a:r>
            <a:r>
              <a:rPr sz="1300" b="0">
                <a:solidFill>
                  <a:srgbClr val="5B6372"/>
                </a:solidFill>
                <a:latin typeface="Arial"/>
              </a:rPr>
              <a:t>kubectl apply · HTTP_PORT=$(kubectl -n · cat &lt;&lt;'EOF' · kubectl create · » ingressClassName:</a:t>
            </a:r>
          </a:p>
        </p:txBody>
      </p:sp>
      <p:sp>
        <p:nvSpPr>
          <p:cNvPr id="15" name="TextBox 14"/>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6" name="TextBox 15"/>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7" name="TextBox 16"/>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173</a:t>
            </a:r>
          </a:p>
        </p:txBody>
      </p:sp>
    </p:spTree>
  </p:cSld>
  <p:clrMapOvr>
    <a:masterClrMapping/>
  </p:clrMapOvr>
</p:sld>
</file>

<file path=ppt/slides/slide1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19  ·  COMMANDS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Ingress Controller: Host Routing, TLS Termination, Path Rules, Debug</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91640"/>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Step 1 -- Install ingress-nginx</a:t>
            </a:r>
          </a:p>
        </p:txBody>
      </p:sp>
      <p:sp>
        <p:nvSpPr>
          <p:cNvPr id="8" name="Rounded Rectangle 7"/>
          <p:cNvSpPr/>
          <p:nvPr/>
        </p:nvSpPr>
        <p:spPr>
          <a:xfrm>
            <a:off x="777240" y="2075688"/>
            <a:ext cx="10652760" cy="708660"/>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075688"/>
            <a:ext cx="82296" cy="7086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6" y="2139696"/>
            <a:ext cx="10323576" cy="617220"/>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kubectl apply -f https://raw.githubusercontent.com/kubernetes/ingress-nginx/main/deploy/static/provider/baremetal/deploy.yaml</a:t>
            </a:r>
          </a:p>
          <a:p>
            <a:pPr>
              <a:spcBef>
                <a:spcPts val="0"/>
              </a:spcBef>
              <a:spcAft>
                <a:spcPts val="0"/>
              </a:spcAft>
            </a:pPr>
            <a:r>
              <a:rPr sz="1050">
                <a:solidFill>
                  <a:srgbClr val="161B26"/>
                </a:solidFill>
                <a:latin typeface="Consolas"/>
              </a:rPr>
              <a:t>kubectl -n ingress-nginx wait --for=condition=Ready pod \</a:t>
            </a:r>
          </a:p>
          <a:p>
            <a:pPr>
              <a:spcBef>
                <a:spcPts val="0"/>
              </a:spcBef>
              <a:spcAft>
                <a:spcPts val="0"/>
              </a:spcAft>
            </a:pPr>
            <a:r>
              <a:rPr sz="1050">
                <a:solidFill>
                  <a:srgbClr val="161B26"/>
                </a:solidFill>
                <a:latin typeface="Consolas"/>
              </a:rPr>
              <a:t>  -l app.kubernetes.io/component=controller --timeout=180s</a:t>
            </a:r>
          </a:p>
        </p:txBody>
      </p:sp>
      <p:sp>
        <p:nvSpPr>
          <p:cNvPr id="11" name="TextBox 10"/>
          <p:cNvSpPr txBox="1"/>
          <p:nvPr/>
        </p:nvSpPr>
        <p:spPr>
          <a:xfrm>
            <a:off x="777240" y="2967228"/>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Step 2 -- Get NodePort for testing</a:t>
            </a:r>
          </a:p>
        </p:txBody>
      </p:sp>
      <p:sp>
        <p:nvSpPr>
          <p:cNvPr id="12" name="Rounded Rectangle 11"/>
          <p:cNvSpPr/>
          <p:nvPr/>
        </p:nvSpPr>
        <p:spPr>
          <a:xfrm>
            <a:off x="777240" y="3351276"/>
            <a:ext cx="10652760" cy="708660"/>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3351276"/>
            <a:ext cx="82296" cy="7086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3415284"/>
            <a:ext cx="10323576" cy="617220"/>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HTTP_PORT=$(kubectl -n ingress-nginx get svc ingress-nginx-controller \</a:t>
            </a:r>
          </a:p>
          <a:p>
            <a:pPr>
              <a:spcBef>
                <a:spcPts val="0"/>
              </a:spcBef>
              <a:spcAft>
                <a:spcPts val="0"/>
              </a:spcAft>
            </a:pPr>
            <a:r>
              <a:rPr sz="1050">
                <a:solidFill>
                  <a:srgbClr val="161B26"/>
                </a:solidFill>
                <a:latin typeface="Consolas"/>
              </a:rPr>
              <a:t>  -o jsonpath='{.spec.ports[?(@.name=="http")].nodePort}')</a:t>
            </a:r>
          </a:p>
          <a:p>
            <a:pPr>
              <a:spcBef>
                <a:spcPts val="0"/>
              </a:spcBef>
              <a:spcAft>
                <a:spcPts val="0"/>
              </a:spcAft>
            </a:pPr>
            <a:r>
              <a:rPr sz="1050">
                <a:solidFill>
                  <a:srgbClr val="161B26"/>
                </a:solidFill>
                <a:latin typeface="Consolas"/>
              </a:rPr>
              <a:t>echo "HTTP NodePort: $HTTP_PORT"</a:t>
            </a:r>
          </a:p>
        </p:txBody>
      </p:sp>
      <p:sp>
        <p:nvSpPr>
          <p:cNvPr id="15" name="TextBox 14"/>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6" name="TextBox 15"/>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7" name="TextBox 16"/>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174</a:t>
            </a:r>
          </a:p>
        </p:txBody>
      </p:sp>
    </p:spTree>
  </p:cSld>
  <p:clrMapOvr>
    <a:masterClrMapping/>
  </p:clrMapOvr>
</p:sld>
</file>

<file path=ppt/slides/slide1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19  ·  COMMANDS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Ingress Controller: Host Routing, TLS Termination, Path Rules, Debug (cont.)</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91640"/>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Step 3 -- Create Ingress with host-based routing</a:t>
            </a:r>
          </a:p>
        </p:txBody>
      </p:sp>
      <p:sp>
        <p:nvSpPr>
          <p:cNvPr id="8" name="Rounded Rectangle 7"/>
          <p:cNvSpPr/>
          <p:nvPr/>
        </p:nvSpPr>
        <p:spPr>
          <a:xfrm>
            <a:off x="777240" y="2075688"/>
            <a:ext cx="10652760" cy="4082796"/>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075688"/>
            <a:ext cx="82296" cy="40827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6" y="2139696"/>
            <a:ext cx="10323576" cy="3991356"/>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cat &lt;&lt;'EOF' | kubectl apply -f -</a:t>
            </a:r>
          </a:p>
          <a:p>
            <a:pPr>
              <a:spcBef>
                <a:spcPts val="0"/>
              </a:spcBef>
              <a:spcAft>
                <a:spcPts val="0"/>
              </a:spcAft>
            </a:pPr>
            <a:r>
              <a:rPr sz="1050">
                <a:solidFill>
                  <a:srgbClr val="161B26"/>
                </a:solidFill>
                <a:latin typeface="Consolas"/>
              </a:rPr>
              <a:t>apiVersion: networking.k8s.io/v1</a:t>
            </a:r>
          </a:p>
          <a:p>
            <a:pPr>
              <a:spcBef>
                <a:spcPts val="0"/>
              </a:spcBef>
              <a:spcAft>
                <a:spcPts val="0"/>
              </a:spcAft>
            </a:pPr>
            <a:r>
              <a:rPr sz="1050">
                <a:solidFill>
                  <a:srgbClr val="161B26"/>
                </a:solidFill>
                <a:latin typeface="Consolas"/>
              </a:rPr>
              <a:t>kind: Ingress</a:t>
            </a:r>
          </a:p>
          <a:p>
            <a:pPr>
              <a:spcBef>
                <a:spcPts val="0"/>
              </a:spcBef>
              <a:spcAft>
                <a:spcPts val="0"/>
              </a:spcAft>
            </a:pPr>
            <a:r>
              <a:rPr sz="1050">
                <a:solidFill>
                  <a:srgbClr val="161B26"/>
                </a:solidFill>
                <a:latin typeface="Consolas"/>
              </a:rPr>
              <a:t>metadata:</a:t>
            </a:r>
          </a:p>
          <a:p>
            <a:pPr>
              <a:spcBef>
                <a:spcPts val="0"/>
              </a:spcBef>
              <a:spcAft>
                <a:spcPts val="0"/>
              </a:spcAft>
            </a:pPr>
            <a:r>
              <a:rPr sz="1050">
                <a:solidFill>
                  <a:srgbClr val="161B26"/>
                </a:solidFill>
                <a:latin typeface="Consolas"/>
              </a:rPr>
              <a:t>  name: multi-host</a:t>
            </a:r>
          </a:p>
          <a:p>
            <a:pPr>
              <a:spcBef>
                <a:spcPts val="0"/>
              </a:spcBef>
              <a:spcAft>
                <a:spcPts val="0"/>
              </a:spcAft>
            </a:pPr>
            <a:r>
              <a:rPr sz="1050">
                <a:solidFill>
                  <a:srgbClr val="161B26"/>
                </a:solidFill>
                <a:latin typeface="Consolas"/>
              </a:rPr>
              <a:t>  annotations:</a:t>
            </a:r>
          </a:p>
          <a:p>
            <a:pPr>
              <a:spcBef>
                <a:spcPts val="0"/>
              </a:spcBef>
              <a:spcAft>
                <a:spcPts val="0"/>
              </a:spcAft>
            </a:pPr>
            <a:r>
              <a:rPr sz="1050">
                <a:solidFill>
                  <a:srgbClr val="161B26"/>
                </a:solidFill>
                <a:latin typeface="Consolas"/>
              </a:rPr>
              <a:t>    nginx.ingress.kubernetes.io/rewrite-target: /</a:t>
            </a:r>
          </a:p>
          <a:p>
            <a:pPr>
              <a:spcBef>
                <a:spcPts val="0"/>
              </a:spcBef>
              <a:spcAft>
                <a:spcPts val="0"/>
              </a:spcAft>
            </a:pPr>
            <a:r>
              <a:rPr sz="1050">
                <a:solidFill>
                  <a:srgbClr val="161B26"/>
                </a:solidFill>
                <a:latin typeface="Consolas"/>
              </a:rPr>
              <a:t>spec:</a:t>
            </a:r>
          </a:p>
          <a:p>
            <a:pPr>
              <a:spcBef>
                <a:spcPts val="0"/>
              </a:spcBef>
              <a:spcAft>
                <a:spcPts val="0"/>
              </a:spcAft>
            </a:pPr>
            <a:r>
              <a:rPr sz="1050">
                <a:solidFill>
                  <a:srgbClr val="161B26"/>
                </a:solidFill>
                <a:latin typeface="Consolas"/>
              </a:rPr>
              <a:t>  ingressClassName: nginx</a:t>
            </a:r>
          </a:p>
          <a:p>
            <a:pPr>
              <a:spcBef>
                <a:spcPts val="0"/>
              </a:spcBef>
              <a:spcAft>
                <a:spcPts val="0"/>
              </a:spcAft>
            </a:pPr>
            <a:r>
              <a:rPr sz="1050">
                <a:solidFill>
                  <a:srgbClr val="161B26"/>
                </a:solidFill>
                <a:latin typeface="Consolas"/>
              </a:rPr>
              <a:t>  rules:</a:t>
            </a:r>
          </a:p>
          <a:p>
            <a:pPr>
              <a:spcBef>
                <a:spcPts val="0"/>
              </a:spcBef>
              <a:spcAft>
                <a:spcPts val="0"/>
              </a:spcAft>
            </a:pPr>
            <a:r>
              <a:rPr sz="1050">
                <a:solidFill>
                  <a:srgbClr val="161B26"/>
                </a:solidFill>
                <a:latin typeface="Consolas"/>
              </a:rPr>
              <a:t>  - host: app1.example.com</a:t>
            </a:r>
          </a:p>
          <a:p>
            <a:pPr>
              <a:spcBef>
                <a:spcPts val="0"/>
              </a:spcBef>
              <a:spcAft>
                <a:spcPts val="0"/>
              </a:spcAft>
            </a:pPr>
            <a:r>
              <a:rPr sz="1050">
                <a:solidFill>
                  <a:srgbClr val="161B26"/>
                </a:solidFill>
                <a:latin typeface="Consolas"/>
              </a:rPr>
              <a:t>    http:</a:t>
            </a:r>
          </a:p>
          <a:p>
            <a:pPr>
              <a:spcBef>
                <a:spcPts val="0"/>
              </a:spcBef>
              <a:spcAft>
                <a:spcPts val="0"/>
              </a:spcAft>
            </a:pPr>
            <a:r>
              <a:rPr sz="1050">
                <a:solidFill>
                  <a:srgbClr val="161B26"/>
                </a:solidFill>
                <a:latin typeface="Consolas"/>
              </a:rPr>
              <a:t>      paths:</a:t>
            </a:r>
          </a:p>
          <a:p>
            <a:pPr>
              <a:spcBef>
                <a:spcPts val="0"/>
              </a:spcBef>
              <a:spcAft>
                <a:spcPts val="0"/>
              </a:spcAft>
            </a:pPr>
            <a:r>
              <a:rPr sz="1050">
                <a:solidFill>
                  <a:srgbClr val="161B26"/>
                </a:solidFill>
                <a:latin typeface="Consolas"/>
              </a:rPr>
              <a:t>      - path: /</a:t>
            </a:r>
          </a:p>
          <a:p>
            <a:pPr>
              <a:spcBef>
                <a:spcPts val="0"/>
              </a:spcBef>
              <a:spcAft>
                <a:spcPts val="0"/>
              </a:spcAft>
            </a:pPr>
            <a:r>
              <a:rPr sz="1050">
                <a:solidFill>
                  <a:srgbClr val="161B26"/>
                </a:solidFill>
                <a:latin typeface="Consolas"/>
              </a:rPr>
              <a:t>        pathType: Prefix</a:t>
            </a:r>
          </a:p>
          <a:p>
            <a:pPr>
              <a:spcBef>
                <a:spcPts val="0"/>
              </a:spcBef>
              <a:spcAft>
                <a:spcPts val="0"/>
              </a:spcAft>
            </a:pPr>
            <a:r>
              <a:rPr sz="1050">
                <a:solidFill>
                  <a:srgbClr val="161B26"/>
                </a:solidFill>
                <a:latin typeface="Consolas"/>
              </a:rPr>
              <a:t>        backend:</a:t>
            </a:r>
          </a:p>
          <a:p>
            <a:pPr>
              <a:spcBef>
                <a:spcPts val="0"/>
              </a:spcBef>
              <a:spcAft>
                <a:spcPts val="0"/>
              </a:spcAft>
            </a:pPr>
            <a:r>
              <a:rPr sz="1050">
                <a:solidFill>
                  <a:srgbClr val="161B26"/>
                </a:solidFill>
                <a:latin typeface="Consolas"/>
              </a:rPr>
              <a:t>          service:</a:t>
            </a:r>
          </a:p>
          <a:p>
            <a:pPr>
              <a:spcBef>
                <a:spcPts val="0"/>
              </a:spcBef>
              <a:spcAft>
                <a:spcPts val="0"/>
              </a:spcAft>
            </a:pPr>
            <a:r>
              <a:rPr sz="1050">
                <a:solidFill>
                  <a:srgbClr val="161B26"/>
                </a:solidFill>
                <a:latin typeface="Consolas"/>
              </a:rPr>
              <a:t>            name: app1-svc</a:t>
            </a:r>
          </a:p>
          <a:p>
            <a:pPr>
              <a:spcBef>
                <a:spcPts val="0"/>
              </a:spcBef>
              <a:spcAft>
                <a:spcPts val="0"/>
              </a:spcAft>
            </a:pPr>
            <a:r>
              <a:rPr sz="1050">
                <a:solidFill>
                  <a:srgbClr val="161B26"/>
                </a:solidFill>
                <a:latin typeface="Consolas"/>
              </a:rPr>
              <a:t>            port:</a:t>
            </a:r>
          </a:p>
          <a:p>
            <a:pPr>
              <a:spcBef>
                <a:spcPts val="0"/>
              </a:spcBef>
              <a:spcAft>
                <a:spcPts val="0"/>
              </a:spcAft>
            </a:pPr>
            <a:r>
              <a:rPr sz="1050">
                <a:solidFill>
                  <a:srgbClr val="161B26"/>
                </a:solidFill>
                <a:latin typeface="Consolas"/>
              </a:rPr>
              <a:t>              number: 80</a:t>
            </a:r>
          </a:p>
          <a:p>
            <a:pPr>
              <a:spcBef>
                <a:spcPts val="0"/>
              </a:spcBef>
              <a:spcAft>
                <a:spcPts val="0"/>
              </a:spcAft>
            </a:pPr>
            <a:r>
              <a:rPr sz="1050">
                <a:solidFill>
                  <a:srgbClr val="161B26"/>
                </a:solidFill>
                <a:latin typeface="Consolas"/>
              </a:rPr>
              <a:t>EOF</a:t>
            </a:r>
          </a:p>
        </p:txBody>
      </p:sp>
      <p:sp>
        <p:nvSpPr>
          <p:cNvPr id="11" name="TextBox 10"/>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175</a:t>
            </a:r>
          </a:p>
        </p:txBody>
      </p:sp>
    </p:spTree>
  </p:cSld>
  <p:clrMapOvr>
    <a:masterClrMapping/>
  </p:clrMapOvr>
</p:sld>
</file>

<file path=ppt/slides/slide1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19  ·  COMMANDS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Ingress Controller: Host Routing, TLS Termination, Path Rules, Debug (cont.)</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91640"/>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Step 4 -- TLS termination</a:t>
            </a:r>
          </a:p>
        </p:txBody>
      </p:sp>
      <p:sp>
        <p:nvSpPr>
          <p:cNvPr id="8" name="Rounded Rectangle 7"/>
          <p:cNvSpPr/>
          <p:nvPr/>
        </p:nvSpPr>
        <p:spPr>
          <a:xfrm>
            <a:off x="777240" y="2075688"/>
            <a:ext cx="10652760" cy="1083563"/>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075688"/>
            <a:ext cx="82296" cy="1083563"/>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6" y="2139696"/>
            <a:ext cx="10323576" cy="992123"/>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kubectl create secret tls tls-secret --cert=tls.crt --key=tls.key</a:t>
            </a:r>
          </a:p>
          <a:p>
            <a:pPr>
              <a:spcBef>
                <a:spcPts val="0"/>
              </a:spcBef>
              <a:spcAft>
                <a:spcPts val="0"/>
              </a:spcAft>
            </a:pPr>
            <a:r>
              <a:rPr sz="1050">
                <a:solidFill>
                  <a:srgbClr val="161B26"/>
                </a:solidFill>
                <a:latin typeface="Consolas"/>
              </a:rPr>
              <a:t># Add to Ingress spec:</a:t>
            </a:r>
          </a:p>
          <a:p>
            <a:pPr>
              <a:spcBef>
                <a:spcPts val="0"/>
              </a:spcBef>
              <a:spcAft>
                <a:spcPts val="0"/>
              </a:spcAft>
            </a:pPr>
            <a:r>
              <a:rPr sz="1050">
                <a:solidFill>
                  <a:srgbClr val="161B26"/>
                </a:solidFill>
                <a:latin typeface="Consolas"/>
              </a:rPr>
              <a:t># tls:</a:t>
            </a:r>
          </a:p>
          <a:p>
            <a:pPr>
              <a:spcBef>
                <a:spcPts val="0"/>
              </a:spcBef>
              <a:spcAft>
                <a:spcPts val="0"/>
              </a:spcAft>
            </a:pPr>
            <a:r>
              <a:rPr sz="1050">
                <a:solidFill>
                  <a:srgbClr val="161B26"/>
                </a:solidFill>
                <a:latin typeface="Consolas"/>
              </a:rPr>
              <a:t># - hosts: [app1.example.com]</a:t>
            </a:r>
          </a:p>
          <a:p>
            <a:pPr>
              <a:spcBef>
                <a:spcPts val="0"/>
              </a:spcBef>
              <a:spcAft>
                <a:spcPts val="0"/>
              </a:spcAft>
            </a:pPr>
            <a:r>
              <a:rPr sz="1050">
                <a:solidFill>
                  <a:srgbClr val="161B26"/>
                </a:solidFill>
                <a:latin typeface="Consolas"/>
              </a:rPr>
              <a:t>#   secretName: tls-secret</a:t>
            </a:r>
          </a:p>
        </p:txBody>
      </p:sp>
      <p:sp>
        <p:nvSpPr>
          <p:cNvPr id="11" name="TextBox 10"/>
          <p:cNvSpPr txBox="1"/>
          <p:nvPr/>
        </p:nvSpPr>
        <p:spPr>
          <a:xfrm>
            <a:off x="777240" y="3342131"/>
            <a:ext cx="10652760" cy="310896"/>
          </a:xfrm>
          <a:prstGeom prst="rect">
            <a:avLst/>
          </a:prstGeom>
          <a:noFill/>
        </p:spPr>
        <p:txBody>
          <a:bodyPr wrap="square" anchor="t" lIns="0" rIns="0" tIns="0" bIns="0">
            <a:spAutoFit/>
          </a:bodyPr>
          <a:lstStyle/>
          <a:p>
            <a:pPr algn="l">
              <a:spcBef>
                <a:spcPts val="0"/>
              </a:spcBef>
              <a:spcAft>
                <a:spcPts val="400"/>
              </a:spcAft>
            </a:pPr>
            <a:r>
              <a:rPr sz="1300" b="1">
                <a:solidFill>
                  <a:srgbClr val="F59E0B"/>
                </a:solidFill>
                <a:latin typeface="Arial"/>
              </a:rPr>
              <a:t>Note   </a:t>
            </a:r>
            <a:r>
              <a:rPr sz="1300" b="0">
                <a:solidFill>
                  <a:srgbClr val="5B6372"/>
                </a:solidFill>
                <a:latin typeface="Arial"/>
              </a:rPr>
              <a:t>ingressClassName: nginx is required in Kubernetes 1.18+. Without it, the Ingress is ignored. Check ingress-nginx logs: kubectl logs -n ingress-nginx -l app.kubernetes.io/component=controller</a:t>
            </a:r>
          </a:p>
        </p:txBody>
      </p:sp>
      <p:sp>
        <p:nvSpPr>
          <p:cNvPr id="12" name="TextBox 11"/>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3" name="TextBox 12"/>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4" name="TextBox 13"/>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176</a:t>
            </a:r>
          </a:p>
        </p:txBody>
      </p:sp>
    </p:spTree>
  </p:cSld>
  <p:clrMapOvr>
    <a:masterClrMapping/>
  </p:clrMapOvr>
</p:sld>
</file>

<file path=ppt/slides/slide1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19  ·  TEST IT</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Ingress Controller: Host Routing, TLS Termination, Path Rules, Debug</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03120"/>
            <a:ext cx="10698480" cy="2560320"/>
          </a:xfrm>
          <a:prstGeom prst="roundRect">
            <a:avLst>
              <a:gd name="adj" fmla="val 5000"/>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lIns="0" rIns="0" tIns="0" bIns="0">
            <a:spAutoFit/>
          </a:bodyPr>
          <a:lstStyle/>
          <a:p>
            <a:pPr algn="l">
              <a:spcBef>
                <a:spcPts val="0"/>
              </a:spcBef>
              <a:spcAft>
                <a:spcPts val="400"/>
              </a:spcAft>
            </a:pPr>
            <a:r>
              <a:rPr sz="2200" b="1">
                <a:solidFill>
                  <a:srgbClr val="127A3E"/>
                </a:solidFill>
                <a:latin typeface="Arial"/>
              </a:rPr>
              <a:t>✅  Test it</a:t>
            </a:r>
          </a:p>
        </p:txBody>
      </p:sp>
      <p:sp>
        <p:nvSpPr>
          <p:cNvPr id="9" name="TextBox 8"/>
          <p:cNvSpPr txBox="1"/>
          <p:nvPr/>
        </p:nvSpPr>
        <p:spPr>
          <a:xfrm>
            <a:off x="1097280" y="3017520"/>
            <a:ext cx="10149840" cy="1463040"/>
          </a:xfrm>
          <a:prstGeom prst="rect">
            <a:avLst/>
          </a:prstGeom>
          <a:noFill/>
        </p:spPr>
        <p:txBody>
          <a:bodyPr wrap="square" anchor="t" lIns="0" rIns="0" tIns="0" bIns="0">
            <a:spAutoFit/>
          </a:bodyPr>
          <a:lstStyle/>
          <a:p>
            <a:pPr algn="l">
              <a:spcBef>
                <a:spcPts val="0"/>
              </a:spcBef>
              <a:spcAft>
                <a:spcPts val="400"/>
              </a:spcAft>
            </a:pPr>
            <a:r>
              <a:rPr sz="1800" b="0">
                <a:solidFill>
                  <a:srgbClr val="161B26"/>
                </a:solidFill>
                <a:latin typeface="Arial"/>
              </a:rPr>
              <a:t>curl -H 'Host: app1.example.com' http://NODE:PORT returns app1 content. Wrong ingressClassName causes 404. TLS ingress terminates HTTPS correctly.</a:t>
            </a:r>
          </a:p>
        </p:txBody>
      </p:sp>
      <p:sp>
        <p:nvSpPr>
          <p:cNvPr id="10" name="TextBox 9"/>
          <p:cNvSpPr txBox="1"/>
          <p:nvPr/>
        </p:nvSpPr>
        <p:spPr>
          <a:xfrm>
            <a:off x="777240" y="4983480"/>
            <a:ext cx="10698480" cy="365760"/>
          </a:xfrm>
          <a:prstGeom prst="rect">
            <a:avLst/>
          </a:prstGeom>
          <a:noFill/>
        </p:spPr>
        <p:txBody>
          <a:bodyPr wrap="square" anchor="t" lIns="0" rIns="0" tIns="0" bIns="0">
            <a:spAutoFit/>
          </a:bodyPr>
          <a:lstStyle/>
          <a:p>
            <a:pPr algn="l">
              <a:spcBef>
                <a:spcPts val="0"/>
              </a:spcBef>
              <a:spcAft>
                <a:spcPts val="400"/>
              </a:spcAft>
            </a:pPr>
            <a:r>
              <a:rPr sz="1300" b="1">
                <a:solidFill>
                  <a:srgbClr val="10B981"/>
                </a:solidFill>
                <a:latin typeface="Arial"/>
              </a:rPr>
              <a:t>Killercoda:  </a:t>
            </a:r>
            <a:r>
              <a:rPr sz="1300" b="0">
                <a:solidFill>
                  <a:srgbClr val="5B6372"/>
                </a:solidFill>
                <a:latin typeface="Arial"/>
              </a:rPr>
              <a:t>https://killercoda.com/playgrounds/scenario/kubernetes</a:t>
            </a:r>
          </a:p>
        </p:txBody>
      </p:sp>
      <p:sp>
        <p:nvSpPr>
          <p:cNvPr id="11" name="TextBox 10"/>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177</a:t>
            </a:r>
          </a:p>
        </p:txBody>
      </p:sp>
    </p:spTree>
  </p:cSld>
  <p:clrMapOvr>
    <a:masterClrMapping/>
  </p:clrMapOvr>
</p:sld>
</file>

<file path=ppt/slides/slide1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DAY 3 · GATEWAY API</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Gateway API: GatewayClass, Gateway, HTTPRoute (GA in v1.28, tested in CKA 2026)</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64208"/>
            <a:ext cx="169164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09928"/>
            <a:ext cx="1691640" cy="365760"/>
          </a:xfrm>
          <a:prstGeom prst="rect">
            <a:avLst/>
          </a:prstGeom>
          <a:noFill/>
        </p:spPr>
        <p:txBody>
          <a:bodyPr wrap="square" anchor="t" lIns="0" rIns="0" tIns="0" bIns="0">
            <a:spAutoFit/>
          </a:bodyPr>
          <a:lstStyle/>
          <a:p>
            <a:pPr algn="ctr">
              <a:spcBef>
                <a:spcPts val="0"/>
              </a:spcBef>
              <a:spcAft>
                <a:spcPts val="400"/>
              </a:spcAft>
            </a:pPr>
            <a:r>
              <a:rPr sz="1600" b="1">
                <a:solidFill>
                  <a:srgbClr val="FFFFFF"/>
                </a:solidFill>
                <a:latin typeface="Arial"/>
              </a:rPr>
              <a:t>LAB 20</a:t>
            </a:r>
          </a:p>
        </p:txBody>
      </p:sp>
      <p:sp>
        <p:nvSpPr>
          <p:cNvPr id="9" name="TextBox 8"/>
          <p:cNvSpPr txBox="1"/>
          <p:nvPr/>
        </p:nvSpPr>
        <p:spPr>
          <a:xfrm>
            <a:off x="2697480" y="1691640"/>
            <a:ext cx="8778240" cy="411480"/>
          </a:xfrm>
          <a:prstGeom prst="rect">
            <a:avLst/>
          </a:prstGeom>
          <a:noFill/>
        </p:spPr>
        <p:txBody>
          <a:bodyPr wrap="square" anchor="ctr" lIns="0" rIns="0" tIns="0" bIns="0">
            <a:spAutoFit/>
          </a:bodyPr>
          <a:lstStyle/>
          <a:p>
            <a:pPr algn="l">
              <a:spcBef>
                <a:spcPts val="0"/>
              </a:spcBef>
              <a:spcAft>
                <a:spcPts val="400"/>
              </a:spcAft>
            </a:pPr>
            <a:r>
              <a:rPr sz="1400" b="1">
                <a:solidFill>
                  <a:srgbClr val="5B6372"/>
                </a:solidFill>
                <a:latin typeface="Arial"/>
              </a:rPr>
              <a:t>Gateway API</a:t>
            </a:r>
          </a:p>
        </p:txBody>
      </p:sp>
      <p:sp>
        <p:nvSpPr>
          <p:cNvPr id="10" name="TextBox 9"/>
          <p:cNvSpPr txBox="1"/>
          <p:nvPr/>
        </p:nvSpPr>
        <p:spPr>
          <a:xfrm>
            <a:off x="777240" y="2286000"/>
            <a:ext cx="10698480" cy="1554480"/>
          </a:xfrm>
          <a:prstGeom prst="rect">
            <a:avLst/>
          </a:prstGeom>
          <a:noFill/>
        </p:spPr>
        <p:txBody>
          <a:bodyPr wrap="square" anchor="t" lIns="0" rIns="0" tIns="0" bIns="0">
            <a:spAutoFit/>
          </a:bodyPr>
          <a:lstStyle/>
          <a:p>
            <a:pPr algn="l">
              <a:spcBef>
                <a:spcPts val="0"/>
              </a:spcBef>
              <a:spcAft>
                <a:spcPts val="400"/>
              </a:spcAft>
            </a:pPr>
            <a:r>
              <a:rPr sz="1900" b="0">
                <a:solidFill>
                  <a:srgbClr val="161B26"/>
                </a:solidFill>
                <a:latin typeface="Arial"/>
              </a:rPr>
              <a:t>Use the Kubernetes Gateway API (GA as of v1.28, tested in CKA 2026) to route traffic using GatewayClass, Gateway, and HTTPRoute objects. Gateway API is role-oriented: infrastructure providers manage GatewayClass/Gateway; developers manage HTTPRoutes.</a:t>
            </a:r>
          </a:p>
        </p:txBody>
      </p:sp>
      <p:sp>
        <p:nvSpPr>
          <p:cNvPr id="11" name="Rounded Rectangle 10"/>
          <p:cNvSpPr/>
          <p:nvPr/>
        </p:nvSpPr>
        <p:spPr>
          <a:xfrm>
            <a:off x="777240" y="4069080"/>
            <a:ext cx="10698480" cy="1783080"/>
          </a:xfrm>
          <a:prstGeom prst="roundRect">
            <a:avLst>
              <a:gd name="adj" fmla="val 5000"/>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05840" y="4251960"/>
            <a:ext cx="10058400" cy="365760"/>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You'll build</a:t>
            </a:r>
          </a:p>
        </p:txBody>
      </p:sp>
      <p:sp>
        <p:nvSpPr>
          <p:cNvPr id="13" name="TextBox 12"/>
          <p:cNvSpPr txBox="1"/>
          <p:nvPr/>
        </p:nvSpPr>
        <p:spPr>
          <a:xfrm>
            <a:off x="1005840" y="4617720"/>
            <a:ext cx="10241280" cy="640080"/>
          </a:xfrm>
          <a:prstGeom prst="rect">
            <a:avLst/>
          </a:prstGeom>
          <a:noFill/>
        </p:spPr>
        <p:txBody>
          <a:bodyPr wrap="square" anchor="t" lIns="0" rIns="0" tIns="0" bIns="0">
            <a:spAutoFit/>
          </a:bodyPr>
          <a:lstStyle/>
          <a:p>
            <a:pPr algn="l">
              <a:spcBef>
                <a:spcPts val="0"/>
              </a:spcBef>
              <a:spcAft>
                <a:spcPts val="400"/>
              </a:spcAft>
            </a:pPr>
            <a:r>
              <a:rPr sz="1700" b="1">
                <a:solidFill>
                  <a:srgbClr val="161B26"/>
                </a:solidFill>
                <a:latin typeface="Arial"/>
              </a:rPr>
              <a:t>Install Gateway API CRDs and NGINX Gateway Fabric, create GatewayClass and Gateway, define HTTPRoutes with path-based routing.</a:t>
            </a:r>
          </a:p>
        </p:txBody>
      </p:sp>
      <p:sp>
        <p:nvSpPr>
          <p:cNvPr id="14" name="TextBox 13"/>
          <p:cNvSpPr txBox="1"/>
          <p:nvPr/>
        </p:nvSpPr>
        <p:spPr>
          <a:xfrm>
            <a:off x="1005840" y="5349240"/>
            <a:ext cx="10058400" cy="457200"/>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Key commands:  </a:t>
            </a:r>
            <a:r>
              <a:rPr sz="1300" b="0">
                <a:solidFill>
                  <a:srgbClr val="5B6372"/>
                </a:solidFill>
                <a:latin typeface="Arial"/>
              </a:rPr>
              <a:t>kubectl apply · cat &lt;&lt;'EOF' · » Three</a:t>
            </a:r>
          </a:p>
        </p:txBody>
      </p:sp>
      <p:sp>
        <p:nvSpPr>
          <p:cNvPr id="15" name="TextBox 14"/>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6" name="TextBox 15"/>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7" name="TextBox 16"/>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178</a:t>
            </a:r>
          </a:p>
        </p:txBody>
      </p:sp>
    </p:spTree>
  </p:cSld>
  <p:clrMapOvr>
    <a:masterClrMapping/>
  </p:clrMapOvr>
</p:sld>
</file>

<file path=ppt/slides/slide1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20  ·  COMMANDS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Gateway API: GatewayClass, Gateway, HTTPRoute (GA in v1.28, tested in CKA 2026)</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91640"/>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Step 1 -- Install Gateway API CRDs</a:t>
            </a:r>
          </a:p>
        </p:txBody>
      </p:sp>
      <p:sp>
        <p:nvSpPr>
          <p:cNvPr id="8" name="Rounded Rectangle 7"/>
          <p:cNvSpPr/>
          <p:nvPr/>
        </p:nvSpPr>
        <p:spPr>
          <a:xfrm>
            <a:off x="777240" y="2075688"/>
            <a:ext cx="10652760" cy="521207"/>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075688"/>
            <a:ext cx="82296" cy="521207"/>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6" y="2139696"/>
            <a:ext cx="10323576" cy="429767"/>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kubectl apply -f https://github.com/kubernetes-sigs/gateway-api/releases/download/v1.1.0/standard-install.yaml</a:t>
            </a:r>
          </a:p>
          <a:p>
            <a:pPr>
              <a:spcBef>
                <a:spcPts val="0"/>
              </a:spcBef>
              <a:spcAft>
                <a:spcPts val="0"/>
              </a:spcAft>
            </a:pPr>
            <a:r>
              <a:rPr sz="1050">
                <a:solidFill>
                  <a:srgbClr val="161B26"/>
                </a:solidFill>
                <a:latin typeface="Consolas"/>
              </a:rPr>
              <a:t>kubectl get crds | grep gateway</a:t>
            </a:r>
          </a:p>
        </p:txBody>
      </p:sp>
      <p:sp>
        <p:nvSpPr>
          <p:cNvPr id="11" name="TextBox 10"/>
          <p:cNvSpPr txBox="1"/>
          <p:nvPr/>
        </p:nvSpPr>
        <p:spPr>
          <a:xfrm>
            <a:off x="777240" y="2779775"/>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Step 2 -- Install NGINX Gateway Fabric</a:t>
            </a:r>
          </a:p>
        </p:txBody>
      </p:sp>
      <p:sp>
        <p:nvSpPr>
          <p:cNvPr id="12" name="Rounded Rectangle 11"/>
          <p:cNvSpPr/>
          <p:nvPr/>
        </p:nvSpPr>
        <p:spPr>
          <a:xfrm>
            <a:off x="777240" y="3163823"/>
            <a:ext cx="10652760" cy="521207"/>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3163823"/>
            <a:ext cx="82296" cy="521207"/>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3227831"/>
            <a:ext cx="10323576" cy="429767"/>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kubectl apply -f https://raw.githubusercontent.com/nginxinc/nginx-gateway-fabric/v1.4.0/deploy/crds.yaml</a:t>
            </a:r>
          </a:p>
          <a:p>
            <a:pPr>
              <a:spcBef>
                <a:spcPts val="0"/>
              </a:spcBef>
              <a:spcAft>
                <a:spcPts val="0"/>
              </a:spcAft>
            </a:pPr>
            <a:r>
              <a:rPr sz="1050">
                <a:solidFill>
                  <a:srgbClr val="161B26"/>
                </a:solidFill>
                <a:latin typeface="Consolas"/>
              </a:rPr>
              <a:t>kubectl apply -f https://raw.githubusercontent.com/nginxinc/nginx-gateway-fabric/v1.4.0/deploy/manifests/nginx-gateway.yaml</a:t>
            </a:r>
          </a:p>
        </p:txBody>
      </p:sp>
      <p:sp>
        <p:nvSpPr>
          <p:cNvPr id="15" name="TextBox 14"/>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6" name="TextBox 15"/>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7" name="TextBox 16"/>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179</a:t>
            </a:r>
          </a:p>
        </p:txBody>
      </p:sp>
    </p:spTree>
  </p:cSld>
  <p:clrMapOvr>
    <a:masterClrMapping/>
  </p:clrMapOvr>
</p:sld>
</file>

<file path=ppt/slides/slide1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20  ·  COMMANDS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Gateway API: GatewayClass, Gateway, HTTPRoute (GA in v1.28, tested in CKA 2026) (cont.)</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91640"/>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Step 3 -- Create GatewayClass and Gateway</a:t>
            </a:r>
          </a:p>
        </p:txBody>
      </p:sp>
      <p:sp>
        <p:nvSpPr>
          <p:cNvPr id="8" name="Rounded Rectangle 7"/>
          <p:cNvSpPr/>
          <p:nvPr/>
        </p:nvSpPr>
        <p:spPr>
          <a:xfrm>
            <a:off x="777240" y="2075688"/>
            <a:ext cx="10652760" cy="3707891"/>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075688"/>
            <a:ext cx="82296" cy="3707891"/>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6" y="2139696"/>
            <a:ext cx="10323576" cy="3616451"/>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cat &lt;&lt;'EOF' | kubectl apply -f -</a:t>
            </a:r>
          </a:p>
          <a:p>
            <a:pPr>
              <a:spcBef>
                <a:spcPts val="0"/>
              </a:spcBef>
              <a:spcAft>
                <a:spcPts val="0"/>
              </a:spcAft>
            </a:pPr>
            <a:r>
              <a:rPr sz="1050">
                <a:solidFill>
                  <a:srgbClr val="161B26"/>
                </a:solidFill>
                <a:latin typeface="Consolas"/>
              </a:rPr>
              <a:t>apiVersion: gateway.networking.k8s.io/v1</a:t>
            </a:r>
          </a:p>
          <a:p>
            <a:pPr>
              <a:spcBef>
                <a:spcPts val="0"/>
              </a:spcBef>
              <a:spcAft>
                <a:spcPts val="0"/>
              </a:spcAft>
            </a:pPr>
            <a:r>
              <a:rPr sz="1050">
                <a:solidFill>
                  <a:srgbClr val="161B26"/>
                </a:solidFill>
                <a:latin typeface="Consolas"/>
              </a:rPr>
              <a:t>kind: GatewayClass</a:t>
            </a:r>
          </a:p>
          <a:p>
            <a:pPr>
              <a:spcBef>
                <a:spcPts val="0"/>
              </a:spcBef>
              <a:spcAft>
                <a:spcPts val="0"/>
              </a:spcAft>
            </a:pPr>
            <a:r>
              <a:rPr sz="1050">
                <a:solidFill>
                  <a:srgbClr val="161B26"/>
                </a:solidFill>
                <a:latin typeface="Consolas"/>
              </a:rPr>
              <a:t>metadata:</a:t>
            </a:r>
          </a:p>
          <a:p>
            <a:pPr>
              <a:spcBef>
                <a:spcPts val="0"/>
              </a:spcBef>
              <a:spcAft>
                <a:spcPts val="0"/>
              </a:spcAft>
            </a:pPr>
            <a:r>
              <a:rPr sz="1050">
                <a:solidFill>
                  <a:srgbClr val="161B26"/>
                </a:solidFill>
                <a:latin typeface="Consolas"/>
              </a:rPr>
              <a:t>  name: nginx</a:t>
            </a:r>
          </a:p>
          <a:p>
            <a:pPr>
              <a:spcBef>
                <a:spcPts val="0"/>
              </a:spcBef>
              <a:spcAft>
                <a:spcPts val="0"/>
              </a:spcAft>
            </a:pPr>
            <a:r>
              <a:rPr sz="1050">
                <a:solidFill>
                  <a:srgbClr val="161B26"/>
                </a:solidFill>
                <a:latin typeface="Consolas"/>
              </a:rPr>
              <a:t>spec:</a:t>
            </a:r>
          </a:p>
          <a:p>
            <a:pPr>
              <a:spcBef>
                <a:spcPts val="0"/>
              </a:spcBef>
              <a:spcAft>
                <a:spcPts val="0"/>
              </a:spcAft>
            </a:pPr>
            <a:r>
              <a:rPr sz="1050">
                <a:solidFill>
                  <a:srgbClr val="161B26"/>
                </a:solidFill>
                <a:latin typeface="Consolas"/>
              </a:rPr>
              <a:t>  controllerName: gateway.nginx.org/nginx-gateway-controller</a:t>
            </a:r>
          </a:p>
          <a:p>
            <a:pPr>
              <a:spcBef>
                <a:spcPts val="0"/>
              </a:spcBef>
              <a:spcAft>
                <a:spcPts val="0"/>
              </a:spcAft>
            </a:pPr>
            <a:r>
              <a:rPr sz="1050">
                <a:solidFill>
                  <a:srgbClr val="161B26"/>
                </a:solidFill>
                <a:latin typeface="Consolas"/>
              </a:rPr>
              <a:t>---</a:t>
            </a:r>
          </a:p>
          <a:p>
            <a:pPr>
              <a:spcBef>
                <a:spcPts val="0"/>
              </a:spcBef>
              <a:spcAft>
                <a:spcPts val="0"/>
              </a:spcAft>
            </a:pPr>
            <a:r>
              <a:rPr sz="1050">
                <a:solidFill>
                  <a:srgbClr val="161B26"/>
                </a:solidFill>
                <a:latin typeface="Consolas"/>
              </a:rPr>
              <a:t>apiVersion: gateway.networking.k8s.io/v1</a:t>
            </a:r>
          </a:p>
          <a:p>
            <a:pPr>
              <a:spcBef>
                <a:spcPts val="0"/>
              </a:spcBef>
              <a:spcAft>
                <a:spcPts val="0"/>
              </a:spcAft>
            </a:pPr>
            <a:r>
              <a:rPr sz="1050">
                <a:solidFill>
                  <a:srgbClr val="161B26"/>
                </a:solidFill>
                <a:latin typeface="Consolas"/>
              </a:rPr>
              <a:t>kind: Gateway</a:t>
            </a:r>
          </a:p>
          <a:p>
            <a:pPr>
              <a:spcBef>
                <a:spcPts val="0"/>
              </a:spcBef>
              <a:spcAft>
                <a:spcPts val="0"/>
              </a:spcAft>
            </a:pPr>
            <a:r>
              <a:rPr sz="1050">
                <a:solidFill>
                  <a:srgbClr val="161B26"/>
                </a:solidFill>
                <a:latin typeface="Consolas"/>
              </a:rPr>
              <a:t>metadata:</a:t>
            </a:r>
          </a:p>
          <a:p>
            <a:pPr>
              <a:spcBef>
                <a:spcPts val="0"/>
              </a:spcBef>
              <a:spcAft>
                <a:spcPts val="0"/>
              </a:spcAft>
            </a:pPr>
            <a:r>
              <a:rPr sz="1050">
                <a:solidFill>
                  <a:srgbClr val="161B26"/>
                </a:solidFill>
                <a:latin typeface="Consolas"/>
              </a:rPr>
              <a:t>  name: main-gateway</a:t>
            </a:r>
          </a:p>
          <a:p>
            <a:pPr>
              <a:spcBef>
                <a:spcPts val="0"/>
              </a:spcBef>
              <a:spcAft>
                <a:spcPts val="0"/>
              </a:spcAft>
            </a:pPr>
            <a:r>
              <a:rPr sz="1050">
                <a:solidFill>
                  <a:srgbClr val="161B26"/>
                </a:solidFill>
                <a:latin typeface="Consolas"/>
              </a:rPr>
              <a:t>spec:</a:t>
            </a:r>
          </a:p>
          <a:p>
            <a:pPr>
              <a:spcBef>
                <a:spcPts val="0"/>
              </a:spcBef>
              <a:spcAft>
                <a:spcPts val="0"/>
              </a:spcAft>
            </a:pPr>
            <a:r>
              <a:rPr sz="1050">
                <a:solidFill>
                  <a:srgbClr val="161B26"/>
                </a:solidFill>
                <a:latin typeface="Consolas"/>
              </a:rPr>
              <a:t>  gatewayClassName: nginx</a:t>
            </a:r>
          </a:p>
          <a:p>
            <a:pPr>
              <a:spcBef>
                <a:spcPts val="0"/>
              </a:spcBef>
              <a:spcAft>
                <a:spcPts val="0"/>
              </a:spcAft>
            </a:pPr>
            <a:r>
              <a:rPr sz="1050">
                <a:solidFill>
                  <a:srgbClr val="161B26"/>
                </a:solidFill>
                <a:latin typeface="Consolas"/>
              </a:rPr>
              <a:t>  listeners:</a:t>
            </a:r>
          </a:p>
          <a:p>
            <a:pPr>
              <a:spcBef>
                <a:spcPts val="0"/>
              </a:spcBef>
              <a:spcAft>
                <a:spcPts val="0"/>
              </a:spcAft>
            </a:pPr>
            <a:r>
              <a:rPr sz="1050">
                <a:solidFill>
                  <a:srgbClr val="161B26"/>
                </a:solidFill>
                <a:latin typeface="Consolas"/>
              </a:rPr>
              <a:t>  - name: http</a:t>
            </a:r>
          </a:p>
          <a:p>
            <a:pPr>
              <a:spcBef>
                <a:spcPts val="0"/>
              </a:spcBef>
              <a:spcAft>
                <a:spcPts val="0"/>
              </a:spcAft>
            </a:pPr>
            <a:r>
              <a:rPr sz="1050">
                <a:solidFill>
                  <a:srgbClr val="161B26"/>
                </a:solidFill>
                <a:latin typeface="Consolas"/>
              </a:rPr>
              <a:t>    port: 80</a:t>
            </a:r>
          </a:p>
          <a:p>
            <a:pPr>
              <a:spcBef>
                <a:spcPts val="0"/>
              </a:spcBef>
              <a:spcAft>
                <a:spcPts val="0"/>
              </a:spcAft>
            </a:pPr>
            <a:r>
              <a:rPr sz="1050">
                <a:solidFill>
                  <a:srgbClr val="161B26"/>
                </a:solidFill>
                <a:latin typeface="Consolas"/>
              </a:rPr>
              <a:t>    protocol: HTTP</a:t>
            </a:r>
          </a:p>
          <a:p>
            <a:pPr>
              <a:spcBef>
                <a:spcPts val="0"/>
              </a:spcBef>
              <a:spcAft>
                <a:spcPts val="0"/>
              </a:spcAft>
            </a:pPr>
            <a:r>
              <a:rPr sz="1050">
                <a:solidFill>
                  <a:srgbClr val="161B26"/>
                </a:solidFill>
                <a:latin typeface="Consolas"/>
              </a:rPr>
              <a:t>EOF</a:t>
            </a:r>
          </a:p>
        </p:txBody>
      </p:sp>
      <p:sp>
        <p:nvSpPr>
          <p:cNvPr id="11" name="TextBox 10"/>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180</a:t>
            </a:r>
          </a:p>
        </p:txBody>
      </p:sp>
    </p:spTree>
  </p:cSld>
  <p:clrMapOvr>
    <a:masterClrMapping/>
  </p:clrMapOvr>
</p:sld>
</file>

<file path=ppt/slides/slide1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20  ·  COMMANDS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Gateway API: GatewayClass, Gateway, HTTPRoute (GA in v1.28, tested in CKA 2026) (cont.)</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91640"/>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Step 4 -- Create HTTPRoute</a:t>
            </a:r>
          </a:p>
        </p:txBody>
      </p:sp>
      <p:sp>
        <p:nvSpPr>
          <p:cNvPr id="8" name="Rounded Rectangle 7"/>
          <p:cNvSpPr/>
          <p:nvPr/>
        </p:nvSpPr>
        <p:spPr>
          <a:xfrm>
            <a:off x="777240" y="2075688"/>
            <a:ext cx="10652760" cy="3332988"/>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075688"/>
            <a:ext cx="82296" cy="33329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6" y="2139696"/>
            <a:ext cx="10323576" cy="3241548"/>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cat &lt;&lt;'EOF' | kubectl apply -f -</a:t>
            </a:r>
          </a:p>
          <a:p>
            <a:pPr>
              <a:spcBef>
                <a:spcPts val="0"/>
              </a:spcBef>
              <a:spcAft>
                <a:spcPts val="0"/>
              </a:spcAft>
            </a:pPr>
            <a:r>
              <a:rPr sz="1050">
                <a:solidFill>
                  <a:srgbClr val="161B26"/>
                </a:solidFill>
                <a:latin typeface="Consolas"/>
              </a:rPr>
              <a:t>apiVersion: gateway.networking.k8s.io/v1</a:t>
            </a:r>
          </a:p>
          <a:p>
            <a:pPr>
              <a:spcBef>
                <a:spcPts val="0"/>
              </a:spcBef>
              <a:spcAft>
                <a:spcPts val="0"/>
              </a:spcAft>
            </a:pPr>
            <a:r>
              <a:rPr sz="1050">
                <a:solidFill>
                  <a:srgbClr val="161B26"/>
                </a:solidFill>
                <a:latin typeface="Consolas"/>
              </a:rPr>
              <a:t>kind: HTTPRoute</a:t>
            </a:r>
          </a:p>
          <a:p>
            <a:pPr>
              <a:spcBef>
                <a:spcPts val="0"/>
              </a:spcBef>
              <a:spcAft>
                <a:spcPts val="0"/>
              </a:spcAft>
            </a:pPr>
            <a:r>
              <a:rPr sz="1050">
                <a:solidFill>
                  <a:srgbClr val="161B26"/>
                </a:solidFill>
                <a:latin typeface="Consolas"/>
              </a:rPr>
              <a:t>metadata:</a:t>
            </a:r>
          </a:p>
          <a:p>
            <a:pPr>
              <a:spcBef>
                <a:spcPts val="0"/>
              </a:spcBef>
              <a:spcAft>
                <a:spcPts val="0"/>
              </a:spcAft>
            </a:pPr>
            <a:r>
              <a:rPr sz="1050">
                <a:solidFill>
                  <a:srgbClr val="161B26"/>
                </a:solidFill>
                <a:latin typeface="Consolas"/>
              </a:rPr>
              <a:t>  name: app-route</a:t>
            </a:r>
          </a:p>
          <a:p>
            <a:pPr>
              <a:spcBef>
                <a:spcPts val="0"/>
              </a:spcBef>
              <a:spcAft>
                <a:spcPts val="0"/>
              </a:spcAft>
            </a:pPr>
            <a:r>
              <a:rPr sz="1050">
                <a:solidFill>
                  <a:srgbClr val="161B26"/>
                </a:solidFill>
                <a:latin typeface="Consolas"/>
              </a:rPr>
              <a:t>spec:</a:t>
            </a:r>
          </a:p>
          <a:p>
            <a:pPr>
              <a:spcBef>
                <a:spcPts val="0"/>
              </a:spcBef>
              <a:spcAft>
                <a:spcPts val="0"/>
              </a:spcAft>
            </a:pPr>
            <a:r>
              <a:rPr sz="1050">
                <a:solidFill>
                  <a:srgbClr val="161B26"/>
                </a:solidFill>
                <a:latin typeface="Consolas"/>
              </a:rPr>
              <a:t>  parentRefs:</a:t>
            </a:r>
          </a:p>
          <a:p>
            <a:pPr>
              <a:spcBef>
                <a:spcPts val="0"/>
              </a:spcBef>
              <a:spcAft>
                <a:spcPts val="0"/>
              </a:spcAft>
            </a:pPr>
            <a:r>
              <a:rPr sz="1050">
                <a:solidFill>
                  <a:srgbClr val="161B26"/>
                </a:solidFill>
                <a:latin typeface="Consolas"/>
              </a:rPr>
              <a:t>  - name: main-gateway</a:t>
            </a:r>
          </a:p>
          <a:p>
            <a:pPr>
              <a:spcBef>
                <a:spcPts val="0"/>
              </a:spcBef>
              <a:spcAft>
                <a:spcPts val="0"/>
              </a:spcAft>
            </a:pPr>
            <a:r>
              <a:rPr sz="1050">
                <a:solidFill>
                  <a:srgbClr val="161B26"/>
                </a:solidFill>
                <a:latin typeface="Consolas"/>
              </a:rPr>
              <a:t>  rules:</a:t>
            </a:r>
          </a:p>
          <a:p>
            <a:pPr>
              <a:spcBef>
                <a:spcPts val="0"/>
              </a:spcBef>
              <a:spcAft>
                <a:spcPts val="0"/>
              </a:spcAft>
            </a:pPr>
            <a:r>
              <a:rPr sz="1050">
                <a:solidFill>
                  <a:srgbClr val="161B26"/>
                </a:solidFill>
                <a:latin typeface="Consolas"/>
              </a:rPr>
              <a:t>  - matches:</a:t>
            </a:r>
          </a:p>
          <a:p>
            <a:pPr>
              <a:spcBef>
                <a:spcPts val="0"/>
              </a:spcBef>
              <a:spcAft>
                <a:spcPts val="0"/>
              </a:spcAft>
            </a:pPr>
            <a:r>
              <a:rPr sz="1050">
                <a:solidFill>
                  <a:srgbClr val="161B26"/>
                </a:solidFill>
                <a:latin typeface="Consolas"/>
              </a:rPr>
              <a:t>    - path:</a:t>
            </a:r>
          </a:p>
          <a:p>
            <a:pPr>
              <a:spcBef>
                <a:spcPts val="0"/>
              </a:spcBef>
              <a:spcAft>
                <a:spcPts val="0"/>
              </a:spcAft>
            </a:pPr>
            <a:r>
              <a:rPr sz="1050">
                <a:solidFill>
                  <a:srgbClr val="161B26"/>
                </a:solidFill>
                <a:latin typeface="Consolas"/>
              </a:rPr>
              <a:t>        type: PathPrefix</a:t>
            </a:r>
          </a:p>
          <a:p>
            <a:pPr>
              <a:spcBef>
                <a:spcPts val="0"/>
              </a:spcBef>
              <a:spcAft>
                <a:spcPts val="0"/>
              </a:spcAft>
            </a:pPr>
            <a:r>
              <a:rPr sz="1050">
                <a:solidFill>
                  <a:srgbClr val="161B26"/>
                </a:solidFill>
                <a:latin typeface="Consolas"/>
              </a:rPr>
              <a:t>        value: /api</a:t>
            </a:r>
          </a:p>
          <a:p>
            <a:pPr>
              <a:spcBef>
                <a:spcPts val="0"/>
              </a:spcBef>
              <a:spcAft>
                <a:spcPts val="0"/>
              </a:spcAft>
            </a:pPr>
            <a:r>
              <a:rPr sz="1050">
                <a:solidFill>
                  <a:srgbClr val="161B26"/>
                </a:solidFill>
                <a:latin typeface="Consolas"/>
              </a:rPr>
              <a:t>    backendRefs:</a:t>
            </a:r>
          </a:p>
          <a:p>
            <a:pPr>
              <a:spcBef>
                <a:spcPts val="0"/>
              </a:spcBef>
              <a:spcAft>
                <a:spcPts val="0"/>
              </a:spcAft>
            </a:pPr>
            <a:r>
              <a:rPr sz="1050">
                <a:solidFill>
                  <a:srgbClr val="161B26"/>
                </a:solidFill>
                <a:latin typeface="Consolas"/>
              </a:rPr>
              <a:t>    - name: api-svc</a:t>
            </a:r>
          </a:p>
          <a:p>
            <a:pPr>
              <a:spcBef>
                <a:spcPts val="0"/>
              </a:spcBef>
              <a:spcAft>
                <a:spcPts val="0"/>
              </a:spcAft>
            </a:pPr>
            <a:r>
              <a:rPr sz="1050">
                <a:solidFill>
                  <a:srgbClr val="161B26"/>
                </a:solidFill>
                <a:latin typeface="Consolas"/>
              </a:rPr>
              <a:t>      port: 80</a:t>
            </a:r>
          </a:p>
          <a:p>
            <a:pPr>
              <a:spcBef>
                <a:spcPts val="0"/>
              </a:spcBef>
              <a:spcAft>
                <a:spcPts val="0"/>
              </a:spcAft>
            </a:pPr>
            <a:r>
              <a:rPr sz="1050">
                <a:solidFill>
                  <a:srgbClr val="161B26"/>
                </a:solidFill>
                <a:latin typeface="Consolas"/>
              </a:rPr>
              <a:t>EOF</a:t>
            </a:r>
          </a:p>
        </p:txBody>
      </p:sp>
      <p:sp>
        <p:nvSpPr>
          <p:cNvPr id="11" name="TextBox 10"/>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181</a:t>
            </a:r>
          </a:p>
        </p:txBody>
      </p:sp>
    </p:spTree>
  </p:cSld>
  <p:clrMapOvr>
    <a:masterClrMapping/>
  </p:clrMapOvr>
</p:sld>
</file>

<file path=ppt/slides/slide1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20  ·  COMMANDS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Gateway API: GatewayClass, Gateway, HTTPRoute (GA in v1.28, tested in CKA 2026) (cont.)</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91640"/>
            <a:ext cx="10652760" cy="310896"/>
          </a:xfrm>
          <a:prstGeom prst="rect">
            <a:avLst/>
          </a:prstGeom>
          <a:noFill/>
        </p:spPr>
        <p:txBody>
          <a:bodyPr wrap="square" anchor="t" lIns="0" rIns="0" tIns="0" bIns="0">
            <a:spAutoFit/>
          </a:bodyPr>
          <a:lstStyle/>
          <a:p>
            <a:pPr algn="l">
              <a:spcBef>
                <a:spcPts val="0"/>
              </a:spcBef>
              <a:spcAft>
                <a:spcPts val="400"/>
              </a:spcAft>
            </a:pPr>
            <a:r>
              <a:rPr sz="1300" b="1">
                <a:solidFill>
                  <a:srgbClr val="F59E0B"/>
                </a:solidFill>
                <a:latin typeface="Arial"/>
              </a:rPr>
              <a:t>Note   </a:t>
            </a:r>
            <a:r>
              <a:rPr sz="1300" b="0">
                <a:solidFill>
                  <a:srgbClr val="5B6372"/>
                </a:solidFill>
                <a:latin typeface="Arial"/>
              </a:rPr>
              <a:t>Three core Gateway API objects: GatewayClass (infra tier), Gateway (cluster operator tier), HTTPRoute (developer tier). Role separation enables multi-tenant traffic management.</a:t>
            </a:r>
          </a:p>
        </p:txBody>
      </p:sp>
      <p:sp>
        <p:nvSpPr>
          <p:cNvPr id="8" name="TextBox 7"/>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9" name="TextBox 8"/>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182</a:t>
            </a:r>
          </a:p>
        </p:txBody>
      </p:sp>
    </p:spTree>
  </p:cSld>
  <p:clrMapOvr>
    <a:masterClrMapping/>
  </p:clrMapOvr>
</p:sld>
</file>

<file path=ppt/slides/slide1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20  ·  TEST IT</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Gateway API: GatewayClass, Gateway, HTTPRoute (GA in v1.28, tested in CKA 2026)</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03120"/>
            <a:ext cx="10698480" cy="2560320"/>
          </a:xfrm>
          <a:prstGeom prst="roundRect">
            <a:avLst>
              <a:gd name="adj" fmla="val 5000"/>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lIns="0" rIns="0" tIns="0" bIns="0">
            <a:spAutoFit/>
          </a:bodyPr>
          <a:lstStyle/>
          <a:p>
            <a:pPr algn="l">
              <a:spcBef>
                <a:spcPts val="0"/>
              </a:spcBef>
              <a:spcAft>
                <a:spcPts val="400"/>
              </a:spcAft>
            </a:pPr>
            <a:r>
              <a:rPr sz="2200" b="1">
                <a:solidFill>
                  <a:srgbClr val="127A3E"/>
                </a:solidFill>
                <a:latin typeface="Arial"/>
              </a:rPr>
              <a:t>✅  Test it</a:t>
            </a:r>
          </a:p>
        </p:txBody>
      </p:sp>
      <p:sp>
        <p:nvSpPr>
          <p:cNvPr id="9" name="TextBox 8"/>
          <p:cNvSpPr txBox="1"/>
          <p:nvPr/>
        </p:nvSpPr>
        <p:spPr>
          <a:xfrm>
            <a:off x="1097280" y="3017520"/>
            <a:ext cx="10149840" cy="1463040"/>
          </a:xfrm>
          <a:prstGeom prst="rect">
            <a:avLst/>
          </a:prstGeom>
          <a:noFill/>
        </p:spPr>
        <p:txBody>
          <a:bodyPr wrap="square" anchor="t" lIns="0" rIns="0" tIns="0" bIns="0">
            <a:spAutoFit/>
          </a:bodyPr>
          <a:lstStyle/>
          <a:p>
            <a:pPr algn="l">
              <a:spcBef>
                <a:spcPts val="0"/>
              </a:spcBef>
              <a:spcAft>
                <a:spcPts val="400"/>
              </a:spcAft>
            </a:pPr>
            <a:r>
              <a:rPr sz="1800" b="0">
                <a:solidFill>
                  <a:srgbClr val="161B26"/>
                </a:solidFill>
                <a:latin typeface="Arial"/>
              </a:rPr>
              <a:t>kubectl get gatewayclass shows nginx as Accepted. kubectl get gateway shows Programmed=True. HTTP request to /api path routes to api-svc backend.</a:t>
            </a:r>
          </a:p>
        </p:txBody>
      </p:sp>
      <p:sp>
        <p:nvSpPr>
          <p:cNvPr id="10" name="TextBox 9"/>
          <p:cNvSpPr txBox="1"/>
          <p:nvPr/>
        </p:nvSpPr>
        <p:spPr>
          <a:xfrm>
            <a:off x="777240" y="4983480"/>
            <a:ext cx="10698480" cy="365760"/>
          </a:xfrm>
          <a:prstGeom prst="rect">
            <a:avLst/>
          </a:prstGeom>
          <a:noFill/>
        </p:spPr>
        <p:txBody>
          <a:bodyPr wrap="square" anchor="t" lIns="0" rIns="0" tIns="0" bIns="0">
            <a:spAutoFit/>
          </a:bodyPr>
          <a:lstStyle/>
          <a:p>
            <a:pPr algn="l">
              <a:spcBef>
                <a:spcPts val="0"/>
              </a:spcBef>
              <a:spcAft>
                <a:spcPts val="400"/>
              </a:spcAft>
            </a:pPr>
            <a:r>
              <a:rPr sz="1300" b="1">
                <a:solidFill>
                  <a:srgbClr val="10B981"/>
                </a:solidFill>
                <a:latin typeface="Arial"/>
              </a:rPr>
              <a:t>Killercoda:  </a:t>
            </a:r>
            <a:r>
              <a:rPr sz="1300" b="0">
                <a:solidFill>
                  <a:srgbClr val="5B6372"/>
                </a:solidFill>
                <a:latin typeface="Arial"/>
              </a:rPr>
              <a:t>https://killercoda.com/playgrounds/scenario/kubernetes</a:t>
            </a:r>
          </a:p>
        </p:txBody>
      </p:sp>
      <p:sp>
        <p:nvSpPr>
          <p:cNvPr id="11" name="TextBox 10"/>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183</a:t>
            </a:r>
          </a:p>
        </p:txBody>
      </p:sp>
    </p:spTree>
  </p:cSld>
  <p:clrMapOvr>
    <a:masterClrMapping/>
  </p:clrMapOvr>
</p:sld>
</file>

<file path=ppt/slides/slide1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56832"/>
            <a:ext cx="12191695" cy="2011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937760" y="2148840"/>
            <a:ext cx="2313432"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0" y="2514600"/>
            <a:ext cx="12191695" cy="1097280"/>
          </a:xfrm>
          <a:prstGeom prst="rect">
            <a:avLst/>
          </a:prstGeom>
          <a:noFill/>
        </p:spPr>
        <p:txBody>
          <a:bodyPr wrap="square" anchor="t" lIns="0" rIns="0" tIns="0" bIns="0">
            <a:spAutoFit/>
          </a:bodyPr>
          <a:lstStyle/>
          <a:p>
            <a:pPr algn="ctr">
              <a:spcBef>
                <a:spcPts val="0"/>
              </a:spcBef>
              <a:spcAft>
                <a:spcPts val="400"/>
              </a:spcAft>
            </a:pPr>
            <a:r>
              <a:rPr sz="4800" b="1">
                <a:solidFill>
                  <a:srgbClr val="161B26"/>
                </a:solidFill>
                <a:latin typeface="Arial"/>
              </a:rPr>
              <a:t>Tea Break</a:t>
            </a:r>
          </a:p>
        </p:txBody>
      </p:sp>
      <p:sp>
        <p:nvSpPr>
          <p:cNvPr id="7" name="TextBox 6"/>
          <p:cNvSpPr txBox="1"/>
          <p:nvPr/>
        </p:nvSpPr>
        <p:spPr>
          <a:xfrm>
            <a:off x="0" y="3703320"/>
            <a:ext cx="12191695" cy="731520"/>
          </a:xfrm>
          <a:prstGeom prst="rect">
            <a:avLst/>
          </a:prstGeom>
          <a:noFill/>
        </p:spPr>
        <p:txBody>
          <a:bodyPr wrap="square" anchor="t" lIns="0" rIns="0" tIns="0" bIns="0">
            <a:spAutoFit/>
          </a:bodyPr>
          <a:lstStyle/>
          <a:p>
            <a:pPr algn="ctr">
              <a:spcBef>
                <a:spcPts val="0"/>
              </a:spcBef>
              <a:spcAft>
                <a:spcPts val="400"/>
              </a:spcAft>
            </a:pPr>
            <a:r>
              <a:rPr sz="2200" b="1">
                <a:solidFill>
                  <a:srgbClr val="10B981"/>
                </a:solidFill>
                <a:latin typeface="Arial"/>
              </a:rPr>
              <a:t>15 minutes</a:t>
            </a:r>
          </a:p>
        </p:txBody>
      </p:sp>
    </p:spTree>
  </p:cSld>
  <p:clrMapOvr>
    <a:masterClrMapping/>
  </p:clrMapOvr>
</p:sld>
</file>

<file path=ppt/slides/slide1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lIns="0" rIns="0" tIns="0" bIns="0">
            <a:spAutoFit/>
          </a:bodyPr>
          <a:lstStyle/>
          <a:p>
            <a:pPr algn="l">
              <a:spcBef>
                <a:spcPts val="0"/>
              </a:spcBef>
              <a:spcAft>
                <a:spcPts val="400"/>
              </a:spcAft>
            </a:pPr>
            <a:r>
              <a:rPr sz="1800" b="1">
                <a:solidFill>
                  <a:srgbClr val="1F6FEB"/>
                </a:solidFill>
                <a:latin typeface="Arial"/>
              </a:rPr>
              <a:t>TOPIC 2</a:t>
            </a:r>
          </a:p>
        </p:txBody>
      </p:sp>
      <p:sp>
        <p:nvSpPr>
          <p:cNvPr id="6" name="TextBox 5"/>
          <p:cNvSpPr txBox="1"/>
          <p:nvPr/>
        </p:nvSpPr>
        <p:spPr>
          <a:xfrm>
            <a:off x="1143000" y="2743200"/>
            <a:ext cx="10424160" cy="1463040"/>
          </a:xfrm>
          <a:prstGeom prst="rect">
            <a:avLst/>
          </a:prstGeom>
          <a:noFill/>
        </p:spPr>
        <p:txBody>
          <a:bodyPr wrap="square" anchor="t" lIns="0" rIns="0" tIns="0" bIns="0">
            <a:spAutoFit/>
          </a:bodyPr>
          <a:lstStyle/>
          <a:p>
            <a:pPr algn="l">
              <a:spcBef>
                <a:spcPts val="0"/>
              </a:spcBef>
              <a:spcAft>
                <a:spcPts val="400"/>
              </a:spcAft>
            </a:pPr>
            <a:r>
              <a:rPr sz="4000" b="1">
                <a:solidFill>
                  <a:srgbClr val="161B26"/>
                </a:solidFill>
                <a:latin typeface="Arial"/>
              </a:rPr>
              <a:t>NetworkPolicy &amp; CoreDNS</a:t>
            </a:r>
          </a:p>
        </p:txBody>
      </p:sp>
      <p:sp>
        <p:nvSpPr>
          <p:cNvPr id="7" name="TextBox 6"/>
          <p:cNvSpPr txBox="1"/>
          <p:nvPr/>
        </p:nvSpPr>
        <p:spPr>
          <a:xfrm>
            <a:off x="1161288" y="4114800"/>
            <a:ext cx="10058400" cy="731520"/>
          </a:xfrm>
          <a:prstGeom prst="rect">
            <a:avLst/>
          </a:prstGeom>
          <a:noFill/>
        </p:spPr>
        <p:txBody>
          <a:bodyPr wrap="square" anchor="t" lIns="0" rIns="0" tIns="0" bIns="0">
            <a:spAutoFit/>
          </a:bodyPr>
          <a:lstStyle/>
          <a:p>
            <a:pPr algn="l">
              <a:spcBef>
                <a:spcPts val="0"/>
              </a:spcBef>
              <a:spcAft>
                <a:spcPts val="400"/>
              </a:spcAft>
            </a:pPr>
            <a:r>
              <a:rPr sz="1600" b="0">
                <a:solidFill>
                  <a:srgbClr val="5B6372"/>
                </a:solidFill>
                <a:latin typeface="Arial"/>
              </a:rPr>
              <a:t>Network isolation and in-cluster DNS</a:t>
            </a:r>
          </a:p>
        </p:txBody>
      </p:sp>
      <p:sp>
        <p:nvSpPr>
          <p:cNvPr id="8" name="TextBox 7"/>
          <p:cNvSpPr txBox="1"/>
          <p:nvPr/>
        </p:nvSpPr>
        <p:spPr>
          <a:xfrm>
            <a:off x="9418320" y="640080"/>
            <a:ext cx="2286000" cy="1463040"/>
          </a:xfrm>
          <a:prstGeom prst="rect">
            <a:avLst/>
          </a:prstGeom>
          <a:noFill/>
        </p:spPr>
        <p:txBody>
          <a:bodyPr wrap="square" anchor="t" lIns="0" rIns="0" tIns="0" bIns="0">
            <a:spAutoFit/>
          </a:bodyPr>
          <a:lstStyle/>
          <a:p>
            <a:pPr algn="r">
              <a:spcBef>
                <a:spcPts val="0"/>
              </a:spcBef>
              <a:spcAft>
                <a:spcPts val="400"/>
              </a:spcAft>
            </a:pPr>
            <a:r>
              <a:rPr sz="7200" b="1">
                <a:solidFill>
                  <a:srgbClr val="E2E8F0"/>
                </a:solidFill>
                <a:latin typeface="Arial"/>
              </a:rPr>
              <a:t/>
            </a:r>
          </a:p>
        </p:txBody>
      </p:sp>
      <p:sp>
        <p:nvSpPr>
          <p:cNvPr id="9" name="TextBox 8"/>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0" name="TextBox 9"/>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1" name="TextBox 10"/>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185</a:t>
            </a:r>
          </a:p>
        </p:txBody>
      </p:sp>
    </p:spTree>
  </p:cSld>
  <p:clrMapOvr>
    <a:masterClrMapping/>
  </p:clrMapOvr>
</p:sld>
</file>

<file path=ppt/slides/slide1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NETWORK ISOLATION</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NetworkPolicy — Allow-List Firewalling</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07040" cy="4480560"/>
          </a:xfrm>
          <a:prstGeom prst="rect">
            <a:avLst/>
          </a:prstGeom>
          <a:noFill/>
        </p:spPr>
        <p:txBody>
          <a:bodyPr wrap="square" lIns="0" rIns="0">
            <a:spAutoFit/>
          </a:bodyPr>
          <a:lstStyle/>
          <a:p>
            <a:pPr>
              <a:spcBef>
                <a:spcPts val="0"/>
              </a:spcBef>
              <a:spcAft>
                <a:spcPts val="1000"/>
              </a:spcAft>
            </a:pPr>
            <a:r>
              <a:rPr sz="1900" b="1">
                <a:solidFill>
                  <a:srgbClr val="1F6FEB"/>
                </a:solidFill>
                <a:latin typeface="Arial"/>
              </a:rPr>
              <a:t>•  </a:t>
            </a:r>
            <a:r>
              <a:rPr sz="1900">
                <a:solidFill>
                  <a:srgbClr val="161B26"/>
                </a:solidFill>
                <a:latin typeface="Arial"/>
              </a:rPr>
              <a:t>By default every pod can talk to every other pod — NetworkPolicies apply an allow-list.</a:t>
            </a:r>
          </a:p>
          <a:p>
            <a:pPr>
              <a:spcBef>
                <a:spcPts val="0"/>
              </a:spcBef>
              <a:spcAft>
                <a:spcPts val="1000"/>
              </a:spcAft>
            </a:pPr>
            <a:r>
              <a:rPr sz="1900" b="1">
                <a:solidFill>
                  <a:srgbClr val="1F6FEB"/>
                </a:solidFill>
                <a:latin typeface="Arial"/>
              </a:rPr>
              <a:t>•  </a:t>
            </a:r>
            <a:r>
              <a:rPr sz="1900">
                <a:solidFill>
                  <a:srgbClr val="161B26"/>
                </a:solidFill>
                <a:latin typeface="Arial"/>
              </a:rPr>
              <a:t>Default-deny: podSelector: {} with policyTypes: [Ingress] and no ingress rules blocks all inbound.</a:t>
            </a:r>
          </a:p>
          <a:p>
            <a:pPr>
              <a:spcBef>
                <a:spcPts val="0"/>
              </a:spcBef>
              <a:spcAft>
                <a:spcPts val="1000"/>
              </a:spcAft>
            </a:pPr>
            <a:r>
              <a:rPr sz="1900" b="1">
                <a:solidFill>
                  <a:srgbClr val="1F6FEB"/>
                </a:solidFill>
                <a:latin typeface="Arial"/>
              </a:rPr>
              <a:t>•  </a:t>
            </a:r>
            <a:r>
              <a:rPr sz="1900">
                <a:solidFill>
                  <a:srgbClr val="161B26"/>
                </a:solidFill>
                <a:latin typeface="Arial"/>
              </a:rPr>
              <a:t>Allow by podSelector (pod label match) or namespaceSelector (whole namespaces) in the from/to block.</a:t>
            </a:r>
          </a:p>
          <a:p>
            <a:pPr>
              <a:spcBef>
                <a:spcPts val="0"/>
              </a:spcBef>
              <a:spcAft>
                <a:spcPts val="1000"/>
              </a:spcAft>
            </a:pPr>
            <a:r>
              <a:rPr sz="1900" b="1">
                <a:solidFill>
                  <a:srgbClr val="1F6FEB"/>
                </a:solidFill>
                <a:latin typeface="Arial"/>
              </a:rPr>
              <a:t>•  </a:t>
            </a:r>
            <a:r>
              <a:rPr sz="1900">
                <a:solidFill>
                  <a:srgbClr val="161B26"/>
                </a:solidFill>
                <a:latin typeface="Arial"/>
              </a:rPr>
              <a:t>Policies are additive (OR): multiple policies that match the same pod combine their allow rules.</a:t>
            </a:r>
          </a:p>
        </p:txBody>
      </p:sp>
      <p:sp>
        <p:nvSpPr>
          <p:cNvPr id="8" name="TextBox 7"/>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9" name="TextBox 8"/>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186</a:t>
            </a:r>
          </a:p>
        </p:txBody>
      </p:sp>
    </p:spTree>
  </p:cSld>
  <p:clrMapOvr>
    <a:masterClrMapping/>
  </p:clrMapOvr>
</p:sld>
</file>

<file path=ppt/slides/slide1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DOMAIN 3  ·  POD FIREWALL</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NetworkPolicy — Default Deny + Allow</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1828800"/>
            <a:ext cx="4572000" cy="3474720"/>
          </a:xfrm>
          <a:prstGeom prst="roundRect">
            <a:avLst>
              <a:gd name="adj" fmla="val 5000"/>
            </a:avLst>
          </a:prstGeom>
          <a:solidFill>
            <a:srgbClr val="FCE9E9"/>
          </a:solidFill>
          <a:ln w="12700">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975104"/>
            <a:ext cx="4572000" cy="292608"/>
          </a:xfrm>
          <a:prstGeom prst="rect">
            <a:avLst/>
          </a:prstGeom>
          <a:noFill/>
        </p:spPr>
        <p:txBody>
          <a:bodyPr wrap="square" anchor="ctr" lIns="0" rIns="0" tIns="0" bIns="0">
            <a:spAutoFit/>
          </a:bodyPr>
          <a:lstStyle/>
          <a:p>
            <a:pPr algn="ctr">
              <a:spcBef>
                <a:spcPts val="0"/>
              </a:spcBef>
              <a:spcAft>
                <a:spcPts val="400"/>
              </a:spcAft>
            </a:pPr>
            <a:r>
              <a:rPr sz="1400" b="1">
                <a:solidFill>
                  <a:srgbClr val="DC2626"/>
                </a:solidFill>
                <a:latin typeface="Arial"/>
              </a:rPr>
              <a:t>Default Deny (all pods)</a:t>
            </a:r>
          </a:p>
        </p:txBody>
      </p:sp>
      <p:sp>
        <p:nvSpPr>
          <p:cNvPr id="9" name="TextBox 8"/>
          <p:cNvSpPr txBox="1"/>
          <p:nvPr/>
        </p:nvSpPr>
        <p:spPr>
          <a:xfrm>
            <a:off x="1051560" y="2468880"/>
            <a:ext cx="4023360" cy="548640"/>
          </a:xfrm>
          <a:prstGeom prst="rect">
            <a:avLst/>
          </a:prstGeom>
          <a:noFill/>
        </p:spPr>
        <p:txBody>
          <a:bodyPr wrap="square" anchor="t" lIns="0" rIns="0" tIns="0" bIns="0">
            <a:spAutoFit/>
          </a:bodyPr>
          <a:lstStyle/>
          <a:p>
            <a:pPr algn="l">
              <a:spcBef>
                <a:spcPts val="0"/>
              </a:spcBef>
              <a:spcAft>
                <a:spcPts val="400"/>
              </a:spcAft>
            </a:pPr>
            <a:r>
              <a:rPr sz="1200" b="0">
                <a:solidFill>
                  <a:srgbClr val="161B26"/>
                </a:solidFill>
                <a:latin typeface="Arial"/>
              </a:rPr>
              <a:t>podSelector: {} + policyTypes: [Ingress]</a:t>
            </a:r>
          </a:p>
        </p:txBody>
      </p:sp>
      <p:sp>
        <p:nvSpPr>
          <p:cNvPr id="10" name="TextBox 9"/>
          <p:cNvSpPr txBox="1"/>
          <p:nvPr/>
        </p:nvSpPr>
        <p:spPr>
          <a:xfrm>
            <a:off x="1051560" y="3017520"/>
            <a:ext cx="4023360" cy="548640"/>
          </a:xfrm>
          <a:prstGeom prst="rect">
            <a:avLst/>
          </a:prstGeom>
          <a:noFill/>
        </p:spPr>
        <p:txBody>
          <a:bodyPr wrap="square" anchor="t" lIns="0" rIns="0" tIns="0" bIns="0">
            <a:spAutoFit/>
          </a:bodyPr>
          <a:lstStyle/>
          <a:p>
            <a:pPr algn="l">
              <a:spcBef>
                <a:spcPts val="0"/>
              </a:spcBef>
              <a:spcAft>
                <a:spcPts val="400"/>
              </a:spcAft>
            </a:pPr>
            <a:r>
              <a:rPr sz="1300" b="1">
                <a:solidFill>
                  <a:srgbClr val="DC2626"/>
                </a:solidFill>
                <a:latin typeface="Arial"/>
              </a:rPr>
              <a:t>→ nothing reaches any pod</a:t>
            </a:r>
          </a:p>
        </p:txBody>
      </p:sp>
      <p:sp>
        <p:nvSpPr>
          <p:cNvPr id="11" name="Rounded Rectangle 10"/>
          <p:cNvSpPr/>
          <p:nvPr/>
        </p:nvSpPr>
        <p:spPr>
          <a:xfrm>
            <a:off x="6675120" y="1828800"/>
            <a:ext cx="4709160" cy="3474720"/>
          </a:xfrm>
          <a:prstGeom prst="roundRect">
            <a:avLst>
              <a:gd name="adj" fmla="val 5000"/>
            </a:avLst>
          </a:prstGeom>
          <a:solidFill>
            <a:srgbClr val="E8F7EE"/>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675120" y="1975104"/>
            <a:ext cx="4709160" cy="292608"/>
          </a:xfrm>
          <a:prstGeom prst="rect">
            <a:avLst/>
          </a:prstGeom>
          <a:noFill/>
        </p:spPr>
        <p:txBody>
          <a:bodyPr wrap="square" anchor="ctr" lIns="0" rIns="0" tIns="0" bIns="0">
            <a:spAutoFit/>
          </a:bodyPr>
          <a:lstStyle/>
          <a:p>
            <a:pPr algn="ctr">
              <a:spcBef>
                <a:spcPts val="0"/>
              </a:spcBef>
              <a:spcAft>
                <a:spcPts val="400"/>
              </a:spcAft>
            </a:pPr>
            <a:r>
              <a:rPr sz="1400" b="1">
                <a:solidFill>
                  <a:srgbClr val="10B981"/>
                </a:solidFill>
                <a:latin typeface="Arial"/>
              </a:rPr>
              <a:t>Selective Allow (podSelector)</a:t>
            </a:r>
          </a:p>
        </p:txBody>
      </p:sp>
      <p:sp>
        <p:nvSpPr>
          <p:cNvPr id="13" name="TextBox 12"/>
          <p:cNvSpPr txBox="1"/>
          <p:nvPr/>
        </p:nvSpPr>
        <p:spPr>
          <a:xfrm>
            <a:off x="6949440" y="2468880"/>
            <a:ext cx="4160520" cy="2560320"/>
          </a:xfrm>
          <a:prstGeom prst="rect">
            <a:avLst/>
          </a:prstGeom>
          <a:noFill/>
        </p:spPr>
        <p:txBody>
          <a:bodyPr wrap="square" anchor="t" lIns="0" rIns="0" tIns="0" bIns="0">
            <a:spAutoFit/>
          </a:bodyPr>
          <a:lstStyle/>
          <a:p>
            <a:pPr algn="l">
              <a:spcBef>
                <a:spcPts val="0"/>
              </a:spcBef>
              <a:spcAft>
                <a:spcPts val="300"/>
              </a:spcAft>
            </a:pPr>
            <a:r>
              <a:rPr sz="1200" b="1">
                <a:solidFill>
                  <a:srgbClr val="10B981"/>
                </a:solidFill>
                <a:latin typeface="Arial"/>
              </a:rPr>
              <a:t>ingress:</a:t>
            </a:r>
          </a:p>
          <a:p>
            <a:pPr algn="l">
              <a:spcBef>
                <a:spcPts val="0"/>
              </a:spcBef>
              <a:spcAft>
                <a:spcPts val="300"/>
              </a:spcAft>
            </a:pPr>
            <a:r>
              <a:rPr sz="1200" b="0">
                <a:solidFill>
                  <a:srgbClr val="161B26"/>
                </a:solidFill>
                <a:latin typeface="Arial"/>
              </a:rPr>
              <a:t>  from:</a:t>
            </a:r>
          </a:p>
          <a:p>
            <a:pPr algn="l">
              <a:spcBef>
                <a:spcPts val="0"/>
              </a:spcBef>
              <a:spcAft>
                <a:spcPts val="300"/>
              </a:spcAft>
            </a:pPr>
            <a:r>
              <a:rPr sz="1200" b="0">
                <a:solidFill>
                  <a:srgbClr val="161B26"/>
                </a:solidFill>
                <a:latin typeface="Arial"/>
              </a:rPr>
              <a:t>    - podSelector: {role: allowed}</a:t>
            </a:r>
          </a:p>
          <a:p>
            <a:pPr algn="l">
              <a:spcBef>
                <a:spcPts val="0"/>
              </a:spcBef>
              <a:spcAft>
                <a:spcPts val="300"/>
              </a:spcAft>
            </a:pPr>
            <a:r>
              <a:rPr sz="1200" b="0">
                <a:solidFill>
                  <a:srgbClr val="161B26"/>
                </a:solidFill>
                <a:latin typeface="Arial"/>
              </a:rPr>
              <a:t>  ports: [{port: 80}]</a:t>
            </a:r>
          </a:p>
          <a:p>
            <a:pPr algn="l">
              <a:spcBef>
                <a:spcPts val="0"/>
              </a:spcBef>
              <a:spcAft>
                <a:spcPts val="300"/>
              </a:spcAft>
            </a:pPr>
            <a:r>
              <a:rPr sz="1200" b="0">
                <a:solidFill>
                  <a:srgbClr val="161B26"/>
                </a:solidFill>
                <a:latin typeface="Arial"/>
              </a:rPr>
              <a:t/>
            </a:r>
          </a:p>
          <a:p>
            <a:pPr algn="l">
              <a:spcBef>
                <a:spcPts val="0"/>
              </a:spcBef>
              <a:spcAft>
                <a:spcPts val="300"/>
              </a:spcAft>
            </a:pPr>
            <a:r>
              <a:rPr sz="1200" b="0">
                <a:solidFill>
                  <a:srgbClr val="5B6372"/>
                </a:solidFill>
                <a:latin typeface="Arial"/>
              </a:rPr>
              <a:t>Policies are additive (OR). Combined</a:t>
            </a:r>
          </a:p>
          <a:p>
            <a:pPr algn="l">
              <a:spcBef>
                <a:spcPts val="0"/>
              </a:spcBef>
              <a:spcAft>
                <a:spcPts val="300"/>
              </a:spcAft>
            </a:pPr>
            <a:r>
              <a:rPr sz="1200" b="0">
                <a:solidFill>
                  <a:srgbClr val="5B6372"/>
                </a:solidFill>
                <a:latin typeface="Arial"/>
              </a:rPr>
              <a:t>default-deny + allow = allow-list model.</a:t>
            </a:r>
          </a:p>
        </p:txBody>
      </p:sp>
      <p:sp>
        <p:nvSpPr>
          <p:cNvPr id="14" name="TextBox 13"/>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5" name="TextBox 14"/>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6" name="TextBox 15"/>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187</a:t>
            </a:r>
          </a:p>
        </p:txBody>
      </p:sp>
    </p:spTree>
  </p:cSld>
  <p:clrMapOvr>
    <a:masterClrMapping/>
  </p:clrMapOvr>
</p:sld>
</file>

<file path=ppt/slides/slide1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NETWORK ISOLATION</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Visualising Network Policy Rules</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day3_s068_i1.png"/>
          <p:cNvPicPr>
            <a:picLocks noChangeAspect="1"/>
          </p:cNvPicPr>
          <p:nvPr/>
        </p:nvPicPr>
        <p:blipFill>
          <a:blip r:embed="rId2"/>
          <a:stretch>
            <a:fillRect/>
          </a:stretch>
        </p:blipFill>
        <p:spPr>
          <a:xfrm>
            <a:off x="2900841" y="1627632"/>
            <a:ext cx="6405557" cy="4544568"/>
          </a:xfrm>
          <a:prstGeom prst="rect">
            <a:avLst/>
          </a:prstGeom>
        </p:spPr>
      </p:pic>
      <p:sp>
        <p:nvSpPr>
          <p:cNvPr id="8" name="TextBox 7"/>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9" name="TextBox 8"/>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188</a:t>
            </a:r>
          </a:p>
        </p:txBody>
      </p:sp>
    </p:spTree>
  </p:cSld>
  <p:clrMapOvr>
    <a:masterClrMapping/>
  </p:clrMapOvr>
</p:sld>
</file>

<file path=ppt/slides/slide1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SERVICE DISCOVERY</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CoreDNS — In-Cluster DNS</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07040" cy="4480560"/>
          </a:xfrm>
          <a:prstGeom prst="rect">
            <a:avLst/>
          </a:prstGeom>
          <a:noFill/>
        </p:spPr>
        <p:txBody>
          <a:bodyPr wrap="square" lIns="0" rIns="0">
            <a:spAutoFit/>
          </a:bodyPr>
          <a:lstStyle/>
          <a:p>
            <a:pPr>
              <a:spcBef>
                <a:spcPts val="0"/>
              </a:spcBef>
              <a:spcAft>
                <a:spcPts val="1000"/>
              </a:spcAft>
            </a:pPr>
            <a:r>
              <a:rPr sz="1900" b="1">
                <a:solidFill>
                  <a:srgbClr val="1F6FEB"/>
                </a:solidFill>
                <a:latin typeface="Arial"/>
              </a:rPr>
              <a:t>•  </a:t>
            </a:r>
            <a:r>
              <a:rPr sz="1900">
                <a:solidFill>
                  <a:srgbClr val="161B26"/>
                </a:solidFill>
                <a:latin typeface="Arial"/>
              </a:rPr>
              <a:t>Every pod's /etc/resolv.conf points to the kube-dns ClusterIP with a search list.</a:t>
            </a:r>
          </a:p>
          <a:p>
            <a:pPr>
              <a:spcBef>
                <a:spcPts val="0"/>
              </a:spcBef>
              <a:spcAft>
                <a:spcPts val="1000"/>
              </a:spcAft>
            </a:pPr>
            <a:r>
              <a:rPr sz="1900" b="1">
                <a:solidFill>
                  <a:srgbClr val="1F6FEB"/>
                </a:solidFill>
                <a:latin typeface="Arial"/>
              </a:rPr>
              <a:t>•  </a:t>
            </a:r>
            <a:r>
              <a:rPr sz="1900">
                <a:solidFill>
                  <a:srgbClr val="161B26"/>
                </a:solidFill>
                <a:latin typeface="Arial"/>
              </a:rPr>
              <a:t>FQDN format: &lt;service&gt;.&lt;namespace&gt;.svc.cluster.local — within the same namespace the short name resolves.</a:t>
            </a:r>
          </a:p>
          <a:p>
            <a:pPr>
              <a:spcBef>
                <a:spcPts val="0"/>
              </a:spcBef>
              <a:spcAft>
                <a:spcPts val="1000"/>
              </a:spcAft>
            </a:pPr>
            <a:r>
              <a:rPr sz="1900" b="1">
                <a:solidFill>
                  <a:srgbClr val="1F6FEB"/>
                </a:solidFill>
                <a:latin typeface="Arial"/>
              </a:rPr>
              <a:t>•  </a:t>
            </a:r>
            <a:r>
              <a:rPr sz="1900">
                <a:solidFill>
                  <a:srgbClr val="161B26"/>
                </a:solidFill>
                <a:latin typeface="Arial"/>
              </a:rPr>
              <a:t>Headless Service (clusterIP: None): DNS returns individual pod A records instead of a single virtual IP.</a:t>
            </a:r>
          </a:p>
          <a:p>
            <a:pPr>
              <a:spcBef>
                <a:spcPts val="0"/>
              </a:spcBef>
              <a:spcAft>
                <a:spcPts val="1000"/>
              </a:spcAft>
            </a:pPr>
            <a:r>
              <a:rPr sz="1900" b="1">
                <a:solidFill>
                  <a:srgbClr val="1F6FEB"/>
                </a:solidFill>
                <a:latin typeface="Arial"/>
              </a:rPr>
              <a:t>•  </a:t>
            </a:r>
            <a:r>
              <a:rPr sz="1900">
                <a:solidFill>
                  <a:srgbClr val="161B26"/>
                </a:solidFill>
                <a:latin typeface="Arial"/>
              </a:rPr>
              <a:t>Corefile ConfigMap controls CoreDNS behaviour — add stub zones, upstream forwarders or rewrite rules.</a:t>
            </a:r>
          </a:p>
        </p:txBody>
      </p:sp>
      <p:sp>
        <p:nvSpPr>
          <p:cNvPr id="8" name="TextBox 7"/>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9" name="TextBox 8"/>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189</a:t>
            </a:r>
          </a:p>
        </p:txBody>
      </p:sp>
    </p:spTree>
  </p:cSld>
  <p:clrMapOvr>
    <a:masterClrMapping/>
  </p:clrMapOvr>
</p:sld>
</file>

<file path=ppt/slides/slide1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DOMAIN 3  ·  SERVICE DISCOVERY</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CoreDNS — In-Cluster DNS Resolution</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468880"/>
            <a:ext cx="3063240" cy="1737360"/>
          </a:xfrm>
          <a:prstGeom prst="roundRect">
            <a:avLst>
              <a:gd name="adj" fmla="val 5000"/>
            </a:avLst>
          </a:prstGeom>
          <a:solidFill>
            <a:srgbClr val="EAF1FE"/>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468880"/>
            <a:ext cx="3063240"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86968" y="2578608"/>
            <a:ext cx="2843784" cy="1627632"/>
          </a:xfrm>
          <a:prstGeom prst="rect">
            <a:avLst/>
          </a:prstGeom>
          <a:noFill/>
        </p:spPr>
        <p:txBody>
          <a:bodyPr wrap="square" anchor="ctr" lIns="0" rIns="0" tIns="0" bIns="0">
            <a:spAutoFit/>
          </a:bodyPr>
          <a:lstStyle/>
          <a:p>
            <a:pPr algn="ctr">
              <a:spcBef>
                <a:spcPts val="0"/>
              </a:spcBef>
              <a:spcAft>
                <a:spcPts val="300"/>
              </a:spcAft>
            </a:pPr>
            <a:r>
              <a:rPr sz="1400" b="1">
                <a:solidFill>
                  <a:srgbClr val="161B26"/>
                </a:solidFill>
                <a:latin typeface="Arial"/>
              </a:rPr>
              <a:t>Pod</a:t>
            </a:r>
          </a:p>
          <a:p>
            <a:pPr algn="ctr">
              <a:spcBef>
                <a:spcPts val="0"/>
              </a:spcBef>
              <a:spcAft>
                <a:spcPts val="300"/>
              </a:spcAft>
            </a:pPr>
            <a:r>
              <a:rPr sz="1100" b="0">
                <a:solidFill>
                  <a:srgbClr val="5B6372"/>
                </a:solidFill>
                <a:latin typeface="Arial"/>
              </a:rPr>
              <a:t>/etc/resolv.conf</a:t>
            </a:r>
          </a:p>
          <a:p>
            <a:pPr algn="ctr">
              <a:spcBef>
                <a:spcPts val="0"/>
              </a:spcBef>
              <a:spcAft>
                <a:spcPts val="300"/>
              </a:spcAft>
            </a:pPr>
            <a:r>
              <a:rPr sz="1100" b="0">
                <a:solidFill>
                  <a:srgbClr val="5B6372"/>
                </a:solidFill>
                <a:latin typeface="Arial"/>
              </a:rPr>
              <a:t>nameserver: kube-dns IP</a:t>
            </a:r>
          </a:p>
          <a:p>
            <a:pPr algn="ctr">
              <a:spcBef>
                <a:spcPts val="0"/>
              </a:spcBef>
              <a:spcAft>
                <a:spcPts val="300"/>
              </a:spcAft>
            </a:pPr>
            <a:r>
              <a:rPr sz="1100" b="0">
                <a:solidFill>
                  <a:srgbClr val="5B6372"/>
                </a:solidFill>
                <a:latin typeface="Arial"/>
              </a:rPr>
              <a:t>search: default.svc.cluster.local</a:t>
            </a:r>
          </a:p>
        </p:txBody>
      </p:sp>
      <p:sp>
        <p:nvSpPr>
          <p:cNvPr id="10" name="Right Arrow 9"/>
          <p:cNvSpPr/>
          <p:nvPr/>
        </p:nvSpPr>
        <p:spPr>
          <a:xfrm>
            <a:off x="3840480" y="3136392"/>
            <a:ext cx="731520" cy="402336"/>
          </a:xfrm>
          <a:prstGeom prst="rightArrow">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611880" y="2157984"/>
            <a:ext cx="1188720" cy="292608"/>
          </a:xfrm>
          <a:prstGeom prst="rect">
            <a:avLst/>
          </a:prstGeom>
          <a:noFill/>
        </p:spPr>
        <p:txBody>
          <a:bodyPr wrap="square" anchor="ctr" lIns="0" rIns="0" tIns="0" bIns="0">
            <a:spAutoFit/>
          </a:bodyPr>
          <a:lstStyle/>
          <a:p>
            <a:pPr algn="ctr">
              <a:spcBef>
                <a:spcPts val="0"/>
              </a:spcBef>
              <a:spcAft>
                <a:spcPts val="400"/>
              </a:spcAft>
            </a:pPr>
            <a:r>
              <a:rPr sz="1000" b="1">
                <a:solidFill>
                  <a:srgbClr val="10B981"/>
                </a:solidFill>
                <a:latin typeface="Arial"/>
              </a:rPr>
              <a:t>DNS query</a:t>
            </a:r>
          </a:p>
        </p:txBody>
      </p:sp>
      <p:sp>
        <p:nvSpPr>
          <p:cNvPr id="12" name="Rounded Rectangle 11"/>
          <p:cNvSpPr/>
          <p:nvPr/>
        </p:nvSpPr>
        <p:spPr>
          <a:xfrm>
            <a:off x="4572000" y="2468880"/>
            <a:ext cx="3063240" cy="1737360"/>
          </a:xfrm>
          <a:prstGeom prst="roundRect">
            <a:avLst>
              <a:gd name="adj" fmla="val 5000"/>
            </a:avLst>
          </a:prstGeom>
          <a:solidFill>
            <a:srgbClr val="E8F7EE"/>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572000" y="2468880"/>
            <a:ext cx="3063240"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681728" y="2578608"/>
            <a:ext cx="2843784" cy="1627632"/>
          </a:xfrm>
          <a:prstGeom prst="rect">
            <a:avLst/>
          </a:prstGeom>
          <a:noFill/>
        </p:spPr>
        <p:txBody>
          <a:bodyPr wrap="square" anchor="ctr" lIns="0" rIns="0" tIns="0" bIns="0">
            <a:spAutoFit/>
          </a:bodyPr>
          <a:lstStyle/>
          <a:p>
            <a:pPr algn="ctr">
              <a:spcBef>
                <a:spcPts val="0"/>
              </a:spcBef>
              <a:spcAft>
                <a:spcPts val="300"/>
              </a:spcAft>
            </a:pPr>
            <a:r>
              <a:rPr sz="1400" b="1">
                <a:solidFill>
                  <a:srgbClr val="161B26"/>
                </a:solidFill>
                <a:latin typeface="Arial"/>
              </a:rPr>
              <a:t>CoreDNS</a:t>
            </a:r>
          </a:p>
          <a:p>
            <a:pPr algn="ctr">
              <a:spcBef>
                <a:spcPts val="0"/>
              </a:spcBef>
              <a:spcAft>
                <a:spcPts val="300"/>
              </a:spcAft>
            </a:pPr>
            <a:r>
              <a:rPr sz="1100" b="0">
                <a:solidFill>
                  <a:srgbClr val="5B6372"/>
                </a:solidFill>
                <a:latin typeface="Arial"/>
              </a:rPr>
              <a:t>kube-dns Service</a:t>
            </a:r>
          </a:p>
          <a:p>
            <a:pPr algn="ctr">
              <a:spcBef>
                <a:spcPts val="0"/>
              </a:spcBef>
              <a:spcAft>
                <a:spcPts val="300"/>
              </a:spcAft>
            </a:pPr>
            <a:r>
              <a:rPr sz="1100" b="0">
                <a:solidFill>
                  <a:srgbClr val="5B6372"/>
                </a:solidFill>
                <a:latin typeface="Arial"/>
              </a:rPr>
              <a:t>Corefile ConfigMap</a:t>
            </a:r>
          </a:p>
          <a:p>
            <a:pPr algn="ctr">
              <a:spcBef>
                <a:spcPts val="0"/>
              </a:spcBef>
              <a:spcAft>
                <a:spcPts val="300"/>
              </a:spcAft>
            </a:pPr>
            <a:r>
              <a:rPr sz="1100" b="0">
                <a:solidFill>
                  <a:srgbClr val="5B6372"/>
                </a:solidFill>
                <a:latin typeface="Arial"/>
              </a:rPr>
              <a:t>kubernetes forward ready</a:t>
            </a:r>
          </a:p>
        </p:txBody>
      </p:sp>
      <p:sp>
        <p:nvSpPr>
          <p:cNvPr id="15" name="Right Arrow 14"/>
          <p:cNvSpPr/>
          <p:nvPr/>
        </p:nvSpPr>
        <p:spPr>
          <a:xfrm>
            <a:off x="7635240" y="3136392"/>
            <a:ext cx="731520" cy="402336"/>
          </a:xfrm>
          <a:prstGeom prst="rightArrow">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406640" y="2157984"/>
            <a:ext cx="1188720" cy="292608"/>
          </a:xfrm>
          <a:prstGeom prst="rect">
            <a:avLst/>
          </a:prstGeom>
          <a:noFill/>
        </p:spPr>
        <p:txBody>
          <a:bodyPr wrap="square" anchor="ctr" lIns="0" rIns="0" tIns="0" bIns="0">
            <a:spAutoFit/>
          </a:bodyPr>
          <a:lstStyle/>
          <a:p>
            <a:pPr algn="ctr">
              <a:spcBef>
                <a:spcPts val="0"/>
              </a:spcBef>
              <a:spcAft>
                <a:spcPts val="400"/>
              </a:spcAft>
            </a:pPr>
            <a:r>
              <a:rPr sz="1000" b="1">
                <a:solidFill>
                  <a:srgbClr val="10B981"/>
                </a:solidFill>
                <a:latin typeface="Arial"/>
              </a:rPr>
              <a:t>A / AAAA record</a:t>
            </a:r>
          </a:p>
        </p:txBody>
      </p:sp>
      <p:sp>
        <p:nvSpPr>
          <p:cNvPr id="17" name="Rounded Rectangle 16"/>
          <p:cNvSpPr/>
          <p:nvPr/>
        </p:nvSpPr>
        <p:spPr>
          <a:xfrm>
            <a:off x="8366760" y="2468880"/>
            <a:ext cx="3063240" cy="1737360"/>
          </a:xfrm>
          <a:prstGeom prst="roundRect">
            <a:avLst>
              <a:gd name="adj" fmla="val 5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76488" y="2468880"/>
            <a:ext cx="2843784" cy="1737360"/>
          </a:xfrm>
          <a:prstGeom prst="rect">
            <a:avLst/>
          </a:prstGeom>
          <a:noFill/>
        </p:spPr>
        <p:txBody>
          <a:bodyPr wrap="square" anchor="ctr" lIns="0" rIns="0" tIns="0" bIns="0">
            <a:spAutoFit/>
          </a:bodyPr>
          <a:lstStyle/>
          <a:p>
            <a:pPr algn="ctr">
              <a:spcBef>
                <a:spcPts val="0"/>
              </a:spcBef>
              <a:spcAft>
                <a:spcPts val="300"/>
              </a:spcAft>
            </a:pPr>
            <a:r>
              <a:rPr sz="1400" b="1">
                <a:solidFill>
                  <a:srgbClr val="161B26"/>
                </a:solidFill>
                <a:latin typeface="Arial"/>
              </a:rPr>
              <a:t>Answer</a:t>
            </a:r>
          </a:p>
          <a:p>
            <a:pPr algn="ctr">
              <a:spcBef>
                <a:spcPts val="0"/>
              </a:spcBef>
              <a:spcAft>
                <a:spcPts val="300"/>
              </a:spcAft>
            </a:pPr>
            <a:r>
              <a:rPr sz="1100" b="0">
                <a:solidFill>
                  <a:srgbClr val="5B6372"/>
                </a:solidFill>
                <a:latin typeface="Arial"/>
              </a:rPr>
              <a:t>short name → ClusterIP</a:t>
            </a:r>
          </a:p>
          <a:p>
            <a:pPr algn="ctr">
              <a:spcBef>
                <a:spcPts val="0"/>
              </a:spcBef>
              <a:spcAft>
                <a:spcPts val="300"/>
              </a:spcAft>
            </a:pPr>
            <a:r>
              <a:rPr sz="1100" b="0">
                <a:solidFill>
                  <a:srgbClr val="5B6372"/>
                </a:solidFill>
                <a:latin typeface="Arial"/>
              </a:rPr>
              <a:t>full FQDN always works</a:t>
            </a:r>
          </a:p>
          <a:p>
            <a:pPr algn="ctr">
              <a:spcBef>
                <a:spcPts val="0"/>
              </a:spcBef>
              <a:spcAft>
                <a:spcPts val="300"/>
              </a:spcAft>
            </a:pPr>
            <a:r>
              <a:rPr sz="1100" b="0">
                <a:solidFill>
                  <a:srgbClr val="5B6372"/>
                </a:solidFill>
                <a:latin typeface="Arial"/>
              </a:rPr>
              <a:t>headless → pod A records</a:t>
            </a:r>
          </a:p>
        </p:txBody>
      </p:sp>
      <p:sp>
        <p:nvSpPr>
          <p:cNvPr id="19" name="Rounded Rectangle 18"/>
          <p:cNvSpPr/>
          <p:nvPr/>
        </p:nvSpPr>
        <p:spPr>
          <a:xfrm>
            <a:off x="777240" y="4754880"/>
            <a:ext cx="10652760" cy="530352"/>
          </a:xfrm>
          <a:prstGeom prst="roundRect">
            <a:avLst>
              <a:gd name="adj" fmla="val 5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51560" y="4754880"/>
            <a:ext cx="10058400" cy="530352"/>
          </a:xfrm>
          <a:prstGeom prst="rect">
            <a:avLst/>
          </a:prstGeom>
          <a:noFill/>
        </p:spPr>
        <p:txBody>
          <a:bodyPr wrap="square" anchor="ctr" lIns="0" rIns="0" tIns="0" bIns="0">
            <a:spAutoFit/>
          </a:bodyPr>
          <a:lstStyle/>
          <a:p>
            <a:pPr algn="l">
              <a:spcBef>
                <a:spcPts val="0"/>
              </a:spcBef>
              <a:spcAft>
                <a:spcPts val="400"/>
              </a:spcAft>
            </a:pPr>
            <a:r>
              <a:rPr sz="1300" b="0">
                <a:solidFill>
                  <a:srgbClr val="161B26"/>
                </a:solidFill>
                <a:latin typeface="Arial"/>
              </a:rPr>
              <a:t>Within ns: svc  ·  cross-ns: svc.ns  ·  full: svc.ns.svc.cluster.local</a:t>
            </a:r>
          </a:p>
        </p:txBody>
      </p:sp>
      <p:sp>
        <p:nvSpPr>
          <p:cNvPr id="21" name="Rounded Rectangle 20"/>
          <p:cNvSpPr/>
          <p:nvPr/>
        </p:nvSpPr>
        <p:spPr>
          <a:xfrm>
            <a:off x="777240" y="5943600"/>
            <a:ext cx="10652760" cy="502920"/>
          </a:xfrm>
          <a:prstGeom prst="roundRect">
            <a:avLst>
              <a:gd name="adj" fmla="val 5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051560" y="5943600"/>
            <a:ext cx="10149840" cy="502920"/>
          </a:xfrm>
          <a:prstGeom prst="rect">
            <a:avLst/>
          </a:prstGeom>
          <a:noFill/>
        </p:spPr>
        <p:txBody>
          <a:bodyPr wrap="square" anchor="ctr" lIns="0" rIns="0" tIns="0" bIns="0">
            <a:spAutoFit/>
          </a:bodyPr>
          <a:lstStyle/>
          <a:p>
            <a:pPr algn="l">
              <a:spcBef>
                <a:spcPts val="0"/>
              </a:spcBef>
              <a:spcAft>
                <a:spcPts val="400"/>
              </a:spcAft>
            </a:pPr>
            <a:r>
              <a:rPr sz="1300" b="0">
                <a:solidFill>
                  <a:srgbClr val="5B6372"/>
                </a:solidFill>
                <a:latin typeface="Arial"/>
              </a:rPr>
              <a:t>Headless Service (clusterIP: None) returns individual </a:t>
            </a:r>
            <a:r>
              <a:rPr sz="1300" b="1">
                <a:solidFill>
                  <a:srgbClr val="161B26"/>
                </a:solidFill>
                <a:latin typeface="Arial"/>
              </a:rPr>
              <a:t>Pod A records</a:t>
            </a:r>
            <a:r>
              <a:rPr sz="1300" b="0">
                <a:solidFill>
                  <a:srgbClr val="5B6372"/>
                </a:solidFill>
                <a:latin typeface="Arial"/>
              </a:rPr>
              <a:t> instead of a single virtual IP.</a:t>
            </a:r>
          </a:p>
        </p:txBody>
      </p:sp>
      <p:sp>
        <p:nvSpPr>
          <p:cNvPr id="23" name="TextBox 22"/>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24" name="TextBox 23"/>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25" name="TextBox 24"/>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190</a:t>
            </a:r>
          </a:p>
        </p:txBody>
      </p:sp>
    </p:spTree>
  </p:cSld>
  <p:clrMapOvr>
    <a:masterClrMapping/>
  </p:clrMapOvr>
</p:sld>
</file>

<file path=ppt/slides/slide1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DAY 3 · NETWORK POLICY</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NetworkPolicy: Default-Deny, Pod Selector, Namespace Selector, Egress Lockdown</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64208"/>
            <a:ext cx="169164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09928"/>
            <a:ext cx="1691640" cy="365760"/>
          </a:xfrm>
          <a:prstGeom prst="rect">
            <a:avLst/>
          </a:prstGeom>
          <a:noFill/>
        </p:spPr>
        <p:txBody>
          <a:bodyPr wrap="square" anchor="t" lIns="0" rIns="0" tIns="0" bIns="0">
            <a:spAutoFit/>
          </a:bodyPr>
          <a:lstStyle/>
          <a:p>
            <a:pPr algn="ctr">
              <a:spcBef>
                <a:spcPts val="0"/>
              </a:spcBef>
              <a:spcAft>
                <a:spcPts val="400"/>
              </a:spcAft>
            </a:pPr>
            <a:r>
              <a:rPr sz="1600" b="1">
                <a:solidFill>
                  <a:srgbClr val="FFFFFF"/>
                </a:solidFill>
                <a:latin typeface="Arial"/>
              </a:rPr>
              <a:t>LAB 21</a:t>
            </a:r>
          </a:p>
        </p:txBody>
      </p:sp>
      <p:sp>
        <p:nvSpPr>
          <p:cNvPr id="9" name="TextBox 8"/>
          <p:cNvSpPr txBox="1"/>
          <p:nvPr/>
        </p:nvSpPr>
        <p:spPr>
          <a:xfrm>
            <a:off x="2697480" y="1691640"/>
            <a:ext cx="8778240" cy="411480"/>
          </a:xfrm>
          <a:prstGeom prst="rect">
            <a:avLst/>
          </a:prstGeom>
          <a:noFill/>
        </p:spPr>
        <p:txBody>
          <a:bodyPr wrap="square" anchor="ctr" lIns="0" rIns="0" tIns="0" bIns="0">
            <a:spAutoFit/>
          </a:bodyPr>
          <a:lstStyle/>
          <a:p>
            <a:pPr algn="l">
              <a:spcBef>
                <a:spcPts val="0"/>
              </a:spcBef>
              <a:spcAft>
                <a:spcPts val="400"/>
              </a:spcAft>
            </a:pPr>
            <a:r>
              <a:rPr sz="1400" b="1">
                <a:solidFill>
                  <a:srgbClr val="5B6372"/>
                </a:solidFill>
                <a:latin typeface="Arial"/>
              </a:rPr>
              <a:t>Network Policies</a:t>
            </a:r>
          </a:p>
        </p:txBody>
      </p:sp>
      <p:sp>
        <p:nvSpPr>
          <p:cNvPr id="10" name="TextBox 9"/>
          <p:cNvSpPr txBox="1"/>
          <p:nvPr/>
        </p:nvSpPr>
        <p:spPr>
          <a:xfrm>
            <a:off x="777240" y="2286000"/>
            <a:ext cx="10698480" cy="1554480"/>
          </a:xfrm>
          <a:prstGeom prst="rect">
            <a:avLst/>
          </a:prstGeom>
          <a:noFill/>
        </p:spPr>
        <p:txBody>
          <a:bodyPr wrap="square" anchor="t" lIns="0" rIns="0" tIns="0" bIns="0">
            <a:spAutoFit/>
          </a:bodyPr>
          <a:lstStyle/>
          <a:p>
            <a:pPr algn="l">
              <a:spcBef>
                <a:spcPts val="0"/>
              </a:spcBef>
              <a:spcAft>
                <a:spcPts val="400"/>
              </a:spcAft>
            </a:pPr>
            <a:r>
              <a:rPr sz="1900" b="0">
                <a:solidFill>
                  <a:srgbClr val="161B26"/>
                </a:solidFill>
                <a:latin typeface="Arial"/>
              </a:rPr>
              <a:t>Implement Pod-level firewall rules using NetworkPolicies. Kubernetes uses allow-lists: once any NetworkPolicy selects a pod, all traffic not explicitly allowed is blocked. CKA 2026 tests default-deny, pod/namespace selectors, and egress lockdown.</a:t>
            </a:r>
          </a:p>
        </p:txBody>
      </p:sp>
      <p:sp>
        <p:nvSpPr>
          <p:cNvPr id="11" name="Rounded Rectangle 10"/>
          <p:cNvSpPr/>
          <p:nvPr/>
        </p:nvSpPr>
        <p:spPr>
          <a:xfrm>
            <a:off x="777240" y="4069080"/>
            <a:ext cx="10698480" cy="1783080"/>
          </a:xfrm>
          <a:prstGeom prst="roundRect">
            <a:avLst>
              <a:gd name="adj" fmla="val 5000"/>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05840" y="4251960"/>
            <a:ext cx="10058400" cy="365760"/>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You'll build</a:t>
            </a:r>
          </a:p>
        </p:txBody>
      </p:sp>
      <p:sp>
        <p:nvSpPr>
          <p:cNvPr id="13" name="TextBox 12"/>
          <p:cNvSpPr txBox="1"/>
          <p:nvPr/>
        </p:nvSpPr>
        <p:spPr>
          <a:xfrm>
            <a:off x="1005840" y="4617720"/>
            <a:ext cx="10241280" cy="640080"/>
          </a:xfrm>
          <a:prstGeom prst="rect">
            <a:avLst/>
          </a:prstGeom>
          <a:noFill/>
        </p:spPr>
        <p:txBody>
          <a:bodyPr wrap="square" anchor="t" lIns="0" rIns="0" tIns="0" bIns="0">
            <a:spAutoFit/>
          </a:bodyPr>
          <a:lstStyle/>
          <a:p>
            <a:pPr algn="l">
              <a:spcBef>
                <a:spcPts val="0"/>
              </a:spcBef>
              <a:spcAft>
                <a:spcPts val="400"/>
              </a:spcAft>
            </a:pPr>
            <a:r>
              <a:rPr sz="1700" b="1">
                <a:solidFill>
                  <a:srgbClr val="161B26"/>
                </a:solidFill>
                <a:latin typeface="Arial"/>
              </a:rPr>
              <a:t>Create server and client pods, apply default-deny-ingress policy, verify blocking, add allow rule for specific pod selector, test egress lockdown.</a:t>
            </a:r>
          </a:p>
        </p:txBody>
      </p:sp>
      <p:sp>
        <p:nvSpPr>
          <p:cNvPr id="14" name="TextBox 13"/>
          <p:cNvSpPr txBox="1"/>
          <p:nvPr/>
        </p:nvSpPr>
        <p:spPr>
          <a:xfrm>
            <a:off x="1005840" y="5349240"/>
            <a:ext cx="10058400" cy="457200"/>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Key commands:  </a:t>
            </a:r>
            <a:r>
              <a:rPr sz="1300" b="0">
                <a:solidFill>
                  <a:srgbClr val="5B6372"/>
                </a:solidFill>
                <a:latin typeface="Arial"/>
              </a:rPr>
              <a:t>kubectl create · cat &lt;&lt;'EOF' · » Empty</a:t>
            </a:r>
          </a:p>
        </p:txBody>
      </p:sp>
      <p:sp>
        <p:nvSpPr>
          <p:cNvPr id="15" name="TextBox 14"/>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6" name="TextBox 15"/>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7" name="TextBox 16"/>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191</a:t>
            </a:r>
          </a:p>
        </p:txBody>
      </p:sp>
    </p:spTree>
  </p:cSld>
  <p:clrMapOvr>
    <a:masterClrMapping/>
  </p:clrMapOvr>
</p:sld>
</file>

<file path=ppt/slides/slide1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21  ·  COMMANDS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NetworkPolicy: Default-Deny, Pod Selector, Namespace Selector, Egress Lockdown</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91640"/>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Step 1 -- Create test workloads</a:t>
            </a:r>
          </a:p>
        </p:txBody>
      </p:sp>
      <p:sp>
        <p:nvSpPr>
          <p:cNvPr id="8" name="Rounded Rectangle 7"/>
          <p:cNvSpPr/>
          <p:nvPr/>
        </p:nvSpPr>
        <p:spPr>
          <a:xfrm>
            <a:off x="777240" y="2075688"/>
            <a:ext cx="10652760" cy="1458467"/>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075688"/>
            <a:ext cx="82296" cy="1458467"/>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6" y="2139696"/>
            <a:ext cx="10323576" cy="1367027"/>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kubectl create ns netpol</a:t>
            </a:r>
          </a:p>
          <a:p>
            <a:pPr>
              <a:spcBef>
                <a:spcPts val="0"/>
              </a:spcBef>
              <a:spcAft>
                <a:spcPts val="0"/>
              </a:spcAft>
            </a:pPr>
            <a:r>
              <a:rPr sz="1050">
                <a:solidFill>
                  <a:srgbClr val="161B26"/>
                </a:solidFill>
                <a:latin typeface="Consolas"/>
              </a:rPr>
              <a:t>kubectl -n netpol run server --image=nginx --labels='app=server'</a:t>
            </a:r>
          </a:p>
          <a:p>
            <a:pPr>
              <a:spcBef>
                <a:spcPts val="0"/>
              </a:spcBef>
              <a:spcAft>
                <a:spcPts val="0"/>
              </a:spcAft>
            </a:pPr>
            <a:r>
              <a:rPr sz="1050">
                <a:solidFill>
                  <a:srgbClr val="161B26"/>
                </a:solidFill>
                <a:latin typeface="Consolas"/>
              </a:rPr>
              <a:t>kubectl -n netpol run client-ok --image=nicolaka/netshoot \</a:t>
            </a:r>
          </a:p>
          <a:p>
            <a:pPr>
              <a:spcBef>
                <a:spcPts val="0"/>
              </a:spcBef>
              <a:spcAft>
                <a:spcPts val="0"/>
              </a:spcAft>
            </a:pPr>
            <a:r>
              <a:rPr sz="1050">
                <a:solidFill>
                  <a:srgbClr val="161B26"/>
                </a:solidFill>
                <a:latin typeface="Consolas"/>
              </a:rPr>
              <a:t>  --labels='role=allowed' --command -- sleep 3600</a:t>
            </a:r>
          </a:p>
          <a:p>
            <a:pPr>
              <a:spcBef>
                <a:spcPts val="0"/>
              </a:spcBef>
              <a:spcAft>
                <a:spcPts val="0"/>
              </a:spcAft>
            </a:pPr>
            <a:r>
              <a:rPr sz="1050">
                <a:solidFill>
                  <a:srgbClr val="161B26"/>
                </a:solidFill>
                <a:latin typeface="Consolas"/>
              </a:rPr>
              <a:t>kubectl -n netpol run client-bad --image=nicolaka/netshoot \</a:t>
            </a:r>
          </a:p>
          <a:p>
            <a:pPr>
              <a:spcBef>
                <a:spcPts val="0"/>
              </a:spcBef>
              <a:spcAft>
                <a:spcPts val="0"/>
              </a:spcAft>
            </a:pPr>
            <a:r>
              <a:rPr sz="1050">
                <a:solidFill>
                  <a:srgbClr val="161B26"/>
                </a:solidFill>
                <a:latin typeface="Consolas"/>
              </a:rPr>
              <a:t>  --labels='role=denied' --command -- sleep 3600</a:t>
            </a:r>
          </a:p>
          <a:p>
            <a:pPr>
              <a:spcBef>
                <a:spcPts val="0"/>
              </a:spcBef>
              <a:spcAft>
                <a:spcPts val="0"/>
              </a:spcAft>
            </a:pPr>
            <a:r>
              <a:rPr sz="1050">
                <a:solidFill>
                  <a:srgbClr val="161B26"/>
                </a:solidFill>
                <a:latin typeface="Consolas"/>
              </a:rPr>
              <a:t>kubectl -n netpol expose pod server --port=80</a:t>
            </a:r>
          </a:p>
        </p:txBody>
      </p:sp>
      <p:sp>
        <p:nvSpPr>
          <p:cNvPr id="11" name="TextBox 10"/>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192</a:t>
            </a:r>
          </a:p>
        </p:txBody>
      </p:sp>
    </p:spTree>
  </p:cSld>
  <p:clrMapOvr>
    <a:masterClrMapping/>
  </p:clrMapOvr>
</p:sld>
</file>

<file path=ppt/slides/slide1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21  ·  COMMANDS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NetworkPolicy: Default-Deny, Pod Selector, Namespace Selector, Egress Lockdown (cont.)</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91640"/>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Step 2 -- Apply default-deny-ingress</a:t>
            </a:r>
          </a:p>
        </p:txBody>
      </p:sp>
      <p:sp>
        <p:nvSpPr>
          <p:cNvPr id="8" name="Rounded Rectangle 7"/>
          <p:cNvSpPr/>
          <p:nvPr/>
        </p:nvSpPr>
        <p:spPr>
          <a:xfrm>
            <a:off x="777240" y="2075688"/>
            <a:ext cx="10652760" cy="2208276"/>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075688"/>
            <a:ext cx="82296" cy="220827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6" y="2139696"/>
            <a:ext cx="10323576" cy="2116836"/>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cat &lt;&lt;'EOF' | kubectl apply -f -</a:t>
            </a:r>
          </a:p>
          <a:p>
            <a:pPr>
              <a:spcBef>
                <a:spcPts val="0"/>
              </a:spcBef>
              <a:spcAft>
                <a:spcPts val="0"/>
              </a:spcAft>
            </a:pPr>
            <a:r>
              <a:rPr sz="1050">
                <a:solidFill>
                  <a:srgbClr val="161B26"/>
                </a:solidFill>
                <a:latin typeface="Consolas"/>
              </a:rPr>
              <a:t>apiVersion: networking.k8s.io/v1</a:t>
            </a:r>
          </a:p>
          <a:p>
            <a:pPr>
              <a:spcBef>
                <a:spcPts val="0"/>
              </a:spcBef>
              <a:spcAft>
                <a:spcPts val="0"/>
              </a:spcAft>
            </a:pPr>
            <a:r>
              <a:rPr sz="1050">
                <a:solidFill>
                  <a:srgbClr val="161B26"/>
                </a:solidFill>
                <a:latin typeface="Consolas"/>
              </a:rPr>
              <a:t>kind: NetworkPolicy</a:t>
            </a:r>
          </a:p>
          <a:p>
            <a:pPr>
              <a:spcBef>
                <a:spcPts val="0"/>
              </a:spcBef>
              <a:spcAft>
                <a:spcPts val="0"/>
              </a:spcAft>
            </a:pPr>
            <a:r>
              <a:rPr sz="1050">
                <a:solidFill>
                  <a:srgbClr val="161B26"/>
                </a:solidFill>
                <a:latin typeface="Consolas"/>
              </a:rPr>
              <a:t>metadata:</a:t>
            </a:r>
          </a:p>
          <a:p>
            <a:pPr>
              <a:spcBef>
                <a:spcPts val="0"/>
              </a:spcBef>
              <a:spcAft>
                <a:spcPts val="0"/>
              </a:spcAft>
            </a:pPr>
            <a:r>
              <a:rPr sz="1050">
                <a:solidFill>
                  <a:srgbClr val="161B26"/>
                </a:solidFill>
                <a:latin typeface="Consolas"/>
              </a:rPr>
              <a:t>  name: default-deny-ingress</a:t>
            </a:r>
          </a:p>
          <a:p>
            <a:pPr>
              <a:spcBef>
                <a:spcPts val="0"/>
              </a:spcBef>
              <a:spcAft>
                <a:spcPts val="0"/>
              </a:spcAft>
            </a:pPr>
            <a:r>
              <a:rPr sz="1050">
                <a:solidFill>
                  <a:srgbClr val="161B26"/>
                </a:solidFill>
                <a:latin typeface="Consolas"/>
              </a:rPr>
              <a:t>  namespace: netpol</a:t>
            </a:r>
          </a:p>
          <a:p>
            <a:pPr>
              <a:spcBef>
                <a:spcPts val="0"/>
              </a:spcBef>
              <a:spcAft>
                <a:spcPts val="0"/>
              </a:spcAft>
            </a:pPr>
            <a:r>
              <a:rPr sz="1050">
                <a:solidFill>
                  <a:srgbClr val="161B26"/>
                </a:solidFill>
                <a:latin typeface="Consolas"/>
              </a:rPr>
              <a:t>spec:</a:t>
            </a:r>
          </a:p>
          <a:p>
            <a:pPr>
              <a:spcBef>
                <a:spcPts val="0"/>
              </a:spcBef>
              <a:spcAft>
                <a:spcPts val="0"/>
              </a:spcAft>
            </a:pPr>
            <a:r>
              <a:rPr sz="1050">
                <a:solidFill>
                  <a:srgbClr val="161B26"/>
                </a:solidFill>
                <a:latin typeface="Consolas"/>
              </a:rPr>
              <a:t>  podSelector: {}</a:t>
            </a:r>
          </a:p>
          <a:p>
            <a:pPr>
              <a:spcBef>
                <a:spcPts val="0"/>
              </a:spcBef>
              <a:spcAft>
                <a:spcPts val="0"/>
              </a:spcAft>
            </a:pPr>
            <a:r>
              <a:rPr sz="1050">
                <a:solidFill>
                  <a:srgbClr val="161B26"/>
                </a:solidFill>
                <a:latin typeface="Consolas"/>
              </a:rPr>
              <a:t>  policyTypes: ['Ingress']</a:t>
            </a:r>
          </a:p>
          <a:p>
            <a:pPr>
              <a:spcBef>
                <a:spcPts val="0"/>
              </a:spcBef>
              <a:spcAft>
                <a:spcPts val="0"/>
              </a:spcAft>
            </a:pPr>
            <a:r>
              <a:rPr sz="1050">
                <a:solidFill>
                  <a:srgbClr val="161B26"/>
                </a:solidFill>
                <a:latin typeface="Consolas"/>
              </a:rPr>
              <a:t>EOF</a:t>
            </a:r>
          </a:p>
          <a:p>
            <a:pPr>
              <a:spcBef>
                <a:spcPts val="0"/>
              </a:spcBef>
              <a:spcAft>
                <a:spcPts val="0"/>
              </a:spcAft>
            </a:pPr>
            <a:r>
              <a:rPr sz="1050">
                <a:solidFill>
                  <a:srgbClr val="161B26"/>
                </a:solidFill>
                <a:latin typeface="Consolas"/>
              </a:rPr>
              <a:t>kubectl -n netpol exec client-ok -- curl -m 3 http://server || echo BLOCKED</a:t>
            </a:r>
          </a:p>
        </p:txBody>
      </p:sp>
      <p:sp>
        <p:nvSpPr>
          <p:cNvPr id="11" name="TextBox 10"/>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193</a:t>
            </a:r>
          </a:p>
        </p:txBody>
      </p:sp>
    </p:spTree>
  </p:cSld>
  <p:clrMapOvr>
    <a:masterClrMapping/>
  </p:clrMapOvr>
</p:sld>
</file>

<file path=ppt/slides/slide1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21  ·  COMMANDS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NetworkPolicy: Default-Deny, Pod Selector, Namespace Selector, Egress Lockdown (cont.)</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91640"/>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Step 3 -- Allow specific pod selector</a:t>
            </a:r>
          </a:p>
        </p:txBody>
      </p:sp>
      <p:sp>
        <p:nvSpPr>
          <p:cNvPr id="8" name="Rounded Rectangle 7"/>
          <p:cNvSpPr/>
          <p:nvPr/>
        </p:nvSpPr>
        <p:spPr>
          <a:xfrm>
            <a:off x="777240" y="2075688"/>
            <a:ext cx="10652760" cy="3895344"/>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075688"/>
            <a:ext cx="82296" cy="38953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6" y="2139696"/>
            <a:ext cx="10323576" cy="3803904"/>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cat &lt;&lt;'EOF' | kubectl apply -f -</a:t>
            </a:r>
          </a:p>
          <a:p>
            <a:pPr>
              <a:spcBef>
                <a:spcPts val="0"/>
              </a:spcBef>
              <a:spcAft>
                <a:spcPts val="0"/>
              </a:spcAft>
            </a:pPr>
            <a:r>
              <a:rPr sz="1050">
                <a:solidFill>
                  <a:srgbClr val="161B26"/>
                </a:solidFill>
                <a:latin typeface="Consolas"/>
              </a:rPr>
              <a:t>apiVersion: networking.k8s.io/v1</a:t>
            </a:r>
          </a:p>
          <a:p>
            <a:pPr>
              <a:spcBef>
                <a:spcPts val="0"/>
              </a:spcBef>
              <a:spcAft>
                <a:spcPts val="0"/>
              </a:spcAft>
            </a:pPr>
            <a:r>
              <a:rPr sz="1050">
                <a:solidFill>
                  <a:srgbClr val="161B26"/>
                </a:solidFill>
                <a:latin typeface="Consolas"/>
              </a:rPr>
              <a:t>kind: NetworkPolicy</a:t>
            </a:r>
          </a:p>
          <a:p>
            <a:pPr>
              <a:spcBef>
                <a:spcPts val="0"/>
              </a:spcBef>
              <a:spcAft>
                <a:spcPts val="0"/>
              </a:spcAft>
            </a:pPr>
            <a:r>
              <a:rPr sz="1050">
                <a:solidFill>
                  <a:srgbClr val="161B26"/>
                </a:solidFill>
                <a:latin typeface="Consolas"/>
              </a:rPr>
              <a:t>metadata:</a:t>
            </a:r>
          </a:p>
          <a:p>
            <a:pPr>
              <a:spcBef>
                <a:spcPts val="0"/>
              </a:spcBef>
              <a:spcAft>
                <a:spcPts val="0"/>
              </a:spcAft>
            </a:pPr>
            <a:r>
              <a:rPr sz="1050">
                <a:solidFill>
                  <a:srgbClr val="161B26"/>
                </a:solidFill>
                <a:latin typeface="Consolas"/>
              </a:rPr>
              <a:t>  name: allow-from-allowed</a:t>
            </a:r>
          </a:p>
          <a:p>
            <a:pPr>
              <a:spcBef>
                <a:spcPts val="0"/>
              </a:spcBef>
              <a:spcAft>
                <a:spcPts val="0"/>
              </a:spcAft>
            </a:pPr>
            <a:r>
              <a:rPr sz="1050">
                <a:solidFill>
                  <a:srgbClr val="161B26"/>
                </a:solidFill>
                <a:latin typeface="Consolas"/>
              </a:rPr>
              <a:t>  namespace: netpol</a:t>
            </a:r>
          </a:p>
          <a:p>
            <a:pPr>
              <a:spcBef>
                <a:spcPts val="0"/>
              </a:spcBef>
              <a:spcAft>
                <a:spcPts val="0"/>
              </a:spcAft>
            </a:pPr>
            <a:r>
              <a:rPr sz="1050">
                <a:solidFill>
                  <a:srgbClr val="161B26"/>
                </a:solidFill>
                <a:latin typeface="Consolas"/>
              </a:rPr>
              <a:t>spec:</a:t>
            </a:r>
          </a:p>
          <a:p>
            <a:pPr>
              <a:spcBef>
                <a:spcPts val="0"/>
              </a:spcBef>
              <a:spcAft>
                <a:spcPts val="0"/>
              </a:spcAft>
            </a:pPr>
            <a:r>
              <a:rPr sz="1050">
                <a:solidFill>
                  <a:srgbClr val="161B26"/>
                </a:solidFill>
                <a:latin typeface="Consolas"/>
              </a:rPr>
              <a:t>  podSelector:</a:t>
            </a:r>
          </a:p>
          <a:p>
            <a:pPr>
              <a:spcBef>
                <a:spcPts val="0"/>
              </a:spcBef>
              <a:spcAft>
                <a:spcPts val="0"/>
              </a:spcAft>
            </a:pPr>
            <a:r>
              <a:rPr sz="1050">
                <a:solidFill>
                  <a:srgbClr val="161B26"/>
                </a:solidFill>
                <a:latin typeface="Consolas"/>
              </a:rPr>
              <a:t>    matchLabels:</a:t>
            </a:r>
          </a:p>
          <a:p>
            <a:pPr>
              <a:spcBef>
                <a:spcPts val="0"/>
              </a:spcBef>
              <a:spcAft>
                <a:spcPts val="0"/>
              </a:spcAft>
            </a:pPr>
            <a:r>
              <a:rPr sz="1050">
                <a:solidFill>
                  <a:srgbClr val="161B26"/>
                </a:solidFill>
                <a:latin typeface="Consolas"/>
              </a:rPr>
              <a:t>      app: server</a:t>
            </a:r>
          </a:p>
          <a:p>
            <a:pPr>
              <a:spcBef>
                <a:spcPts val="0"/>
              </a:spcBef>
              <a:spcAft>
                <a:spcPts val="0"/>
              </a:spcAft>
            </a:pPr>
            <a:r>
              <a:rPr sz="1050">
                <a:solidFill>
                  <a:srgbClr val="161B26"/>
                </a:solidFill>
                <a:latin typeface="Consolas"/>
              </a:rPr>
              <a:t>  policyTypes: ['Ingress']</a:t>
            </a:r>
          </a:p>
          <a:p>
            <a:pPr>
              <a:spcBef>
                <a:spcPts val="0"/>
              </a:spcBef>
              <a:spcAft>
                <a:spcPts val="0"/>
              </a:spcAft>
            </a:pPr>
            <a:r>
              <a:rPr sz="1050">
                <a:solidFill>
                  <a:srgbClr val="161B26"/>
                </a:solidFill>
                <a:latin typeface="Consolas"/>
              </a:rPr>
              <a:t>  ingress:</a:t>
            </a:r>
          </a:p>
          <a:p>
            <a:pPr>
              <a:spcBef>
                <a:spcPts val="0"/>
              </a:spcBef>
              <a:spcAft>
                <a:spcPts val="0"/>
              </a:spcAft>
            </a:pPr>
            <a:r>
              <a:rPr sz="1050">
                <a:solidFill>
                  <a:srgbClr val="161B26"/>
                </a:solidFill>
                <a:latin typeface="Consolas"/>
              </a:rPr>
              <a:t>  - from:</a:t>
            </a:r>
          </a:p>
          <a:p>
            <a:pPr>
              <a:spcBef>
                <a:spcPts val="0"/>
              </a:spcBef>
              <a:spcAft>
                <a:spcPts val="0"/>
              </a:spcAft>
            </a:pPr>
            <a:r>
              <a:rPr sz="1050">
                <a:solidFill>
                  <a:srgbClr val="161B26"/>
                </a:solidFill>
                <a:latin typeface="Consolas"/>
              </a:rPr>
              <a:t>    - podSelector:</a:t>
            </a:r>
          </a:p>
          <a:p>
            <a:pPr>
              <a:spcBef>
                <a:spcPts val="0"/>
              </a:spcBef>
              <a:spcAft>
                <a:spcPts val="0"/>
              </a:spcAft>
            </a:pPr>
            <a:r>
              <a:rPr sz="1050">
                <a:solidFill>
                  <a:srgbClr val="161B26"/>
                </a:solidFill>
                <a:latin typeface="Consolas"/>
              </a:rPr>
              <a:t>        matchLabels:</a:t>
            </a:r>
          </a:p>
          <a:p>
            <a:pPr>
              <a:spcBef>
                <a:spcPts val="0"/>
              </a:spcBef>
              <a:spcAft>
                <a:spcPts val="0"/>
              </a:spcAft>
            </a:pPr>
            <a:r>
              <a:rPr sz="1050">
                <a:solidFill>
                  <a:srgbClr val="161B26"/>
                </a:solidFill>
                <a:latin typeface="Consolas"/>
              </a:rPr>
              <a:t>          role: allowed</a:t>
            </a:r>
          </a:p>
          <a:p>
            <a:pPr>
              <a:spcBef>
                <a:spcPts val="0"/>
              </a:spcBef>
              <a:spcAft>
                <a:spcPts val="0"/>
              </a:spcAft>
            </a:pPr>
            <a:r>
              <a:rPr sz="1050">
                <a:solidFill>
                  <a:srgbClr val="161B26"/>
                </a:solidFill>
                <a:latin typeface="Consolas"/>
              </a:rPr>
              <a:t>EOF</a:t>
            </a:r>
          </a:p>
          <a:p>
            <a:pPr>
              <a:spcBef>
                <a:spcPts val="0"/>
              </a:spcBef>
              <a:spcAft>
                <a:spcPts val="0"/>
              </a:spcAft>
            </a:pPr>
            <a:r>
              <a:rPr sz="1050">
                <a:solidFill>
                  <a:srgbClr val="161B26"/>
                </a:solidFill>
                <a:latin typeface="Consolas"/>
              </a:rPr>
              <a:t>kubectl -n netpol exec client-ok -- curl -s http://server</a:t>
            </a:r>
          </a:p>
          <a:p>
            <a:pPr>
              <a:spcBef>
                <a:spcPts val="0"/>
              </a:spcBef>
              <a:spcAft>
                <a:spcPts val="0"/>
              </a:spcAft>
            </a:pPr>
            <a:r>
              <a:rPr sz="1050">
                <a:solidFill>
                  <a:srgbClr val="161B26"/>
                </a:solidFill>
                <a:latin typeface="Consolas"/>
              </a:rPr>
              <a:t># OK</a:t>
            </a:r>
          </a:p>
          <a:p>
            <a:pPr>
              <a:spcBef>
                <a:spcPts val="0"/>
              </a:spcBef>
              <a:spcAft>
                <a:spcPts val="0"/>
              </a:spcAft>
            </a:pPr>
            <a:r>
              <a:rPr sz="1050">
                <a:solidFill>
                  <a:srgbClr val="161B26"/>
                </a:solidFill>
                <a:latin typeface="Consolas"/>
              </a:rPr>
              <a:t>kubectl -n netpol exec client-bad -- curl -m 3 http://server || echo BLOCKED</a:t>
            </a:r>
          </a:p>
        </p:txBody>
      </p:sp>
      <p:sp>
        <p:nvSpPr>
          <p:cNvPr id="11" name="TextBox 10"/>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194</a:t>
            </a:r>
          </a:p>
        </p:txBody>
      </p:sp>
    </p:spTree>
  </p:cSld>
  <p:clrMapOvr>
    <a:masterClrMapping/>
  </p:clrMapOvr>
</p:sld>
</file>

<file path=ppt/slides/slide1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21  ·  COMMANDS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NetworkPolicy: Default-Deny, Pod Selector, Namespace Selector, Egress Lockdown (cont.)</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91640"/>
            <a:ext cx="10652760" cy="310896"/>
          </a:xfrm>
          <a:prstGeom prst="rect">
            <a:avLst/>
          </a:prstGeom>
          <a:noFill/>
        </p:spPr>
        <p:txBody>
          <a:bodyPr wrap="square" anchor="t" lIns="0" rIns="0" tIns="0" bIns="0">
            <a:spAutoFit/>
          </a:bodyPr>
          <a:lstStyle/>
          <a:p>
            <a:pPr algn="l">
              <a:spcBef>
                <a:spcPts val="0"/>
              </a:spcBef>
              <a:spcAft>
                <a:spcPts val="400"/>
              </a:spcAft>
            </a:pPr>
            <a:r>
              <a:rPr sz="1300" b="1">
                <a:solidFill>
                  <a:srgbClr val="F59E0B"/>
                </a:solidFill>
                <a:latin typeface="Arial"/>
              </a:rPr>
              <a:t>Note   </a:t>
            </a:r>
            <a:r>
              <a:rPr sz="1300" b="0">
                <a:solidFill>
                  <a:srgbClr val="5B6372"/>
                </a:solidFill>
                <a:latin typeface="Arial"/>
              </a:rPr>
              <a:t>Empty podSelector {} selects ALL pods in the namespace. NetworkPolicy requires a CNI that enforces it (Calico, Cilium -- NOT Flannel alone).</a:t>
            </a:r>
          </a:p>
        </p:txBody>
      </p:sp>
      <p:sp>
        <p:nvSpPr>
          <p:cNvPr id="8" name="TextBox 7"/>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9" name="TextBox 8"/>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195</a:t>
            </a:r>
          </a:p>
        </p:txBody>
      </p:sp>
    </p:spTree>
  </p:cSld>
  <p:clrMapOvr>
    <a:masterClrMapping/>
  </p:clrMapOvr>
</p:sld>
</file>

<file path=ppt/slides/slide1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21  ·  TEST IT</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NetworkPolicy: Default-Deny, Pod Selector, Namespace Selector, Egress Lockdown</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03120"/>
            <a:ext cx="10698480" cy="2560320"/>
          </a:xfrm>
          <a:prstGeom prst="roundRect">
            <a:avLst>
              <a:gd name="adj" fmla="val 5000"/>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lIns="0" rIns="0" tIns="0" bIns="0">
            <a:spAutoFit/>
          </a:bodyPr>
          <a:lstStyle/>
          <a:p>
            <a:pPr algn="l">
              <a:spcBef>
                <a:spcPts val="0"/>
              </a:spcBef>
              <a:spcAft>
                <a:spcPts val="400"/>
              </a:spcAft>
            </a:pPr>
            <a:r>
              <a:rPr sz="2200" b="1">
                <a:solidFill>
                  <a:srgbClr val="127A3E"/>
                </a:solidFill>
                <a:latin typeface="Arial"/>
              </a:rPr>
              <a:t>✅  Test it</a:t>
            </a:r>
          </a:p>
        </p:txBody>
      </p:sp>
      <p:sp>
        <p:nvSpPr>
          <p:cNvPr id="9" name="TextBox 8"/>
          <p:cNvSpPr txBox="1"/>
          <p:nvPr/>
        </p:nvSpPr>
        <p:spPr>
          <a:xfrm>
            <a:off x="1097280" y="3017520"/>
            <a:ext cx="10149840" cy="1463040"/>
          </a:xfrm>
          <a:prstGeom prst="rect">
            <a:avLst/>
          </a:prstGeom>
          <a:noFill/>
        </p:spPr>
        <p:txBody>
          <a:bodyPr wrap="square" anchor="t" lIns="0" rIns="0" tIns="0" bIns="0">
            <a:spAutoFit/>
          </a:bodyPr>
          <a:lstStyle/>
          <a:p>
            <a:pPr algn="l">
              <a:spcBef>
                <a:spcPts val="0"/>
              </a:spcBef>
              <a:spcAft>
                <a:spcPts val="400"/>
              </a:spcAft>
            </a:pPr>
            <a:r>
              <a:rPr sz="1800" b="0">
                <a:solidFill>
                  <a:srgbClr val="161B26"/>
                </a:solidFill>
                <a:latin typeface="Arial"/>
              </a:rPr>
              <a:t>default-deny blocks both clients. After allow policy, client-ok reaches server; client-bad (role=denied) is still blocked.</a:t>
            </a:r>
          </a:p>
        </p:txBody>
      </p:sp>
      <p:sp>
        <p:nvSpPr>
          <p:cNvPr id="10" name="TextBox 9"/>
          <p:cNvSpPr txBox="1"/>
          <p:nvPr/>
        </p:nvSpPr>
        <p:spPr>
          <a:xfrm>
            <a:off x="777240" y="4983480"/>
            <a:ext cx="10698480" cy="365760"/>
          </a:xfrm>
          <a:prstGeom prst="rect">
            <a:avLst/>
          </a:prstGeom>
          <a:noFill/>
        </p:spPr>
        <p:txBody>
          <a:bodyPr wrap="square" anchor="t" lIns="0" rIns="0" tIns="0" bIns="0">
            <a:spAutoFit/>
          </a:bodyPr>
          <a:lstStyle/>
          <a:p>
            <a:pPr algn="l">
              <a:spcBef>
                <a:spcPts val="0"/>
              </a:spcBef>
              <a:spcAft>
                <a:spcPts val="400"/>
              </a:spcAft>
            </a:pPr>
            <a:r>
              <a:rPr sz="1300" b="1">
                <a:solidFill>
                  <a:srgbClr val="10B981"/>
                </a:solidFill>
                <a:latin typeface="Arial"/>
              </a:rPr>
              <a:t>Killercoda:  </a:t>
            </a:r>
            <a:r>
              <a:rPr sz="1300" b="0">
                <a:solidFill>
                  <a:srgbClr val="5B6372"/>
                </a:solidFill>
                <a:latin typeface="Arial"/>
              </a:rPr>
              <a:t>https://killercoda.com/playgrounds/scenario/kubernetes</a:t>
            </a:r>
          </a:p>
        </p:txBody>
      </p:sp>
      <p:sp>
        <p:nvSpPr>
          <p:cNvPr id="11" name="TextBox 10"/>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196</a:t>
            </a:r>
          </a:p>
        </p:txBody>
      </p:sp>
    </p:spTree>
  </p:cSld>
  <p:clrMapOvr>
    <a:masterClrMapping/>
  </p:clrMapOvr>
</p:sld>
</file>

<file path=ppt/slides/slide2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DAY 3 · COREDNS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CoreDNS: Corefile Inspection, Service DNS, Headless Services, Stub Zones</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64208"/>
            <a:ext cx="169164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09928"/>
            <a:ext cx="1691640" cy="365760"/>
          </a:xfrm>
          <a:prstGeom prst="rect">
            <a:avLst/>
          </a:prstGeom>
          <a:noFill/>
        </p:spPr>
        <p:txBody>
          <a:bodyPr wrap="square" anchor="t" lIns="0" rIns="0" tIns="0" bIns="0">
            <a:spAutoFit/>
          </a:bodyPr>
          <a:lstStyle/>
          <a:p>
            <a:pPr algn="ctr">
              <a:spcBef>
                <a:spcPts val="0"/>
              </a:spcBef>
              <a:spcAft>
                <a:spcPts val="400"/>
              </a:spcAft>
            </a:pPr>
            <a:r>
              <a:rPr sz="1600" b="1">
                <a:solidFill>
                  <a:srgbClr val="FFFFFF"/>
                </a:solidFill>
                <a:latin typeface="Arial"/>
              </a:rPr>
              <a:t>LAB 22</a:t>
            </a:r>
          </a:p>
        </p:txBody>
      </p:sp>
      <p:sp>
        <p:nvSpPr>
          <p:cNvPr id="9" name="TextBox 8"/>
          <p:cNvSpPr txBox="1"/>
          <p:nvPr/>
        </p:nvSpPr>
        <p:spPr>
          <a:xfrm>
            <a:off x="2697480" y="1691640"/>
            <a:ext cx="8778240" cy="411480"/>
          </a:xfrm>
          <a:prstGeom prst="rect">
            <a:avLst/>
          </a:prstGeom>
          <a:noFill/>
        </p:spPr>
        <p:txBody>
          <a:bodyPr wrap="square" anchor="ctr" lIns="0" rIns="0" tIns="0" bIns="0">
            <a:spAutoFit/>
          </a:bodyPr>
          <a:lstStyle/>
          <a:p>
            <a:pPr algn="l">
              <a:spcBef>
                <a:spcPts val="0"/>
              </a:spcBef>
              <a:spcAft>
                <a:spcPts val="400"/>
              </a:spcAft>
            </a:pPr>
            <a:r>
              <a:rPr sz="1400" b="1">
                <a:solidFill>
                  <a:srgbClr val="5B6372"/>
                </a:solidFill>
                <a:latin typeface="Arial"/>
              </a:rPr>
              <a:t>CoreDNS</a:t>
            </a:r>
          </a:p>
        </p:txBody>
      </p:sp>
      <p:sp>
        <p:nvSpPr>
          <p:cNvPr id="10" name="TextBox 9"/>
          <p:cNvSpPr txBox="1"/>
          <p:nvPr/>
        </p:nvSpPr>
        <p:spPr>
          <a:xfrm>
            <a:off x="777240" y="2286000"/>
            <a:ext cx="10698480" cy="1554480"/>
          </a:xfrm>
          <a:prstGeom prst="rect">
            <a:avLst/>
          </a:prstGeom>
          <a:noFill/>
        </p:spPr>
        <p:txBody>
          <a:bodyPr wrap="square" anchor="t" lIns="0" rIns="0" tIns="0" bIns="0">
            <a:spAutoFit/>
          </a:bodyPr>
          <a:lstStyle/>
          <a:p>
            <a:pPr algn="l">
              <a:spcBef>
                <a:spcPts val="0"/>
              </a:spcBef>
              <a:spcAft>
                <a:spcPts val="400"/>
              </a:spcAft>
            </a:pPr>
            <a:r>
              <a:rPr sz="1900" b="0">
                <a:solidFill>
                  <a:srgbClr val="161B26"/>
                </a:solidFill>
                <a:latin typeface="Arial"/>
              </a:rPr>
              <a:t>Inspect CoreDNS configuration, query Service and Pod DNS records, understand headless service resolution (A records per pod), and customize CoreDNS with stub zones. CKA tests configuring CoreDNS via ConfigMap and diagnosing DNS failures.</a:t>
            </a:r>
          </a:p>
        </p:txBody>
      </p:sp>
      <p:sp>
        <p:nvSpPr>
          <p:cNvPr id="11" name="Rounded Rectangle 10"/>
          <p:cNvSpPr/>
          <p:nvPr/>
        </p:nvSpPr>
        <p:spPr>
          <a:xfrm>
            <a:off x="777240" y="4069080"/>
            <a:ext cx="10698480" cy="1783080"/>
          </a:xfrm>
          <a:prstGeom prst="roundRect">
            <a:avLst>
              <a:gd name="adj" fmla="val 5000"/>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05840" y="4251960"/>
            <a:ext cx="10058400" cy="365760"/>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You'll build</a:t>
            </a:r>
          </a:p>
        </p:txBody>
      </p:sp>
      <p:sp>
        <p:nvSpPr>
          <p:cNvPr id="13" name="TextBox 12"/>
          <p:cNvSpPr txBox="1"/>
          <p:nvPr/>
        </p:nvSpPr>
        <p:spPr>
          <a:xfrm>
            <a:off x="1005840" y="4617720"/>
            <a:ext cx="10241280" cy="640080"/>
          </a:xfrm>
          <a:prstGeom prst="rect">
            <a:avLst/>
          </a:prstGeom>
          <a:noFill/>
        </p:spPr>
        <p:txBody>
          <a:bodyPr wrap="square" anchor="t" lIns="0" rIns="0" tIns="0" bIns="0">
            <a:spAutoFit/>
          </a:bodyPr>
          <a:lstStyle/>
          <a:p>
            <a:pPr algn="l">
              <a:spcBef>
                <a:spcPts val="0"/>
              </a:spcBef>
              <a:spcAft>
                <a:spcPts val="400"/>
              </a:spcAft>
            </a:pPr>
            <a:r>
              <a:rPr sz="1700" b="1">
                <a:solidFill>
                  <a:srgbClr val="161B26"/>
                </a:solidFill>
                <a:latin typeface="Arial"/>
              </a:rPr>
              <a:t>Inspect kube-dns service and coredns ConfigMap, test DNS from netshoot pod, create headless service, verify per-pod A records, add stub zone to Corefile.</a:t>
            </a:r>
          </a:p>
        </p:txBody>
      </p:sp>
      <p:sp>
        <p:nvSpPr>
          <p:cNvPr id="14" name="TextBox 13"/>
          <p:cNvSpPr txBox="1"/>
          <p:nvPr/>
        </p:nvSpPr>
        <p:spPr>
          <a:xfrm>
            <a:off x="1005840" y="5349240"/>
            <a:ext cx="10058400" cy="457200"/>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Key commands:  </a:t>
            </a:r>
            <a:r>
              <a:rPr sz="1300" b="0">
                <a:solidFill>
                  <a:srgbClr val="5B6372"/>
                </a:solidFill>
                <a:latin typeface="Arial"/>
              </a:rPr>
              <a:t>kubectl -n · kubectl run · kubectl expose · » Service</a:t>
            </a:r>
          </a:p>
        </p:txBody>
      </p:sp>
      <p:sp>
        <p:nvSpPr>
          <p:cNvPr id="15" name="TextBox 14"/>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6" name="TextBox 15"/>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7" name="TextBox 16"/>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197</a:t>
            </a:r>
          </a:p>
        </p:txBody>
      </p:sp>
    </p:spTree>
  </p:cSld>
  <p:clrMapOvr>
    <a:masterClrMapping/>
  </p:clrMapOvr>
</p:sld>
</file>

<file path=ppt/slides/slide2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22  ·  COMMANDS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CoreDNS: Corefile Inspection, Service DNS, Headless Services, Stub Zones</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91640"/>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Step 1 -- Inspect CoreDNS</a:t>
            </a:r>
          </a:p>
        </p:txBody>
      </p:sp>
      <p:sp>
        <p:nvSpPr>
          <p:cNvPr id="8" name="Rounded Rectangle 7"/>
          <p:cNvSpPr/>
          <p:nvPr/>
        </p:nvSpPr>
        <p:spPr>
          <a:xfrm>
            <a:off x="777240" y="2075688"/>
            <a:ext cx="10652760" cy="708660"/>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075688"/>
            <a:ext cx="82296" cy="7086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6" y="2139696"/>
            <a:ext cx="10323576" cy="617220"/>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kubectl -n kube-system get svc kube-dns</a:t>
            </a:r>
          </a:p>
          <a:p>
            <a:pPr>
              <a:spcBef>
                <a:spcPts val="0"/>
              </a:spcBef>
              <a:spcAft>
                <a:spcPts val="0"/>
              </a:spcAft>
            </a:pPr>
            <a:r>
              <a:rPr sz="1050">
                <a:solidFill>
                  <a:srgbClr val="161B26"/>
                </a:solidFill>
                <a:latin typeface="Consolas"/>
              </a:rPr>
              <a:t>kubectl -n kube-system get pods -l k8s-app=kube-dns</a:t>
            </a:r>
          </a:p>
          <a:p>
            <a:pPr>
              <a:spcBef>
                <a:spcPts val="0"/>
              </a:spcBef>
              <a:spcAft>
                <a:spcPts val="0"/>
              </a:spcAft>
            </a:pPr>
            <a:r>
              <a:rPr sz="1050">
                <a:solidFill>
                  <a:srgbClr val="161B26"/>
                </a:solidFill>
                <a:latin typeface="Consolas"/>
              </a:rPr>
              <a:t>kubectl -n kube-system get configmap coredns -o yaml</a:t>
            </a:r>
          </a:p>
        </p:txBody>
      </p:sp>
      <p:sp>
        <p:nvSpPr>
          <p:cNvPr id="11" name="TextBox 10"/>
          <p:cNvSpPr txBox="1"/>
          <p:nvPr/>
        </p:nvSpPr>
        <p:spPr>
          <a:xfrm>
            <a:off x="777240" y="2967228"/>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Step 2 -- Query DNS from debug pod</a:t>
            </a:r>
          </a:p>
        </p:txBody>
      </p:sp>
      <p:sp>
        <p:nvSpPr>
          <p:cNvPr id="12" name="Rounded Rectangle 11"/>
          <p:cNvSpPr/>
          <p:nvPr/>
        </p:nvSpPr>
        <p:spPr>
          <a:xfrm>
            <a:off x="777240" y="3351276"/>
            <a:ext cx="10652760" cy="896112"/>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3351276"/>
            <a:ext cx="82296" cy="896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3415284"/>
            <a:ext cx="10323576" cy="804672"/>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kubectl run dnsdebug --image=nicolaka/netshoot --command -- sleep 3600</a:t>
            </a:r>
          </a:p>
          <a:p>
            <a:pPr>
              <a:spcBef>
                <a:spcPts val="0"/>
              </a:spcBef>
              <a:spcAft>
                <a:spcPts val="0"/>
              </a:spcAft>
            </a:pPr>
            <a:r>
              <a:rPr sz="1050">
                <a:solidFill>
                  <a:srgbClr val="161B26"/>
                </a:solidFill>
                <a:latin typeface="Consolas"/>
              </a:rPr>
              <a:t>kubectl exec dnsdebug -- cat /etc/resolv.conf</a:t>
            </a:r>
          </a:p>
          <a:p>
            <a:pPr>
              <a:spcBef>
                <a:spcPts val="0"/>
              </a:spcBef>
              <a:spcAft>
                <a:spcPts val="0"/>
              </a:spcAft>
            </a:pPr>
            <a:r>
              <a:rPr sz="1050">
                <a:solidFill>
                  <a:srgbClr val="161B26"/>
                </a:solidFill>
                <a:latin typeface="Consolas"/>
              </a:rPr>
              <a:t>kubectl exec dnsdebug -- nslookup kubernetes.default.svc.cluster.local</a:t>
            </a:r>
          </a:p>
          <a:p>
            <a:pPr>
              <a:spcBef>
                <a:spcPts val="0"/>
              </a:spcBef>
              <a:spcAft>
                <a:spcPts val="0"/>
              </a:spcAft>
            </a:pPr>
            <a:r>
              <a:rPr sz="1050">
                <a:solidFill>
                  <a:srgbClr val="161B26"/>
                </a:solidFill>
                <a:latin typeface="Consolas"/>
              </a:rPr>
              <a:t>kubectl exec dnsdebug -- dig +short webapp.default.svc.cluster.local</a:t>
            </a:r>
          </a:p>
        </p:txBody>
      </p:sp>
      <p:sp>
        <p:nvSpPr>
          <p:cNvPr id="15" name="TextBox 14"/>
          <p:cNvSpPr txBox="1"/>
          <p:nvPr/>
        </p:nvSpPr>
        <p:spPr>
          <a:xfrm>
            <a:off x="777240" y="4430268"/>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Step 3 -- Headless service: per-pod A records</a:t>
            </a:r>
          </a:p>
        </p:txBody>
      </p:sp>
      <p:sp>
        <p:nvSpPr>
          <p:cNvPr id="16" name="Rounded Rectangle 15"/>
          <p:cNvSpPr/>
          <p:nvPr/>
        </p:nvSpPr>
        <p:spPr>
          <a:xfrm>
            <a:off x="777240" y="4814316"/>
            <a:ext cx="10652760" cy="708660"/>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77240" y="4814316"/>
            <a:ext cx="82296" cy="7086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96696" y="4878324"/>
            <a:ext cx="10323576" cy="617220"/>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kubectl expose deployment webapp --port=80 --name=webapp-headless --cluster-ip=None</a:t>
            </a:r>
          </a:p>
          <a:p>
            <a:pPr>
              <a:spcBef>
                <a:spcPts val="0"/>
              </a:spcBef>
              <a:spcAft>
                <a:spcPts val="0"/>
              </a:spcAft>
            </a:pPr>
            <a:r>
              <a:rPr sz="1050">
                <a:solidFill>
                  <a:srgbClr val="161B26"/>
                </a:solidFill>
                <a:latin typeface="Consolas"/>
              </a:rPr>
              <a:t>kubectl exec dnsdebug -- dig +short webapp-headless.default.svc.cluster.local</a:t>
            </a:r>
          </a:p>
          <a:p>
            <a:pPr>
              <a:spcBef>
                <a:spcPts val="0"/>
              </a:spcBef>
              <a:spcAft>
                <a:spcPts val="0"/>
              </a:spcAft>
            </a:pPr>
            <a:r>
              <a:rPr sz="1050">
                <a:solidFill>
                  <a:srgbClr val="161B26"/>
                </a:solidFill>
                <a:latin typeface="Consolas"/>
              </a:rPr>
              <a:t># Returns one IP per pod -- used by StatefulSets for stable identity</a:t>
            </a:r>
          </a:p>
        </p:txBody>
      </p:sp>
      <p:sp>
        <p:nvSpPr>
          <p:cNvPr id="19" name="TextBox 18"/>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20" name="TextBox 19"/>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21" name="TextBox 20"/>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198</a:t>
            </a:r>
          </a:p>
        </p:txBody>
      </p:sp>
    </p:spTree>
  </p:cSld>
  <p:clrMapOvr>
    <a:masterClrMapping/>
  </p:clrMapOvr>
</p:sld>
</file>

<file path=ppt/slides/slide2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22  ·  COMMANDS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CoreDNS: Corefile Inspection, Service DNS, Headless Services, Stub Zones (cont.)</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91640"/>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Step 4 -- Add stub zone to Corefile</a:t>
            </a:r>
          </a:p>
        </p:txBody>
      </p:sp>
      <p:sp>
        <p:nvSpPr>
          <p:cNvPr id="8" name="Rounded Rectangle 7"/>
          <p:cNvSpPr/>
          <p:nvPr/>
        </p:nvSpPr>
        <p:spPr>
          <a:xfrm>
            <a:off x="777240" y="2075688"/>
            <a:ext cx="10652760" cy="1083563"/>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075688"/>
            <a:ext cx="82296" cy="1083563"/>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6" y="2139696"/>
            <a:ext cx="10323576" cy="992123"/>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kubectl -n kube-system edit configmap coredns</a:t>
            </a:r>
          </a:p>
          <a:p>
            <a:pPr>
              <a:spcBef>
                <a:spcPts val="0"/>
              </a:spcBef>
              <a:spcAft>
                <a:spcPts val="0"/>
              </a:spcAft>
            </a:pPr>
            <a:r>
              <a:rPr sz="1050">
                <a:solidFill>
                  <a:srgbClr val="161B26"/>
                </a:solidFill>
                <a:latin typeface="Consolas"/>
              </a:rPr>
              <a:t># Add inside Corefile:</a:t>
            </a:r>
          </a:p>
          <a:p>
            <a:pPr>
              <a:spcBef>
                <a:spcPts val="0"/>
              </a:spcBef>
              <a:spcAft>
                <a:spcPts val="0"/>
              </a:spcAft>
            </a:pPr>
            <a:r>
              <a:rPr sz="1050">
                <a:solidFill>
                  <a:srgbClr val="161B26"/>
                </a:solidFill>
                <a:latin typeface="Consolas"/>
              </a:rPr>
              <a:t># example.internal:53 {</a:t>
            </a:r>
          </a:p>
          <a:p>
            <a:pPr>
              <a:spcBef>
                <a:spcPts val="0"/>
              </a:spcBef>
              <a:spcAft>
                <a:spcPts val="0"/>
              </a:spcAft>
            </a:pPr>
            <a:r>
              <a:rPr sz="1050">
                <a:solidFill>
                  <a:srgbClr val="161B26"/>
                </a:solidFill>
                <a:latin typeface="Consolas"/>
              </a:rPr>
              <a:t>#   forward . 10.10.0.1</a:t>
            </a:r>
          </a:p>
          <a:p>
            <a:pPr>
              <a:spcBef>
                <a:spcPts val="0"/>
              </a:spcBef>
              <a:spcAft>
                <a:spcPts val="0"/>
              </a:spcAft>
            </a:pPr>
            <a:r>
              <a:rPr sz="1050">
                <a:solidFill>
                  <a:srgbClr val="161B26"/>
                </a:solidFill>
                <a:latin typeface="Consolas"/>
              </a:rPr>
              <a:t># }</a:t>
            </a:r>
          </a:p>
        </p:txBody>
      </p:sp>
      <p:sp>
        <p:nvSpPr>
          <p:cNvPr id="11" name="TextBox 10"/>
          <p:cNvSpPr txBox="1"/>
          <p:nvPr/>
        </p:nvSpPr>
        <p:spPr>
          <a:xfrm>
            <a:off x="777240" y="3342131"/>
            <a:ext cx="10652760" cy="310896"/>
          </a:xfrm>
          <a:prstGeom prst="rect">
            <a:avLst/>
          </a:prstGeom>
          <a:noFill/>
        </p:spPr>
        <p:txBody>
          <a:bodyPr wrap="square" anchor="t" lIns="0" rIns="0" tIns="0" bIns="0">
            <a:spAutoFit/>
          </a:bodyPr>
          <a:lstStyle/>
          <a:p>
            <a:pPr algn="l">
              <a:spcBef>
                <a:spcPts val="0"/>
              </a:spcBef>
              <a:spcAft>
                <a:spcPts val="400"/>
              </a:spcAft>
            </a:pPr>
            <a:r>
              <a:rPr sz="1300" b="1">
                <a:solidFill>
                  <a:srgbClr val="F59E0B"/>
                </a:solidFill>
                <a:latin typeface="Arial"/>
              </a:rPr>
              <a:t>Note   </a:t>
            </a:r>
            <a:r>
              <a:rPr sz="1300" b="0">
                <a:solidFill>
                  <a:srgbClr val="5B6372"/>
                </a:solidFill>
                <a:latin typeface="Arial"/>
              </a:rPr>
              <a:t>Service name is 'kube-dns' (legacy) even though pods run CoreDNS. Headless services have clusterIP: None. Stub zones forward specific domains to external DNS.</a:t>
            </a:r>
          </a:p>
        </p:txBody>
      </p:sp>
      <p:sp>
        <p:nvSpPr>
          <p:cNvPr id="12" name="TextBox 11"/>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3" name="TextBox 12"/>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4" name="TextBox 13"/>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199</a:t>
            </a:r>
          </a:p>
        </p:txBody>
      </p:sp>
    </p:spTree>
  </p:cSld>
  <p:clrMapOvr>
    <a:masterClrMapping/>
  </p:clrMapOvr>
</p:sld>
</file>

<file path=ppt/slides/slide2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22  ·  TEST IT</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CoreDNS: Corefile Inspection, Service DNS, Headless Services, Stub Zones</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03120"/>
            <a:ext cx="10698480" cy="2560320"/>
          </a:xfrm>
          <a:prstGeom prst="roundRect">
            <a:avLst>
              <a:gd name="adj" fmla="val 5000"/>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lIns="0" rIns="0" tIns="0" bIns="0">
            <a:spAutoFit/>
          </a:bodyPr>
          <a:lstStyle/>
          <a:p>
            <a:pPr algn="l">
              <a:spcBef>
                <a:spcPts val="0"/>
              </a:spcBef>
              <a:spcAft>
                <a:spcPts val="400"/>
              </a:spcAft>
            </a:pPr>
            <a:r>
              <a:rPr sz="2200" b="1">
                <a:solidFill>
                  <a:srgbClr val="127A3E"/>
                </a:solidFill>
                <a:latin typeface="Arial"/>
              </a:rPr>
              <a:t>✅  Test it</a:t>
            </a:r>
          </a:p>
        </p:txBody>
      </p:sp>
      <p:sp>
        <p:nvSpPr>
          <p:cNvPr id="9" name="TextBox 8"/>
          <p:cNvSpPr txBox="1"/>
          <p:nvPr/>
        </p:nvSpPr>
        <p:spPr>
          <a:xfrm>
            <a:off x="1097280" y="3017520"/>
            <a:ext cx="10149840" cy="1463040"/>
          </a:xfrm>
          <a:prstGeom prst="rect">
            <a:avLst/>
          </a:prstGeom>
          <a:noFill/>
        </p:spPr>
        <p:txBody>
          <a:bodyPr wrap="square" anchor="t" lIns="0" rIns="0" tIns="0" bIns="0">
            <a:spAutoFit/>
          </a:bodyPr>
          <a:lstStyle/>
          <a:p>
            <a:pPr algn="l">
              <a:spcBef>
                <a:spcPts val="0"/>
              </a:spcBef>
              <a:spcAft>
                <a:spcPts val="400"/>
              </a:spcAft>
            </a:pPr>
            <a:r>
              <a:rPr sz="1800" b="0">
                <a:solidFill>
                  <a:srgbClr val="161B26"/>
                </a:solidFill>
                <a:latin typeface="Arial"/>
              </a:rPr>
              <a:t>nslookup kubernetes.default resolves to 10.96.0.1. Headless service dig returns one IP per pod. CoreDNS ConfigMap has the Corefile visible.</a:t>
            </a:r>
          </a:p>
        </p:txBody>
      </p:sp>
      <p:sp>
        <p:nvSpPr>
          <p:cNvPr id="10" name="TextBox 9"/>
          <p:cNvSpPr txBox="1"/>
          <p:nvPr/>
        </p:nvSpPr>
        <p:spPr>
          <a:xfrm>
            <a:off x="777240" y="4983480"/>
            <a:ext cx="10698480" cy="365760"/>
          </a:xfrm>
          <a:prstGeom prst="rect">
            <a:avLst/>
          </a:prstGeom>
          <a:noFill/>
        </p:spPr>
        <p:txBody>
          <a:bodyPr wrap="square" anchor="t" lIns="0" rIns="0" tIns="0" bIns="0">
            <a:spAutoFit/>
          </a:bodyPr>
          <a:lstStyle/>
          <a:p>
            <a:pPr algn="l">
              <a:spcBef>
                <a:spcPts val="0"/>
              </a:spcBef>
              <a:spcAft>
                <a:spcPts val="400"/>
              </a:spcAft>
            </a:pPr>
            <a:r>
              <a:rPr sz="1300" b="1">
                <a:solidFill>
                  <a:srgbClr val="10B981"/>
                </a:solidFill>
                <a:latin typeface="Arial"/>
              </a:rPr>
              <a:t>Killercoda:  </a:t>
            </a:r>
            <a:r>
              <a:rPr sz="1300" b="0">
                <a:solidFill>
                  <a:srgbClr val="5B6372"/>
                </a:solidFill>
                <a:latin typeface="Arial"/>
              </a:rPr>
              <a:t>https://killercoda.com/playgrounds/scenario/kubernetes</a:t>
            </a:r>
          </a:p>
        </p:txBody>
      </p:sp>
      <p:sp>
        <p:nvSpPr>
          <p:cNvPr id="11" name="TextBox 10"/>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200</a:t>
            </a:r>
          </a:p>
        </p:txBody>
      </p:sp>
    </p:spTree>
  </p:cSld>
  <p:clrMapOvr>
    <a:masterClrMapping/>
  </p:clrMapOvr>
</p:sld>
</file>

<file path=ppt/slides/slide2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56832"/>
            <a:ext cx="12191695" cy="20116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937760" y="2148840"/>
            <a:ext cx="231343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0" y="2514600"/>
            <a:ext cx="12191695" cy="1097280"/>
          </a:xfrm>
          <a:prstGeom prst="rect">
            <a:avLst/>
          </a:prstGeom>
          <a:noFill/>
        </p:spPr>
        <p:txBody>
          <a:bodyPr wrap="square" anchor="t" lIns="0" rIns="0" tIns="0" bIns="0">
            <a:spAutoFit/>
          </a:bodyPr>
          <a:lstStyle/>
          <a:p>
            <a:pPr algn="ctr">
              <a:spcBef>
                <a:spcPts val="0"/>
              </a:spcBef>
              <a:spcAft>
                <a:spcPts val="400"/>
              </a:spcAft>
            </a:pPr>
            <a:r>
              <a:rPr sz="4800" b="1">
                <a:solidFill>
                  <a:srgbClr val="161B26"/>
                </a:solidFill>
                <a:latin typeface="Arial"/>
              </a:rPr>
              <a:t>Lunch Break</a:t>
            </a:r>
          </a:p>
        </p:txBody>
      </p:sp>
      <p:sp>
        <p:nvSpPr>
          <p:cNvPr id="7" name="TextBox 6"/>
          <p:cNvSpPr txBox="1"/>
          <p:nvPr/>
        </p:nvSpPr>
        <p:spPr>
          <a:xfrm>
            <a:off x="0" y="3703320"/>
            <a:ext cx="12191695" cy="731520"/>
          </a:xfrm>
          <a:prstGeom prst="rect">
            <a:avLst/>
          </a:prstGeom>
          <a:noFill/>
        </p:spPr>
        <p:txBody>
          <a:bodyPr wrap="square" anchor="t" lIns="0" rIns="0" tIns="0" bIns="0">
            <a:spAutoFit/>
          </a:bodyPr>
          <a:lstStyle/>
          <a:p>
            <a:pPr algn="ctr">
              <a:spcBef>
                <a:spcPts val="0"/>
              </a:spcBef>
              <a:spcAft>
                <a:spcPts val="400"/>
              </a:spcAft>
            </a:pPr>
            <a:r>
              <a:rPr sz="2200" b="1">
                <a:solidFill>
                  <a:srgbClr val="1F6FEB"/>
                </a:solidFill>
                <a:latin typeface="Arial"/>
              </a:rPr>
              <a:t>1 hour</a:t>
            </a:r>
          </a:p>
        </p:txBody>
      </p:sp>
    </p:spTree>
  </p:cSld>
  <p:clrMapOvr>
    <a:masterClrMapping/>
  </p:clrMapOvr>
</p:sld>
</file>

<file path=ppt/slides/slide2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lIns="0" rIns="0" tIns="0" bIns="0">
            <a:spAutoFit/>
          </a:bodyPr>
          <a:lstStyle/>
          <a:p>
            <a:pPr algn="l">
              <a:spcBef>
                <a:spcPts val="0"/>
              </a:spcBef>
              <a:spcAft>
                <a:spcPts val="400"/>
              </a:spcAft>
            </a:pPr>
            <a:r>
              <a:rPr sz="1800" b="1">
                <a:solidFill>
                  <a:srgbClr val="1F6FEB"/>
                </a:solidFill>
                <a:latin typeface="Arial"/>
              </a:rPr>
              <a:t>TOPIC 3</a:t>
            </a:r>
          </a:p>
        </p:txBody>
      </p:sp>
      <p:sp>
        <p:nvSpPr>
          <p:cNvPr id="6" name="TextBox 5"/>
          <p:cNvSpPr txBox="1"/>
          <p:nvPr/>
        </p:nvSpPr>
        <p:spPr>
          <a:xfrm>
            <a:off x="1143000" y="2743200"/>
            <a:ext cx="10424160" cy="1463040"/>
          </a:xfrm>
          <a:prstGeom prst="rect">
            <a:avLst/>
          </a:prstGeom>
          <a:noFill/>
        </p:spPr>
        <p:txBody>
          <a:bodyPr wrap="square" anchor="t" lIns="0" rIns="0" tIns="0" bIns="0">
            <a:spAutoFit/>
          </a:bodyPr>
          <a:lstStyle/>
          <a:p>
            <a:pPr algn="l">
              <a:spcBef>
                <a:spcPts val="0"/>
              </a:spcBef>
              <a:spcAft>
                <a:spcPts val="400"/>
              </a:spcAft>
            </a:pPr>
            <a:r>
              <a:rPr sz="4000" b="1">
                <a:solidFill>
                  <a:srgbClr val="161B26"/>
                </a:solidFill>
                <a:latin typeface="Arial"/>
              </a:rPr>
              <a:t>Persistent Storage</a:t>
            </a:r>
          </a:p>
        </p:txBody>
      </p:sp>
      <p:sp>
        <p:nvSpPr>
          <p:cNvPr id="7" name="TextBox 6"/>
          <p:cNvSpPr txBox="1"/>
          <p:nvPr/>
        </p:nvSpPr>
        <p:spPr>
          <a:xfrm>
            <a:off x="1161288" y="4114800"/>
            <a:ext cx="10058400" cy="731520"/>
          </a:xfrm>
          <a:prstGeom prst="rect">
            <a:avLst/>
          </a:prstGeom>
          <a:noFill/>
        </p:spPr>
        <p:txBody>
          <a:bodyPr wrap="square" anchor="t" lIns="0" rIns="0" tIns="0" bIns="0">
            <a:spAutoFit/>
          </a:bodyPr>
          <a:lstStyle/>
          <a:p>
            <a:pPr algn="l">
              <a:spcBef>
                <a:spcPts val="0"/>
              </a:spcBef>
              <a:spcAft>
                <a:spcPts val="400"/>
              </a:spcAft>
            </a:pPr>
            <a:r>
              <a:rPr sz="1600" b="0">
                <a:solidFill>
                  <a:srgbClr val="5B6372"/>
                </a:solidFill>
                <a:latin typeface="Arial"/>
              </a:rPr>
              <a:t>PV, PVC, StorageClass and dynamic provisioning</a:t>
            </a:r>
          </a:p>
        </p:txBody>
      </p:sp>
      <p:sp>
        <p:nvSpPr>
          <p:cNvPr id="8" name="TextBox 7"/>
          <p:cNvSpPr txBox="1"/>
          <p:nvPr/>
        </p:nvSpPr>
        <p:spPr>
          <a:xfrm>
            <a:off x="9418320" y="640080"/>
            <a:ext cx="2286000" cy="1463040"/>
          </a:xfrm>
          <a:prstGeom prst="rect">
            <a:avLst/>
          </a:prstGeom>
          <a:noFill/>
        </p:spPr>
        <p:txBody>
          <a:bodyPr wrap="square" anchor="t" lIns="0" rIns="0" tIns="0" bIns="0">
            <a:spAutoFit/>
          </a:bodyPr>
          <a:lstStyle/>
          <a:p>
            <a:pPr algn="r">
              <a:spcBef>
                <a:spcPts val="0"/>
              </a:spcBef>
              <a:spcAft>
                <a:spcPts val="400"/>
              </a:spcAft>
            </a:pPr>
            <a:r>
              <a:rPr sz="7200" b="1">
                <a:solidFill>
                  <a:srgbClr val="E2E8F0"/>
                </a:solidFill>
                <a:latin typeface="Arial"/>
              </a:rPr>
              <a:t/>
            </a:r>
          </a:p>
        </p:txBody>
      </p:sp>
      <p:sp>
        <p:nvSpPr>
          <p:cNvPr id="9" name="TextBox 8"/>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0" name="TextBox 9"/>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1" name="TextBox 10"/>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202</a:t>
            </a:r>
          </a:p>
        </p:txBody>
      </p:sp>
    </p:spTree>
  </p:cSld>
  <p:clrMapOvr>
    <a:masterClrMapping/>
  </p:clrMapOvr>
</p:sld>
</file>

<file path=ppt/slides/slide2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STORAGE LIFECYCLE</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PersistentVolumes and Claims</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07040" cy="4480560"/>
          </a:xfrm>
          <a:prstGeom prst="rect">
            <a:avLst/>
          </a:prstGeom>
          <a:noFill/>
        </p:spPr>
        <p:txBody>
          <a:bodyPr wrap="square" lIns="0" rIns="0">
            <a:spAutoFit/>
          </a:bodyPr>
          <a:lstStyle/>
          <a:p>
            <a:pPr>
              <a:spcBef>
                <a:spcPts val="0"/>
              </a:spcBef>
              <a:spcAft>
                <a:spcPts val="1000"/>
              </a:spcAft>
            </a:pPr>
            <a:r>
              <a:rPr sz="1900" b="1">
                <a:solidFill>
                  <a:srgbClr val="1F6FEB"/>
                </a:solidFill>
                <a:latin typeface="Arial"/>
              </a:rPr>
              <a:t>•  </a:t>
            </a:r>
            <a:r>
              <a:rPr sz="1900">
                <a:solidFill>
                  <a:srgbClr val="161B26"/>
                </a:solidFill>
                <a:latin typeface="Arial"/>
              </a:rPr>
              <a:t>A PersistentVolume (PV) is a cluster-level storage resource with capacity, accessModes and reclaimPolicy.</a:t>
            </a:r>
          </a:p>
          <a:p>
            <a:pPr>
              <a:spcBef>
                <a:spcPts val="0"/>
              </a:spcBef>
              <a:spcAft>
                <a:spcPts val="1000"/>
              </a:spcAft>
            </a:pPr>
            <a:r>
              <a:rPr sz="1900" b="1">
                <a:solidFill>
                  <a:srgbClr val="1F6FEB"/>
                </a:solidFill>
                <a:latin typeface="Arial"/>
              </a:rPr>
              <a:t>•  </a:t>
            </a:r>
            <a:r>
              <a:rPr sz="1900">
                <a:solidFill>
                  <a:srgbClr val="161B26"/>
                </a:solidFill>
                <a:latin typeface="Arial"/>
              </a:rPr>
              <a:t>A PersistentVolumeClaim (PVC) is a namespaced request that binds to a matching PV.</a:t>
            </a:r>
          </a:p>
          <a:p>
            <a:pPr>
              <a:spcBef>
                <a:spcPts val="0"/>
              </a:spcBef>
              <a:spcAft>
                <a:spcPts val="1000"/>
              </a:spcAft>
            </a:pPr>
            <a:r>
              <a:rPr sz="1900" b="1">
                <a:solidFill>
                  <a:srgbClr val="1F6FEB"/>
                </a:solidFill>
                <a:latin typeface="Arial"/>
              </a:rPr>
              <a:t>•  </a:t>
            </a:r>
            <a:r>
              <a:rPr sz="1900">
                <a:solidFill>
                  <a:srgbClr val="161B26"/>
                </a:solidFill>
                <a:latin typeface="Arial"/>
              </a:rPr>
              <a:t>Access modes: ReadWriteOnce (node), ReadOnlyMany (many nodes), ReadWriteMany (many nodes).</a:t>
            </a:r>
          </a:p>
          <a:p>
            <a:pPr>
              <a:spcBef>
                <a:spcPts val="0"/>
              </a:spcBef>
              <a:spcAft>
                <a:spcPts val="1000"/>
              </a:spcAft>
            </a:pPr>
            <a:r>
              <a:rPr sz="1900" b="1">
                <a:solidFill>
                  <a:srgbClr val="1F6FEB"/>
                </a:solidFill>
                <a:latin typeface="Arial"/>
              </a:rPr>
              <a:t>•  </a:t>
            </a:r>
            <a:r>
              <a:rPr sz="1900">
                <a:solidFill>
                  <a:srgbClr val="161B26"/>
                </a:solidFill>
                <a:latin typeface="Arial"/>
              </a:rPr>
              <a:t>reclaimPolicy Retain keeps data after PVC deletion; Delete removes the underlying volume.</a:t>
            </a:r>
          </a:p>
        </p:txBody>
      </p:sp>
      <p:sp>
        <p:nvSpPr>
          <p:cNvPr id="8" name="TextBox 7"/>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9" name="TextBox 8"/>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203</a:t>
            </a:r>
          </a:p>
        </p:txBody>
      </p:sp>
    </p:spTree>
  </p:cSld>
  <p:clrMapOvr>
    <a:masterClrMapping/>
  </p:clrMapOvr>
</p:sld>
</file>

<file path=ppt/slides/slide2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DOMAIN 4  ·  PERSISTENT STORAGE</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PV, PVC, and Pod</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468880"/>
            <a:ext cx="3063240" cy="1737360"/>
          </a:xfrm>
          <a:prstGeom prst="roundRect">
            <a:avLst>
              <a:gd name="adj" fmla="val 5000"/>
            </a:avLst>
          </a:prstGeom>
          <a:solidFill>
            <a:srgbClr val="EAF1FE"/>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468880"/>
            <a:ext cx="3063240"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86968" y="2578608"/>
            <a:ext cx="2843784" cy="1627632"/>
          </a:xfrm>
          <a:prstGeom prst="rect">
            <a:avLst/>
          </a:prstGeom>
          <a:noFill/>
        </p:spPr>
        <p:txBody>
          <a:bodyPr wrap="square" anchor="ctr" lIns="0" rIns="0" tIns="0" bIns="0">
            <a:spAutoFit/>
          </a:bodyPr>
          <a:lstStyle/>
          <a:p>
            <a:pPr algn="ctr">
              <a:spcBef>
                <a:spcPts val="0"/>
              </a:spcBef>
              <a:spcAft>
                <a:spcPts val="300"/>
              </a:spcAft>
            </a:pPr>
            <a:r>
              <a:rPr sz="1400" b="1">
                <a:solidFill>
                  <a:srgbClr val="161B26"/>
                </a:solidFill>
                <a:latin typeface="Arial"/>
              </a:rPr>
              <a:t>PersistentVolume</a:t>
            </a:r>
          </a:p>
          <a:p>
            <a:pPr algn="ctr">
              <a:spcBef>
                <a:spcPts val="0"/>
              </a:spcBef>
              <a:spcAft>
                <a:spcPts val="300"/>
              </a:spcAft>
            </a:pPr>
            <a:r>
              <a:rPr sz="1100" b="0">
                <a:solidFill>
                  <a:srgbClr val="5B6372"/>
                </a:solidFill>
                <a:latin typeface="Arial"/>
              </a:rPr>
              <a:t>capacity, accessModes</a:t>
            </a:r>
          </a:p>
          <a:p>
            <a:pPr algn="ctr">
              <a:spcBef>
                <a:spcPts val="0"/>
              </a:spcBef>
              <a:spcAft>
                <a:spcPts val="300"/>
              </a:spcAft>
            </a:pPr>
            <a:r>
              <a:rPr sz="1100" b="0">
                <a:solidFill>
                  <a:srgbClr val="5B6372"/>
                </a:solidFill>
                <a:latin typeface="Arial"/>
              </a:rPr>
              <a:t>reclaimPolicy, storageClass</a:t>
            </a:r>
          </a:p>
          <a:p>
            <a:pPr algn="ctr">
              <a:spcBef>
                <a:spcPts val="0"/>
              </a:spcBef>
              <a:spcAft>
                <a:spcPts val="300"/>
              </a:spcAft>
            </a:pPr>
            <a:r>
              <a:rPr sz="1100" b="0">
                <a:solidFill>
                  <a:srgbClr val="5B6372"/>
                </a:solidFill>
                <a:latin typeface="Arial"/>
              </a:rPr>
              <a:t>hostPath / NFS / CSI</a:t>
            </a:r>
          </a:p>
        </p:txBody>
      </p:sp>
      <p:sp>
        <p:nvSpPr>
          <p:cNvPr id="10" name="Right Arrow 9"/>
          <p:cNvSpPr/>
          <p:nvPr/>
        </p:nvSpPr>
        <p:spPr>
          <a:xfrm>
            <a:off x="3840480" y="3136392"/>
            <a:ext cx="731520" cy="402336"/>
          </a:xfrm>
          <a:prstGeom prst="rightArrow">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611880" y="2157984"/>
            <a:ext cx="1188720" cy="292608"/>
          </a:xfrm>
          <a:prstGeom prst="rect">
            <a:avLst/>
          </a:prstGeom>
          <a:noFill/>
        </p:spPr>
        <p:txBody>
          <a:bodyPr wrap="square" anchor="ctr" lIns="0" rIns="0" tIns="0" bIns="0">
            <a:spAutoFit/>
          </a:bodyPr>
          <a:lstStyle/>
          <a:p>
            <a:pPr algn="ctr">
              <a:spcBef>
                <a:spcPts val="0"/>
              </a:spcBef>
              <a:spcAft>
                <a:spcPts val="400"/>
              </a:spcAft>
            </a:pPr>
            <a:r>
              <a:rPr sz="1000" b="1">
                <a:solidFill>
                  <a:srgbClr val="10B981"/>
                </a:solidFill>
                <a:latin typeface="Arial"/>
              </a:rPr>
              <a:t>bound</a:t>
            </a:r>
          </a:p>
        </p:txBody>
      </p:sp>
      <p:sp>
        <p:nvSpPr>
          <p:cNvPr id="12" name="Rounded Rectangle 11"/>
          <p:cNvSpPr/>
          <p:nvPr/>
        </p:nvSpPr>
        <p:spPr>
          <a:xfrm>
            <a:off x="4572000" y="2468880"/>
            <a:ext cx="3063240" cy="1737360"/>
          </a:xfrm>
          <a:prstGeom prst="roundRect">
            <a:avLst>
              <a:gd name="adj" fmla="val 5000"/>
            </a:avLst>
          </a:prstGeom>
          <a:solidFill>
            <a:srgbClr val="E8F7EE"/>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572000" y="2468880"/>
            <a:ext cx="3063240"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681728" y="2578608"/>
            <a:ext cx="2843784" cy="1627632"/>
          </a:xfrm>
          <a:prstGeom prst="rect">
            <a:avLst/>
          </a:prstGeom>
          <a:noFill/>
        </p:spPr>
        <p:txBody>
          <a:bodyPr wrap="square" anchor="ctr" lIns="0" rIns="0" tIns="0" bIns="0">
            <a:spAutoFit/>
          </a:bodyPr>
          <a:lstStyle/>
          <a:p>
            <a:pPr algn="ctr">
              <a:spcBef>
                <a:spcPts val="0"/>
              </a:spcBef>
              <a:spcAft>
                <a:spcPts val="300"/>
              </a:spcAft>
            </a:pPr>
            <a:r>
              <a:rPr sz="1400" b="1">
                <a:solidFill>
                  <a:srgbClr val="161B26"/>
                </a:solidFill>
                <a:latin typeface="Arial"/>
              </a:rPr>
              <a:t>PersistentVolumeClaim</a:t>
            </a:r>
          </a:p>
          <a:p>
            <a:pPr algn="ctr">
              <a:spcBef>
                <a:spcPts val="0"/>
              </a:spcBef>
              <a:spcAft>
                <a:spcPts val="300"/>
              </a:spcAft>
            </a:pPr>
            <a:r>
              <a:rPr sz="1100" b="0">
                <a:solidFill>
                  <a:srgbClr val="5B6372"/>
                </a:solidFill>
                <a:latin typeface="Arial"/>
              </a:rPr>
              <a:t>requests storage size</a:t>
            </a:r>
          </a:p>
          <a:p>
            <a:pPr algn="ctr">
              <a:spcBef>
                <a:spcPts val="0"/>
              </a:spcBef>
              <a:spcAft>
                <a:spcPts val="300"/>
              </a:spcAft>
            </a:pPr>
            <a:r>
              <a:rPr sz="1100" b="0">
                <a:solidFill>
                  <a:srgbClr val="5B6372"/>
                </a:solidFill>
                <a:latin typeface="Arial"/>
              </a:rPr>
              <a:t>accessModes match</a:t>
            </a:r>
          </a:p>
          <a:p>
            <a:pPr algn="ctr">
              <a:spcBef>
                <a:spcPts val="0"/>
              </a:spcBef>
              <a:spcAft>
                <a:spcPts val="300"/>
              </a:spcAft>
            </a:pPr>
            <a:r>
              <a:rPr sz="1100" b="0">
                <a:solidFill>
                  <a:srgbClr val="5B6372"/>
                </a:solidFill>
                <a:latin typeface="Arial"/>
              </a:rPr>
              <a:t>binds to best PV</a:t>
            </a:r>
          </a:p>
        </p:txBody>
      </p:sp>
      <p:sp>
        <p:nvSpPr>
          <p:cNvPr id="15" name="Right Arrow 14"/>
          <p:cNvSpPr/>
          <p:nvPr/>
        </p:nvSpPr>
        <p:spPr>
          <a:xfrm>
            <a:off x="7635240" y="3136392"/>
            <a:ext cx="731520" cy="402336"/>
          </a:xfrm>
          <a:prstGeom prst="rightArrow">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406640" y="2157984"/>
            <a:ext cx="1188720" cy="292608"/>
          </a:xfrm>
          <a:prstGeom prst="rect">
            <a:avLst/>
          </a:prstGeom>
          <a:noFill/>
        </p:spPr>
        <p:txBody>
          <a:bodyPr wrap="square" anchor="ctr" lIns="0" rIns="0" tIns="0" bIns="0">
            <a:spAutoFit/>
          </a:bodyPr>
          <a:lstStyle/>
          <a:p>
            <a:pPr algn="ctr">
              <a:spcBef>
                <a:spcPts val="0"/>
              </a:spcBef>
              <a:spcAft>
                <a:spcPts val="400"/>
              </a:spcAft>
            </a:pPr>
            <a:r>
              <a:rPr sz="1000" b="1">
                <a:solidFill>
                  <a:srgbClr val="10B981"/>
                </a:solidFill>
                <a:latin typeface="Arial"/>
              </a:rPr>
              <a:t>mounted in</a:t>
            </a:r>
          </a:p>
        </p:txBody>
      </p:sp>
      <p:sp>
        <p:nvSpPr>
          <p:cNvPr id="17" name="Rounded Rectangle 16"/>
          <p:cNvSpPr/>
          <p:nvPr/>
        </p:nvSpPr>
        <p:spPr>
          <a:xfrm>
            <a:off x="8366760" y="2468880"/>
            <a:ext cx="3063240" cy="1737360"/>
          </a:xfrm>
          <a:prstGeom prst="roundRect">
            <a:avLst>
              <a:gd name="adj" fmla="val 5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76488" y="2468880"/>
            <a:ext cx="2843784" cy="1737360"/>
          </a:xfrm>
          <a:prstGeom prst="rect">
            <a:avLst/>
          </a:prstGeom>
          <a:noFill/>
        </p:spPr>
        <p:txBody>
          <a:bodyPr wrap="square" anchor="ctr" lIns="0" rIns="0" tIns="0" bIns="0">
            <a:spAutoFit/>
          </a:bodyPr>
          <a:lstStyle/>
          <a:p>
            <a:pPr algn="ctr">
              <a:spcBef>
                <a:spcPts val="0"/>
              </a:spcBef>
              <a:spcAft>
                <a:spcPts val="300"/>
              </a:spcAft>
            </a:pPr>
            <a:r>
              <a:rPr sz="1400" b="1">
                <a:solidFill>
                  <a:srgbClr val="161B26"/>
                </a:solidFill>
                <a:latin typeface="Arial"/>
              </a:rPr>
              <a:t>Pod</a:t>
            </a:r>
          </a:p>
          <a:p>
            <a:pPr algn="ctr">
              <a:spcBef>
                <a:spcPts val="0"/>
              </a:spcBef>
              <a:spcAft>
                <a:spcPts val="300"/>
              </a:spcAft>
            </a:pPr>
            <a:r>
              <a:rPr sz="1100" b="0">
                <a:solidFill>
                  <a:srgbClr val="5B6372"/>
                </a:solidFill>
                <a:latin typeface="Arial"/>
              </a:rPr>
              <a:t>volumes: [{pvc: claim}]</a:t>
            </a:r>
          </a:p>
          <a:p>
            <a:pPr algn="ctr">
              <a:spcBef>
                <a:spcPts val="0"/>
              </a:spcBef>
              <a:spcAft>
                <a:spcPts val="300"/>
              </a:spcAft>
            </a:pPr>
            <a:r>
              <a:rPr sz="1100" b="0">
                <a:solidFill>
                  <a:srgbClr val="5B6372"/>
                </a:solidFill>
                <a:latin typeface="Arial"/>
              </a:rPr>
              <a:t>volumeMounts: [{mountPath}]</a:t>
            </a:r>
          </a:p>
        </p:txBody>
      </p:sp>
      <p:sp>
        <p:nvSpPr>
          <p:cNvPr id="19" name="Rounded Rectangle 18"/>
          <p:cNvSpPr/>
          <p:nvPr/>
        </p:nvSpPr>
        <p:spPr>
          <a:xfrm>
            <a:off x="777240" y="5943600"/>
            <a:ext cx="10652760" cy="502920"/>
          </a:xfrm>
          <a:prstGeom prst="roundRect">
            <a:avLst>
              <a:gd name="adj" fmla="val 5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51560" y="5943600"/>
            <a:ext cx="10149840" cy="502920"/>
          </a:xfrm>
          <a:prstGeom prst="rect">
            <a:avLst/>
          </a:prstGeom>
          <a:noFill/>
        </p:spPr>
        <p:txBody>
          <a:bodyPr wrap="square" anchor="ctr" lIns="0" rIns="0" tIns="0" bIns="0">
            <a:spAutoFit/>
          </a:bodyPr>
          <a:lstStyle/>
          <a:p>
            <a:pPr algn="l">
              <a:spcBef>
                <a:spcPts val="0"/>
              </a:spcBef>
              <a:spcAft>
                <a:spcPts val="400"/>
              </a:spcAft>
            </a:pPr>
            <a:r>
              <a:rPr sz="1300" b="0">
                <a:solidFill>
                  <a:srgbClr val="5B6372"/>
                </a:solidFill>
                <a:latin typeface="Arial"/>
              </a:rPr>
              <a:t>Dynamic: PVC → </a:t>
            </a:r>
            <a:r>
              <a:rPr sz="1300" b="1">
                <a:solidFill>
                  <a:srgbClr val="161B26"/>
                </a:solidFill>
                <a:latin typeface="Arial"/>
              </a:rPr>
              <a:t>StorageClass</a:t>
            </a:r>
            <a:r>
              <a:rPr sz="1300" b="0">
                <a:solidFill>
                  <a:srgbClr val="5B6372"/>
                </a:solidFill>
                <a:latin typeface="Arial"/>
              </a:rPr>
              <a:t> → CSI provisioner creates PV on demand. </a:t>
            </a:r>
            <a:r>
              <a:rPr sz="1300" b="1">
                <a:solidFill>
                  <a:srgbClr val="1F6FEB"/>
                </a:solidFill>
                <a:latin typeface="Arial"/>
              </a:rPr>
              <a:t>Retain</a:t>
            </a:r>
            <a:r>
              <a:rPr sz="1300" b="0">
                <a:solidFill>
                  <a:srgbClr val="5B6372"/>
                </a:solidFill>
                <a:latin typeface="Arial"/>
              </a:rPr>
              <a:t> keeps data; </a:t>
            </a:r>
            <a:r>
              <a:rPr sz="1300" b="1">
                <a:solidFill>
                  <a:srgbClr val="DC2626"/>
                </a:solidFill>
                <a:latin typeface="Arial"/>
              </a:rPr>
              <a:t>Delete</a:t>
            </a:r>
            <a:r>
              <a:rPr sz="1300" b="0">
                <a:solidFill>
                  <a:srgbClr val="5B6372"/>
                </a:solidFill>
                <a:latin typeface="Arial"/>
              </a:rPr>
              <a:t> removes it.</a:t>
            </a:r>
          </a:p>
        </p:txBody>
      </p:sp>
      <p:sp>
        <p:nvSpPr>
          <p:cNvPr id="21" name="TextBox 20"/>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22" name="TextBox 2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23" name="TextBox 2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204</a:t>
            </a:r>
          </a:p>
        </p:txBody>
      </p:sp>
    </p:spTree>
  </p:cSld>
  <p:clrMapOvr>
    <a:masterClrMapping/>
  </p:clrMapOvr>
</p:sld>
</file>

<file path=ppt/slides/slide2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STORAGE LIFECYCLE</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Persistent Volume — Lifecycle Architecture</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day2_s059_i1.jpg"/>
          <p:cNvPicPr>
            <a:picLocks noChangeAspect="1"/>
          </p:cNvPicPr>
          <p:nvPr/>
        </p:nvPicPr>
        <p:blipFill>
          <a:blip r:embed="rId2"/>
          <a:stretch>
            <a:fillRect/>
          </a:stretch>
        </p:blipFill>
        <p:spPr>
          <a:xfrm>
            <a:off x="777240" y="2883469"/>
            <a:ext cx="10652760" cy="2032893"/>
          </a:xfrm>
          <a:prstGeom prst="rect">
            <a:avLst/>
          </a:prstGeom>
        </p:spPr>
      </p:pic>
      <p:sp>
        <p:nvSpPr>
          <p:cNvPr id="8" name="TextBox 7"/>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9" name="TextBox 8"/>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205</a:t>
            </a:r>
          </a:p>
        </p:txBody>
      </p:sp>
    </p:spTree>
  </p:cSld>
  <p:clrMapOvr>
    <a:masterClrMapping/>
  </p:clrMapOvr>
</p:sld>
</file>

<file path=ppt/slides/slide2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DYNAMIC STORAGE</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StorageClass &amp; Dynamic Provisioning</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07040" cy="4480560"/>
          </a:xfrm>
          <a:prstGeom prst="rect">
            <a:avLst/>
          </a:prstGeom>
          <a:noFill/>
        </p:spPr>
        <p:txBody>
          <a:bodyPr wrap="square" lIns="0" rIns="0">
            <a:spAutoFit/>
          </a:bodyPr>
          <a:lstStyle/>
          <a:p>
            <a:pPr>
              <a:spcBef>
                <a:spcPts val="0"/>
              </a:spcBef>
              <a:spcAft>
                <a:spcPts val="1000"/>
              </a:spcAft>
            </a:pPr>
            <a:r>
              <a:rPr sz="1900" b="1">
                <a:solidFill>
                  <a:srgbClr val="1F6FEB"/>
                </a:solidFill>
                <a:latin typeface="Arial"/>
              </a:rPr>
              <a:t>•  </a:t>
            </a:r>
            <a:r>
              <a:rPr sz="1900">
                <a:solidFill>
                  <a:srgbClr val="161B26"/>
                </a:solidFill>
                <a:latin typeface="Arial"/>
              </a:rPr>
              <a:t>A StorageClass references a CSI provisioner that creates PVs on demand when a PVC is submitted.</a:t>
            </a:r>
          </a:p>
          <a:p>
            <a:pPr>
              <a:spcBef>
                <a:spcPts val="0"/>
              </a:spcBef>
              <a:spcAft>
                <a:spcPts val="1000"/>
              </a:spcAft>
            </a:pPr>
            <a:r>
              <a:rPr sz="1900" b="1">
                <a:solidFill>
                  <a:srgbClr val="1F6FEB"/>
                </a:solidFill>
                <a:latin typeface="Arial"/>
              </a:rPr>
              <a:t>•  </a:t>
            </a:r>
            <a:r>
              <a:rPr sz="1900">
                <a:solidFill>
                  <a:srgbClr val="161B26"/>
                </a:solidFill>
                <a:latin typeface="Arial"/>
              </a:rPr>
              <a:t>The default StorageClass is annotated storageclass.kubernetes.io/is-default-class: 'true'.</a:t>
            </a:r>
          </a:p>
          <a:p>
            <a:pPr>
              <a:spcBef>
                <a:spcPts val="0"/>
              </a:spcBef>
              <a:spcAft>
                <a:spcPts val="1000"/>
              </a:spcAft>
            </a:pPr>
            <a:r>
              <a:rPr sz="1900" b="1">
                <a:solidFill>
                  <a:srgbClr val="1F6FEB"/>
                </a:solidFill>
                <a:latin typeface="Arial"/>
              </a:rPr>
              <a:t>•  </a:t>
            </a:r>
            <a:r>
              <a:rPr sz="1900">
                <a:solidFill>
                  <a:srgbClr val="161B26"/>
                </a:solidFill>
                <a:latin typeface="Arial"/>
              </a:rPr>
              <a:t>PVC without storageClassName uses the default class automatically.</a:t>
            </a:r>
          </a:p>
          <a:p>
            <a:pPr>
              <a:spcBef>
                <a:spcPts val="0"/>
              </a:spcBef>
              <a:spcAft>
                <a:spcPts val="1000"/>
              </a:spcAft>
            </a:pPr>
            <a:r>
              <a:rPr sz="1900" b="1">
                <a:solidFill>
                  <a:srgbClr val="1F6FEB"/>
                </a:solidFill>
                <a:latin typeface="Arial"/>
              </a:rPr>
              <a:t>•  </a:t>
            </a:r>
            <a:r>
              <a:rPr sz="1900">
                <a:solidFill>
                  <a:srgbClr val="161B26"/>
                </a:solidFill>
                <a:latin typeface="Arial"/>
              </a:rPr>
              <a:t>StatefulSet volumeClaimTemplates give each replica its own PVC — they are not auto-deleted on scale-down.</a:t>
            </a:r>
          </a:p>
        </p:txBody>
      </p:sp>
      <p:sp>
        <p:nvSpPr>
          <p:cNvPr id="8" name="TextBox 7"/>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9" name="TextBox 8"/>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206</a:t>
            </a:r>
          </a:p>
        </p:txBody>
      </p:sp>
    </p:spTree>
  </p:cSld>
  <p:clrMapOvr>
    <a:masterClrMapping/>
  </p:clrMapOvr>
</p:sld>
</file>

<file path=ppt/slides/slide2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DOMAIN 4  ·  DYNAMIC STORAGE</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StorageClass — Dynamic Provisioning</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468880"/>
            <a:ext cx="2114550" cy="1737360"/>
          </a:xfrm>
          <a:prstGeom prst="roundRect">
            <a:avLst>
              <a:gd name="adj" fmla="val 5000"/>
            </a:avLst>
          </a:prstGeom>
          <a:solidFill>
            <a:srgbClr val="E8F7EE"/>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468880"/>
            <a:ext cx="2114550"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86968" y="2578608"/>
            <a:ext cx="1895094" cy="1627632"/>
          </a:xfrm>
          <a:prstGeom prst="rect">
            <a:avLst/>
          </a:prstGeom>
          <a:noFill/>
        </p:spPr>
        <p:txBody>
          <a:bodyPr wrap="square" anchor="ctr" lIns="0" rIns="0" tIns="0" bIns="0">
            <a:spAutoFit/>
          </a:bodyPr>
          <a:lstStyle/>
          <a:p>
            <a:pPr algn="ctr">
              <a:spcBef>
                <a:spcPts val="0"/>
              </a:spcBef>
              <a:spcAft>
                <a:spcPts val="300"/>
              </a:spcAft>
            </a:pPr>
            <a:r>
              <a:rPr sz="1500" b="1">
                <a:solidFill>
                  <a:srgbClr val="161B26"/>
                </a:solidFill>
                <a:latin typeface="Arial"/>
              </a:rPr>
              <a:t>PVC</a:t>
            </a:r>
          </a:p>
          <a:p>
            <a:pPr algn="ctr">
              <a:spcBef>
                <a:spcPts val="0"/>
              </a:spcBef>
              <a:spcAft>
                <a:spcPts val="300"/>
              </a:spcAft>
            </a:pPr>
            <a:r>
              <a:rPr sz="1100" b="0">
                <a:solidFill>
                  <a:srgbClr val="5B6372"/>
                </a:solidFill>
                <a:latin typeface="Arial"/>
              </a:rPr>
              <a:t>storageClassName: fast</a:t>
            </a:r>
          </a:p>
          <a:p>
            <a:pPr algn="ctr">
              <a:spcBef>
                <a:spcPts val="0"/>
              </a:spcBef>
              <a:spcAft>
                <a:spcPts val="300"/>
              </a:spcAft>
            </a:pPr>
            <a:r>
              <a:rPr sz="1100" b="0">
                <a:solidFill>
                  <a:srgbClr val="5B6372"/>
                </a:solidFill>
                <a:latin typeface="Arial"/>
              </a:rPr>
              <a:t>storage: 10Gi</a:t>
            </a:r>
          </a:p>
          <a:p>
            <a:pPr algn="ctr">
              <a:spcBef>
                <a:spcPts val="0"/>
              </a:spcBef>
              <a:spcAft>
                <a:spcPts val="300"/>
              </a:spcAft>
            </a:pPr>
            <a:r>
              <a:rPr sz="1100" b="0">
                <a:solidFill>
                  <a:srgbClr val="5B6372"/>
                </a:solidFill>
                <a:latin typeface="Arial"/>
              </a:rPr>
              <a:t>accessModes: RWO</a:t>
            </a:r>
          </a:p>
        </p:txBody>
      </p:sp>
      <p:sp>
        <p:nvSpPr>
          <p:cNvPr id="10" name="Right Arrow 9"/>
          <p:cNvSpPr/>
          <p:nvPr/>
        </p:nvSpPr>
        <p:spPr>
          <a:xfrm>
            <a:off x="2891790" y="3136392"/>
            <a:ext cx="731520" cy="402336"/>
          </a:xfrm>
          <a:prstGeom prst="rightArrow">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663190" y="2157984"/>
            <a:ext cx="1188720" cy="292608"/>
          </a:xfrm>
          <a:prstGeom prst="rect">
            <a:avLst/>
          </a:prstGeom>
          <a:noFill/>
        </p:spPr>
        <p:txBody>
          <a:bodyPr wrap="square" anchor="ctr" lIns="0" rIns="0" tIns="0" bIns="0">
            <a:spAutoFit/>
          </a:bodyPr>
          <a:lstStyle/>
          <a:p>
            <a:pPr algn="ctr">
              <a:spcBef>
                <a:spcPts val="0"/>
              </a:spcBef>
              <a:spcAft>
                <a:spcPts val="400"/>
              </a:spcAft>
            </a:pPr>
            <a:r>
              <a:rPr sz="1000" b="1">
                <a:solidFill>
                  <a:srgbClr val="10B981"/>
                </a:solidFill>
                <a:latin typeface="Arial"/>
              </a:rPr>
              <a:t>references</a:t>
            </a:r>
          </a:p>
        </p:txBody>
      </p:sp>
      <p:sp>
        <p:nvSpPr>
          <p:cNvPr id="12" name="Rounded Rectangle 11"/>
          <p:cNvSpPr/>
          <p:nvPr/>
        </p:nvSpPr>
        <p:spPr>
          <a:xfrm>
            <a:off x="3623310" y="2468880"/>
            <a:ext cx="2114550" cy="1737360"/>
          </a:xfrm>
          <a:prstGeom prst="roundRect">
            <a:avLst>
              <a:gd name="adj" fmla="val 5000"/>
            </a:avLst>
          </a:prstGeom>
          <a:solidFill>
            <a:srgbClr val="EAF1FE"/>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623310" y="2468880"/>
            <a:ext cx="2114550"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733038" y="2578608"/>
            <a:ext cx="1895094" cy="1627632"/>
          </a:xfrm>
          <a:prstGeom prst="rect">
            <a:avLst/>
          </a:prstGeom>
          <a:noFill/>
        </p:spPr>
        <p:txBody>
          <a:bodyPr wrap="square" anchor="ctr" lIns="0" rIns="0" tIns="0" bIns="0">
            <a:spAutoFit/>
          </a:bodyPr>
          <a:lstStyle/>
          <a:p>
            <a:pPr algn="ctr">
              <a:spcBef>
                <a:spcPts val="0"/>
              </a:spcBef>
              <a:spcAft>
                <a:spcPts val="300"/>
              </a:spcAft>
            </a:pPr>
            <a:r>
              <a:rPr sz="1500" b="1">
                <a:solidFill>
                  <a:srgbClr val="161B26"/>
                </a:solidFill>
                <a:latin typeface="Arial"/>
              </a:rPr>
              <a:t>StorageClass</a:t>
            </a:r>
          </a:p>
          <a:p>
            <a:pPr algn="ctr">
              <a:spcBef>
                <a:spcPts val="0"/>
              </a:spcBef>
              <a:spcAft>
                <a:spcPts val="300"/>
              </a:spcAft>
            </a:pPr>
            <a:r>
              <a:rPr sz="1100" b="0">
                <a:solidFill>
                  <a:srgbClr val="5B6372"/>
                </a:solidFill>
                <a:latin typeface="Arial"/>
              </a:rPr>
              <a:t>provisioner: ebs.csi.aws.com</a:t>
            </a:r>
          </a:p>
          <a:p>
            <a:pPr algn="ctr">
              <a:spcBef>
                <a:spcPts val="0"/>
              </a:spcBef>
              <a:spcAft>
                <a:spcPts val="300"/>
              </a:spcAft>
            </a:pPr>
            <a:r>
              <a:rPr sz="1100" b="0">
                <a:solidFill>
                  <a:srgbClr val="5B6372"/>
                </a:solidFill>
                <a:latin typeface="Arial"/>
              </a:rPr>
              <a:t>reclaimPolicy: Delete</a:t>
            </a:r>
          </a:p>
        </p:txBody>
      </p:sp>
      <p:sp>
        <p:nvSpPr>
          <p:cNvPr id="15" name="Right Arrow 14"/>
          <p:cNvSpPr/>
          <p:nvPr/>
        </p:nvSpPr>
        <p:spPr>
          <a:xfrm>
            <a:off x="5737860" y="3136392"/>
            <a:ext cx="731520" cy="402336"/>
          </a:xfrm>
          <a:prstGeom prst="rightArrow">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509260" y="2157984"/>
            <a:ext cx="1188720" cy="292608"/>
          </a:xfrm>
          <a:prstGeom prst="rect">
            <a:avLst/>
          </a:prstGeom>
          <a:noFill/>
        </p:spPr>
        <p:txBody>
          <a:bodyPr wrap="square" anchor="ctr" lIns="0" rIns="0" tIns="0" bIns="0">
            <a:spAutoFit/>
          </a:bodyPr>
          <a:lstStyle/>
          <a:p>
            <a:pPr algn="ctr">
              <a:spcBef>
                <a:spcPts val="0"/>
              </a:spcBef>
              <a:spcAft>
                <a:spcPts val="400"/>
              </a:spcAft>
            </a:pPr>
            <a:r>
              <a:rPr sz="1000" b="1">
                <a:solidFill>
                  <a:srgbClr val="10B981"/>
                </a:solidFill>
                <a:latin typeface="Arial"/>
              </a:rPr>
              <a:t>calls</a:t>
            </a:r>
          </a:p>
        </p:txBody>
      </p:sp>
      <p:sp>
        <p:nvSpPr>
          <p:cNvPr id="17" name="Rounded Rectangle 16"/>
          <p:cNvSpPr/>
          <p:nvPr/>
        </p:nvSpPr>
        <p:spPr>
          <a:xfrm>
            <a:off x="6469380" y="2468880"/>
            <a:ext cx="2114550" cy="1737360"/>
          </a:xfrm>
          <a:prstGeom prst="roundRect">
            <a:avLst>
              <a:gd name="adj" fmla="val 5000"/>
            </a:avLst>
          </a:prstGeom>
          <a:solidFill>
            <a:srgbClr val="F1EBFD"/>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469380" y="2468880"/>
            <a:ext cx="2114550"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579108" y="2578608"/>
            <a:ext cx="1895094" cy="1627632"/>
          </a:xfrm>
          <a:prstGeom prst="rect">
            <a:avLst/>
          </a:prstGeom>
          <a:noFill/>
        </p:spPr>
        <p:txBody>
          <a:bodyPr wrap="square" anchor="ctr" lIns="0" rIns="0" tIns="0" bIns="0">
            <a:spAutoFit/>
          </a:bodyPr>
          <a:lstStyle/>
          <a:p>
            <a:pPr algn="ctr">
              <a:spcBef>
                <a:spcPts val="0"/>
              </a:spcBef>
              <a:spcAft>
                <a:spcPts val="300"/>
              </a:spcAft>
            </a:pPr>
            <a:r>
              <a:rPr sz="1500" b="1">
                <a:solidFill>
                  <a:srgbClr val="161B26"/>
                </a:solidFill>
                <a:latin typeface="Arial"/>
              </a:rPr>
              <a:t>CSI Driver</a:t>
            </a:r>
          </a:p>
          <a:p>
            <a:pPr algn="ctr">
              <a:spcBef>
                <a:spcPts val="0"/>
              </a:spcBef>
              <a:spcAft>
                <a:spcPts val="300"/>
              </a:spcAft>
            </a:pPr>
            <a:r>
              <a:rPr sz="1100" b="0">
                <a:solidFill>
                  <a:srgbClr val="5B6372"/>
                </a:solidFill>
                <a:latin typeface="Arial"/>
              </a:rPr>
              <a:t>creates volume on</a:t>
            </a:r>
          </a:p>
          <a:p>
            <a:pPr algn="ctr">
              <a:spcBef>
                <a:spcPts val="0"/>
              </a:spcBef>
              <a:spcAft>
                <a:spcPts val="300"/>
              </a:spcAft>
            </a:pPr>
            <a:r>
              <a:rPr sz="1100" b="0">
                <a:solidFill>
                  <a:srgbClr val="5B6372"/>
                </a:solidFill>
                <a:latin typeface="Arial"/>
              </a:rPr>
              <a:t>cloud / NFS / hostPath</a:t>
            </a:r>
          </a:p>
        </p:txBody>
      </p:sp>
      <p:sp>
        <p:nvSpPr>
          <p:cNvPr id="20" name="Right Arrow 19"/>
          <p:cNvSpPr/>
          <p:nvPr/>
        </p:nvSpPr>
        <p:spPr>
          <a:xfrm>
            <a:off x="8583930" y="3136392"/>
            <a:ext cx="731520" cy="402336"/>
          </a:xfrm>
          <a:prstGeom prst="rightArrow">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355330" y="2157984"/>
            <a:ext cx="1188720" cy="292608"/>
          </a:xfrm>
          <a:prstGeom prst="rect">
            <a:avLst/>
          </a:prstGeom>
          <a:noFill/>
        </p:spPr>
        <p:txBody>
          <a:bodyPr wrap="square" anchor="ctr" lIns="0" rIns="0" tIns="0" bIns="0">
            <a:spAutoFit/>
          </a:bodyPr>
          <a:lstStyle/>
          <a:p>
            <a:pPr algn="ctr">
              <a:spcBef>
                <a:spcPts val="0"/>
              </a:spcBef>
              <a:spcAft>
                <a:spcPts val="400"/>
              </a:spcAft>
            </a:pPr>
            <a:r>
              <a:rPr sz="1000" b="1">
                <a:solidFill>
                  <a:srgbClr val="10B981"/>
                </a:solidFill>
                <a:latin typeface="Arial"/>
              </a:rPr>
              <a:t>creates</a:t>
            </a:r>
          </a:p>
        </p:txBody>
      </p:sp>
      <p:sp>
        <p:nvSpPr>
          <p:cNvPr id="22" name="Rounded Rectangle 21"/>
          <p:cNvSpPr/>
          <p:nvPr/>
        </p:nvSpPr>
        <p:spPr>
          <a:xfrm>
            <a:off x="9315450" y="2468880"/>
            <a:ext cx="2114550" cy="1737360"/>
          </a:xfrm>
          <a:prstGeom prst="roundRect">
            <a:avLst>
              <a:gd name="adj" fmla="val 5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425178" y="2468880"/>
            <a:ext cx="1895094" cy="1737360"/>
          </a:xfrm>
          <a:prstGeom prst="rect">
            <a:avLst/>
          </a:prstGeom>
          <a:noFill/>
        </p:spPr>
        <p:txBody>
          <a:bodyPr wrap="square" anchor="ctr" lIns="0" rIns="0" tIns="0" bIns="0">
            <a:spAutoFit/>
          </a:bodyPr>
          <a:lstStyle/>
          <a:p>
            <a:pPr algn="ctr">
              <a:spcBef>
                <a:spcPts val="0"/>
              </a:spcBef>
              <a:spcAft>
                <a:spcPts val="300"/>
              </a:spcAft>
            </a:pPr>
            <a:r>
              <a:rPr sz="1500" b="1">
                <a:solidFill>
                  <a:srgbClr val="161B26"/>
                </a:solidFill>
                <a:latin typeface="Arial"/>
              </a:rPr>
              <a:t>PV (auto)</a:t>
            </a:r>
          </a:p>
          <a:p>
            <a:pPr algn="ctr">
              <a:spcBef>
                <a:spcPts val="0"/>
              </a:spcBef>
              <a:spcAft>
                <a:spcPts val="300"/>
              </a:spcAft>
            </a:pPr>
            <a:r>
              <a:rPr sz="1100" b="0">
                <a:solidFill>
                  <a:srgbClr val="5B6372"/>
                </a:solidFill>
                <a:latin typeface="Arial"/>
              </a:rPr>
              <a:t>bound to PVC</a:t>
            </a:r>
          </a:p>
          <a:p>
            <a:pPr algn="ctr">
              <a:spcBef>
                <a:spcPts val="0"/>
              </a:spcBef>
              <a:spcAft>
                <a:spcPts val="300"/>
              </a:spcAft>
            </a:pPr>
            <a:r>
              <a:rPr sz="1100" b="0">
                <a:solidFill>
                  <a:srgbClr val="5B6372"/>
                </a:solidFill>
                <a:latin typeface="Arial"/>
              </a:rPr>
              <a:t>capacity matches request</a:t>
            </a:r>
          </a:p>
        </p:txBody>
      </p:sp>
      <p:sp>
        <p:nvSpPr>
          <p:cNvPr id="24" name="Rounded Rectangle 23"/>
          <p:cNvSpPr/>
          <p:nvPr/>
        </p:nvSpPr>
        <p:spPr>
          <a:xfrm>
            <a:off x="777240" y="5943600"/>
            <a:ext cx="10652760" cy="502920"/>
          </a:xfrm>
          <a:prstGeom prst="roundRect">
            <a:avLst>
              <a:gd name="adj" fmla="val 5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51560" y="5943600"/>
            <a:ext cx="10149840" cy="502920"/>
          </a:xfrm>
          <a:prstGeom prst="rect">
            <a:avLst/>
          </a:prstGeom>
          <a:noFill/>
        </p:spPr>
        <p:txBody>
          <a:bodyPr wrap="square" anchor="ctr" lIns="0" rIns="0" tIns="0" bIns="0">
            <a:spAutoFit/>
          </a:bodyPr>
          <a:lstStyle/>
          <a:p>
            <a:pPr algn="l">
              <a:spcBef>
                <a:spcPts val="0"/>
              </a:spcBef>
              <a:spcAft>
                <a:spcPts val="400"/>
              </a:spcAft>
            </a:pPr>
            <a:r>
              <a:rPr sz="1300" b="0">
                <a:solidFill>
                  <a:srgbClr val="5B6372"/>
                </a:solidFill>
                <a:latin typeface="Arial"/>
              </a:rPr>
              <a:t>PVC without storageClassName uses the </a:t>
            </a:r>
            <a:r>
              <a:rPr sz="1300" b="1">
                <a:solidFill>
                  <a:srgbClr val="161B26"/>
                </a:solidFill>
                <a:latin typeface="Arial"/>
              </a:rPr>
              <a:t>default StorageClass</a:t>
            </a:r>
            <a:r>
              <a:rPr sz="1300" b="0">
                <a:solidFill>
                  <a:srgbClr val="5B6372"/>
                </a:solidFill>
                <a:latin typeface="Arial"/>
              </a:rPr>
              <a:t>. reclaimPolicy Delete removes PV on PVC deletion; Retain keeps data.</a:t>
            </a:r>
          </a:p>
        </p:txBody>
      </p:sp>
      <p:sp>
        <p:nvSpPr>
          <p:cNvPr id="26" name="TextBox 25"/>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27" name="TextBox 26"/>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28" name="TextBox 27"/>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207</a:t>
            </a:r>
          </a:p>
        </p:txBody>
      </p:sp>
    </p:spTree>
  </p:cSld>
  <p:clrMapOvr>
    <a:masterClrMapping/>
  </p:clrMapOvr>
</p:sld>
</file>

<file path=ppt/slides/slide2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DAY 3 · PV AND PVC</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PersistentVolume and PVC: Static Provisioning, Access Modes, Reclaim Policies</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64208"/>
            <a:ext cx="169164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09928"/>
            <a:ext cx="1691640" cy="365760"/>
          </a:xfrm>
          <a:prstGeom prst="rect">
            <a:avLst/>
          </a:prstGeom>
          <a:noFill/>
        </p:spPr>
        <p:txBody>
          <a:bodyPr wrap="square" anchor="t" lIns="0" rIns="0" tIns="0" bIns="0">
            <a:spAutoFit/>
          </a:bodyPr>
          <a:lstStyle/>
          <a:p>
            <a:pPr algn="ctr">
              <a:spcBef>
                <a:spcPts val="0"/>
              </a:spcBef>
              <a:spcAft>
                <a:spcPts val="400"/>
              </a:spcAft>
            </a:pPr>
            <a:r>
              <a:rPr sz="1600" b="1">
                <a:solidFill>
                  <a:srgbClr val="FFFFFF"/>
                </a:solidFill>
                <a:latin typeface="Arial"/>
              </a:rPr>
              <a:t>LAB 23</a:t>
            </a:r>
          </a:p>
        </p:txBody>
      </p:sp>
      <p:sp>
        <p:nvSpPr>
          <p:cNvPr id="9" name="TextBox 8"/>
          <p:cNvSpPr txBox="1"/>
          <p:nvPr/>
        </p:nvSpPr>
        <p:spPr>
          <a:xfrm>
            <a:off x="2697480" y="1691640"/>
            <a:ext cx="8778240" cy="411480"/>
          </a:xfrm>
          <a:prstGeom prst="rect">
            <a:avLst/>
          </a:prstGeom>
          <a:noFill/>
        </p:spPr>
        <p:txBody>
          <a:bodyPr wrap="square" anchor="ctr" lIns="0" rIns="0" tIns="0" bIns="0">
            <a:spAutoFit/>
          </a:bodyPr>
          <a:lstStyle/>
          <a:p>
            <a:pPr algn="l">
              <a:spcBef>
                <a:spcPts val="0"/>
              </a:spcBef>
              <a:spcAft>
                <a:spcPts val="400"/>
              </a:spcAft>
            </a:pPr>
            <a:r>
              <a:rPr sz="1400" b="1">
                <a:solidFill>
                  <a:srgbClr val="5B6372"/>
                </a:solidFill>
                <a:latin typeface="Arial"/>
              </a:rPr>
              <a:t>PersistentVolumes and PersistentVolumeClaims</a:t>
            </a:r>
          </a:p>
        </p:txBody>
      </p:sp>
      <p:sp>
        <p:nvSpPr>
          <p:cNvPr id="10" name="TextBox 9"/>
          <p:cNvSpPr txBox="1"/>
          <p:nvPr/>
        </p:nvSpPr>
        <p:spPr>
          <a:xfrm>
            <a:off x="777240" y="2286000"/>
            <a:ext cx="10698480" cy="1554480"/>
          </a:xfrm>
          <a:prstGeom prst="rect">
            <a:avLst/>
          </a:prstGeom>
          <a:noFill/>
        </p:spPr>
        <p:txBody>
          <a:bodyPr wrap="square" anchor="t" lIns="0" rIns="0" tIns="0" bIns="0">
            <a:spAutoFit/>
          </a:bodyPr>
          <a:lstStyle/>
          <a:p>
            <a:pPr algn="l">
              <a:spcBef>
                <a:spcPts val="0"/>
              </a:spcBef>
              <a:spcAft>
                <a:spcPts val="400"/>
              </a:spcAft>
            </a:pPr>
            <a:r>
              <a:rPr sz="1900" b="0">
                <a:solidFill>
                  <a:srgbClr val="161B26"/>
                </a:solidFill>
                <a:latin typeface="Arial"/>
              </a:rPr>
              <a:t>Create a PersistentVolume (static provisioning), bind it via a PVC, mount in a pod, and understand PV/PVC binding rules including access modes and reclaim policies. CKA tests static provisioning, access modes, and the fact that PVCs outlive pods.</a:t>
            </a:r>
          </a:p>
        </p:txBody>
      </p:sp>
      <p:sp>
        <p:nvSpPr>
          <p:cNvPr id="11" name="Rounded Rectangle 10"/>
          <p:cNvSpPr/>
          <p:nvPr/>
        </p:nvSpPr>
        <p:spPr>
          <a:xfrm>
            <a:off x="777240" y="4069080"/>
            <a:ext cx="10698480" cy="1783080"/>
          </a:xfrm>
          <a:prstGeom prst="roundRect">
            <a:avLst>
              <a:gd name="adj" fmla="val 5000"/>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05840" y="4251960"/>
            <a:ext cx="10058400" cy="365760"/>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You'll build</a:t>
            </a:r>
          </a:p>
        </p:txBody>
      </p:sp>
      <p:sp>
        <p:nvSpPr>
          <p:cNvPr id="13" name="TextBox 12"/>
          <p:cNvSpPr txBox="1"/>
          <p:nvPr/>
        </p:nvSpPr>
        <p:spPr>
          <a:xfrm>
            <a:off x="1005840" y="4617720"/>
            <a:ext cx="10241280" cy="640080"/>
          </a:xfrm>
          <a:prstGeom prst="rect">
            <a:avLst/>
          </a:prstGeom>
          <a:noFill/>
        </p:spPr>
        <p:txBody>
          <a:bodyPr wrap="square" anchor="t" lIns="0" rIns="0" tIns="0" bIns="0">
            <a:spAutoFit/>
          </a:bodyPr>
          <a:lstStyle/>
          <a:p>
            <a:pPr algn="l">
              <a:spcBef>
                <a:spcPts val="0"/>
              </a:spcBef>
              <a:spcAft>
                <a:spcPts val="400"/>
              </a:spcAft>
            </a:pPr>
            <a:r>
              <a:rPr sz="1700" b="1">
                <a:solidFill>
                  <a:srgbClr val="161B26"/>
                </a:solidFill>
                <a:latin typeface="Arial"/>
              </a:rPr>
              <a:t>Create hostPath PV with ReadWriteOnce, create PVC that binds, mount in nginx pod, write data, delete pod and recreate to verify persistence.</a:t>
            </a:r>
          </a:p>
        </p:txBody>
      </p:sp>
      <p:sp>
        <p:nvSpPr>
          <p:cNvPr id="14" name="TextBox 13"/>
          <p:cNvSpPr txBox="1"/>
          <p:nvPr/>
        </p:nvSpPr>
        <p:spPr>
          <a:xfrm>
            <a:off x="1005840" y="5349240"/>
            <a:ext cx="10058400" cy="457200"/>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Key commands:  </a:t>
            </a:r>
            <a:r>
              <a:rPr sz="1300" b="0">
                <a:solidFill>
                  <a:srgbClr val="5B6372"/>
                </a:solidFill>
                <a:latin typeface="Arial"/>
              </a:rPr>
              <a:t>sudo mkdir · cat &gt; · cat &lt;&lt;'EOF' · » Access</a:t>
            </a:r>
          </a:p>
        </p:txBody>
      </p:sp>
      <p:sp>
        <p:nvSpPr>
          <p:cNvPr id="15" name="TextBox 14"/>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6" name="TextBox 15"/>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7" name="TextBox 16"/>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208</a:t>
            </a:r>
          </a:p>
        </p:txBody>
      </p:sp>
    </p:spTree>
  </p:cSld>
  <p:clrMapOvr>
    <a:masterClrMapping/>
  </p:clrMapOvr>
</p:sld>
</file>

<file path=ppt/slides/slide2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23  ·  COMMANDS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PersistentVolume and PVC: Static Provisioning, Access Modes, Reclaim Policies</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91640"/>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Step 1 -- Create a PersistentVolume</a:t>
            </a:r>
          </a:p>
        </p:txBody>
      </p:sp>
      <p:sp>
        <p:nvSpPr>
          <p:cNvPr id="8" name="Rounded Rectangle 7"/>
          <p:cNvSpPr/>
          <p:nvPr/>
        </p:nvSpPr>
        <p:spPr>
          <a:xfrm>
            <a:off x="777240" y="2075688"/>
            <a:ext cx="10652760" cy="2958084"/>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075688"/>
            <a:ext cx="82296" cy="29580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6" y="2139696"/>
            <a:ext cx="10323576" cy="2866644"/>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sudo mkdir -p /mnt/data &amp;&amp; echo 'hello from host' | sudo tee /mnt/data/index.html</a:t>
            </a:r>
          </a:p>
          <a:p>
            <a:pPr>
              <a:spcBef>
                <a:spcPts val="0"/>
              </a:spcBef>
              <a:spcAft>
                <a:spcPts val="0"/>
              </a:spcAft>
            </a:pPr>
            <a:r>
              <a:rPr sz="1050">
                <a:solidFill>
                  <a:srgbClr val="161B26"/>
                </a:solidFill>
                <a:latin typeface="Consolas"/>
              </a:rPr>
              <a:t>cat &gt; pv.yaml &lt;&lt;'EOF'</a:t>
            </a:r>
          </a:p>
          <a:p>
            <a:pPr>
              <a:spcBef>
                <a:spcPts val="0"/>
              </a:spcBef>
              <a:spcAft>
                <a:spcPts val="0"/>
              </a:spcAft>
            </a:pPr>
            <a:r>
              <a:rPr sz="1050">
                <a:solidFill>
                  <a:srgbClr val="161B26"/>
                </a:solidFill>
                <a:latin typeface="Consolas"/>
              </a:rPr>
              <a:t>apiVersion: v1</a:t>
            </a:r>
          </a:p>
          <a:p>
            <a:pPr>
              <a:spcBef>
                <a:spcPts val="0"/>
              </a:spcBef>
              <a:spcAft>
                <a:spcPts val="0"/>
              </a:spcAft>
            </a:pPr>
            <a:r>
              <a:rPr sz="1050">
                <a:solidFill>
                  <a:srgbClr val="161B26"/>
                </a:solidFill>
                <a:latin typeface="Consolas"/>
              </a:rPr>
              <a:t>kind: PersistentVolume</a:t>
            </a:r>
          </a:p>
          <a:p>
            <a:pPr>
              <a:spcBef>
                <a:spcPts val="0"/>
              </a:spcBef>
              <a:spcAft>
                <a:spcPts val="0"/>
              </a:spcAft>
            </a:pPr>
            <a:r>
              <a:rPr sz="1050">
                <a:solidFill>
                  <a:srgbClr val="161B26"/>
                </a:solidFill>
                <a:latin typeface="Consolas"/>
              </a:rPr>
              <a:t>metadata:</a:t>
            </a:r>
          </a:p>
          <a:p>
            <a:pPr>
              <a:spcBef>
                <a:spcPts val="0"/>
              </a:spcBef>
              <a:spcAft>
                <a:spcPts val="0"/>
              </a:spcAft>
            </a:pPr>
            <a:r>
              <a:rPr sz="1050">
                <a:solidFill>
                  <a:srgbClr val="161B26"/>
                </a:solidFill>
                <a:latin typeface="Consolas"/>
              </a:rPr>
              <a:t>  name: pv-host</a:t>
            </a:r>
          </a:p>
          <a:p>
            <a:pPr>
              <a:spcBef>
                <a:spcPts val="0"/>
              </a:spcBef>
              <a:spcAft>
                <a:spcPts val="0"/>
              </a:spcAft>
            </a:pPr>
            <a:r>
              <a:rPr sz="1050">
                <a:solidFill>
                  <a:srgbClr val="161B26"/>
                </a:solidFill>
                <a:latin typeface="Consolas"/>
              </a:rPr>
              <a:t>spec:</a:t>
            </a:r>
          </a:p>
          <a:p>
            <a:pPr>
              <a:spcBef>
                <a:spcPts val="0"/>
              </a:spcBef>
              <a:spcAft>
                <a:spcPts val="0"/>
              </a:spcAft>
            </a:pPr>
            <a:r>
              <a:rPr sz="1050">
                <a:solidFill>
                  <a:srgbClr val="161B26"/>
                </a:solidFill>
                <a:latin typeface="Consolas"/>
              </a:rPr>
              <a:t>  capacity:</a:t>
            </a:r>
          </a:p>
          <a:p>
            <a:pPr>
              <a:spcBef>
                <a:spcPts val="0"/>
              </a:spcBef>
              <a:spcAft>
                <a:spcPts val="0"/>
              </a:spcAft>
            </a:pPr>
            <a:r>
              <a:rPr sz="1050">
                <a:solidFill>
                  <a:srgbClr val="161B26"/>
                </a:solidFill>
                <a:latin typeface="Consolas"/>
              </a:rPr>
              <a:t>    storage: 1Gi</a:t>
            </a:r>
          </a:p>
          <a:p>
            <a:pPr>
              <a:spcBef>
                <a:spcPts val="0"/>
              </a:spcBef>
              <a:spcAft>
                <a:spcPts val="0"/>
              </a:spcAft>
            </a:pPr>
            <a:r>
              <a:rPr sz="1050">
                <a:solidFill>
                  <a:srgbClr val="161B26"/>
                </a:solidFill>
                <a:latin typeface="Consolas"/>
              </a:rPr>
              <a:t>  accessModes: [ReadWriteOnce]</a:t>
            </a:r>
          </a:p>
          <a:p>
            <a:pPr>
              <a:spcBef>
                <a:spcPts val="0"/>
              </a:spcBef>
              <a:spcAft>
                <a:spcPts val="0"/>
              </a:spcAft>
            </a:pPr>
            <a:r>
              <a:rPr sz="1050">
                <a:solidFill>
                  <a:srgbClr val="161B26"/>
                </a:solidFill>
                <a:latin typeface="Consolas"/>
              </a:rPr>
              <a:t>  hostPath:</a:t>
            </a:r>
          </a:p>
          <a:p>
            <a:pPr>
              <a:spcBef>
                <a:spcPts val="0"/>
              </a:spcBef>
              <a:spcAft>
                <a:spcPts val="0"/>
              </a:spcAft>
            </a:pPr>
            <a:r>
              <a:rPr sz="1050">
                <a:solidFill>
                  <a:srgbClr val="161B26"/>
                </a:solidFill>
                <a:latin typeface="Consolas"/>
              </a:rPr>
              <a:t>    path: /mnt/data</a:t>
            </a:r>
          </a:p>
          <a:p>
            <a:pPr>
              <a:spcBef>
                <a:spcPts val="0"/>
              </a:spcBef>
              <a:spcAft>
                <a:spcPts val="0"/>
              </a:spcAft>
            </a:pPr>
            <a:r>
              <a:rPr sz="1050">
                <a:solidFill>
                  <a:srgbClr val="161B26"/>
                </a:solidFill>
                <a:latin typeface="Consolas"/>
              </a:rPr>
              <a:t>  persistentVolumeReclaimPolicy: Retain</a:t>
            </a:r>
          </a:p>
          <a:p>
            <a:pPr>
              <a:spcBef>
                <a:spcPts val="0"/>
              </a:spcBef>
              <a:spcAft>
                <a:spcPts val="0"/>
              </a:spcAft>
            </a:pPr>
            <a:r>
              <a:rPr sz="1050">
                <a:solidFill>
                  <a:srgbClr val="161B26"/>
                </a:solidFill>
                <a:latin typeface="Consolas"/>
              </a:rPr>
              <a:t>EOF</a:t>
            </a:r>
          </a:p>
          <a:p>
            <a:pPr>
              <a:spcBef>
                <a:spcPts val="0"/>
              </a:spcBef>
              <a:spcAft>
                <a:spcPts val="0"/>
              </a:spcAft>
            </a:pPr>
            <a:r>
              <a:rPr sz="1050">
                <a:solidFill>
                  <a:srgbClr val="161B26"/>
                </a:solidFill>
                <a:latin typeface="Consolas"/>
              </a:rPr>
              <a:t>kubectl apply -f pv.yaml &amp;&amp; kubectl get pv</a:t>
            </a:r>
          </a:p>
        </p:txBody>
      </p:sp>
      <p:sp>
        <p:nvSpPr>
          <p:cNvPr id="11" name="TextBox 10"/>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209</a:t>
            </a:r>
          </a:p>
        </p:txBody>
      </p:sp>
    </p:spTree>
  </p:cSld>
  <p:clrMapOvr>
    <a:masterClrMapping/>
  </p:clrMapOvr>
</p:sld>
</file>

<file path=ppt/slides/slide2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23  ·  COMMANDS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PersistentVolume and PVC: Static Provisioning, Access Modes, Reclaim Policies (cont.)</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91640"/>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Step 2 -- Create a PVC that binds to the PV</a:t>
            </a:r>
          </a:p>
        </p:txBody>
      </p:sp>
      <p:sp>
        <p:nvSpPr>
          <p:cNvPr id="8" name="Rounded Rectangle 7"/>
          <p:cNvSpPr/>
          <p:nvPr/>
        </p:nvSpPr>
        <p:spPr>
          <a:xfrm>
            <a:off x="777240" y="2075688"/>
            <a:ext cx="10652760" cy="2583180"/>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075688"/>
            <a:ext cx="82296" cy="25831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6" y="2139696"/>
            <a:ext cx="10323576" cy="2491740"/>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cat &gt; pvc.yaml &lt;&lt;'EOF'</a:t>
            </a:r>
          </a:p>
          <a:p>
            <a:pPr>
              <a:spcBef>
                <a:spcPts val="0"/>
              </a:spcBef>
              <a:spcAft>
                <a:spcPts val="0"/>
              </a:spcAft>
            </a:pPr>
            <a:r>
              <a:rPr sz="1050">
                <a:solidFill>
                  <a:srgbClr val="161B26"/>
                </a:solidFill>
                <a:latin typeface="Consolas"/>
              </a:rPr>
              <a:t>apiVersion: v1</a:t>
            </a:r>
          </a:p>
          <a:p>
            <a:pPr>
              <a:spcBef>
                <a:spcPts val="0"/>
              </a:spcBef>
              <a:spcAft>
                <a:spcPts val="0"/>
              </a:spcAft>
            </a:pPr>
            <a:r>
              <a:rPr sz="1050">
                <a:solidFill>
                  <a:srgbClr val="161B26"/>
                </a:solidFill>
                <a:latin typeface="Consolas"/>
              </a:rPr>
              <a:t>kind: PersistentVolumeClaim</a:t>
            </a:r>
          </a:p>
          <a:p>
            <a:pPr>
              <a:spcBef>
                <a:spcPts val="0"/>
              </a:spcBef>
              <a:spcAft>
                <a:spcPts val="0"/>
              </a:spcAft>
            </a:pPr>
            <a:r>
              <a:rPr sz="1050">
                <a:solidFill>
                  <a:srgbClr val="161B26"/>
                </a:solidFill>
                <a:latin typeface="Consolas"/>
              </a:rPr>
              <a:t>metadata:</a:t>
            </a:r>
          </a:p>
          <a:p>
            <a:pPr>
              <a:spcBef>
                <a:spcPts val="0"/>
              </a:spcBef>
              <a:spcAft>
                <a:spcPts val="0"/>
              </a:spcAft>
            </a:pPr>
            <a:r>
              <a:rPr sz="1050">
                <a:solidFill>
                  <a:srgbClr val="161B26"/>
                </a:solidFill>
                <a:latin typeface="Consolas"/>
              </a:rPr>
              <a:t>  name: pvc-host</a:t>
            </a:r>
          </a:p>
          <a:p>
            <a:pPr>
              <a:spcBef>
                <a:spcPts val="0"/>
              </a:spcBef>
              <a:spcAft>
                <a:spcPts val="0"/>
              </a:spcAft>
            </a:pPr>
            <a:r>
              <a:rPr sz="1050">
                <a:solidFill>
                  <a:srgbClr val="161B26"/>
                </a:solidFill>
                <a:latin typeface="Consolas"/>
              </a:rPr>
              <a:t>spec:</a:t>
            </a:r>
          </a:p>
          <a:p>
            <a:pPr>
              <a:spcBef>
                <a:spcPts val="0"/>
              </a:spcBef>
              <a:spcAft>
                <a:spcPts val="0"/>
              </a:spcAft>
            </a:pPr>
            <a:r>
              <a:rPr sz="1050">
                <a:solidFill>
                  <a:srgbClr val="161B26"/>
                </a:solidFill>
                <a:latin typeface="Consolas"/>
              </a:rPr>
              <a:t>  accessModes: [ReadWriteOnce]</a:t>
            </a:r>
          </a:p>
          <a:p>
            <a:pPr>
              <a:spcBef>
                <a:spcPts val="0"/>
              </a:spcBef>
              <a:spcAft>
                <a:spcPts val="0"/>
              </a:spcAft>
            </a:pPr>
            <a:r>
              <a:rPr sz="1050">
                <a:solidFill>
                  <a:srgbClr val="161B26"/>
                </a:solidFill>
                <a:latin typeface="Consolas"/>
              </a:rPr>
              <a:t>  resources:</a:t>
            </a:r>
          </a:p>
          <a:p>
            <a:pPr>
              <a:spcBef>
                <a:spcPts val="0"/>
              </a:spcBef>
              <a:spcAft>
                <a:spcPts val="0"/>
              </a:spcAft>
            </a:pPr>
            <a:r>
              <a:rPr sz="1050">
                <a:solidFill>
                  <a:srgbClr val="161B26"/>
                </a:solidFill>
                <a:latin typeface="Consolas"/>
              </a:rPr>
              <a:t>    requests:</a:t>
            </a:r>
          </a:p>
          <a:p>
            <a:pPr>
              <a:spcBef>
                <a:spcPts val="0"/>
              </a:spcBef>
              <a:spcAft>
                <a:spcPts val="0"/>
              </a:spcAft>
            </a:pPr>
            <a:r>
              <a:rPr sz="1050">
                <a:solidFill>
                  <a:srgbClr val="161B26"/>
                </a:solidFill>
                <a:latin typeface="Consolas"/>
              </a:rPr>
              <a:t>      storage: 1Gi</a:t>
            </a:r>
          </a:p>
          <a:p>
            <a:pPr>
              <a:spcBef>
                <a:spcPts val="0"/>
              </a:spcBef>
              <a:spcAft>
                <a:spcPts val="0"/>
              </a:spcAft>
            </a:pPr>
            <a:r>
              <a:rPr sz="1050">
                <a:solidFill>
                  <a:srgbClr val="161B26"/>
                </a:solidFill>
                <a:latin typeface="Consolas"/>
              </a:rPr>
              <a:t>EOF</a:t>
            </a:r>
          </a:p>
          <a:p>
            <a:pPr>
              <a:spcBef>
                <a:spcPts val="0"/>
              </a:spcBef>
              <a:spcAft>
                <a:spcPts val="0"/>
              </a:spcAft>
            </a:pPr>
            <a:r>
              <a:rPr sz="1050">
                <a:solidFill>
                  <a:srgbClr val="161B26"/>
                </a:solidFill>
                <a:latin typeface="Consolas"/>
              </a:rPr>
              <a:t>kubectl apply -f pvc.yaml &amp;&amp; kubectl get pvc</a:t>
            </a:r>
          </a:p>
          <a:p>
            <a:pPr>
              <a:spcBef>
                <a:spcPts val="0"/>
              </a:spcBef>
              <a:spcAft>
                <a:spcPts val="0"/>
              </a:spcAft>
            </a:pPr>
            <a:r>
              <a:rPr sz="1050">
                <a:solidFill>
                  <a:srgbClr val="161B26"/>
                </a:solidFill>
                <a:latin typeface="Consolas"/>
              </a:rPr>
              <a:t># STATUS: Bound</a:t>
            </a:r>
          </a:p>
        </p:txBody>
      </p:sp>
      <p:sp>
        <p:nvSpPr>
          <p:cNvPr id="11" name="TextBox 10"/>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210</a:t>
            </a:r>
          </a:p>
        </p:txBody>
      </p:sp>
    </p:spTree>
  </p:cSld>
  <p:clrMapOvr>
    <a:masterClrMapping/>
  </p:clrMapOvr>
</p:sld>
</file>

<file path=ppt/slides/slide2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23  ·  COMMANDS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PersistentVolume and PVC: Static Provisioning, Access Modes, Reclaim Policies (cont.)</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91640"/>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Step 3 -- Mount PVC in a pod</a:t>
            </a:r>
          </a:p>
        </p:txBody>
      </p:sp>
      <p:sp>
        <p:nvSpPr>
          <p:cNvPr id="8" name="Rounded Rectangle 7"/>
          <p:cNvSpPr/>
          <p:nvPr/>
        </p:nvSpPr>
        <p:spPr>
          <a:xfrm>
            <a:off x="777240" y="2075688"/>
            <a:ext cx="10652760" cy="3520440"/>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075688"/>
            <a:ext cx="82296" cy="3520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6" y="2139696"/>
            <a:ext cx="10323576" cy="3429000"/>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cat &lt;&lt;'EOF' | kubectl apply -f -</a:t>
            </a:r>
          </a:p>
          <a:p>
            <a:pPr>
              <a:spcBef>
                <a:spcPts val="0"/>
              </a:spcBef>
              <a:spcAft>
                <a:spcPts val="0"/>
              </a:spcAft>
            </a:pPr>
            <a:r>
              <a:rPr sz="1050">
                <a:solidFill>
                  <a:srgbClr val="161B26"/>
                </a:solidFill>
                <a:latin typeface="Consolas"/>
              </a:rPr>
              <a:t>apiVersion: v1</a:t>
            </a:r>
          </a:p>
          <a:p>
            <a:pPr>
              <a:spcBef>
                <a:spcPts val="0"/>
              </a:spcBef>
              <a:spcAft>
                <a:spcPts val="0"/>
              </a:spcAft>
            </a:pPr>
            <a:r>
              <a:rPr sz="1050">
                <a:solidFill>
                  <a:srgbClr val="161B26"/>
                </a:solidFill>
                <a:latin typeface="Consolas"/>
              </a:rPr>
              <a:t>kind: Pod</a:t>
            </a:r>
          </a:p>
          <a:p>
            <a:pPr>
              <a:spcBef>
                <a:spcPts val="0"/>
              </a:spcBef>
              <a:spcAft>
                <a:spcPts val="0"/>
              </a:spcAft>
            </a:pPr>
            <a:r>
              <a:rPr sz="1050">
                <a:solidFill>
                  <a:srgbClr val="161B26"/>
                </a:solidFill>
                <a:latin typeface="Consolas"/>
              </a:rPr>
              <a:t>metadata:</a:t>
            </a:r>
          </a:p>
          <a:p>
            <a:pPr>
              <a:spcBef>
                <a:spcPts val="0"/>
              </a:spcBef>
              <a:spcAft>
                <a:spcPts val="0"/>
              </a:spcAft>
            </a:pPr>
            <a:r>
              <a:rPr sz="1050">
                <a:solidFill>
                  <a:srgbClr val="161B26"/>
                </a:solidFill>
                <a:latin typeface="Consolas"/>
              </a:rPr>
              <a:t>  name: pvc-pod</a:t>
            </a:r>
          </a:p>
          <a:p>
            <a:pPr>
              <a:spcBef>
                <a:spcPts val="0"/>
              </a:spcBef>
              <a:spcAft>
                <a:spcPts val="0"/>
              </a:spcAft>
            </a:pPr>
            <a:r>
              <a:rPr sz="1050">
                <a:solidFill>
                  <a:srgbClr val="161B26"/>
                </a:solidFill>
                <a:latin typeface="Consolas"/>
              </a:rPr>
              <a:t>spec:</a:t>
            </a:r>
          </a:p>
          <a:p>
            <a:pPr>
              <a:spcBef>
                <a:spcPts val="0"/>
              </a:spcBef>
              <a:spcAft>
                <a:spcPts val="0"/>
              </a:spcAft>
            </a:pPr>
            <a:r>
              <a:rPr sz="1050">
                <a:solidFill>
                  <a:srgbClr val="161B26"/>
                </a:solidFill>
                <a:latin typeface="Consolas"/>
              </a:rPr>
              <a:t>  containers:</a:t>
            </a:r>
          </a:p>
          <a:p>
            <a:pPr>
              <a:spcBef>
                <a:spcPts val="0"/>
              </a:spcBef>
              <a:spcAft>
                <a:spcPts val="0"/>
              </a:spcAft>
            </a:pPr>
            <a:r>
              <a:rPr sz="1050">
                <a:solidFill>
                  <a:srgbClr val="161B26"/>
                </a:solidFill>
                <a:latin typeface="Consolas"/>
              </a:rPr>
              <a:t>  - name: nginx</a:t>
            </a:r>
          </a:p>
          <a:p>
            <a:pPr>
              <a:spcBef>
                <a:spcPts val="0"/>
              </a:spcBef>
              <a:spcAft>
                <a:spcPts val="0"/>
              </a:spcAft>
            </a:pPr>
            <a:r>
              <a:rPr sz="1050">
                <a:solidFill>
                  <a:srgbClr val="161B26"/>
                </a:solidFill>
                <a:latin typeface="Consolas"/>
              </a:rPr>
              <a:t>    image: nginx</a:t>
            </a:r>
          </a:p>
          <a:p>
            <a:pPr>
              <a:spcBef>
                <a:spcPts val="0"/>
              </a:spcBef>
              <a:spcAft>
                <a:spcPts val="0"/>
              </a:spcAft>
            </a:pPr>
            <a:r>
              <a:rPr sz="1050">
                <a:solidFill>
                  <a:srgbClr val="161B26"/>
                </a:solidFill>
                <a:latin typeface="Consolas"/>
              </a:rPr>
              <a:t>    volumeMounts:</a:t>
            </a:r>
          </a:p>
          <a:p>
            <a:pPr>
              <a:spcBef>
                <a:spcPts val="0"/>
              </a:spcBef>
              <a:spcAft>
                <a:spcPts val="0"/>
              </a:spcAft>
            </a:pPr>
            <a:r>
              <a:rPr sz="1050">
                <a:solidFill>
                  <a:srgbClr val="161B26"/>
                </a:solidFill>
                <a:latin typeface="Consolas"/>
              </a:rPr>
              <a:t>    - name: data</a:t>
            </a:r>
          </a:p>
          <a:p>
            <a:pPr>
              <a:spcBef>
                <a:spcPts val="0"/>
              </a:spcBef>
              <a:spcAft>
                <a:spcPts val="0"/>
              </a:spcAft>
            </a:pPr>
            <a:r>
              <a:rPr sz="1050">
                <a:solidFill>
                  <a:srgbClr val="161B26"/>
                </a:solidFill>
                <a:latin typeface="Consolas"/>
              </a:rPr>
              <a:t>      mountPath: /usr/share/nginx/html</a:t>
            </a:r>
          </a:p>
          <a:p>
            <a:pPr>
              <a:spcBef>
                <a:spcPts val="0"/>
              </a:spcBef>
              <a:spcAft>
                <a:spcPts val="0"/>
              </a:spcAft>
            </a:pPr>
            <a:r>
              <a:rPr sz="1050">
                <a:solidFill>
                  <a:srgbClr val="161B26"/>
                </a:solidFill>
                <a:latin typeface="Consolas"/>
              </a:rPr>
              <a:t>  volumes:</a:t>
            </a:r>
          </a:p>
          <a:p>
            <a:pPr>
              <a:spcBef>
                <a:spcPts val="0"/>
              </a:spcBef>
              <a:spcAft>
                <a:spcPts val="0"/>
              </a:spcAft>
            </a:pPr>
            <a:r>
              <a:rPr sz="1050">
                <a:solidFill>
                  <a:srgbClr val="161B26"/>
                </a:solidFill>
                <a:latin typeface="Consolas"/>
              </a:rPr>
              <a:t>  - name: data</a:t>
            </a:r>
          </a:p>
          <a:p>
            <a:pPr>
              <a:spcBef>
                <a:spcPts val="0"/>
              </a:spcBef>
              <a:spcAft>
                <a:spcPts val="0"/>
              </a:spcAft>
            </a:pPr>
            <a:r>
              <a:rPr sz="1050">
                <a:solidFill>
                  <a:srgbClr val="161B26"/>
                </a:solidFill>
                <a:latin typeface="Consolas"/>
              </a:rPr>
              <a:t>    persistentVolumeClaim:</a:t>
            </a:r>
          </a:p>
          <a:p>
            <a:pPr>
              <a:spcBef>
                <a:spcPts val="0"/>
              </a:spcBef>
              <a:spcAft>
                <a:spcPts val="0"/>
              </a:spcAft>
            </a:pPr>
            <a:r>
              <a:rPr sz="1050">
                <a:solidFill>
                  <a:srgbClr val="161B26"/>
                </a:solidFill>
                <a:latin typeface="Consolas"/>
              </a:rPr>
              <a:t>      claimName: pvc-host</a:t>
            </a:r>
          </a:p>
          <a:p>
            <a:pPr>
              <a:spcBef>
                <a:spcPts val="0"/>
              </a:spcBef>
              <a:spcAft>
                <a:spcPts val="0"/>
              </a:spcAft>
            </a:pPr>
            <a:r>
              <a:rPr sz="1050">
                <a:solidFill>
                  <a:srgbClr val="161B26"/>
                </a:solidFill>
                <a:latin typeface="Consolas"/>
              </a:rPr>
              <a:t>EOF</a:t>
            </a:r>
          </a:p>
          <a:p>
            <a:pPr>
              <a:spcBef>
                <a:spcPts val="0"/>
              </a:spcBef>
              <a:spcAft>
                <a:spcPts val="0"/>
              </a:spcAft>
            </a:pPr>
            <a:r>
              <a:rPr sz="1050">
                <a:solidFill>
                  <a:srgbClr val="161B26"/>
                </a:solidFill>
                <a:latin typeface="Consolas"/>
              </a:rPr>
              <a:t>kubectl exec pvc-pod -- cat /usr/share/nginx/html/index.html</a:t>
            </a:r>
          </a:p>
        </p:txBody>
      </p:sp>
      <p:sp>
        <p:nvSpPr>
          <p:cNvPr id="11" name="TextBox 10"/>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211</a:t>
            </a:r>
          </a:p>
        </p:txBody>
      </p:sp>
    </p:spTree>
  </p:cSld>
  <p:clrMapOvr>
    <a:masterClrMapping/>
  </p:clrMapOvr>
</p:sld>
</file>

<file path=ppt/slides/slide2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23  ·  COMMANDS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PersistentVolume and PVC: Static Provisioning, Access Modes, Reclaim Policies (cont.)</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91640"/>
            <a:ext cx="10652760" cy="310896"/>
          </a:xfrm>
          <a:prstGeom prst="rect">
            <a:avLst/>
          </a:prstGeom>
          <a:noFill/>
        </p:spPr>
        <p:txBody>
          <a:bodyPr wrap="square" anchor="t" lIns="0" rIns="0" tIns="0" bIns="0">
            <a:spAutoFit/>
          </a:bodyPr>
          <a:lstStyle/>
          <a:p>
            <a:pPr algn="l">
              <a:spcBef>
                <a:spcPts val="0"/>
              </a:spcBef>
              <a:spcAft>
                <a:spcPts val="400"/>
              </a:spcAft>
            </a:pPr>
            <a:r>
              <a:rPr sz="1300" b="1">
                <a:solidFill>
                  <a:srgbClr val="F59E0B"/>
                </a:solidFill>
                <a:latin typeface="Arial"/>
              </a:rPr>
              <a:t>Note   </a:t>
            </a:r>
            <a:r>
              <a:rPr sz="1300" b="0">
                <a:solidFill>
                  <a:srgbClr val="5B6372"/>
                </a:solidFill>
                <a:latin typeface="Arial"/>
              </a:rPr>
              <a:t>Access modes: ReadWriteOnce (one node RW), ReadOnlyMany (many nodes R), ReadWriteMany (many nodes RW). Reclaim: Retain (manual cleanup), Delete (removes storage), Recycle (deprecated).</a:t>
            </a:r>
          </a:p>
        </p:txBody>
      </p:sp>
      <p:sp>
        <p:nvSpPr>
          <p:cNvPr id="8" name="TextBox 7"/>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9" name="TextBox 8"/>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212</a:t>
            </a:r>
          </a:p>
        </p:txBody>
      </p:sp>
    </p:spTree>
  </p:cSld>
  <p:clrMapOvr>
    <a:masterClrMapping/>
  </p:clrMapOvr>
</p:sld>
</file>

<file path=ppt/slides/slide2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23  ·  TEST IT</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PersistentVolume and PVC: Static Provisioning, Access Modes, Reclaim Policies</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03120"/>
            <a:ext cx="10698480" cy="2560320"/>
          </a:xfrm>
          <a:prstGeom prst="roundRect">
            <a:avLst>
              <a:gd name="adj" fmla="val 5000"/>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lIns="0" rIns="0" tIns="0" bIns="0">
            <a:spAutoFit/>
          </a:bodyPr>
          <a:lstStyle/>
          <a:p>
            <a:pPr algn="l">
              <a:spcBef>
                <a:spcPts val="0"/>
              </a:spcBef>
              <a:spcAft>
                <a:spcPts val="400"/>
              </a:spcAft>
            </a:pPr>
            <a:r>
              <a:rPr sz="2200" b="1">
                <a:solidFill>
                  <a:srgbClr val="127A3E"/>
                </a:solidFill>
                <a:latin typeface="Arial"/>
              </a:rPr>
              <a:t>✅  Test it</a:t>
            </a:r>
          </a:p>
        </p:txBody>
      </p:sp>
      <p:sp>
        <p:nvSpPr>
          <p:cNvPr id="9" name="TextBox 8"/>
          <p:cNvSpPr txBox="1"/>
          <p:nvPr/>
        </p:nvSpPr>
        <p:spPr>
          <a:xfrm>
            <a:off x="1097280" y="3017520"/>
            <a:ext cx="10149840" cy="1463040"/>
          </a:xfrm>
          <a:prstGeom prst="rect">
            <a:avLst/>
          </a:prstGeom>
          <a:noFill/>
        </p:spPr>
        <p:txBody>
          <a:bodyPr wrap="square" anchor="t" lIns="0" rIns="0" tIns="0" bIns="0">
            <a:spAutoFit/>
          </a:bodyPr>
          <a:lstStyle/>
          <a:p>
            <a:pPr algn="l">
              <a:spcBef>
                <a:spcPts val="0"/>
              </a:spcBef>
              <a:spcAft>
                <a:spcPts val="400"/>
              </a:spcAft>
            </a:pPr>
            <a:r>
              <a:rPr sz="1800" b="0">
                <a:solidFill>
                  <a:srgbClr val="161B26"/>
                </a:solidFill>
                <a:latin typeface="Arial"/>
              </a:rPr>
              <a:t>PVC shows STATUS=Bound. Pod reads 'hello from host' from the mounted volume. After pod deletion and recreation, data persists (Retain policy).</a:t>
            </a:r>
          </a:p>
        </p:txBody>
      </p:sp>
      <p:sp>
        <p:nvSpPr>
          <p:cNvPr id="10" name="TextBox 9"/>
          <p:cNvSpPr txBox="1"/>
          <p:nvPr/>
        </p:nvSpPr>
        <p:spPr>
          <a:xfrm>
            <a:off x="777240" y="4983480"/>
            <a:ext cx="10698480" cy="365760"/>
          </a:xfrm>
          <a:prstGeom prst="rect">
            <a:avLst/>
          </a:prstGeom>
          <a:noFill/>
        </p:spPr>
        <p:txBody>
          <a:bodyPr wrap="square" anchor="t" lIns="0" rIns="0" tIns="0" bIns="0">
            <a:spAutoFit/>
          </a:bodyPr>
          <a:lstStyle/>
          <a:p>
            <a:pPr algn="l">
              <a:spcBef>
                <a:spcPts val="0"/>
              </a:spcBef>
              <a:spcAft>
                <a:spcPts val="400"/>
              </a:spcAft>
            </a:pPr>
            <a:r>
              <a:rPr sz="1300" b="1">
                <a:solidFill>
                  <a:srgbClr val="10B981"/>
                </a:solidFill>
                <a:latin typeface="Arial"/>
              </a:rPr>
              <a:t>Killercoda:  </a:t>
            </a:r>
            <a:r>
              <a:rPr sz="1300" b="0">
                <a:solidFill>
                  <a:srgbClr val="5B6372"/>
                </a:solidFill>
                <a:latin typeface="Arial"/>
              </a:rPr>
              <a:t>https://killercoda.com/playgrounds/scenario/kubernetes</a:t>
            </a:r>
          </a:p>
        </p:txBody>
      </p:sp>
      <p:sp>
        <p:nvSpPr>
          <p:cNvPr id="11" name="TextBox 10"/>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213</a:t>
            </a:r>
          </a:p>
        </p:txBody>
      </p:sp>
    </p:spTree>
  </p:cSld>
  <p:clrMapOvr>
    <a:masterClrMapping/>
  </p:clrMapOvr>
</p:sld>
</file>

<file path=ppt/slides/slide2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DAY 3 · STORAGECLASS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StorageClass: Dynamic Provisioning, Default Class, StatefulSet volumeClaimTemplates</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64208"/>
            <a:ext cx="169164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09928"/>
            <a:ext cx="1691640" cy="365760"/>
          </a:xfrm>
          <a:prstGeom prst="rect">
            <a:avLst/>
          </a:prstGeom>
          <a:noFill/>
        </p:spPr>
        <p:txBody>
          <a:bodyPr wrap="square" anchor="t" lIns="0" rIns="0" tIns="0" bIns="0">
            <a:spAutoFit/>
          </a:bodyPr>
          <a:lstStyle/>
          <a:p>
            <a:pPr algn="ctr">
              <a:spcBef>
                <a:spcPts val="0"/>
              </a:spcBef>
              <a:spcAft>
                <a:spcPts val="400"/>
              </a:spcAft>
            </a:pPr>
            <a:r>
              <a:rPr sz="1600" b="1">
                <a:solidFill>
                  <a:srgbClr val="FFFFFF"/>
                </a:solidFill>
                <a:latin typeface="Arial"/>
              </a:rPr>
              <a:t>LAB 24</a:t>
            </a:r>
          </a:p>
        </p:txBody>
      </p:sp>
      <p:sp>
        <p:nvSpPr>
          <p:cNvPr id="9" name="TextBox 8"/>
          <p:cNvSpPr txBox="1"/>
          <p:nvPr/>
        </p:nvSpPr>
        <p:spPr>
          <a:xfrm>
            <a:off x="2697480" y="1691640"/>
            <a:ext cx="8778240" cy="411480"/>
          </a:xfrm>
          <a:prstGeom prst="rect">
            <a:avLst/>
          </a:prstGeom>
          <a:noFill/>
        </p:spPr>
        <p:txBody>
          <a:bodyPr wrap="square" anchor="ctr" lIns="0" rIns="0" tIns="0" bIns="0">
            <a:spAutoFit/>
          </a:bodyPr>
          <a:lstStyle/>
          <a:p>
            <a:pPr algn="l">
              <a:spcBef>
                <a:spcPts val="0"/>
              </a:spcBef>
              <a:spcAft>
                <a:spcPts val="400"/>
              </a:spcAft>
            </a:pPr>
            <a:r>
              <a:rPr sz="1400" b="1">
                <a:solidFill>
                  <a:srgbClr val="5B6372"/>
                </a:solidFill>
                <a:latin typeface="Arial"/>
              </a:rPr>
              <a:t>StorageClass and dynamic provisioning</a:t>
            </a:r>
          </a:p>
        </p:txBody>
      </p:sp>
      <p:sp>
        <p:nvSpPr>
          <p:cNvPr id="10" name="TextBox 9"/>
          <p:cNvSpPr txBox="1"/>
          <p:nvPr/>
        </p:nvSpPr>
        <p:spPr>
          <a:xfrm>
            <a:off x="777240" y="2286000"/>
            <a:ext cx="10698480" cy="1554480"/>
          </a:xfrm>
          <a:prstGeom prst="rect">
            <a:avLst/>
          </a:prstGeom>
          <a:noFill/>
        </p:spPr>
        <p:txBody>
          <a:bodyPr wrap="square" anchor="t" lIns="0" rIns="0" tIns="0" bIns="0">
            <a:spAutoFit/>
          </a:bodyPr>
          <a:lstStyle/>
          <a:p>
            <a:pPr algn="l">
              <a:spcBef>
                <a:spcPts val="0"/>
              </a:spcBef>
              <a:spcAft>
                <a:spcPts val="400"/>
              </a:spcAft>
            </a:pPr>
            <a:r>
              <a:rPr sz="1900" b="0">
                <a:solidFill>
                  <a:srgbClr val="161B26"/>
                </a:solidFill>
                <a:latin typeface="Arial"/>
              </a:rPr>
              <a:t>Use StorageClasses for dynamic PV creation, mark a class as default, and create a StatefulSet with volumeClaimTemplates that provisions one PVC per pod. CKA tests creating StorageClasses and dynamic provisioning.</a:t>
            </a:r>
          </a:p>
        </p:txBody>
      </p:sp>
      <p:sp>
        <p:nvSpPr>
          <p:cNvPr id="11" name="Rounded Rectangle 10"/>
          <p:cNvSpPr/>
          <p:nvPr/>
        </p:nvSpPr>
        <p:spPr>
          <a:xfrm>
            <a:off x="777240" y="4069080"/>
            <a:ext cx="10698480" cy="1783080"/>
          </a:xfrm>
          <a:prstGeom prst="roundRect">
            <a:avLst>
              <a:gd name="adj" fmla="val 5000"/>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05840" y="4251960"/>
            <a:ext cx="10058400" cy="365760"/>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You'll build</a:t>
            </a:r>
          </a:p>
        </p:txBody>
      </p:sp>
      <p:sp>
        <p:nvSpPr>
          <p:cNvPr id="13" name="TextBox 12"/>
          <p:cNvSpPr txBox="1"/>
          <p:nvPr/>
        </p:nvSpPr>
        <p:spPr>
          <a:xfrm>
            <a:off x="1005840" y="4617720"/>
            <a:ext cx="10241280" cy="640080"/>
          </a:xfrm>
          <a:prstGeom prst="rect">
            <a:avLst/>
          </a:prstGeom>
          <a:noFill/>
        </p:spPr>
        <p:txBody>
          <a:bodyPr wrap="square" anchor="t" lIns="0" rIns="0" tIns="0" bIns="0">
            <a:spAutoFit/>
          </a:bodyPr>
          <a:lstStyle/>
          <a:p>
            <a:pPr algn="l">
              <a:spcBef>
                <a:spcPts val="0"/>
              </a:spcBef>
              <a:spcAft>
                <a:spcPts val="400"/>
              </a:spcAft>
            </a:pPr>
            <a:r>
              <a:rPr sz="1700" b="1">
                <a:solidFill>
                  <a:srgbClr val="161B26"/>
                </a:solidFill>
                <a:latin typeface="Arial"/>
              </a:rPr>
              <a:t>Install local-path-provisioner, mark StorageClass as default, create dynamically-provisioned PVC, create StatefulSet with volumeClaimTemplates.</a:t>
            </a:r>
          </a:p>
        </p:txBody>
      </p:sp>
      <p:sp>
        <p:nvSpPr>
          <p:cNvPr id="14" name="TextBox 13"/>
          <p:cNvSpPr txBox="1"/>
          <p:nvPr/>
        </p:nvSpPr>
        <p:spPr>
          <a:xfrm>
            <a:off x="1005840" y="5349240"/>
            <a:ext cx="10058400" cy="457200"/>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Key commands:  </a:t>
            </a:r>
            <a:r>
              <a:rPr sz="1300" b="0">
                <a:solidFill>
                  <a:srgbClr val="5B6372"/>
                </a:solidFill>
                <a:latin typeface="Arial"/>
              </a:rPr>
              <a:t>kubectl apply · kubectl patch · cat &lt;&lt;'EOF' · » StatefulSet</a:t>
            </a:r>
          </a:p>
        </p:txBody>
      </p:sp>
      <p:sp>
        <p:nvSpPr>
          <p:cNvPr id="15" name="TextBox 14"/>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6" name="TextBox 15"/>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7" name="TextBox 16"/>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214</a:t>
            </a:r>
          </a:p>
        </p:txBody>
      </p:sp>
    </p:spTree>
  </p:cSld>
  <p:clrMapOvr>
    <a:masterClrMapping/>
  </p:clrMapOvr>
</p:sld>
</file>

<file path=ppt/slides/slide2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24  ·  COMMANDS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StorageClass: Dynamic Provisioning, Default Class, StatefulSet volumeClaimTemplates</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91640"/>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Step 1 -- Install local-path-provisioner</a:t>
            </a:r>
          </a:p>
        </p:txBody>
      </p:sp>
      <p:sp>
        <p:nvSpPr>
          <p:cNvPr id="8" name="Rounded Rectangle 7"/>
          <p:cNvSpPr/>
          <p:nvPr/>
        </p:nvSpPr>
        <p:spPr>
          <a:xfrm>
            <a:off x="777240" y="2075688"/>
            <a:ext cx="10652760" cy="708660"/>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075688"/>
            <a:ext cx="82296" cy="7086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6" y="2139696"/>
            <a:ext cx="10323576" cy="617220"/>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kubectl apply -f https://raw.githubusercontent.com/rancher/local-path-provisioner/master/deploy/local-path-storage.yaml</a:t>
            </a:r>
          </a:p>
          <a:p>
            <a:pPr>
              <a:spcBef>
                <a:spcPts val="0"/>
              </a:spcBef>
              <a:spcAft>
                <a:spcPts val="0"/>
              </a:spcAft>
            </a:pPr>
            <a:r>
              <a:rPr sz="1050">
                <a:solidFill>
                  <a:srgbClr val="161B26"/>
                </a:solidFill>
                <a:latin typeface="Consolas"/>
              </a:rPr>
              <a:t>kubectl -n local-path-storage rollout status deploy/local-path-provisioner</a:t>
            </a:r>
          </a:p>
          <a:p>
            <a:pPr>
              <a:spcBef>
                <a:spcPts val="0"/>
              </a:spcBef>
              <a:spcAft>
                <a:spcPts val="0"/>
              </a:spcAft>
            </a:pPr>
            <a:r>
              <a:rPr sz="1050">
                <a:solidFill>
                  <a:srgbClr val="161B26"/>
                </a:solidFill>
                <a:latin typeface="Consolas"/>
              </a:rPr>
              <a:t>kubectl get storageclass</a:t>
            </a:r>
          </a:p>
        </p:txBody>
      </p:sp>
      <p:sp>
        <p:nvSpPr>
          <p:cNvPr id="11" name="TextBox 10"/>
          <p:cNvSpPr txBox="1"/>
          <p:nvPr/>
        </p:nvSpPr>
        <p:spPr>
          <a:xfrm>
            <a:off x="777240" y="2967228"/>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Step 2 -- Mark StorageClass as default</a:t>
            </a:r>
          </a:p>
        </p:txBody>
      </p:sp>
      <p:sp>
        <p:nvSpPr>
          <p:cNvPr id="12" name="Rounded Rectangle 11"/>
          <p:cNvSpPr/>
          <p:nvPr/>
        </p:nvSpPr>
        <p:spPr>
          <a:xfrm>
            <a:off x="777240" y="3351276"/>
            <a:ext cx="10652760" cy="521207"/>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3351276"/>
            <a:ext cx="82296" cy="521207"/>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3415284"/>
            <a:ext cx="10323576" cy="429767"/>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kubectl patch storageclass local-path \</a:t>
            </a:r>
          </a:p>
          <a:p>
            <a:pPr>
              <a:spcBef>
                <a:spcPts val="0"/>
              </a:spcBef>
              <a:spcAft>
                <a:spcPts val="0"/>
              </a:spcAft>
            </a:pPr>
            <a:r>
              <a:rPr sz="1050">
                <a:solidFill>
                  <a:srgbClr val="161B26"/>
                </a:solidFill>
                <a:latin typeface="Consolas"/>
              </a:rPr>
              <a:t>  -p '{"metadata":{"annotations":{"storageclass.kubernetes.io/is-default-class":"true"}}}'</a:t>
            </a:r>
          </a:p>
        </p:txBody>
      </p:sp>
      <p:sp>
        <p:nvSpPr>
          <p:cNvPr id="15" name="TextBox 14"/>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6" name="TextBox 15"/>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7" name="TextBox 16"/>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215</a:t>
            </a:r>
          </a:p>
        </p:txBody>
      </p:sp>
    </p:spTree>
  </p:cSld>
  <p:clrMapOvr>
    <a:masterClrMapping/>
  </p:clrMapOvr>
</p:sld>
</file>

<file path=ppt/slides/slide2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24  ·  COMMANDS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StorageClass: Dynamic Provisioning, Default Class, StatefulSet volumeClaimTemplates (cont.)</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91640"/>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Step 3 -- Dynamic PVC provisioning</a:t>
            </a:r>
          </a:p>
        </p:txBody>
      </p:sp>
      <p:sp>
        <p:nvSpPr>
          <p:cNvPr id="8" name="Rounded Rectangle 7"/>
          <p:cNvSpPr/>
          <p:nvPr/>
        </p:nvSpPr>
        <p:spPr>
          <a:xfrm>
            <a:off x="777240" y="2075688"/>
            <a:ext cx="10652760" cy="2583180"/>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075688"/>
            <a:ext cx="82296" cy="25831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6" y="2139696"/>
            <a:ext cx="10323576" cy="2491740"/>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cat &lt;&lt;'EOF' | kubectl apply -f -</a:t>
            </a:r>
          </a:p>
          <a:p>
            <a:pPr>
              <a:spcBef>
                <a:spcPts val="0"/>
              </a:spcBef>
              <a:spcAft>
                <a:spcPts val="0"/>
              </a:spcAft>
            </a:pPr>
            <a:r>
              <a:rPr sz="1050">
                <a:solidFill>
                  <a:srgbClr val="161B26"/>
                </a:solidFill>
                <a:latin typeface="Consolas"/>
              </a:rPr>
              <a:t>apiVersion: v1</a:t>
            </a:r>
          </a:p>
          <a:p>
            <a:pPr>
              <a:spcBef>
                <a:spcPts val="0"/>
              </a:spcBef>
              <a:spcAft>
                <a:spcPts val="0"/>
              </a:spcAft>
            </a:pPr>
            <a:r>
              <a:rPr sz="1050">
                <a:solidFill>
                  <a:srgbClr val="161B26"/>
                </a:solidFill>
                <a:latin typeface="Consolas"/>
              </a:rPr>
              <a:t>kind: PersistentVolumeClaim</a:t>
            </a:r>
          </a:p>
          <a:p>
            <a:pPr>
              <a:spcBef>
                <a:spcPts val="0"/>
              </a:spcBef>
              <a:spcAft>
                <a:spcPts val="0"/>
              </a:spcAft>
            </a:pPr>
            <a:r>
              <a:rPr sz="1050">
                <a:solidFill>
                  <a:srgbClr val="161B26"/>
                </a:solidFill>
                <a:latin typeface="Consolas"/>
              </a:rPr>
              <a:t>metadata:</a:t>
            </a:r>
          </a:p>
          <a:p>
            <a:pPr>
              <a:spcBef>
                <a:spcPts val="0"/>
              </a:spcBef>
              <a:spcAft>
                <a:spcPts val="0"/>
              </a:spcAft>
            </a:pPr>
            <a:r>
              <a:rPr sz="1050">
                <a:solidFill>
                  <a:srgbClr val="161B26"/>
                </a:solidFill>
                <a:latin typeface="Consolas"/>
              </a:rPr>
              <a:t>  name: dynamic-pvc</a:t>
            </a:r>
          </a:p>
          <a:p>
            <a:pPr>
              <a:spcBef>
                <a:spcPts val="0"/>
              </a:spcBef>
              <a:spcAft>
                <a:spcPts val="0"/>
              </a:spcAft>
            </a:pPr>
            <a:r>
              <a:rPr sz="1050">
                <a:solidFill>
                  <a:srgbClr val="161B26"/>
                </a:solidFill>
                <a:latin typeface="Consolas"/>
              </a:rPr>
              <a:t>spec:</a:t>
            </a:r>
          </a:p>
          <a:p>
            <a:pPr>
              <a:spcBef>
                <a:spcPts val="0"/>
              </a:spcBef>
              <a:spcAft>
                <a:spcPts val="0"/>
              </a:spcAft>
            </a:pPr>
            <a:r>
              <a:rPr sz="1050">
                <a:solidFill>
                  <a:srgbClr val="161B26"/>
                </a:solidFill>
                <a:latin typeface="Consolas"/>
              </a:rPr>
              <a:t>  accessModes: [ReadWriteOnce]</a:t>
            </a:r>
          </a:p>
          <a:p>
            <a:pPr>
              <a:spcBef>
                <a:spcPts val="0"/>
              </a:spcBef>
              <a:spcAft>
                <a:spcPts val="0"/>
              </a:spcAft>
            </a:pPr>
            <a:r>
              <a:rPr sz="1050">
                <a:solidFill>
                  <a:srgbClr val="161B26"/>
                </a:solidFill>
                <a:latin typeface="Consolas"/>
              </a:rPr>
              <a:t>  storageClassName: local-path</a:t>
            </a:r>
          </a:p>
          <a:p>
            <a:pPr>
              <a:spcBef>
                <a:spcPts val="0"/>
              </a:spcBef>
              <a:spcAft>
                <a:spcPts val="0"/>
              </a:spcAft>
            </a:pPr>
            <a:r>
              <a:rPr sz="1050">
                <a:solidFill>
                  <a:srgbClr val="161B26"/>
                </a:solidFill>
                <a:latin typeface="Consolas"/>
              </a:rPr>
              <a:t>  resources:</a:t>
            </a:r>
          </a:p>
          <a:p>
            <a:pPr>
              <a:spcBef>
                <a:spcPts val="0"/>
              </a:spcBef>
              <a:spcAft>
                <a:spcPts val="0"/>
              </a:spcAft>
            </a:pPr>
            <a:r>
              <a:rPr sz="1050">
                <a:solidFill>
                  <a:srgbClr val="161B26"/>
                </a:solidFill>
                <a:latin typeface="Consolas"/>
              </a:rPr>
              <a:t>    requests:</a:t>
            </a:r>
          </a:p>
          <a:p>
            <a:pPr>
              <a:spcBef>
                <a:spcPts val="0"/>
              </a:spcBef>
              <a:spcAft>
                <a:spcPts val="0"/>
              </a:spcAft>
            </a:pPr>
            <a:r>
              <a:rPr sz="1050">
                <a:solidFill>
                  <a:srgbClr val="161B26"/>
                </a:solidFill>
                <a:latin typeface="Consolas"/>
              </a:rPr>
              <a:t>      storage: 512Mi</a:t>
            </a:r>
          </a:p>
          <a:p>
            <a:pPr>
              <a:spcBef>
                <a:spcPts val="0"/>
              </a:spcBef>
              <a:spcAft>
                <a:spcPts val="0"/>
              </a:spcAft>
            </a:pPr>
            <a:r>
              <a:rPr sz="1050">
                <a:solidFill>
                  <a:srgbClr val="161B26"/>
                </a:solidFill>
                <a:latin typeface="Consolas"/>
              </a:rPr>
              <a:t>EOF</a:t>
            </a:r>
          </a:p>
          <a:p>
            <a:pPr>
              <a:spcBef>
                <a:spcPts val="0"/>
              </a:spcBef>
              <a:spcAft>
                <a:spcPts val="0"/>
              </a:spcAft>
            </a:pPr>
            <a:r>
              <a:rPr sz="1050">
                <a:solidFill>
                  <a:srgbClr val="161B26"/>
                </a:solidFill>
                <a:latin typeface="Consolas"/>
              </a:rPr>
              <a:t>kubectl get pvc dynamic-pvc &amp;&amp; kubectl get pv</a:t>
            </a:r>
          </a:p>
        </p:txBody>
      </p:sp>
      <p:sp>
        <p:nvSpPr>
          <p:cNvPr id="11" name="TextBox 10"/>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216</a:t>
            </a:r>
          </a:p>
        </p:txBody>
      </p:sp>
    </p:spTree>
  </p:cSld>
  <p:clrMapOvr>
    <a:masterClrMapping/>
  </p:clrMapOvr>
</p:sld>
</file>

<file path=ppt/slides/slide2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24  ·  COMMANDS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StorageClass: Dynamic Provisioning, Default Class, StatefulSet volumeClaimTemplates (cont.)</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91640"/>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Step 4 -- StatefulSet with volumeClaimTemplates</a:t>
            </a:r>
          </a:p>
        </p:txBody>
      </p:sp>
      <p:sp>
        <p:nvSpPr>
          <p:cNvPr id="8" name="Rounded Rectangle 7"/>
          <p:cNvSpPr/>
          <p:nvPr/>
        </p:nvSpPr>
        <p:spPr>
          <a:xfrm>
            <a:off x="777240" y="2075688"/>
            <a:ext cx="10652760" cy="6707124"/>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075688"/>
            <a:ext cx="82296" cy="67071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6" y="2139696"/>
            <a:ext cx="10323576" cy="6615684"/>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cat &lt;&lt;'EOF' | kubectl apply -f -</a:t>
            </a:r>
          </a:p>
          <a:p>
            <a:pPr>
              <a:spcBef>
                <a:spcPts val="0"/>
              </a:spcBef>
              <a:spcAft>
                <a:spcPts val="0"/>
              </a:spcAft>
            </a:pPr>
            <a:r>
              <a:rPr sz="1050">
                <a:solidFill>
                  <a:srgbClr val="161B26"/>
                </a:solidFill>
                <a:latin typeface="Consolas"/>
              </a:rPr>
              <a:t>apiVersion: apps/v1</a:t>
            </a:r>
          </a:p>
          <a:p>
            <a:pPr>
              <a:spcBef>
                <a:spcPts val="0"/>
              </a:spcBef>
              <a:spcAft>
                <a:spcPts val="0"/>
              </a:spcAft>
            </a:pPr>
            <a:r>
              <a:rPr sz="1050">
                <a:solidFill>
                  <a:srgbClr val="161B26"/>
                </a:solidFill>
                <a:latin typeface="Consolas"/>
              </a:rPr>
              <a:t>kind: StatefulSet</a:t>
            </a:r>
          </a:p>
          <a:p>
            <a:pPr>
              <a:spcBef>
                <a:spcPts val="0"/>
              </a:spcBef>
              <a:spcAft>
                <a:spcPts val="0"/>
              </a:spcAft>
            </a:pPr>
            <a:r>
              <a:rPr sz="1050">
                <a:solidFill>
                  <a:srgbClr val="161B26"/>
                </a:solidFill>
                <a:latin typeface="Consolas"/>
              </a:rPr>
              <a:t>metadata:</a:t>
            </a:r>
          </a:p>
          <a:p>
            <a:pPr>
              <a:spcBef>
                <a:spcPts val="0"/>
              </a:spcBef>
              <a:spcAft>
                <a:spcPts val="0"/>
              </a:spcAft>
            </a:pPr>
            <a:r>
              <a:rPr sz="1050">
                <a:solidFill>
                  <a:srgbClr val="161B26"/>
                </a:solidFill>
                <a:latin typeface="Consolas"/>
              </a:rPr>
              <a:t>  name: db</a:t>
            </a:r>
          </a:p>
          <a:p>
            <a:pPr>
              <a:spcBef>
                <a:spcPts val="0"/>
              </a:spcBef>
              <a:spcAft>
                <a:spcPts val="0"/>
              </a:spcAft>
            </a:pPr>
            <a:r>
              <a:rPr sz="1050">
                <a:solidFill>
                  <a:srgbClr val="161B26"/>
                </a:solidFill>
                <a:latin typeface="Consolas"/>
              </a:rPr>
              <a:t>spec:</a:t>
            </a:r>
          </a:p>
          <a:p>
            <a:pPr>
              <a:spcBef>
                <a:spcPts val="0"/>
              </a:spcBef>
              <a:spcAft>
                <a:spcPts val="0"/>
              </a:spcAft>
            </a:pPr>
            <a:r>
              <a:rPr sz="1050">
                <a:solidFill>
                  <a:srgbClr val="161B26"/>
                </a:solidFill>
                <a:latin typeface="Consolas"/>
              </a:rPr>
              <a:t>  serviceName: db</a:t>
            </a:r>
          </a:p>
          <a:p>
            <a:pPr>
              <a:spcBef>
                <a:spcPts val="0"/>
              </a:spcBef>
              <a:spcAft>
                <a:spcPts val="0"/>
              </a:spcAft>
            </a:pPr>
            <a:r>
              <a:rPr sz="1050">
                <a:solidFill>
                  <a:srgbClr val="161B26"/>
                </a:solidFill>
                <a:latin typeface="Consolas"/>
              </a:rPr>
              <a:t>  replicas: 3</a:t>
            </a:r>
          </a:p>
          <a:p>
            <a:pPr>
              <a:spcBef>
                <a:spcPts val="0"/>
              </a:spcBef>
              <a:spcAft>
                <a:spcPts val="0"/>
              </a:spcAft>
            </a:pPr>
            <a:r>
              <a:rPr sz="1050">
                <a:solidFill>
                  <a:srgbClr val="161B26"/>
                </a:solidFill>
                <a:latin typeface="Consolas"/>
              </a:rPr>
              <a:t>  selector:</a:t>
            </a:r>
          </a:p>
          <a:p>
            <a:pPr>
              <a:spcBef>
                <a:spcPts val="0"/>
              </a:spcBef>
              <a:spcAft>
                <a:spcPts val="0"/>
              </a:spcAft>
            </a:pPr>
            <a:r>
              <a:rPr sz="1050">
                <a:solidFill>
                  <a:srgbClr val="161B26"/>
                </a:solidFill>
                <a:latin typeface="Consolas"/>
              </a:rPr>
              <a:t>    matchLabels:</a:t>
            </a:r>
          </a:p>
          <a:p>
            <a:pPr>
              <a:spcBef>
                <a:spcPts val="0"/>
              </a:spcBef>
              <a:spcAft>
                <a:spcPts val="0"/>
              </a:spcAft>
            </a:pPr>
            <a:r>
              <a:rPr sz="1050">
                <a:solidFill>
                  <a:srgbClr val="161B26"/>
                </a:solidFill>
                <a:latin typeface="Consolas"/>
              </a:rPr>
              <a:t>      app: db</a:t>
            </a:r>
          </a:p>
          <a:p>
            <a:pPr>
              <a:spcBef>
                <a:spcPts val="0"/>
              </a:spcBef>
              <a:spcAft>
                <a:spcPts val="0"/>
              </a:spcAft>
            </a:pPr>
            <a:r>
              <a:rPr sz="1050">
                <a:solidFill>
                  <a:srgbClr val="161B26"/>
                </a:solidFill>
                <a:latin typeface="Consolas"/>
              </a:rPr>
              <a:t>  template:</a:t>
            </a:r>
          </a:p>
          <a:p>
            <a:pPr>
              <a:spcBef>
                <a:spcPts val="0"/>
              </a:spcBef>
              <a:spcAft>
                <a:spcPts val="0"/>
              </a:spcAft>
            </a:pPr>
            <a:r>
              <a:rPr sz="1050">
                <a:solidFill>
                  <a:srgbClr val="161B26"/>
                </a:solidFill>
                <a:latin typeface="Consolas"/>
              </a:rPr>
              <a:t>    metadata:</a:t>
            </a:r>
          </a:p>
          <a:p>
            <a:pPr>
              <a:spcBef>
                <a:spcPts val="0"/>
              </a:spcBef>
              <a:spcAft>
                <a:spcPts val="0"/>
              </a:spcAft>
            </a:pPr>
            <a:r>
              <a:rPr sz="1050">
                <a:solidFill>
                  <a:srgbClr val="161B26"/>
                </a:solidFill>
                <a:latin typeface="Consolas"/>
              </a:rPr>
              <a:t>      labels:</a:t>
            </a:r>
          </a:p>
          <a:p>
            <a:pPr>
              <a:spcBef>
                <a:spcPts val="0"/>
              </a:spcBef>
              <a:spcAft>
                <a:spcPts val="0"/>
              </a:spcAft>
            </a:pPr>
            <a:r>
              <a:rPr sz="1050">
                <a:solidFill>
                  <a:srgbClr val="161B26"/>
                </a:solidFill>
                <a:latin typeface="Consolas"/>
              </a:rPr>
              <a:t>        app: db</a:t>
            </a:r>
          </a:p>
          <a:p>
            <a:pPr>
              <a:spcBef>
                <a:spcPts val="0"/>
              </a:spcBef>
              <a:spcAft>
                <a:spcPts val="0"/>
              </a:spcAft>
            </a:pPr>
            <a:r>
              <a:rPr sz="1050">
                <a:solidFill>
                  <a:srgbClr val="161B26"/>
                </a:solidFill>
                <a:latin typeface="Consolas"/>
              </a:rPr>
              <a:t>    spec:</a:t>
            </a:r>
          </a:p>
          <a:p>
            <a:pPr>
              <a:spcBef>
                <a:spcPts val="0"/>
              </a:spcBef>
              <a:spcAft>
                <a:spcPts val="0"/>
              </a:spcAft>
            </a:pPr>
            <a:r>
              <a:rPr sz="1050">
                <a:solidFill>
                  <a:srgbClr val="161B26"/>
                </a:solidFill>
                <a:latin typeface="Consolas"/>
              </a:rPr>
              <a:t>      containers:</a:t>
            </a:r>
          </a:p>
          <a:p>
            <a:pPr>
              <a:spcBef>
                <a:spcPts val="0"/>
              </a:spcBef>
              <a:spcAft>
                <a:spcPts val="0"/>
              </a:spcAft>
            </a:pPr>
            <a:r>
              <a:rPr sz="1050">
                <a:solidFill>
                  <a:srgbClr val="161B26"/>
                </a:solidFill>
                <a:latin typeface="Consolas"/>
              </a:rPr>
              <a:t>      - name: postgres</a:t>
            </a:r>
          </a:p>
          <a:p>
            <a:pPr>
              <a:spcBef>
                <a:spcPts val="0"/>
              </a:spcBef>
              <a:spcAft>
                <a:spcPts val="0"/>
              </a:spcAft>
            </a:pPr>
            <a:r>
              <a:rPr sz="1050">
                <a:solidFill>
                  <a:srgbClr val="161B26"/>
                </a:solidFill>
                <a:latin typeface="Consolas"/>
              </a:rPr>
              <a:t>        image: postgres:16-alpine</a:t>
            </a:r>
          </a:p>
          <a:p>
            <a:pPr>
              <a:spcBef>
                <a:spcPts val="0"/>
              </a:spcBef>
              <a:spcAft>
                <a:spcPts val="0"/>
              </a:spcAft>
            </a:pPr>
            <a:r>
              <a:rPr sz="1050">
                <a:solidFill>
                  <a:srgbClr val="161B26"/>
                </a:solidFill>
                <a:latin typeface="Consolas"/>
              </a:rPr>
              <a:t>        env:</a:t>
            </a:r>
          </a:p>
          <a:p>
            <a:pPr>
              <a:spcBef>
                <a:spcPts val="0"/>
              </a:spcBef>
              <a:spcAft>
                <a:spcPts val="0"/>
              </a:spcAft>
            </a:pPr>
            <a:r>
              <a:rPr sz="1050">
                <a:solidFill>
                  <a:srgbClr val="161B26"/>
                </a:solidFill>
                <a:latin typeface="Consolas"/>
              </a:rPr>
              <a:t>        - name: POSTGRES_PASSWORD</a:t>
            </a:r>
          </a:p>
          <a:p>
            <a:pPr>
              <a:spcBef>
                <a:spcPts val="0"/>
              </a:spcBef>
              <a:spcAft>
                <a:spcPts val="0"/>
              </a:spcAft>
            </a:pPr>
            <a:r>
              <a:rPr sz="1050">
                <a:solidFill>
                  <a:srgbClr val="161B26"/>
                </a:solidFill>
                <a:latin typeface="Consolas"/>
              </a:rPr>
              <a:t>          value: example</a:t>
            </a:r>
          </a:p>
          <a:p>
            <a:pPr>
              <a:spcBef>
                <a:spcPts val="0"/>
              </a:spcBef>
              <a:spcAft>
                <a:spcPts val="0"/>
              </a:spcAft>
            </a:pPr>
            <a:r>
              <a:rPr sz="1050">
                <a:solidFill>
                  <a:srgbClr val="161B26"/>
                </a:solidFill>
                <a:latin typeface="Consolas"/>
              </a:rPr>
              <a:t>        volumeMounts:</a:t>
            </a:r>
          </a:p>
          <a:p>
            <a:pPr>
              <a:spcBef>
                <a:spcPts val="0"/>
              </a:spcBef>
              <a:spcAft>
                <a:spcPts val="0"/>
              </a:spcAft>
            </a:pPr>
            <a:r>
              <a:rPr sz="1050">
                <a:solidFill>
                  <a:srgbClr val="161B26"/>
                </a:solidFill>
                <a:latin typeface="Consolas"/>
              </a:rPr>
              <a:t>        - name: data</a:t>
            </a:r>
          </a:p>
          <a:p>
            <a:pPr>
              <a:spcBef>
                <a:spcPts val="0"/>
              </a:spcBef>
              <a:spcAft>
                <a:spcPts val="0"/>
              </a:spcAft>
            </a:pPr>
            <a:r>
              <a:rPr sz="1050">
                <a:solidFill>
                  <a:srgbClr val="161B26"/>
                </a:solidFill>
                <a:latin typeface="Consolas"/>
              </a:rPr>
              <a:t>          mountPath: /var/lib/postgresql/data</a:t>
            </a:r>
          </a:p>
          <a:p>
            <a:pPr>
              <a:spcBef>
                <a:spcPts val="0"/>
              </a:spcBef>
              <a:spcAft>
                <a:spcPts val="0"/>
              </a:spcAft>
            </a:pPr>
            <a:r>
              <a:rPr sz="1050">
                <a:solidFill>
                  <a:srgbClr val="161B26"/>
                </a:solidFill>
                <a:latin typeface="Consolas"/>
              </a:rPr>
              <a:t>  volumeClaimTemplates:</a:t>
            </a:r>
          </a:p>
          <a:p>
            <a:pPr>
              <a:spcBef>
                <a:spcPts val="0"/>
              </a:spcBef>
              <a:spcAft>
                <a:spcPts val="0"/>
              </a:spcAft>
            </a:pPr>
            <a:r>
              <a:rPr sz="1050">
                <a:solidFill>
                  <a:srgbClr val="161B26"/>
                </a:solidFill>
                <a:latin typeface="Consolas"/>
              </a:rPr>
              <a:t>  - metadata:</a:t>
            </a:r>
          </a:p>
          <a:p>
            <a:pPr>
              <a:spcBef>
                <a:spcPts val="0"/>
              </a:spcBef>
              <a:spcAft>
                <a:spcPts val="0"/>
              </a:spcAft>
            </a:pPr>
            <a:r>
              <a:rPr sz="1050">
                <a:solidFill>
                  <a:srgbClr val="161B26"/>
                </a:solidFill>
                <a:latin typeface="Consolas"/>
              </a:rPr>
              <a:t>      name: data</a:t>
            </a:r>
          </a:p>
          <a:p>
            <a:pPr>
              <a:spcBef>
                <a:spcPts val="0"/>
              </a:spcBef>
              <a:spcAft>
                <a:spcPts val="0"/>
              </a:spcAft>
            </a:pPr>
            <a:r>
              <a:rPr sz="1050">
                <a:solidFill>
                  <a:srgbClr val="161B26"/>
                </a:solidFill>
                <a:latin typeface="Consolas"/>
              </a:rPr>
              <a:t>    spec:</a:t>
            </a:r>
          </a:p>
          <a:p>
            <a:pPr>
              <a:spcBef>
                <a:spcPts val="0"/>
              </a:spcBef>
              <a:spcAft>
                <a:spcPts val="0"/>
              </a:spcAft>
            </a:pPr>
            <a:r>
              <a:rPr sz="1050">
                <a:solidFill>
                  <a:srgbClr val="161B26"/>
                </a:solidFill>
                <a:latin typeface="Consolas"/>
              </a:rPr>
              <a:t>      accessModes: [ReadWriteOnce]</a:t>
            </a:r>
          </a:p>
          <a:p>
            <a:pPr>
              <a:spcBef>
                <a:spcPts val="0"/>
              </a:spcBef>
              <a:spcAft>
                <a:spcPts val="0"/>
              </a:spcAft>
            </a:pPr>
            <a:r>
              <a:rPr sz="1050">
                <a:solidFill>
                  <a:srgbClr val="161B26"/>
                </a:solidFill>
                <a:latin typeface="Consolas"/>
              </a:rPr>
              <a:t>      resources:</a:t>
            </a:r>
          </a:p>
          <a:p>
            <a:pPr>
              <a:spcBef>
                <a:spcPts val="0"/>
              </a:spcBef>
              <a:spcAft>
                <a:spcPts val="0"/>
              </a:spcAft>
            </a:pPr>
            <a:r>
              <a:rPr sz="1050">
                <a:solidFill>
                  <a:srgbClr val="161B26"/>
                </a:solidFill>
                <a:latin typeface="Consolas"/>
              </a:rPr>
              <a:t>        requests:</a:t>
            </a:r>
          </a:p>
          <a:p>
            <a:pPr>
              <a:spcBef>
                <a:spcPts val="0"/>
              </a:spcBef>
              <a:spcAft>
                <a:spcPts val="0"/>
              </a:spcAft>
            </a:pPr>
            <a:r>
              <a:rPr sz="1050">
                <a:solidFill>
                  <a:srgbClr val="161B26"/>
                </a:solidFill>
                <a:latin typeface="Consolas"/>
              </a:rPr>
              <a:t>          storage: 1Gi</a:t>
            </a:r>
          </a:p>
          <a:p>
            <a:pPr>
              <a:spcBef>
                <a:spcPts val="0"/>
              </a:spcBef>
              <a:spcAft>
                <a:spcPts val="0"/>
              </a:spcAft>
            </a:pPr>
            <a:r>
              <a:rPr sz="1050">
                <a:solidFill>
                  <a:srgbClr val="161B26"/>
                </a:solidFill>
                <a:latin typeface="Consolas"/>
              </a:rPr>
              <a:t>EOF</a:t>
            </a:r>
          </a:p>
          <a:p>
            <a:pPr>
              <a:spcBef>
                <a:spcPts val="0"/>
              </a:spcBef>
              <a:spcAft>
                <a:spcPts val="0"/>
              </a:spcAft>
            </a:pPr>
            <a:r>
              <a:rPr sz="1050">
                <a:solidFill>
                  <a:srgbClr val="161B26"/>
                </a:solidFill>
                <a:latin typeface="Consolas"/>
              </a:rPr>
              <a:t>kubectl get pods -l app=db &amp;&amp; kubectl get pvc -l app=db</a:t>
            </a:r>
          </a:p>
        </p:txBody>
      </p:sp>
      <p:sp>
        <p:nvSpPr>
          <p:cNvPr id="11" name="TextBox 10"/>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217</a:t>
            </a:r>
          </a:p>
        </p:txBody>
      </p:sp>
    </p:spTree>
  </p:cSld>
  <p:clrMapOvr>
    <a:masterClrMapping/>
  </p:clrMapOvr>
</p:sld>
</file>

<file path=ppt/slides/slide2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24  ·  COMMANDS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StorageClass: Dynamic Provisioning, Default Class, StatefulSet volumeClaimTemplates (cont.)</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91640"/>
            <a:ext cx="10652760" cy="310896"/>
          </a:xfrm>
          <a:prstGeom prst="rect">
            <a:avLst/>
          </a:prstGeom>
          <a:noFill/>
        </p:spPr>
        <p:txBody>
          <a:bodyPr wrap="square" anchor="t" lIns="0" rIns="0" tIns="0" bIns="0">
            <a:spAutoFit/>
          </a:bodyPr>
          <a:lstStyle/>
          <a:p>
            <a:pPr algn="l">
              <a:spcBef>
                <a:spcPts val="0"/>
              </a:spcBef>
              <a:spcAft>
                <a:spcPts val="400"/>
              </a:spcAft>
            </a:pPr>
            <a:r>
              <a:rPr sz="1300" b="1">
                <a:solidFill>
                  <a:srgbClr val="F59E0B"/>
                </a:solidFill>
                <a:latin typeface="Arial"/>
              </a:rPr>
              <a:t>Note   </a:t>
            </a:r>
            <a:r>
              <a:rPr sz="1300" b="0">
                <a:solidFill>
                  <a:srgbClr val="5B6372"/>
                </a:solidFill>
                <a:latin typeface="Arial"/>
              </a:rPr>
              <a:t>StatefulSet volumeClaimTemplates create one PVC per pod: data-db-0, data-db-1, data-db-2. PVCs are NOT deleted when the StatefulSet is deleted -- manual cleanup required.</a:t>
            </a:r>
          </a:p>
        </p:txBody>
      </p:sp>
      <p:sp>
        <p:nvSpPr>
          <p:cNvPr id="8" name="TextBox 7"/>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9" name="TextBox 8"/>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218</a:t>
            </a:r>
          </a:p>
        </p:txBody>
      </p:sp>
    </p:spTree>
  </p:cSld>
  <p:clrMapOvr>
    <a:masterClrMapping/>
  </p:clrMapOvr>
</p:sld>
</file>

<file path=ppt/slides/slide2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24  ·  TEST IT</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StorageClass: Dynamic Provisioning, Default Class, StatefulSet volumeClaimTemplates</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03120"/>
            <a:ext cx="10698480" cy="2560320"/>
          </a:xfrm>
          <a:prstGeom prst="roundRect">
            <a:avLst>
              <a:gd name="adj" fmla="val 5000"/>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lIns="0" rIns="0" tIns="0" bIns="0">
            <a:spAutoFit/>
          </a:bodyPr>
          <a:lstStyle/>
          <a:p>
            <a:pPr algn="l">
              <a:spcBef>
                <a:spcPts val="0"/>
              </a:spcBef>
              <a:spcAft>
                <a:spcPts val="400"/>
              </a:spcAft>
            </a:pPr>
            <a:r>
              <a:rPr sz="2200" b="1">
                <a:solidFill>
                  <a:srgbClr val="127A3E"/>
                </a:solidFill>
                <a:latin typeface="Arial"/>
              </a:rPr>
              <a:t>✅  Test it</a:t>
            </a:r>
          </a:p>
        </p:txBody>
      </p:sp>
      <p:sp>
        <p:nvSpPr>
          <p:cNvPr id="9" name="TextBox 8"/>
          <p:cNvSpPr txBox="1"/>
          <p:nvPr/>
        </p:nvSpPr>
        <p:spPr>
          <a:xfrm>
            <a:off x="1097280" y="3017520"/>
            <a:ext cx="10149840" cy="1463040"/>
          </a:xfrm>
          <a:prstGeom prst="rect">
            <a:avLst/>
          </a:prstGeom>
          <a:noFill/>
        </p:spPr>
        <p:txBody>
          <a:bodyPr wrap="square" anchor="t" lIns="0" rIns="0" tIns="0" bIns="0">
            <a:spAutoFit/>
          </a:bodyPr>
          <a:lstStyle/>
          <a:p>
            <a:pPr algn="l">
              <a:spcBef>
                <a:spcPts val="0"/>
              </a:spcBef>
              <a:spcAft>
                <a:spcPts val="400"/>
              </a:spcAft>
            </a:pPr>
            <a:r>
              <a:rPr sz="1800" b="0">
                <a:solidFill>
                  <a:srgbClr val="161B26"/>
                </a:solidFill>
                <a:latin typeface="Arial"/>
              </a:rPr>
              <a:t>dynamic-pvc is Bound. StatefulSet db has 3 pods each with their own PVC (data-db-0, etc).</a:t>
            </a:r>
          </a:p>
        </p:txBody>
      </p:sp>
      <p:sp>
        <p:nvSpPr>
          <p:cNvPr id="10" name="TextBox 9"/>
          <p:cNvSpPr txBox="1"/>
          <p:nvPr/>
        </p:nvSpPr>
        <p:spPr>
          <a:xfrm>
            <a:off x="777240" y="4983480"/>
            <a:ext cx="10698480" cy="365760"/>
          </a:xfrm>
          <a:prstGeom prst="rect">
            <a:avLst/>
          </a:prstGeom>
          <a:noFill/>
        </p:spPr>
        <p:txBody>
          <a:bodyPr wrap="square" anchor="t" lIns="0" rIns="0" tIns="0" bIns="0">
            <a:spAutoFit/>
          </a:bodyPr>
          <a:lstStyle/>
          <a:p>
            <a:pPr algn="l">
              <a:spcBef>
                <a:spcPts val="0"/>
              </a:spcBef>
              <a:spcAft>
                <a:spcPts val="400"/>
              </a:spcAft>
            </a:pPr>
            <a:r>
              <a:rPr sz="1300" b="1">
                <a:solidFill>
                  <a:srgbClr val="10B981"/>
                </a:solidFill>
                <a:latin typeface="Arial"/>
              </a:rPr>
              <a:t>Killercoda:  </a:t>
            </a:r>
            <a:r>
              <a:rPr sz="1300" b="0">
                <a:solidFill>
                  <a:srgbClr val="5B6372"/>
                </a:solidFill>
                <a:latin typeface="Arial"/>
              </a:rPr>
              <a:t>https://killercoda.com/playgrounds/scenario/kubernetes</a:t>
            </a:r>
          </a:p>
        </p:txBody>
      </p:sp>
      <p:sp>
        <p:nvSpPr>
          <p:cNvPr id="11" name="TextBox 10"/>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219</a:t>
            </a:r>
          </a:p>
        </p:txBody>
      </p:sp>
    </p:spTree>
  </p:cSld>
  <p:clrMapOvr>
    <a:masterClrMapping/>
  </p:clrMapOvr>
</p:sld>
</file>

<file path=ppt/slides/slide2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DAY 3 · VOLUME TYPES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Volume Types: emptyDir, hostPath, projected, downwardAPI</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64208"/>
            <a:ext cx="169164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09928"/>
            <a:ext cx="1691640" cy="365760"/>
          </a:xfrm>
          <a:prstGeom prst="rect">
            <a:avLst/>
          </a:prstGeom>
          <a:noFill/>
        </p:spPr>
        <p:txBody>
          <a:bodyPr wrap="square" anchor="t" lIns="0" rIns="0" tIns="0" bIns="0">
            <a:spAutoFit/>
          </a:bodyPr>
          <a:lstStyle/>
          <a:p>
            <a:pPr algn="ctr">
              <a:spcBef>
                <a:spcPts val="0"/>
              </a:spcBef>
              <a:spcAft>
                <a:spcPts val="400"/>
              </a:spcAft>
            </a:pPr>
            <a:r>
              <a:rPr sz="1600" b="1">
                <a:solidFill>
                  <a:srgbClr val="FFFFFF"/>
                </a:solidFill>
                <a:latin typeface="Arial"/>
              </a:rPr>
              <a:t>LAB 25</a:t>
            </a:r>
          </a:p>
        </p:txBody>
      </p:sp>
      <p:sp>
        <p:nvSpPr>
          <p:cNvPr id="9" name="TextBox 8"/>
          <p:cNvSpPr txBox="1"/>
          <p:nvPr/>
        </p:nvSpPr>
        <p:spPr>
          <a:xfrm>
            <a:off x="2697480" y="1691640"/>
            <a:ext cx="8778240" cy="411480"/>
          </a:xfrm>
          <a:prstGeom prst="rect">
            <a:avLst/>
          </a:prstGeom>
          <a:noFill/>
        </p:spPr>
        <p:txBody>
          <a:bodyPr wrap="square" anchor="ctr" lIns="0" rIns="0" tIns="0" bIns="0">
            <a:spAutoFit/>
          </a:bodyPr>
          <a:lstStyle/>
          <a:p>
            <a:pPr algn="l">
              <a:spcBef>
                <a:spcPts val="0"/>
              </a:spcBef>
              <a:spcAft>
                <a:spcPts val="400"/>
              </a:spcAft>
            </a:pPr>
            <a:r>
              <a:rPr sz="1400" b="1">
                <a:solidFill>
                  <a:srgbClr val="5B6372"/>
                </a:solidFill>
                <a:latin typeface="Arial"/>
              </a:rPr>
              <a:t>Pod volume types</a:t>
            </a:r>
          </a:p>
        </p:txBody>
      </p:sp>
      <p:sp>
        <p:nvSpPr>
          <p:cNvPr id="10" name="TextBox 9"/>
          <p:cNvSpPr txBox="1"/>
          <p:nvPr/>
        </p:nvSpPr>
        <p:spPr>
          <a:xfrm>
            <a:off x="777240" y="2286000"/>
            <a:ext cx="10698480" cy="1554480"/>
          </a:xfrm>
          <a:prstGeom prst="rect">
            <a:avLst/>
          </a:prstGeom>
          <a:noFill/>
        </p:spPr>
        <p:txBody>
          <a:bodyPr wrap="square" anchor="t" lIns="0" rIns="0" tIns="0" bIns="0">
            <a:spAutoFit/>
          </a:bodyPr>
          <a:lstStyle/>
          <a:p>
            <a:pPr algn="l">
              <a:spcBef>
                <a:spcPts val="0"/>
              </a:spcBef>
              <a:spcAft>
                <a:spcPts val="400"/>
              </a:spcAft>
            </a:pPr>
            <a:r>
              <a:rPr sz="1900" b="0">
                <a:solidFill>
                  <a:srgbClr val="161B26"/>
                </a:solidFill>
                <a:latin typeface="Arial"/>
              </a:rPr>
              <a:t>Explore pod-level volume types: emptyDir for shared scratch space, hostPath for node filesystem access, projected for combining multiple sources into one mount, and downwardAPI for exposing pod metadata to the application.</a:t>
            </a:r>
          </a:p>
        </p:txBody>
      </p:sp>
      <p:sp>
        <p:nvSpPr>
          <p:cNvPr id="11" name="Rounded Rectangle 10"/>
          <p:cNvSpPr/>
          <p:nvPr/>
        </p:nvSpPr>
        <p:spPr>
          <a:xfrm>
            <a:off x="777240" y="4069080"/>
            <a:ext cx="10698480" cy="1783080"/>
          </a:xfrm>
          <a:prstGeom prst="roundRect">
            <a:avLst>
              <a:gd name="adj" fmla="val 5000"/>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05840" y="4251960"/>
            <a:ext cx="10058400" cy="365760"/>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You'll build</a:t>
            </a:r>
          </a:p>
        </p:txBody>
      </p:sp>
      <p:sp>
        <p:nvSpPr>
          <p:cNvPr id="13" name="TextBox 12"/>
          <p:cNvSpPr txBox="1"/>
          <p:nvPr/>
        </p:nvSpPr>
        <p:spPr>
          <a:xfrm>
            <a:off x="1005840" y="4617720"/>
            <a:ext cx="10241280" cy="640080"/>
          </a:xfrm>
          <a:prstGeom prst="rect">
            <a:avLst/>
          </a:prstGeom>
          <a:noFill/>
        </p:spPr>
        <p:txBody>
          <a:bodyPr wrap="square" anchor="t" lIns="0" rIns="0" tIns="0" bIns="0">
            <a:spAutoFit/>
          </a:bodyPr>
          <a:lstStyle/>
          <a:p>
            <a:pPr algn="l">
              <a:spcBef>
                <a:spcPts val="0"/>
              </a:spcBef>
              <a:spcAft>
                <a:spcPts val="400"/>
              </a:spcAft>
            </a:pPr>
            <a:r>
              <a:rPr sz="1700" b="1">
                <a:solidFill>
                  <a:srgbClr val="161B26"/>
                </a:solidFill>
                <a:latin typeface="Arial"/>
              </a:rPr>
              <a:t>Create pod with emptyDir shared between two containers, projected volume combining ConfigMap + Secret, downwardAPI volume exposing pod name/namespace/resource requests.</a:t>
            </a:r>
          </a:p>
        </p:txBody>
      </p:sp>
      <p:sp>
        <p:nvSpPr>
          <p:cNvPr id="14" name="TextBox 13"/>
          <p:cNvSpPr txBox="1"/>
          <p:nvPr/>
        </p:nvSpPr>
        <p:spPr>
          <a:xfrm>
            <a:off x="1005840" y="5349240"/>
            <a:ext cx="10058400" cy="457200"/>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Key commands:  </a:t>
            </a:r>
            <a:r>
              <a:rPr sz="1300" b="0">
                <a:solidFill>
                  <a:srgbClr val="5B6372"/>
                </a:solidFill>
                <a:latin typeface="Arial"/>
              </a:rPr>
              <a:t>cat &lt;&lt;'EOF' · kubectl exec · » emptyDir</a:t>
            </a:r>
          </a:p>
        </p:txBody>
      </p:sp>
      <p:sp>
        <p:nvSpPr>
          <p:cNvPr id="15" name="TextBox 14"/>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6" name="TextBox 15"/>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7" name="TextBox 16"/>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220</a:t>
            </a:r>
          </a:p>
        </p:txBody>
      </p:sp>
    </p:spTree>
  </p:cSld>
  <p:clrMapOvr>
    <a:masterClrMapping/>
  </p:clrMapOvr>
</p:sld>
</file>

<file path=ppt/slides/slide2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25  ·  COMMANDS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Volume Types: emptyDir, hostPath, projected, downwardAPI</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91640"/>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Step 1 -- emptyDir: shared scratch space</a:t>
            </a:r>
          </a:p>
        </p:txBody>
      </p:sp>
      <p:sp>
        <p:nvSpPr>
          <p:cNvPr id="8" name="Rounded Rectangle 7"/>
          <p:cNvSpPr/>
          <p:nvPr/>
        </p:nvSpPr>
        <p:spPr>
          <a:xfrm>
            <a:off x="777240" y="2075688"/>
            <a:ext cx="10652760" cy="4645152"/>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075688"/>
            <a:ext cx="82296" cy="46451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6" y="2139696"/>
            <a:ext cx="10323576" cy="4553712"/>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cat &lt;&lt;'EOF' | kubectl apply -f -</a:t>
            </a:r>
          </a:p>
          <a:p>
            <a:pPr>
              <a:spcBef>
                <a:spcPts val="0"/>
              </a:spcBef>
              <a:spcAft>
                <a:spcPts val="0"/>
              </a:spcAft>
            </a:pPr>
            <a:r>
              <a:rPr sz="1050">
                <a:solidFill>
                  <a:srgbClr val="161B26"/>
                </a:solidFill>
                <a:latin typeface="Consolas"/>
              </a:rPr>
              <a:t>apiVersion: v1</a:t>
            </a:r>
          </a:p>
          <a:p>
            <a:pPr>
              <a:spcBef>
                <a:spcPts val="0"/>
              </a:spcBef>
              <a:spcAft>
                <a:spcPts val="0"/>
              </a:spcAft>
            </a:pPr>
            <a:r>
              <a:rPr sz="1050">
                <a:solidFill>
                  <a:srgbClr val="161B26"/>
                </a:solidFill>
                <a:latin typeface="Consolas"/>
              </a:rPr>
              <a:t>kind: Pod</a:t>
            </a:r>
          </a:p>
          <a:p>
            <a:pPr>
              <a:spcBef>
                <a:spcPts val="0"/>
              </a:spcBef>
              <a:spcAft>
                <a:spcPts val="0"/>
              </a:spcAft>
            </a:pPr>
            <a:r>
              <a:rPr sz="1050">
                <a:solidFill>
                  <a:srgbClr val="161B26"/>
                </a:solidFill>
                <a:latin typeface="Consolas"/>
              </a:rPr>
              <a:t>metadata:</a:t>
            </a:r>
          </a:p>
          <a:p>
            <a:pPr>
              <a:spcBef>
                <a:spcPts val="0"/>
              </a:spcBef>
              <a:spcAft>
                <a:spcPts val="0"/>
              </a:spcAft>
            </a:pPr>
            <a:r>
              <a:rPr sz="1050">
                <a:solidFill>
                  <a:srgbClr val="161B26"/>
                </a:solidFill>
                <a:latin typeface="Consolas"/>
              </a:rPr>
              <a:t>  name: scratch</a:t>
            </a:r>
          </a:p>
          <a:p>
            <a:pPr>
              <a:spcBef>
                <a:spcPts val="0"/>
              </a:spcBef>
              <a:spcAft>
                <a:spcPts val="0"/>
              </a:spcAft>
            </a:pPr>
            <a:r>
              <a:rPr sz="1050">
                <a:solidFill>
                  <a:srgbClr val="161B26"/>
                </a:solidFill>
                <a:latin typeface="Consolas"/>
              </a:rPr>
              <a:t>spec:</a:t>
            </a:r>
          </a:p>
          <a:p>
            <a:pPr>
              <a:spcBef>
                <a:spcPts val="0"/>
              </a:spcBef>
              <a:spcAft>
                <a:spcPts val="0"/>
              </a:spcAft>
            </a:pPr>
            <a:r>
              <a:rPr sz="1050">
                <a:solidFill>
                  <a:srgbClr val="161B26"/>
                </a:solidFill>
                <a:latin typeface="Consolas"/>
              </a:rPr>
              <a:t>  containers:</a:t>
            </a:r>
          </a:p>
          <a:p>
            <a:pPr>
              <a:spcBef>
                <a:spcPts val="0"/>
              </a:spcBef>
              <a:spcAft>
                <a:spcPts val="0"/>
              </a:spcAft>
            </a:pPr>
            <a:r>
              <a:rPr sz="1050">
                <a:solidFill>
                  <a:srgbClr val="161B26"/>
                </a:solidFill>
                <a:latin typeface="Consolas"/>
              </a:rPr>
              <a:t>  - name: writer</a:t>
            </a:r>
          </a:p>
          <a:p>
            <a:pPr>
              <a:spcBef>
                <a:spcPts val="0"/>
              </a:spcBef>
              <a:spcAft>
                <a:spcPts val="0"/>
              </a:spcAft>
            </a:pPr>
            <a:r>
              <a:rPr sz="1050">
                <a:solidFill>
                  <a:srgbClr val="161B26"/>
                </a:solidFill>
                <a:latin typeface="Consolas"/>
              </a:rPr>
              <a:t>    image: busybox</a:t>
            </a:r>
          </a:p>
          <a:p>
            <a:pPr>
              <a:spcBef>
                <a:spcPts val="0"/>
              </a:spcBef>
              <a:spcAft>
                <a:spcPts val="0"/>
              </a:spcAft>
            </a:pPr>
            <a:r>
              <a:rPr sz="1050">
                <a:solidFill>
                  <a:srgbClr val="161B26"/>
                </a:solidFill>
                <a:latin typeface="Consolas"/>
              </a:rPr>
              <a:t>    command: ['sh', '-c', 'echo hello-shared &gt; /data/file; sleep 3600']</a:t>
            </a:r>
          </a:p>
          <a:p>
            <a:pPr>
              <a:spcBef>
                <a:spcPts val="0"/>
              </a:spcBef>
              <a:spcAft>
                <a:spcPts val="0"/>
              </a:spcAft>
            </a:pPr>
            <a:r>
              <a:rPr sz="1050">
                <a:solidFill>
                  <a:srgbClr val="161B26"/>
                </a:solidFill>
                <a:latin typeface="Consolas"/>
              </a:rPr>
              <a:t>    volumeMounts:</a:t>
            </a:r>
          </a:p>
          <a:p>
            <a:pPr>
              <a:spcBef>
                <a:spcPts val="0"/>
              </a:spcBef>
              <a:spcAft>
                <a:spcPts val="0"/>
              </a:spcAft>
            </a:pPr>
            <a:r>
              <a:rPr sz="1050">
                <a:solidFill>
                  <a:srgbClr val="161B26"/>
                </a:solidFill>
                <a:latin typeface="Consolas"/>
              </a:rPr>
              <a:t>    - name: tmp</a:t>
            </a:r>
          </a:p>
          <a:p>
            <a:pPr>
              <a:spcBef>
                <a:spcPts val="0"/>
              </a:spcBef>
              <a:spcAft>
                <a:spcPts val="0"/>
              </a:spcAft>
            </a:pPr>
            <a:r>
              <a:rPr sz="1050">
                <a:solidFill>
                  <a:srgbClr val="161B26"/>
                </a:solidFill>
                <a:latin typeface="Consolas"/>
              </a:rPr>
              <a:t>      mountPath: /data</a:t>
            </a:r>
          </a:p>
          <a:p>
            <a:pPr>
              <a:spcBef>
                <a:spcPts val="0"/>
              </a:spcBef>
              <a:spcAft>
                <a:spcPts val="0"/>
              </a:spcAft>
            </a:pPr>
            <a:r>
              <a:rPr sz="1050">
                <a:solidFill>
                  <a:srgbClr val="161B26"/>
                </a:solidFill>
                <a:latin typeface="Consolas"/>
              </a:rPr>
              <a:t>  - name: reader</a:t>
            </a:r>
          </a:p>
          <a:p>
            <a:pPr>
              <a:spcBef>
                <a:spcPts val="0"/>
              </a:spcBef>
              <a:spcAft>
                <a:spcPts val="0"/>
              </a:spcAft>
            </a:pPr>
            <a:r>
              <a:rPr sz="1050">
                <a:solidFill>
                  <a:srgbClr val="161B26"/>
                </a:solidFill>
                <a:latin typeface="Consolas"/>
              </a:rPr>
              <a:t>    image: busybox</a:t>
            </a:r>
          </a:p>
          <a:p>
            <a:pPr>
              <a:spcBef>
                <a:spcPts val="0"/>
              </a:spcBef>
              <a:spcAft>
                <a:spcPts val="0"/>
              </a:spcAft>
            </a:pPr>
            <a:r>
              <a:rPr sz="1050">
                <a:solidFill>
                  <a:srgbClr val="161B26"/>
                </a:solidFill>
                <a:latin typeface="Consolas"/>
              </a:rPr>
              <a:t>    command: ['sh', '-c', 'sleep 3600']</a:t>
            </a:r>
          </a:p>
          <a:p>
            <a:pPr>
              <a:spcBef>
                <a:spcPts val="0"/>
              </a:spcBef>
              <a:spcAft>
                <a:spcPts val="0"/>
              </a:spcAft>
            </a:pPr>
            <a:r>
              <a:rPr sz="1050">
                <a:solidFill>
                  <a:srgbClr val="161B26"/>
                </a:solidFill>
                <a:latin typeface="Consolas"/>
              </a:rPr>
              <a:t>    volumeMounts:</a:t>
            </a:r>
          </a:p>
          <a:p>
            <a:pPr>
              <a:spcBef>
                <a:spcPts val="0"/>
              </a:spcBef>
              <a:spcAft>
                <a:spcPts val="0"/>
              </a:spcAft>
            </a:pPr>
            <a:r>
              <a:rPr sz="1050">
                <a:solidFill>
                  <a:srgbClr val="161B26"/>
                </a:solidFill>
                <a:latin typeface="Consolas"/>
              </a:rPr>
              <a:t>    - name: tmp</a:t>
            </a:r>
          </a:p>
          <a:p>
            <a:pPr>
              <a:spcBef>
                <a:spcPts val="0"/>
              </a:spcBef>
              <a:spcAft>
                <a:spcPts val="0"/>
              </a:spcAft>
            </a:pPr>
            <a:r>
              <a:rPr sz="1050">
                <a:solidFill>
                  <a:srgbClr val="161B26"/>
                </a:solidFill>
                <a:latin typeface="Consolas"/>
              </a:rPr>
              <a:t>      mountPath: /data</a:t>
            </a:r>
          </a:p>
          <a:p>
            <a:pPr>
              <a:spcBef>
                <a:spcPts val="0"/>
              </a:spcBef>
              <a:spcAft>
                <a:spcPts val="0"/>
              </a:spcAft>
            </a:pPr>
            <a:r>
              <a:rPr sz="1050">
                <a:solidFill>
                  <a:srgbClr val="161B26"/>
                </a:solidFill>
                <a:latin typeface="Consolas"/>
              </a:rPr>
              <a:t>  volumes:</a:t>
            </a:r>
          </a:p>
          <a:p>
            <a:pPr>
              <a:spcBef>
                <a:spcPts val="0"/>
              </a:spcBef>
              <a:spcAft>
                <a:spcPts val="0"/>
              </a:spcAft>
            </a:pPr>
            <a:r>
              <a:rPr sz="1050">
                <a:solidFill>
                  <a:srgbClr val="161B26"/>
                </a:solidFill>
                <a:latin typeface="Consolas"/>
              </a:rPr>
              <a:t>  - name: tmp</a:t>
            </a:r>
          </a:p>
          <a:p>
            <a:pPr>
              <a:spcBef>
                <a:spcPts val="0"/>
              </a:spcBef>
              <a:spcAft>
                <a:spcPts val="0"/>
              </a:spcAft>
            </a:pPr>
            <a:r>
              <a:rPr sz="1050">
                <a:solidFill>
                  <a:srgbClr val="161B26"/>
                </a:solidFill>
                <a:latin typeface="Consolas"/>
              </a:rPr>
              <a:t>    emptyDir: {}</a:t>
            </a:r>
          </a:p>
          <a:p>
            <a:pPr>
              <a:spcBef>
                <a:spcPts val="0"/>
              </a:spcBef>
              <a:spcAft>
                <a:spcPts val="0"/>
              </a:spcAft>
            </a:pPr>
            <a:r>
              <a:rPr sz="1050">
                <a:solidFill>
                  <a:srgbClr val="161B26"/>
                </a:solidFill>
                <a:latin typeface="Consolas"/>
              </a:rPr>
              <a:t>EOF</a:t>
            </a:r>
          </a:p>
          <a:p>
            <a:pPr>
              <a:spcBef>
                <a:spcPts val="0"/>
              </a:spcBef>
              <a:spcAft>
                <a:spcPts val="0"/>
              </a:spcAft>
            </a:pPr>
            <a:r>
              <a:rPr sz="1050">
                <a:solidFill>
                  <a:srgbClr val="161B26"/>
                </a:solidFill>
                <a:latin typeface="Consolas"/>
              </a:rPr>
              <a:t>kubectl exec scratch -c reader -- cat /data/file</a:t>
            </a:r>
          </a:p>
        </p:txBody>
      </p:sp>
      <p:sp>
        <p:nvSpPr>
          <p:cNvPr id="11" name="TextBox 10"/>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221</a:t>
            </a:r>
          </a:p>
        </p:txBody>
      </p:sp>
    </p:spTree>
  </p:cSld>
  <p:clrMapOvr>
    <a:masterClrMapping/>
  </p:clrMapOvr>
</p:sld>
</file>

<file path=ppt/slides/slide2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25  ·  COMMANDS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Volume Types: emptyDir, hostPath, projected, downwardAPI (cont.)</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91640"/>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Step 2 -- projected volume (ConfigMap + Secret)</a:t>
            </a:r>
          </a:p>
        </p:txBody>
      </p:sp>
      <p:sp>
        <p:nvSpPr>
          <p:cNvPr id="8" name="Rounded Rectangle 7"/>
          <p:cNvSpPr/>
          <p:nvPr/>
        </p:nvSpPr>
        <p:spPr>
          <a:xfrm>
            <a:off x="777240" y="2075688"/>
            <a:ext cx="10652760" cy="1645919"/>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075688"/>
            <a:ext cx="82296" cy="1645919"/>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6" y="2139696"/>
            <a:ext cx="10323576" cy="1554479"/>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 volumes:</a:t>
            </a:r>
          </a:p>
          <a:p>
            <a:pPr>
              <a:spcBef>
                <a:spcPts val="0"/>
              </a:spcBef>
              <a:spcAft>
                <a:spcPts val="0"/>
              </a:spcAft>
            </a:pPr>
            <a:r>
              <a:rPr sz="1050">
                <a:solidFill>
                  <a:srgbClr val="161B26"/>
                </a:solidFill>
                <a:latin typeface="Consolas"/>
              </a:rPr>
              <a:t># - name: combined</a:t>
            </a:r>
          </a:p>
          <a:p>
            <a:pPr>
              <a:spcBef>
                <a:spcPts val="0"/>
              </a:spcBef>
              <a:spcAft>
                <a:spcPts val="0"/>
              </a:spcAft>
            </a:pPr>
            <a:r>
              <a:rPr sz="1050">
                <a:solidFill>
                  <a:srgbClr val="161B26"/>
                </a:solidFill>
                <a:latin typeface="Consolas"/>
              </a:rPr>
              <a:t>#   projected:</a:t>
            </a:r>
          </a:p>
          <a:p>
            <a:pPr>
              <a:spcBef>
                <a:spcPts val="0"/>
              </a:spcBef>
              <a:spcAft>
                <a:spcPts val="0"/>
              </a:spcAft>
            </a:pPr>
            <a:r>
              <a:rPr sz="1050">
                <a:solidFill>
                  <a:srgbClr val="161B26"/>
                </a:solidFill>
                <a:latin typeface="Consolas"/>
              </a:rPr>
              <a:t>#     sources:</a:t>
            </a:r>
          </a:p>
          <a:p>
            <a:pPr>
              <a:spcBef>
                <a:spcPts val="0"/>
              </a:spcBef>
              <a:spcAft>
                <a:spcPts val="0"/>
              </a:spcAft>
            </a:pPr>
            <a:r>
              <a:rPr sz="1050">
                <a:solidFill>
                  <a:srgbClr val="161B26"/>
                </a:solidFill>
                <a:latin typeface="Consolas"/>
              </a:rPr>
              <a:t>#     - configMap:</a:t>
            </a:r>
          </a:p>
          <a:p>
            <a:pPr>
              <a:spcBef>
                <a:spcPts val="0"/>
              </a:spcBef>
              <a:spcAft>
                <a:spcPts val="0"/>
              </a:spcAft>
            </a:pPr>
            <a:r>
              <a:rPr sz="1050">
                <a:solidFill>
                  <a:srgbClr val="161B26"/>
                </a:solidFill>
                <a:latin typeface="Consolas"/>
              </a:rPr>
              <a:t>#         name: app-config</a:t>
            </a:r>
          </a:p>
          <a:p>
            <a:pPr>
              <a:spcBef>
                <a:spcPts val="0"/>
              </a:spcBef>
              <a:spcAft>
                <a:spcPts val="0"/>
              </a:spcAft>
            </a:pPr>
            <a:r>
              <a:rPr sz="1050">
                <a:solidFill>
                  <a:srgbClr val="161B26"/>
                </a:solidFill>
                <a:latin typeface="Consolas"/>
              </a:rPr>
              <a:t>#     - secret:</a:t>
            </a:r>
          </a:p>
          <a:p>
            <a:pPr>
              <a:spcBef>
                <a:spcPts val="0"/>
              </a:spcBef>
              <a:spcAft>
                <a:spcPts val="0"/>
              </a:spcAft>
            </a:pPr>
            <a:r>
              <a:rPr sz="1050">
                <a:solidFill>
                  <a:srgbClr val="161B26"/>
                </a:solidFill>
                <a:latin typeface="Consolas"/>
              </a:rPr>
              <a:t>#         name: app-secret</a:t>
            </a:r>
          </a:p>
        </p:txBody>
      </p:sp>
      <p:sp>
        <p:nvSpPr>
          <p:cNvPr id="11" name="TextBox 10"/>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222</a:t>
            </a:r>
          </a:p>
        </p:txBody>
      </p:sp>
    </p:spTree>
  </p:cSld>
  <p:clrMapOvr>
    <a:masterClrMapping/>
  </p:clrMapOvr>
</p:sld>
</file>

<file path=ppt/slides/slide2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25  ·  COMMANDS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Volume Types: emptyDir, hostPath, projected, downwardAPI (cont.)</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91640"/>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Step 3 -- downwardAPI: pod metadata as files</a:t>
            </a:r>
          </a:p>
        </p:txBody>
      </p:sp>
      <p:sp>
        <p:nvSpPr>
          <p:cNvPr id="8" name="Rounded Rectangle 7"/>
          <p:cNvSpPr/>
          <p:nvPr/>
        </p:nvSpPr>
        <p:spPr>
          <a:xfrm>
            <a:off x="777240" y="2075688"/>
            <a:ext cx="10652760" cy="2208276"/>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075688"/>
            <a:ext cx="82296" cy="220827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6" y="2139696"/>
            <a:ext cx="10323576" cy="2116836"/>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 volumes:</a:t>
            </a:r>
          </a:p>
          <a:p>
            <a:pPr>
              <a:spcBef>
                <a:spcPts val="0"/>
              </a:spcBef>
              <a:spcAft>
                <a:spcPts val="0"/>
              </a:spcAft>
            </a:pPr>
            <a:r>
              <a:rPr sz="1050">
                <a:solidFill>
                  <a:srgbClr val="161B26"/>
                </a:solidFill>
                <a:latin typeface="Consolas"/>
              </a:rPr>
              <a:t># - name: podinfo</a:t>
            </a:r>
          </a:p>
          <a:p>
            <a:pPr>
              <a:spcBef>
                <a:spcPts val="0"/>
              </a:spcBef>
              <a:spcAft>
                <a:spcPts val="0"/>
              </a:spcAft>
            </a:pPr>
            <a:r>
              <a:rPr sz="1050">
                <a:solidFill>
                  <a:srgbClr val="161B26"/>
                </a:solidFill>
                <a:latin typeface="Consolas"/>
              </a:rPr>
              <a:t>#   downwardAPI:</a:t>
            </a:r>
          </a:p>
          <a:p>
            <a:pPr>
              <a:spcBef>
                <a:spcPts val="0"/>
              </a:spcBef>
              <a:spcAft>
                <a:spcPts val="0"/>
              </a:spcAft>
            </a:pPr>
            <a:r>
              <a:rPr sz="1050">
                <a:solidFill>
                  <a:srgbClr val="161B26"/>
                </a:solidFill>
                <a:latin typeface="Consolas"/>
              </a:rPr>
              <a:t>#     items:</a:t>
            </a:r>
          </a:p>
          <a:p>
            <a:pPr>
              <a:spcBef>
                <a:spcPts val="0"/>
              </a:spcBef>
              <a:spcAft>
                <a:spcPts val="0"/>
              </a:spcAft>
            </a:pPr>
            <a:r>
              <a:rPr sz="1050">
                <a:solidFill>
                  <a:srgbClr val="161B26"/>
                </a:solidFill>
                <a:latin typeface="Consolas"/>
              </a:rPr>
              <a:t>#     - path: 'pod-name'</a:t>
            </a:r>
          </a:p>
          <a:p>
            <a:pPr>
              <a:spcBef>
                <a:spcPts val="0"/>
              </a:spcBef>
              <a:spcAft>
                <a:spcPts val="0"/>
              </a:spcAft>
            </a:pPr>
            <a:r>
              <a:rPr sz="1050">
                <a:solidFill>
                  <a:srgbClr val="161B26"/>
                </a:solidFill>
                <a:latin typeface="Consolas"/>
              </a:rPr>
              <a:t>#       fieldRef:</a:t>
            </a:r>
          </a:p>
          <a:p>
            <a:pPr>
              <a:spcBef>
                <a:spcPts val="0"/>
              </a:spcBef>
              <a:spcAft>
                <a:spcPts val="0"/>
              </a:spcAft>
            </a:pPr>
            <a:r>
              <a:rPr sz="1050">
                <a:solidFill>
                  <a:srgbClr val="161B26"/>
                </a:solidFill>
                <a:latin typeface="Consolas"/>
              </a:rPr>
              <a:t>#         fieldPath: metadata.name</a:t>
            </a:r>
          </a:p>
          <a:p>
            <a:pPr>
              <a:spcBef>
                <a:spcPts val="0"/>
              </a:spcBef>
              <a:spcAft>
                <a:spcPts val="0"/>
              </a:spcAft>
            </a:pPr>
            <a:r>
              <a:rPr sz="1050">
                <a:solidFill>
                  <a:srgbClr val="161B26"/>
                </a:solidFill>
                <a:latin typeface="Consolas"/>
              </a:rPr>
              <a:t>#     - path: 'cpu-request'</a:t>
            </a:r>
          </a:p>
          <a:p>
            <a:pPr>
              <a:spcBef>
                <a:spcPts val="0"/>
              </a:spcBef>
              <a:spcAft>
                <a:spcPts val="0"/>
              </a:spcAft>
            </a:pPr>
            <a:r>
              <a:rPr sz="1050">
                <a:solidFill>
                  <a:srgbClr val="161B26"/>
                </a:solidFill>
                <a:latin typeface="Consolas"/>
              </a:rPr>
              <a:t>#       resourceFieldRef:</a:t>
            </a:r>
          </a:p>
          <a:p>
            <a:pPr>
              <a:spcBef>
                <a:spcPts val="0"/>
              </a:spcBef>
              <a:spcAft>
                <a:spcPts val="0"/>
              </a:spcAft>
            </a:pPr>
            <a:r>
              <a:rPr sz="1050">
                <a:solidFill>
                  <a:srgbClr val="161B26"/>
                </a:solidFill>
                <a:latin typeface="Consolas"/>
              </a:rPr>
              <a:t>#         resource: requests.cpu</a:t>
            </a:r>
          </a:p>
          <a:p>
            <a:pPr>
              <a:spcBef>
                <a:spcPts val="0"/>
              </a:spcBef>
              <a:spcAft>
                <a:spcPts val="0"/>
              </a:spcAft>
            </a:pPr>
            <a:r>
              <a:rPr sz="1050">
                <a:solidFill>
                  <a:srgbClr val="161B26"/>
                </a:solidFill>
                <a:latin typeface="Consolas"/>
              </a:rPr>
              <a:t>kubectl exec downward-pod -- cat /podinfo/pod-name</a:t>
            </a:r>
          </a:p>
        </p:txBody>
      </p:sp>
      <p:sp>
        <p:nvSpPr>
          <p:cNvPr id="11" name="TextBox 10"/>
          <p:cNvSpPr txBox="1"/>
          <p:nvPr/>
        </p:nvSpPr>
        <p:spPr>
          <a:xfrm>
            <a:off x="777240" y="4466844"/>
            <a:ext cx="10652760" cy="310896"/>
          </a:xfrm>
          <a:prstGeom prst="rect">
            <a:avLst/>
          </a:prstGeom>
          <a:noFill/>
        </p:spPr>
        <p:txBody>
          <a:bodyPr wrap="square" anchor="t" lIns="0" rIns="0" tIns="0" bIns="0">
            <a:spAutoFit/>
          </a:bodyPr>
          <a:lstStyle/>
          <a:p>
            <a:pPr algn="l">
              <a:spcBef>
                <a:spcPts val="0"/>
              </a:spcBef>
              <a:spcAft>
                <a:spcPts val="400"/>
              </a:spcAft>
            </a:pPr>
            <a:r>
              <a:rPr sz="1300" b="1">
                <a:solidFill>
                  <a:srgbClr val="F59E0B"/>
                </a:solidFill>
                <a:latin typeface="Arial"/>
              </a:rPr>
              <a:t>Note   </a:t>
            </a:r>
            <a:r>
              <a:rPr sz="1300" b="0">
                <a:solidFill>
                  <a:srgbClr val="5B6372"/>
                </a:solidFill>
                <a:latin typeface="Arial"/>
              </a:rPr>
              <a:t>emptyDir is deleted when the pod is deleted. hostPath ties the pod to a specific node. projected combines ConfigMap, Secret, serviceAccountToken, and downwardAPI into one mount.</a:t>
            </a:r>
          </a:p>
        </p:txBody>
      </p:sp>
      <p:sp>
        <p:nvSpPr>
          <p:cNvPr id="12" name="TextBox 11"/>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3" name="TextBox 12"/>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4" name="TextBox 13"/>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223</a:t>
            </a:r>
          </a:p>
        </p:txBody>
      </p:sp>
    </p:spTree>
  </p:cSld>
  <p:clrMapOvr>
    <a:masterClrMapping/>
  </p:clrMapOvr>
</p:sld>
</file>

<file path=ppt/slides/slide2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25  ·  TEST IT</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Volume Types: emptyDir, hostPath, projected, downwardAPI</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03120"/>
            <a:ext cx="10698480" cy="2560320"/>
          </a:xfrm>
          <a:prstGeom prst="roundRect">
            <a:avLst>
              <a:gd name="adj" fmla="val 5000"/>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lIns="0" rIns="0" tIns="0" bIns="0">
            <a:spAutoFit/>
          </a:bodyPr>
          <a:lstStyle/>
          <a:p>
            <a:pPr algn="l">
              <a:spcBef>
                <a:spcPts val="0"/>
              </a:spcBef>
              <a:spcAft>
                <a:spcPts val="400"/>
              </a:spcAft>
            </a:pPr>
            <a:r>
              <a:rPr sz="2200" b="1">
                <a:solidFill>
                  <a:srgbClr val="127A3E"/>
                </a:solidFill>
                <a:latin typeface="Arial"/>
              </a:rPr>
              <a:t>✅  Test it</a:t>
            </a:r>
          </a:p>
        </p:txBody>
      </p:sp>
      <p:sp>
        <p:nvSpPr>
          <p:cNvPr id="9" name="TextBox 8"/>
          <p:cNvSpPr txBox="1"/>
          <p:nvPr/>
        </p:nvSpPr>
        <p:spPr>
          <a:xfrm>
            <a:off x="1097280" y="3017520"/>
            <a:ext cx="10149840" cy="1463040"/>
          </a:xfrm>
          <a:prstGeom prst="rect">
            <a:avLst/>
          </a:prstGeom>
          <a:noFill/>
        </p:spPr>
        <p:txBody>
          <a:bodyPr wrap="square" anchor="t" lIns="0" rIns="0" tIns="0" bIns="0">
            <a:spAutoFit/>
          </a:bodyPr>
          <a:lstStyle/>
          <a:p>
            <a:pPr algn="l">
              <a:spcBef>
                <a:spcPts val="0"/>
              </a:spcBef>
              <a:spcAft>
                <a:spcPts val="400"/>
              </a:spcAft>
            </a:pPr>
            <a:r>
              <a:rPr sz="1800" b="0">
                <a:solidFill>
                  <a:srgbClr val="161B26"/>
                </a:solidFill>
                <a:latin typeface="Arial"/>
              </a:rPr>
              <a:t>reader container reads file written by writer via emptyDir. downwardAPI pod shows correct pod name from /podinfo/pod-name.</a:t>
            </a:r>
          </a:p>
        </p:txBody>
      </p:sp>
      <p:sp>
        <p:nvSpPr>
          <p:cNvPr id="10" name="TextBox 9"/>
          <p:cNvSpPr txBox="1"/>
          <p:nvPr/>
        </p:nvSpPr>
        <p:spPr>
          <a:xfrm>
            <a:off x="777240" y="4983480"/>
            <a:ext cx="10698480" cy="365760"/>
          </a:xfrm>
          <a:prstGeom prst="rect">
            <a:avLst/>
          </a:prstGeom>
          <a:noFill/>
        </p:spPr>
        <p:txBody>
          <a:bodyPr wrap="square" anchor="t" lIns="0" rIns="0" tIns="0" bIns="0">
            <a:spAutoFit/>
          </a:bodyPr>
          <a:lstStyle/>
          <a:p>
            <a:pPr algn="l">
              <a:spcBef>
                <a:spcPts val="0"/>
              </a:spcBef>
              <a:spcAft>
                <a:spcPts val="400"/>
              </a:spcAft>
            </a:pPr>
            <a:r>
              <a:rPr sz="1300" b="1">
                <a:solidFill>
                  <a:srgbClr val="10B981"/>
                </a:solidFill>
                <a:latin typeface="Arial"/>
              </a:rPr>
              <a:t>Killercoda:  </a:t>
            </a:r>
            <a:r>
              <a:rPr sz="1300" b="0">
                <a:solidFill>
                  <a:srgbClr val="5B6372"/>
                </a:solidFill>
                <a:latin typeface="Arial"/>
              </a:rPr>
              <a:t>https://killercoda.com/playgrounds/scenario/kubernetes</a:t>
            </a:r>
          </a:p>
        </p:txBody>
      </p:sp>
      <p:sp>
        <p:nvSpPr>
          <p:cNvPr id="11" name="TextBox 10"/>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224</a:t>
            </a:r>
          </a:p>
        </p:txBody>
      </p:sp>
    </p:spTree>
  </p:cSld>
  <p:clrMapOvr>
    <a:masterClrMapping/>
  </p:clrMapOvr>
</p:sld>
</file>

<file path=ppt/slides/slide2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56832"/>
            <a:ext cx="12191695" cy="2011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937760" y="2148840"/>
            <a:ext cx="2313432"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0" y="2514600"/>
            <a:ext cx="12191695" cy="1097280"/>
          </a:xfrm>
          <a:prstGeom prst="rect">
            <a:avLst/>
          </a:prstGeom>
          <a:noFill/>
        </p:spPr>
        <p:txBody>
          <a:bodyPr wrap="square" anchor="t" lIns="0" rIns="0" tIns="0" bIns="0">
            <a:spAutoFit/>
          </a:bodyPr>
          <a:lstStyle/>
          <a:p>
            <a:pPr algn="ctr">
              <a:spcBef>
                <a:spcPts val="0"/>
              </a:spcBef>
              <a:spcAft>
                <a:spcPts val="400"/>
              </a:spcAft>
            </a:pPr>
            <a:r>
              <a:rPr sz="4800" b="1">
                <a:solidFill>
                  <a:srgbClr val="161B26"/>
                </a:solidFill>
                <a:latin typeface="Arial"/>
              </a:rPr>
              <a:t>Tea Break</a:t>
            </a:r>
          </a:p>
        </p:txBody>
      </p:sp>
      <p:sp>
        <p:nvSpPr>
          <p:cNvPr id="7" name="TextBox 6"/>
          <p:cNvSpPr txBox="1"/>
          <p:nvPr/>
        </p:nvSpPr>
        <p:spPr>
          <a:xfrm>
            <a:off x="0" y="3703320"/>
            <a:ext cx="12191695" cy="731520"/>
          </a:xfrm>
          <a:prstGeom prst="rect">
            <a:avLst/>
          </a:prstGeom>
          <a:noFill/>
        </p:spPr>
        <p:txBody>
          <a:bodyPr wrap="square" anchor="t" lIns="0" rIns="0" tIns="0" bIns="0">
            <a:spAutoFit/>
          </a:bodyPr>
          <a:lstStyle/>
          <a:p>
            <a:pPr algn="ctr">
              <a:spcBef>
                <a:spcPts val="0"/>
              </a:spcBef>
              <a:spcAft>
                <a:spcPts val="400"/>
              </a:spcAft>
            </a:pPr>
            <a:r>
              <a:rPr sz="2200" b="1">
                <a:solidFill>
                  <a:srgbClr val="10B981"/>
                </a:solidFill>
                <a:latin typeface="Arial"/>
              </a:rPr>
              <a:t>15 minutes</a:t>
            </a:r>
          </a:p>
        </p:txBody>
      </p:sp>
    </p:spTree>
  </p:cSld>
  <p:clrMapOvr>
    <a:masterClrMapping/>
  </p:clrMapOvr>
</p:sld>
</file>

<file path=ppt/slides/slide2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lIns="0" rIns="0" tIns="0" bIns="0">
            <a:spAutoFit/>
          </a:bodyPr>
          <a:lstStyle/>
          <a:p>
            <a:pPr algn="l">
              <a:spcBef>
                <a:spcPts val="0"/>
              </a:spcBef>
              <a:spcAft>
                <a:spcPts val="400"/>
              </a:spcAft>
            </a:pPr>
            <a:r>
              <a:rPr sz="1800" b="1">
                <a:solidFill>
                  <a:srgbClr val="1F6FEB"/>
                </a:solidFill>
                <a:latin typeface="Arial"/>
              </a:rPr>
              <a:t>TOPIC 4</a:t>
            </a:r>
          </a:p>
        </p:txBody>
      </p:sp>
      <p:sp>
        <p:nvSpPr>
          <p:cNvPr id="6" name="TextBox 5"/>
          <p:cNvSpPr txBox="1"/>
          <p:nvPr/>
        </p:nvSpPr>
        <p:spPr>
          <a:xfrm>
            <a:off x="1143000" y="2743200"/>
            <a:ext cx="10424160" cy="1463040"/>
          </a:xfrm>
          <a:prstGeom prst="rect">
            <a:avLst/>
          </a:prstGeom>
          <a:noFill/>
        </p:spPr>
        <p:txBody>
          <a:bodyPr wrap="square" anchor="t" lIns="0" rIns="0" tIns="0" bIns="0">
            <a:spAutoFit/>
          </a:bodyPr>
          <a:lstStyle/>
          <a:p>
            <a:pPr algn="l">
              <a:spcBef>
                <a:spcPts val="0"/>
              </a:spcBef>
              <a:spcAft>
                <a:spcPts val="400"/>
              </a:spcAft>
            </a:pPr>
            <a:r>
              <a:rPr sz="4000" b="1">
                <a:solidFill>
                  <a:srgbClr val="161B26"/>
                </a:solidFill>
                <a:latin typeface="Arial"/>
              </a:rPr>
              <a:t>Troubleshooting Cluster Components</a:t>
            </a:r>
          </a:p>
        </p:txBody>
      </p:sp>
      <p:sp>
        <p:nvSpPr>
          <p:cNvPr id="7" name="TextBox 6"/>
          <p:cNvSpPr txBox="1"/>
          <p:nvPr/>
        </p:nvSpPr>
        <p:spPr>
          <a:xfrm>
            <a:off x="1161288" y="4114800"/>
            <a:ext cx="10058400" cy="731520"/>
          </a:xfrm>
          <a:prstGeom prst="rect">
            <a:avLst/>
          </a:prstGeom>
          <a:noFill/>
        </p:spPr>
        <p:txBody>
          <a:bodyPr wrap="square" anchor="t" lIns="0" rIns="0" tIns="0" bIns="0">
            <a:spAutoFit/>
          </a:bodyPr>
          <a:lstStyle/>
          <a:p>
            <a:pPr algn="l">
              <a:spcBef>
                <a:spcPts val="0"/>
              </a:spcBef>
              <a:spcAft>
                <a:spcPts val="400"/>
              </a:spcAft>
            </a:pPr>
            <a:r>
              <a:rPr sz="1600" b="0">
                <a:solidFill>
                  <a:srgbClr val="5B6372"/>
                </a:solidFill>
                <a:latin typeface="Arial"/>
              </a:rPr>
              <a:t>etcd, API server, scheduler and controller-manager</a:t>
            </a:r>
          </a:p>
        </p:txBody>
      </p:sp>
      <p:sp>
        <p:nvSpPr>
          <p:cNvPr id="8" name="TextBox 7"/>
          <p:cNvSpPr txBox="1"/>
          <p:nvPr/>
        </p:nvSpPr>
        <p:spPr>
          <a:xfrm>
            <a:off x="9418320" y="640080"/>
            <a:ext cx="2286000" cy="1463040"/>
          </a:xfrm>
          <a:prstGeom prst="rect">
            <a:avLst/>
          </a:prstGeom>
          <a:noFill/>
        </p:spPr>
        <p:txBody>
          <a:bodyPr wrap="square" anchor="t" lIns="0" rIns="0" tIns="0" bIns="0">
            <a:spAutoFit/>
          </a:bodyPr>
          <a:lstStyle/>
          <a:p>
            <a:pPr algn="r">
              <a:spcBef>
                <a:spcPts val="0"/>
              </a:spcBef>
              <a:spcAft>
                <a:spcPts val="400"/>
              </a:spcAft>
            </a:pPr>
            <a:r>
              <a:rPr sz="7200" b="1">
                <a:solidFill>
                  <a:srgbClr val="E2E8F0"/>
                </a:solidFill>
                <a:latin typeface="Arial"/>
              </a:rPr>
              <a:t/>
            </a:r>
          </a:p>
        </p:txBody>
      </p:sp>
      <p:sp>
        <p:nvSpPr>
          <p:cNvPr id="9" name="TextBox 8"/>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0" name="TextBox 9"/>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1" name="TextBox 10"/>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226</a:t>
            </a:r>
          </a:p>
        </p:txBody>
      </p:sp>
    </p:spTree>
  </p:cSld>
  <p:clrMapOvr>
    <a:masterClrMapping/>
  </p:clrMapOvr>
</p:sld>
</file>

<file path=ppt/slides/slide2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CLUSTER COMPONENTS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Cluster Component Failures</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07040" cy="4480560"/>
          </a:xfrm>
          <a:prstGeom prst="rect">
            <a:avLst/>
          </a:prstGeom>
          <a:noFill/>
        </p:spPr>
        <p:txBody>
          <a:bodyPr wrap="square" lIns="0" rIns="0">
            <a:spAutoFit/>
          </a:bodyPr>
          <a:lstStyle/>
          <a:p>
            <a:pPr>
              <a:spcBef>
                <a:spcPts val="0"/>
              </a:spcBef>
              <a:spcAft>
                <a:spcPts val="1000"/>
              </a:spcAft>
            </a:pPr>
            <a:r>
              <a:rPr sz="1900" b="1">
                <a:solidFill>
                  <a:srgbClr val="1F6FEB"/>
                </a:solidFill>
                <a:latin typeface="Arial"/>
              </a:rPr>
              <a:t>•  </a:t>
            </a:r>
            <a:r>
              <a:rPr sz="1900">
                <a:solidFill>
                  <a:srgbClr val="161B26"/>
                </a:solidFill>
                <a:latin typeface="Arial"/>
              </a:rPr>
              <a:t>Static pod manifests live in /etc/kubernetes/manifests/ — kubelet watches this directory and auto-restarts them.</a:t>
            </a:r>
          </a:p>
          <a:p>
            <a:pPr>
              <a:spcBef>
                <a:spcPts val="0"/>
              </a:spcBef>
              <a:spcAft>
                <a:spcPts val="1000"/>
              </a:spcAft>
            </a:pPr>
            <a:r>
              <a:rPr sz="1900" b="1">
                <a:solidFill>
                  <a:srgbClr val="1F6FEB"/>
                </a:solidFill>
                <a:latin typeface="Arial"/>
              </a:rPr>
              <a:t>•  </a:t>
            </a:r>
            <a:r>
              <a:rPr sz="1900">
                <a:solidFill>
                  <a:srgbClr val="161B26"/>
                </a:solidFill>
                <a:latin typeface="Arial"/>
              </a:rPr>
              <a:t>API server down? kubectl will fail — switch to crictl ps -a / crictl logs and journalctl -u kubelet.</a:t>
            </a:r>
          </a:p>
          <a:p>
            <a:pPr>
              <a:spcBef>
                <a:spcPts val="0"/>
              </a:spcBef>
              <a:spcAft>
                <a:spcPts val="1000"/>
              </a:spcAft>
            </a:pPr>
            <a:r>
              <a:rPr sz="1900" b="1">
                <a:solidFill>
                  <a:srgbClr val="1F6FEB"/>
                </a:solidFill>
                <a:latin typeface="Arial"/>
              </a:rPr>
              <a:t>•  </a:t>
            </a:r>
            <a:r>
              <a:rPr sz="1900">
                <a:solidFill>
                  <a:srgbClr val="161B26"/>
                </a:solidFill>
                <a:latin typeface="Arial"/>
              </a:rPr>
              <a:t>etcdctl endpoint health verifies etcd before assuming the API server itself is broken.</a:t>
            </a:r>
          </a:p>
          <a:p>
            <a:pPr>
              <a:spcBef>
                <a:spcPts val="0"/>
              </a:spcBef>
              <a:spcAft>
                <a:spcPts val="1000"/>
              </a:spcAft>
            </a:pPr>
            <a:r>
              <a:rPr sz="1900" b="1">
                <a:solidFill>
                  <a:srgbClr val="1F6FEB"/>
                </a:solidFill>
                <a:latin typeface="Arial"/>
              </a:rPr>
              <a:t>•  </a:t>
            </a:r>
            <a:r>
              <a:rPr sz="1900">
                <a:solidFill>
                  <a:srgbClr val="161B26"/>
                </a:solidFill>
                <a:latin typeface="Arial"/>
              </a:rPr>
              <a:t>Fix a broken manifest, save it, and the kubelet restarts the static pod automatically within ~30 seconds.</a:t>
            </a:r>
          </a:p>
        </p:txBody>
      </p:sp>
      <p:sp>
        <p:nvSpPr>
          <p:cNvPr id="8" name="TextBox 7"/>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9" name="TextBox 8"/>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227</a:t>
            </a:r>
          </a:p>
        </p:txBody>
      </p:sp>
    </p:spTree>
  </p:cSld>
  <p:clrMapOvr>
    <a:masterClrMapping/>
  </p:clrMapOvr>
</p:sld>
</file>

<file path=ppt/slides/slide2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DOMAIN 5  ·  7-STEP DEBUG CHAIN</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Cluster Troubleshooting Triage</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1664208"/>
            <a:ext cx="10652760" cy="640080"/>
          </a:xfrm>
          <a:prstGeom prst="roundRect">
            <a:avLst>
              <a:gd name="adj" fmla="val 5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1664208"/>
            <a:ext cx="3200400" cy="640080"/>
          </a:xfrm>
          <a:prstGeom prst="rect">
            <a:avLst/>
          </a:prstGeom>
          <a:noFill/>
        </p:spPr>
        <p:txBody>
          <a:bodyPr wrap="square" anchor="ctr" lIns="0" rIns="0" tIns="0" bIns="0">
            <a:spAutoFit/>
          </a:bodyPr>
          <a:lstStyle/>
          <a:p>
            <a:pPr algn="l">
              <a:spcBef>
                <a:spcPts val="0"/>
              </a:spcBef>
              <a:spcAft>
                <a:spcPts val="400"/>
              </a:spcAft>
            </a:pPr>
            <a:r>
              <a:rPr sz="1300" b="1">
                <a:solidFill>
                  <a:srgbClr val="1F6FEB"/>
                </a:solidFill>
                <a:latin typeface="Arial"/>
              </a:rPr>
              <a:t>1. kubectl get/describe</a:t>
            </a:r>
          </a:p>
        </p:txBody>
      </p:sp>
      <p:sp>
        <p:nvSpPr>
          <p:cNvPr id="9" name="TextBox 8"/>
          <p:cNvSpPr txBox="1"/>
          <p:nvPr/>
        </p:nvSpPr>
        <p:spPr>
          <a:xfrm>
            <a:off x="4251960" y="1664208"/>
            <a:ext cx="7040880" cy="640080"/>
          </a:xfrm>
          <a:prstGeom prst="rect">
            <a:avLst/>
          </a:prstGeom>
          <a:noFill/>
        </p:spPr>
        <p:txBody>
          <a:bodyPr wrap="square" anchor="ctr" lIns="0" rIns="0" tIns="0" bIns="0">
            <a:spAutoFit/>
          </a:bodyPr>
          <a:lstStyle/>
          <a:p>
            <a:pPr algn="l">
              <a:spcBef>
                <a:spcPts val="0"/>
              </a:spcBef>
              <a:spcAft>
                <a:spcPts val="400"/>
              </a:spcAft>
            </a:pPr>
            <a:r>
              <a:rPr sz="1300" b="0">
                <a:solidFill>
                  <a:srgbClr val="161B26"/>
                </a:solidFill>
                <a:latin typeface="Arial"/>
              </a:rPr>
              <a:t>Read Events — usually tells you the cause directly</a:t>
            </a:r>
          </a:p>
        </p:txBody>
      </p:sp>
      <p:sp>
        <p:nvSpPr>
          <p:cNvPr id="10" name="Rectangle 9"/>
          <p:cNvSpPr/>
          <p:nvPr/>
        </p:nvSpPr>
        <p:spPr>
          <a:xfrm>
            <a:off x="4160520" y="1801368"/>
            <a:ext cx="19050" cy="36576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777240" y="2395728"/>
            <a:ext cx="10652760" cy="640080"/>
          </a:xfrm>
          <a:prstGeom prst="roundRect">
            <a:avLst>
              <a:gd name="adj" fmla="val 5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0120" y="2395728"/>
            <a:ext cx="3200400" cy="640080"/>
          </a:xfrm>
          <a:prstGeom prst="rect">
            <a:avLst/>
          </a:prstGeom>
          <a:noFill/>
        </p:spPr>
        <p:txBody>
          <a:bodyPr wrap="square" anchor="ctr" lIns="0" rIns="0" tIns="0" bIns="0">
            <a:spAutoFit/>
          </a:bodyPr>
          <a:lstStyle/>
          <a:p>
            <a:pPr algn="l">
              <a:spcBef>
                <a:spcPts val="0"/>
              </a:spcBef>
              <a:spcAft>
                <a:spcPts val="400"/>
              </a:spcAft>
            </a:pPr>
            <a:r>
              <a:rPr sz="1300" b="1">
                <a:solidFill>
                  <a:srgbClr val="1F6FEB"/>
                </a:solidFill>
                <a:latin typeface="Arial"/>
              </a:rPr>
              <a:t>2. kubectl logs (--previous)</a:t>
            </a:r>
          </a:p>
        </p:txBody>
      </p:sp>
      <p:sp>
        <p:nvSpPr>
          <p:cNvPr id="13" name="TextBox 12"/>
          <p:cNvSpPr txBox="1"/>
          <p:nvPr/>
        </p:nvSpPr>
        <p:spPr>
          <a:xfrm>
            <a:off x="4251960" y="2395728"/>
            <a:ext cx="7040880" cy="640080"/>
          </a:xfrm>
          <a:prstGeom prst="rect">
            <a:avLst/>
          </a:prstGeom>
          <a:noFill/>
        </p:spPr>
        <p:txBody>
          <a:bodyPr wrap="square" anchor="ctr" lIns="0" rIns="0" tIns="0" bIns="0">
            <a:spAutoFit/>
          </a:bodyPr>
          <a:lstStyle/>
          <a:p>
            <a:pPr algn="l">
              <a:spcBef>
                <a:spcPts val="0"/>
              </a:spcBef>
              <a:spcAft>
                <a:spcPts val="400"/>
              </a:spcAft>
            </a:pPr>
            <a:r>
              <a:rPr sz="1300" b="0">
                <a:solidFill>
                  <a:srgbClr val="161B26"/>
                </a:solidFill>
                <a:latin typeface="Arial"/>
              </a:rPr>
              <a:t>Read container output; --previous for a crashed pod</a:t>
            </a:r>
          </a:p>
        </p:txBody>
      </p:sp>
      <p:sp>
        <p:nvSpPr>
          <p:cNvPr id="14" name="Rectangle 13"/>
          <p:cNvSpPr/>
          <p:nvPr/>
        </p:nvSpPr>
        <p:spPr>
          <a:xfrm>
            <a:off x="4160520" y="2532888"/>
            <a:ext cx="19050" cy="36576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777240" y="3127248"/>
            <a:ext cx="10652760" cy="640080"/>
          </a:xfrm>
          <a:prstGeom prst="roundRect">
            <a:avLst>
              <a:gd name="adj" fmla="val 5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60120" y="3127248"/>
            <a:ext cx="3200400" cy="640080"/>
          </a:xfrm>
          <a:prstGeom prst="rect">
            <a:avLst/>
          </a:prstGeom>
          <a:noFill/>
        </p:spPr>
        <p:txBody>
          <a:bodyPr wrap="square" anchor="ctr" lIns="0" rIns="0" tIns="0" bIns="0">
            <a:spAutoFit/>
          </a:bodyPr>
          <a:lstStyle/>
          <a:p>
            <a:pPr algn="l">
              <a:spcBef>
                <a:spcPts val="0"/>
              </a:spcBef>
              <a:spcAft>
                <a:spcPts val="400"/>
              </a:spcAft>
            </a:pPr>
            <a:r>
              <a:rPr sz="1300" b="1">
                <a:solidFill>
                  <a:srgbClr val="1F6FEB"/>
                </a:solidFill>
                <a:latin typeface="Arial"/>
              </a:rPr>
              <a:t>3. systemctl / journalctl</a:t>
            </a:r>
          </a:p>
        </p:txBody>
      </p:sp>
      <p:sp>
        <p:nvSpPr>
          <p:cNvPr id="17" name="TextBox 16"/>
          <p:cNvSpPr txBox="1"/>
          <p:nvPr/>
        </p:nvSpPr>
        <p:spPr>
          <a:xfrm>
            <a:off x="4251960" y="3127248"/>
            <a:ext cx="7040880" cy="640080"/>
          </a:xfrm>
          <a:prstGeom prst="rect">
            <a:avLst/>
          </a:prstGeom>
          <a:noFill/>
        </p:spPr>
        <p:txBody>
          <a:bodyPr wrap="square" anchor="ctr" lIns="0" rIns="0" tIns="0" bIns="0">
            <a:spAutoFit/>
          </a:bodyPr>
          <a:lstStyle/>
          <a:p>
            <a:pPr algn="l">
              <a:spcBef>
                <a:spcPts val="0"/>
              </a:spcBef>
              <a:spcAft>
                <a:spcPts val="400"/>
              </a:spcAft>
            </a:pPr>
            <a:r>
              <a:rPr sz="1300" b="0">
                <a:solidFill>
                  <a:srgbClr val="161B26"/>
                </a:solidFill>
                <a:latin typeface="Arial"/>
              </a:rPr>
              <a:t>On the node: status kubelet containerd; journalctl -u kubelet</a:t>
            </a:r>
          </a:p>
        </p:txBody>
      </p:sp>
      <p:sp>
        <p:nvSpPr>
          <p:cNvPr id="18" name="Rectangle 17"/>
          <p:cNvSpPr/>
          <p:nvPr/>
        </p:nvSpPr>
        <p:spPr>
          <a:xfrm>
            <a:off x="4160520" y="3264408"/>
            <a:ext cx="19050" cy="36576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777240" y="3858768"/>
            <a:ext cx="10652760" cy="640080"/>
          </a:xfrm>
          <a:prstGeom prst="roundRect">
            <a:avLst>
              <a:gd name="adj" fmla="val 5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3858768"/>
            <a:ext cx="3200400" cy="640080"/>
          </a:xfrm>
          <a:prstGeom prst="rect">
            <a:avLst/>
          </a:prstGeom>
          <a:noFill/>
        </p:spPr>
        <p:txBody>
          <a:bodyPr wrap="square" anchor="ctr" lIns="0" rIns="0" tIns="0" bIns="0">
            <a:spAutoFit/>
          </a:bodyPr>
          <a:lstStyle/>
          <a:p>
            <a:pPr algn="l">
              <a:spcBef>
                <a:spcPts val="0"/>
              </a:spcBef>
              <a:spcAft>
                <a:spcPts val="400"/>
              </a:spcAft>
            </a:pPr>
            <a:r>
              <a:rPr sz="1300" b="1">
                <a:solidFill>
                  <a:srgbClr val="1F6FEB"/>
                </a:solidFill>
                <a:latin typeface="Arial"/>
              </a:rPr>
              <a:t>4. crictl ps / logs</a:t>
            </a:r>
          </a:p>
        </p:txBody>
      </p:sp>
      <p:sp>
        <p:nvSpPr>
          <p:cNvPr id="21" name="TextBox 20"/>
          <p:cNvSpPr txBox="1"/>
          <p:nvPr/>
        </p:nvSpPr>
        <p:spPr>
          <a:xfrm>
            <a:off x="4251960" y="3858768"/>
            <a:ext cx="7040880" cy="640080"/>
          </a:xfrm>
          <a:prstGeom prst="rect">
            <a:avLst/>
          </a:prstGeom>
          <a:noFill/>
        </p:spPr>
        <p:txBody>
          <a:bodyPr wrap="square" anchor="ctr" lIns="0" rIns="0" tIns="0" bIns="0">
            <a:spAutoFit/>
          </a:bodyPr>
          <a:lstStyle/>
          <a:p>
            <a:pPr algn="l">
              <a:spcBef>
                <a:spcPts val="0"/>
              </a:spcBef>
              <a:spcAft>
                <a:spcPts val="400"/>
              </a:spcAft>
            </a:pPr>
            <a:r>
              <a:rPr sz="1300" b="0">
                <a:solidFill>
                  <a:srgbClr val="161B26"/>
                </a:solidFill>
                <a:latin typeface="Arial"/>
              </a:rPr>
              <a:t>Use when kubectl is unavailable (API server down)</a:t>
            </a:r>
          </a:p>
        </p:txBody>
      </p:sp>
      <p:sp>
        <p:nvSpPr>
          <p:cNvPr id="22" name="Rectangle 21"/>
          <p:cNvSpPr/>
          <p:nvPr/>
        </p:nvSpPr>
        <p:spPr>
          <a:xfrm>
            <a:off x="4160520" y="3995928"/>
            <a:ext cx="19050" cy="36576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777240" y="4590288"/>
            <a:ext cx="10652760" cy="640080"/>
          </a:xfrm>
          <a:prstGeom prst="roundRect">
            <a:avLst>
              <a:gd name="adj" fmla="val 5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60120" y="4590288"/>
            <a:ext cx="3200400" cy="640080"/>
          </a:xfrm>
          <a:prstGeom prst="rect">
            <a:avLst/>
          </a:prstGeom>
          <a:noFill/>
        </p:spPr>
        <p:txBody>
          <a:bodyPr wrap="square" anchor="ctr" lIns="0" rIns="0" tIns="0" bIns="0">
            <a:spAutoFit/>
          </a:bodyPr>
          <a:lstStyle/>
          <a:p>
            <a:pPr algn="l">
              <a:spcBef>
                <a:spcPts val="0"/>
              </a:spcBef>
              <a:spcAft>
                <a:spcPts val="400"/>
              </a:spcAft>
            </a:pPr>
            <a:r>
              <a:rPr sz="1300" b="1">
                <a:solidFill>
                  <a:srgbClr val="1F6FEB"/>
                </a:solidFill>
                <a:latin typeface="Arial"/>
              </a:rPr>
              <a:t>5. etcdctl endpoint health</a:t>
            </a:r>
          </a:p>
        </p:txBody>
      </p:sp>
      <p:sp>
        <p:nvSpPr>
          <p:cNvPr id="25" name="TextBox 24"/>
          <p:cNvSpPr txBox="1"/>
          <p:nvPr/>
        </p:nvSpPr>
        <p:spPr>
          <a:xfrm>
            <a:off x="4251960" y="4590288"/>
            <a:ext cx="7040880" cy="640080"/>
          </a:xfrm>
          <a:prstGeom prst="rect">
            <a:avLst/>
          </a:prstGeom>
          <a:noFill/>
        </p:spPr>
        <p:txBody>
          <a:bodyPr wrap="square" anchor="ctr" lIns="0" rIns="0" tIns="0" bIns="0">
            <a:spAutoFit/>
          </a:bodyPr>
          <a:lstStyle/>
          <a:p>
            <a:pPr algn="l">
              <a:spcBef>
                <a:spcPts val="0"/>
              </a:spcBef>
              <a:spcAft>
                <a:spcPts val="400"/>
              </a:spcAft>
            </a:pPr>
            <a:r>
              <a:rPr sz="1300" b="0">
                <a:solidFill>
                  <a:srgbClr val="161B26"/>
                </a:solidFill>
                <a:latin typeface="Arial"/>
              </a:rPr>
              <a:t>Verify etcd is healthy before assuming API server bugs</a:t>
            </a:r>
          </a:p>
        </p:txBody>
      </p:sp>
      <p:sp>
        <p:nvSpPr>
          <p:cNvPr id="26" name="Rectangle 25"/>
          <p:cNvSpPr/>
          <p:nvPr/>
        </p:nvSpPr>
        <p:spPr>
          <a:xfrm>
            <a:off x="4160520" y="4727448"/>
            <a:ext cx="19050" cy="36576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777240" y="5321808"/>
            <a:ext cx="10652760" cy="640080"/>
          </a:xfrm>
          <a:prstGeom prst="roundRect">
            <a:avLst>
              <a:gd name="adj" fmla="val 5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60120" y="5321808"/>
            <a:ext cx="3200400" cy="640080"/>
          </a:xfrm>
          <a:prstGeom prst="rect">
            <a:avLst/>
          </a:prstGeom>
          <a:noFill/>
        </p:spPr>
        <p:txBody>
          <a:bodyPr wrap="square" anchor="ctr" lIns="0" rIns="0" tIns="0" bIns="0">
            <a:spAutoFit/>
          </a:bodyPr>
          <a:lstStyle/>
          <a:p>
            <a:pPr algn="l">
              <a:spcBef>
                <a:spcPts val="0"/>
              </a:spcBef>
              <a:spcAft>
                <a:spcPts val="400"/>
              </a:spcAft>
            </a:pPr>
            <a:r>
              <a:rPr sz="1300" b="1">
                <a:solidFill>
                  <a:srgbClr val="1F6FEB"/>
                </a:solidFill>
                <a:latin typeface="Arial"/>
              </a:rPr>
              <a:t>6. kubectl get events -A</a:t>
            </a:r>
          </a:p>
        </p:txBody>
      </p:sp>
      <p:sp>
        <p:nvSpPr>
          <p:cNvPr id="29" name="TextBox 28"/>
          <p:cNvSpPr txBox="1"/>
          <p:nvPr/>
        </p:nvSpPr>
        <p:spPr>
          <a:xfrm>
            <a:off x="4251960" y="5321808"/>
            <a:ext cx="7040880" cy="640080"/>
          </a:xfrm>
          <a:prstGeom prst="rect">
            <a:avLst/>
          </a:prstGeom>
          <a:noFill/>
        </p:spPr>
        <p:txBody>
          <a:bodyPr wrap="square" anchor="ctr" lIns="0" rIns="0" tIns="0" bIns="0">
            <a:spAutoFit/>
          </a:bodyPr>
          <a:lstStyle/>
          <a:p>
            <a:pPr algn="l">
              <a:spcBef>
                <a:spcPts val="0"/>
              </a:spcBef>
              <a:spcAft>
                <a:spcPts val="400"/>
              </a:spcAft>
            </a:pPr>
            <a:r>
              <a:rPr sz="1300" b="0">
                <a:solidFill>
                  <a:srgbClr val="161B26"/>
                </a:solidFill>
                <a:latin typeface="Arial"/>
              </a:rPr>
              <a:t>Cluster-wide event stream — sorted by lastTimestamp</a:t>
            </a:r>
          </a:p>
        </p:txBody>
      </p:sp>
      <p:sp>
        <p:nvSpPr>
          <p:cNvPr id="30" name="Rectangle 29"/>
          <p:cNvSpPr/>
          <p:nvPr/>
        </p:nvSpPr>
        <p:spPr>
          <a:xfrm>
            <a:off x="4160520" y="5458968"/>
            <a:ext cx="19050" cy="36576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777240" y="6053328"/>
            <a:ext cx="10652760" cy="640080"/>
          </a:xfrm>
          <a:prstGeom prst="roundRect">
            <a:avLst>
              <a:gd name="adj" fmla="val 5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60120" y="6053328"/>
            <a:ext cx="3200400" cy="640080"/>
          </a:xfrm>
          <a:prstGeom prst="rect">
            <a:avLst/>
          </a:prstGeom>
          <a:noFill/>
        </p:spPr>
        <p:txBody>
          <a:bodyPr wrap="square" anchor="ctr" lIns="0" rIns="0" tIns="0" bIns="0">
            <a:spAutoFit/>
          </a:bodyPr>
          <a:lstStyle/>
          <a:p>
            <a:pPr algn="l">
              <a:spcBef>
                <a:spcPts val="0"/>
              </a:spcBef>
              <a:spcAft>
                <a:spcPts val="400"/>
              </a:spcAft>
            </a:pPr>
            <a:r>
              <a:rPr sz="1300" b="1">
                <a:solidFill>
                  <a:srgbClr val="1F6FEB"/>
                </a:solidFill>
                <a:latin typeface="Arial"/>
              </a:rPr>
              <a:t>7. kubectl auth can-i</a:t>
            </a:r>
          </a:p>
        </p:txBody>
      </p:sp>
      <p:sp>
        <p:nvSpPr>
          <p:cNvPr id="33" name="TextBox 32"/>
          <p:cNvSpPr txBox="1"/>
          <p:nvPr/>
        </p:nvSpPr>
        <p:spPr>
          <a:xfrm>
            <a:off x="4251960" y="6053328"/>
            <a:ext cx="7040880" cy="640080"/>
          </a:xfrm>
          <a:prstGeom prst="rect">
            <a:avLst/>
          </a:prstGeom>
          <a:noFill/>
        </p:spPr>
        <p:txBody>
          <a:bodyPr wrap="square" anchor="ctr" lIns="0" rIns="0" tIns="0" bIns="0">
            <a:spAutoFit/>
          </a:bodyPr>
          <a:lstStyle/>
          <a:p>
            <a:pPr algn="l">
              <a:spcBef>
                <a:spcPts val="0"/>
              </a:spcBef>
              <a:spcAft>
                <a:spcPts val="400"/>
              </a:spcAft>
            </a:pPr>
            <a:r>
              <a:rPr sz="1300" b="0">
                <a:solidFill>
                  <a:srgbClr val="161B26"/>
                </a:solidFill>
                <a:latin typeface="Arial"/>
              </a:rPr>
              <a:t>Confirm RBAC allows the operation before blaming the app</a:t>
            </a:r>
          </a:p>
        </p:txBody>
      </p:sp>
      <p:sp>
        <p:nvSpPr>
          <p:cNvPr id="34" name="Rectangle 33"/>
          <p:cNvSpPr/>
          <p:nvPr/>
        </p:nvSpPr>
        <p:spPr>
          <a:xfrm>
            <a:off x="4160520" y="6190488"/>
            <a:ext cx="19050" cy="36576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36" name="TextBox 35"/>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37" name="TextBox 36"/>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228</a:t>
            </a:r>
          </a:p>
        </p:txBody>
      </p:sp>
    </p:spTree>
  </p:cSld>
  <p:clrMapOvr>
    <a:masterClrMapping/>
  </p:clrMapOvr>
</p:sld>
</file>

<file path=ppt/slides/slide2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NODE HEALTH</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Node Troubleshooting</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07040" cy="4480560"/>
          </a:xfrm>
          <a:prstGeom prst="rect">
            <a:avLst/>
          </a:prstGeom>
          <a:noFill/>
        </p:spPr>
        <p:txBody>
          <a:bodyPr wrap="square" lIns="0" rIns="0">
            <a:spAutoFit/>
          </a:bodyPr>
          <a:lstStyle/>
          <a:p>
            <a:pPr>
              <a:spcBef>
                <a:spcPts val="0"/>
              </a:spcBef>
              <a:spcAft>
                <a:spcPts val="1000"/>
              </a:spcAft>
            </a:pPr>
            <a:r>
              <a:rPr sz="1900" b="1">
                <a:solidFill>
                  <a:srgbClr val="1F6FEB"/>
                </a:solidFill>
                <a:latin typeface="Arial"/>
              </a:rPr>
              <a:t>•  </a:t>
            </a:r>
            <a:r>
              <a:rPr sz="1900">
                <a:solidFill>
                  <a:srgbClr val="161B26"/>
                </a:solidFill>
                <a:latin typeface="Arial"/>
              </a:rPr>
              <a:t>Five node conditions: Ready, MemoryPressure, DiskPressure, PIDPressure, NetworkUnavailable.</a:t>
            </a:r>
          </a:p>
          <a:p>
            <a:pPr>
              <a:spcBef>
                <a:spcPts val="0"/>
              </a:spcBef>
              <a:spcAft>
                <a:spcPts val="1000"/>
              </a:spcAft>
            </a:pPr>
            <a:r>
              <a:rPr sz="1900" b="1">
                <a:solidFill>
                  <a:srgbClr val="1F6FEB"/>
                </a:solidFill>
                <a:latin typeface="Arial"/>
              </a:rPr>
              <a:t>•  </a:t>
            </a:r>
            <a:r>
              <a:rPr sz="1900">
                <a:solidFill>
                  <a:srgbClr val="161B26"/>
                </a:solidFill>
                <a:latin typeface="Arial"/>
              </a:rPr>
              <a:t>kubelet stopped → node goes NotReady after ~40 s; systemctl start kubelet restores it.</a:t>
            </a:r>
          </a:p>
          <a:p>
            <a:pPr>
              <a:spcBef>
                <a:spcPts val="0"/>
              </a:spcBef>
              <a:spcAft>
                <a:spcPts val="1000"/>
              </a:spcAft>
            </a:pPr>
            <a:r>
              <a:rPr sz="1900" b="1">
                <a:solidFill>
                  <a:srgbClr val="1F6FEB"/>
                </a:solidFill>
                <a:latin typeface="Arial"/>
              </a:rPr>
              <a:t>•  </a:t>
            </a:r>
            <a:r>
              <a:rPr sz="1900">
                <a:solidFill>
                  <a:srgbClr val="161B26"/>
                </a:solidFill>
                <a:latin typeface="Arial"/>
              </a:rPr>
              <a:t>Disk pressure: df -h on the node — kubelet evicts pods when thresholds are hit; free space to recover.</a:t>
            </a:r>
          </a:p>
          <a:p>
            <a:pPr>
              <a:spcBef>
                <a:spcPts val="0"/>
              </a:spcBef>
              <a:spcAft>
                <a:spcPts val="1000"/>
              </a:spcAft>
            </a:pPr>
            <a:r>
              <a:rPr sz="1900" b="1">
                <a:solidFill>
                  <a:srgbClr val="1F6FEB"/>
                </a:solidFill>
                <a:latin typeface="Arial"/>
              </a:rPr>
              <a:t>•  </a:t>
            </a:r>
            <a:r>
              <a:rPr sz="1900">
                <a:solidFill>
                  <a:srgbClr val="161B26"/>
                </a:solidFill>
                <a:latin typeface="Arial"/>
              </a:rPr>
              <a:t>cordon = SchedulingDisabled (no new pods); drain = evict existing pods; uncordon restores scheduling.</a:t>
            </a:r>
          </a:p>
        </p:txBody>
      </p:sp>
      <p:sp>
        <p:nvSpPr>
          <p:cNvPr id="8" name="TextBox 7"/>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9" name="TextBox 8"/>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229</a:t>
            </a:r>
          </a:p>
        </p:txBody>
      </p:sp>
    </p:spTree>
  </p:cSld>
  <p:clrMapOvr>
    <a:masterClrMapping/>
  </p:clrMapOvr>
</p:sld>
</file>

<file path=ppt/slides/slide2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DAY 3 · CLUSTER COMPONENTS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Troubleshoot Cluster Components: API Server, Controller Manager, Scheduler, etcd</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64208"/>
            <a:ext cx="169164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09928"/>
            <a:ext cx="1691640" cy="365760"/>
          </a:xfrm>
          <a:prstGeom prst="rect">
            <a:avLst/>
          </a:prstGeom>
          <a:noFill/>
        </p:spPr>
        <p:txBody>
          <a:bodyPr wrap="square" anchor="t" lIns="0" rIns="0" tIns="0" bIns="0">
            <a:spAutoFit/>
          </a:bodyPr>
          <a:lstStyle/>
          <a:p>
            <a:pPr algn="ctr">
              <a:spcBef>
                <a:spcPts val="0"/>
              </a:spcBef>
              <a:spcAft>
                <a:spcPts val="400"/>
              </a:spcAft>
            </a:pPr>
            <a:r>
              <a:rPr sz="1600" b="1">
                <a:solidFill>
                  <a:srgbClr val="FFFFFF"/>
                </a:solidFill>
                <a:latin typeface="Arial"/>
              </a:rPr>
              <a:t>LAB 26</a:t>
            </a:r>
          </a:p>
        </p:txBody>
      </p:sp>
      <p:sp>
        <p:nvSpPr>
          <p:cNvPr id="9" name="TextBox 8"/>
          <p:cNvSpPr txBox="1"/>
          <p:nvPr/>
        </p:nvSpPr>
        <p:spPr>
          <a:xfrm>
            <a:off x="2697480" y="1691640"/>
            <a:ext cx="8778240" cy="411480"/>
          </a:xfrm>
          <a:prstGeom prst="rect">
            <a:avLst/>
          </a:prstGeom>
          <a:noFill/>
        </p:spPr>
        <p:txBody>
          <a:bodyPr wrap="square" anchor="ctr" lIns="0" rIns="0" tIns="0" bIns="0">
            <a:spAutoFit/>
          </a:bodyPr>
          <a:lstStyle/>
          <a:p>
            <a:pPr algn="l">
              <a:spcBef>
                <a:spcPts val="0"/>
              </a:spcBef>
              <a:spcAft>
                <a:spcPts val="400"/>
              </a:spcAft>
            </a:pPr>
            <a:r>
              <a:rPr sz="1400" b="1">
                <a:solidFill>
                  <a:srgbClr val="5B6372"/>
                </a:solidFill>
                <a:latin typeface="Arial"/>
              </a:rPr>
              <a:t>Control plane troubleshooting</a:t>
            </a:r>
          </a:p>
        </p:txBody>
      </p:sp>
      <p:sp>
        <p:nvSpPr>
          <p:cNvPr id="10" name="TextBox 9"/>
          <p:cNvSpPr txBox="1"/>
          <p:nvPr/>
        </p:nvSpPr>
        <p:spPr>
          <a:xfrm>
            <a:off x="777240" y="2286000"/>
            <a:ext cx="10698480" cy="1554480"/>
          </a:xfrm>
          <a:prstGeom prst="rect">
            <a:avLst/>
          </a:prstGeom>
          <a:noFill/>
        </p:spPr>
        <p:txBody>
          <a:bodyPr wrap="square" anchor="t" lIns="0" rIns="0" tIns="0" bIns="0">
            <a:spAutoFit/>
          </a:bodyPr>
          <a:lstStyle/>
          <a:p>
            <a:pPr algn="l">
              <a:spcBef>
                <a:spcPts val="0"/>
              </a:spcBef>
              <a:spcAft>
                <a:spcPts val="400"/>
              </a:spcAft>
            </a:pPr>
            <a:r>
              <a:rPr sz="1900" b="0">
                <a:solidFill>
                  <a:srgbClr val="161B26"/>
                </a:solidFill>
                <a:latin typeface="Arial"/>
              </a:rPr>
              <a:t>Diagnose and fix broken control plane components. When kubectl is unresponsive, use crictl and journalctl instead. Troubleshooting is the highest-weighted CKA domain at 30%.</a:t>
            </a:r>
          </a:p>
        </p:txBody>
      </p:sp>
      <p:sp>
        <p:nvSpPr>
          <p:cNvPr id="11" name="Rounded Rectangle 10"/>
          <p:cNvSpPr/>
          <p:nvPr/>
        </p:nvSpPr>
        <p:spPr>
          <a:xfrm>
            <a:off x="777240" y="4069080"/>
            <a:ext cx="10698480" cy="1783080"/>
          </a:xfrm>
          <a:prstGeom prst="roundRect">
            <a:avLst>
              <a:gd name="adj" fmla="val 5000"/>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05840" y="4251960"/>
            <a:ext cx="10058400" cy="365760"/>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You'll build</a:t>
            </a:r>
          </a:p>
        </p:txBody>
      </p:sp>
      <p:sp>
        <p:nvSpPr>
          <p:cNvPr id="13" name="TextBox 12"/>
          <p:cNvSpPr txBox="1"/>
          <p:nvPr/>
        </p:nvSpPr>
        <p:spPr>
          <a:xfrm>
            <a:off x="1005840" y="4617720"/>
            <a:ext cx="10241280" cy="640080"/>
          </a:xfrm>
          <a:prstGeom prst="rect">
            <a:avLst/>
          </a:prstGeom>
          <a:noFill/>
        </p:spPr>
        <p:txBody>
          <a:bodyPr wrap="square" anchor="t" lIns="0" rIns="0" tIns="0" bIns="0">
            <a:spAutoFit/>
          </a:bodyPr>
          <a:lstStyle/>
          <a:p>
            <a:pPr algn="l">
              <a:spcBef>
                <a:spcPts val="0"/>
              </a:spcBef>
              <a:spcAft>
                <a:spcPts val="400"/>
              </a:spcAft>
            </a:pPr>
            <a:r>
              <a:rPr sz="1700" b="1">
                <a:solidFill>
                  <a:srgbClr val="161B26"/>
                </a:solidFill>
                <a:latin typeface="Arial"/>
              </a:rPr>
              <a:t>Locate static pod manifests, introduce a break in kube-apiserver.yaml (wrong flag), diagnose with crictl and journalctl, fix manifest and verify recovery.</a:t>
            </a:r>
          </a:p>
        </p:txBody>
      </p:sp>
      <p:sp>
        <p:nvSpPr>
          <p:cNvPr id="14" name="TextBox 13"/>
          <p:cNvSpPr txBox="1"/>
          <p:nvPr/>
        </p:nvSpPr>
        <p:spPr>
          <a:xfrm>
            <a:off x="1005840" y="5349240"/>
            <a:ext cx="10058400" cy="457200"/>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Key commands:  </a:t>
            </a:r>
            <a:r>
              <a:rPr sz="1300" b="0">
                <a:solidFill>
                  <a:srgbClr val="5B6372"/>
                </a:solidFill>
                <a:latin typeface="Arial"/>
              </a:rPr>
              <a:t>ls /etc/kubernetes/manifests/ · crictl pods · sudo vi · kubectl get · » Static</a:t>
            </a:r>
          </a:p>
        </p:txBody>
      </p:sp>
      <p:sp>
        <p:nvSpPr>
          <p:cNvPr id="15" name="TextBox 14"/>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6" name="TextBox 15"/>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7" name="TextBox 16"/>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230</a:t>
            </a:r>
          </a:p>
        </p:txBody>
      </p:sp>
    </p:spTree>
  </p:cSld>
  <p:clrMapOvr>
    <a:masterClrMapping/>
  </p:clrMapOvr>
</p:sld>
</file>

<file path=ppt/slides/slide2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26  ·  COMMANDS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Troubleshoot Cluster Components: API Server, Controller Manager, Scheduler, etcd</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91640"/>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Step 1 -- Know where control plane components live</a:t>
            </a:r>
          </a:p>
        </p:txBody>
      </p:sp>
      <p:sp>
        <p:nvSpPr>
          <p:cNvPr id="8" name="Rounded Rectangle 7"/>
          <p:cNvSpPr/>
          <p:nvPr/>
        </p:nvSpPr>
        <p:spPr>
          <a:xfrm>
            <a:off x="777240" y="2075688"/>
            <a:ext cx="10652760" cy="708660"/>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075688"/>
            <a:ext cx="82296" cy="7086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6" y="2139696"/>
            <a:ext cx="10323576" cy="617220"/>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ls /etc/kubernetes/manifests/</a:t>
            </a:r>
          </a:p>
          <a:p>
            <a:pPr>
              <a:spcBef>
                <a:spcPts val="0"/>
              </a:spcBef>
              <a:spcAft>
                <a:spcPts val="0"/>
              </a:spcAft>
            </a:pPr>
            <a:r>
              <a:rPr sz="1050">
                <a:solidFill>
                  <a:srgbClr val="161B26"/>
                </a:solidFill>
                <a:latin typeface="Consolas"/>
              </a:rPr>
              <a:t>sudo systemctl status kubelet --no-pager | head -5</a:t>
            </a:r>
          </a:p>
          <a:p>
            <a:pPr>
              <a:spcBef>
                <a:spcPts val="0"/>
              </a:spcBef>
              <a:spcAft>
                <a:spcPts val="0"/>
              </a:spcAft>
            </a:pPr>
            <a:r>
              <a:rPr sz="1050">
                <a:solidFill>
                  <a:srgbClr val="161B26"/>
                </a:solidFill>
                <a:latin typeface="Consolas"/>
              </a:rPr>
              <a:t>sudo systemctl status containerd --no-pager | head -5</a:t>
            </a:r>
          </a:p>
        </p:txBody>
      </p:sp>
      <p:sp>
        <p:nvSpPr>
          <p:cNvPr id="11" name="TextBox 10"/>
          <p:cNvSpPr txBox="1"/>
          <p:nvPr/>
        </p:nvSpPr>
        <p:spPr>
          <a:xfrm>
            <a:off x="777240" y="2967228"/>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Step 2 -- Diagnose API server failure</a:t>
            </a:r>
          </a:p>
        </p:txBody>
      </p:sp>
      <p:sp>
        <p:nvSpPr>
          <p:cNvPr id="12" name="Rounded Rectangle 11"/>
          <p:cNvSpPr/>
          <p:nvPr/>
        </p:nvSpPr>
        <p:spPr>
          <a:xfrm>
            <a:off x="777240" y="3351276"/>
            <a:ext cx="10652760" cy="1271016"/>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3351276"/>
            <a:ext cx="82296" cy="127101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3415284"/>
            <a:ext cx="10323576" cy="1179576"/>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 If kubectl is unresponsive:</a:t>
            </a:r>
          </a:p>
          <a:p>
            <a:pPr>
              <a:spcBef>
                <a:spcPts val="0"/>
              </a:spcBef>
              <a:spcAft>
                <a:spcPts val="0"/>
              </a:spcAft>
            </a:pPr>
            <a:r>
              <a:rPr sz="1050">
                <a:solidFill>
                  <a:srgbClr val="161B26"/>
                </a:solidFill>
                <a:latin typeface="Consolas"/>
              </a:rPr>
              <a:t>crictl pods</a:t>
            </a:r>
          </a:p>
          <a:p>
            <a:pPr>
              <a:spcBef>
                <a:spcPts val="0"/>
              </a:spcBef>
              <a:spcAft>
                <a:spcPts val="0"/>
              </a:spcAft>
            </a:pPr>
            <a:r>
              <a:rPr sz="1050">
                <a:solidFill>
                  <a:srgbClr val="161B26"/>
                </a:solidFill>
                <a:latin typeface="Consolas"/>
              </a:rPr>
              <a:t>crictl ps -a</a:t>
            </a:r>
          </a:p>
          <a:p>
            <a:pPr>
              <a:spcBef>
                <a:spcPts val="0"/>
              </a:spcBef>
              <a:spcAft>
                <a:spcPts val="0"/>
              </a:spcAft>
            </a:pPr>
            <a:r>
              <a:rPr sz="1050">
                <a:solidFill>
                  <a:srgbClr val="161B26"/>
                </a:solidFill>
                <a:latin typeface="Consolas"/>
              </a:rPr>
              <a:t>crictl logs $(crictl ps -a --name kube-apiserver -q)</a:t>
            </a:r>
          </a:p>
          <a:p>
            <a:pPr>
              <a:spcBef>
                <a:spcPts val="0"/>
              </a:spcBef>
              <a:spcAft>
                <a:spcPts val="0"/>
              </a:spcAft>
            </a:pPr>
            <a:r>
              <a:rPr sz="1050">
                <a:solidFill>
                  <a:srgbClr val="161B26"/>
                </a:solidFill>
                <a:latin typeface="Consolas"/>
              </a:rPr>
              <a:t>journalctl -u kubelet --no-pager -n 50 | grep -i error</a:t>
            </a:r>
          </a:p>
          <a:p>
            <a:pPr>
              <a:spcBef>
                <a:spcPts val="0"/>
              </a:spcBef>
              <a:spcAft>
                <a:spcPts val="0"/>
              </a:spcAft>
            </a:pPr>
            <a:r>
              <a:rPr sz="1050">
                <a:solidFill>
                  <a:srgbClr val="161B26"/>
                </a:solidFill>
                <a:latin typeface="Consolas"/>
              </a:rPr>
              <a:t>sudo cat /etc/kubernetes/manifests/kube-apiserver.yaml | head -50</a:t>
            </a:r>
          </a:p>
        </p:txBody>
      </p:sp>
      <p:sp>
        <p:nvSpPr>
          <p:cNvPr id="15" name="TextBox 14"/>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6" name="TextBox 15"/>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7" name="TextBox 16"/>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231</a:t>
            </a:r>
          </a:p>
        </p:txBody>
      </p:sp>
    </p:spTree>
  </p:cSld>
  <p:clrMapOvr>
    <a:masterClrMapping/>
  </p:clrMapOvr>
</p:sld>
</file>

<file path=ppt/slides/slide2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26  ·  COMMANDS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Troubleshoot Cluster Components: API Server, Controller Manager, Scheduler, etcd (cont.)</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91640"/>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Step 3 -- Fix static pod manifest</a:t>
            </a:r>
          </a:p>
        </p:txBody>
      </p:sp>
      <p:sp>
        <p:nvSpPr>
          <p:cNvPr id="8" name="Rounded Rectangle 7"/>
          <p:cNvSpPr/>
          <p:nvPr/>
        </p:nvSpPr>
        <p:spPr>
          <a:xfrm>
            <a:off x="777240" y="2075688"/>
            <a:ext cx="10652760" cy="1271016"/>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075688"/>
            <a:ext cx="82296" cy="127101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6" y="2139696"/>
            <a:ext cx="10323576" cy="1179576"/>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 Wrong flag/image in manifest causes API server to not start</a:t>
            </a:r>
          </a:p>
          <a:p>
            <a:pPr>
              <a:spcBef>
                <a:spcPts val="0"/>
              </a:spcBef>
              <a:spcAft>
                <a:spcPts val="0"/>
              </a:spcAft>
            </a:pPr>
            <a:r>
              <a:rPr sz="1050">
                <a:solidFill>
                  <a:srgbClr val="161B26"/>
                </a:solidFill>
                <a:latin typeface="Consolas"/>
              </a:rPr>
              <a:t>sudo vi /etc/kubernetes/manifests/kube-apiserver.yaml</a:t>
            </a:r>
          </a:p>
          <a:p>
            <a:pPr>
              <a:spcBef>
                <a:spcPts val="0"/>
              </a:spcBef>
              <a:spcAft>
                <a:spcPts val="0"/>
              </a:spcAft>
            </a:pPr>
            <a:r>
              <a:rPr sz="1050">
                <a:solidFill>
                  <a:srgbClr val="161B26"/>
                </a:solidFill>
                <a:latin typeface="Consolas"/>
              </a:rPr>
              <a:t># Kubelet detects change within 20 seconds</a:t>
            </a:r>
          </a:p>
          <a:p>
            <a:pPr>
              <a:spcBef>
                <a:spcPts val="0"/>
              </a:spcBef>
              <a:spcAft>
                <a:spcPts val="0"/>
              </a:spcAft>
            </a:pPr>
            <a:r>
              <a:rPr sz="1050">
                <a:solidFill>
                  <a:srgbClr val="161B26"/>
                </a:solidFill>
                <a:latin typeface="Consolas"/>
              </a:rPr>
              <a:t>crictl ps | grep apiserver</a:t>
            </a:r>
          </a:p>
          <a:p>
            <a:pPr>
              <a:spcBef>
                <a:spcPts val="0"/>
              </a:spcBef>
              <a:spcAft>
                <a:spcPts val="0"/>
              </a:spcAft>
            </a:pPr>
            <a:r>
              <a:rPr sz="1050">
                <a:solidFill>
                  <a:srgbClr val="161B26"/>
                </a:solidFill>
                <a:latin typeface="Consolas"/>
              </a:rPr>
              <a:t>kubectl get nodes</a:t>
            </a:r>
          </a:p>
          <a:p>
            <a:pPr>
              <a:spcBef>
                <a:spcPts val="0"/>
              </a:spcBef>
              <a:spcAft>
                <a:spcPts val="0"/>
              </a:spcAft>
            </a:pPr>
            <a:r>
              <a:rPr sz="1050">
                <a:solidFill>
                  <a:srgbClr val="161B26"/>
                </a:solidFill>
                <a:latin typeface="Consolas"/>
              </a:rPr>
              <a:t># Should work once apiserver recovers</a:t>
            </a:r>
          </a:p>
        </p:txBody>
      </p:sp>
      <p:sp>
        <p:nvSpPr>
          <p:cNvPr id="11" name="TextBox 10"/>
          <p:cNvSpPr txBox="1"/>
          <p:nvPr/>
        </p:nvSpPr>
        <p:spPr>
          <a:xfrm>
            <a:off x="777240" y="3529584"/>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Step 4 -- Diagnose controller manager and scheduler</a:t>
            </a:r>
          </a:p>
        </p:txBody>
      </p:sp>
      <p:sp>
        <p:nvSpPr>
          <p:cNvPr id="12" name="Rounded Rectangle 11"/>
          <p:cNvSpPr/>
          <p:nvPr/>
        </p:nvSpPr>
        <p:spPr>
          <a:xfrm>
            <a:off x="777240" y="3913632"/>
            <a:ext cx="10652760" cy="708660"/>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3913632"/>
            <a:ext cx="82296" cy="7086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3977640"/>
            <a:ext cx="10323576" cy="617220"/>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kubectl get pods -n kube-system | grep -E 'controller|scheduler'</a:t>
            </a:r>
          </a:p>
          <a:p>
            <a:pPr>
              <a:spcBef>
                <a:spcPts val="0"/>
              </a:spcBef>
              <a:spcAft>
                <a:spcPts val="0"/>
              </a:spcAft>
            </a:pPr>
            <a:r>
              <a:rPr sz="1050">
                <a:solidFill>
                  <a:srgbClr val="161B26"/>
                </a:solidFill>
                <a:latin typeface="Consolas"/>
              </a:rPr>
              <a:t>kubectl logs -n kube-system kube-controller-manager-controlplane | tail -20</a:t>
            </a:r>
          </a:p>
          <a:p>
            <a:pPr>
              <a:spcBef>
                <a:spcPts val="0"/>
              </a:spcBef>
              <a:spcAft>
                <a:spcPts val="0"/>
              </a:spcAft>
            </a:pPr>
            <a:r>
              <a:rPr sz="1050">
                <a:solidFill>
                  <a:srgbClr val="161B26"/>
                </a:solidFill>
                <a:latin typeface="Consolas"/>
              </a:rPr>
              <a:t>kubectl logs -n kube-system kube-scheduler-controlplane | tail -20</a:t>
            </a:r>
          </a:p>
        </p:txBody>
      </p:sp>
      <p:sp>
        <p:nvSpPr>
          <p:cNvPr id="15" name="TextBox 14"/>
          <p:cNvSpPr txBox="1"/>
          <p:nvPr/>
        </p:nvSpPr>
        <p:spPr>
          <a:xfrm>
            <a:off x="777240" y="4805172"/>
            <a:ext cx="10652760" cy="310896"/>
          </a:xfrm>
          <a:prstGeom prst="rect">
            <a:avLst/>
          </a:prstGeom>
          <a:noFill/>
        </p:spPr>
        <p:txBody>
          <a:bodyPr wrap="square" anchor="t" lIns="0" rIns="0" tIns="0" bIns="0">
            <a:spAutoFit/>
          </a:bodyPr>
          <a:lstStyle/>
          <a:p>
            <a:pPr algn="l">
              <a:spcBef>
                <a:spcPts val="0"/>
              </a:spcBef>
              <a:spcAft>
                <a:spcPts val="400"/>
              </a:spcAft>
            </a:pPr>
            <a:r>
              <a:rPr sz="1300" b="1">
                <a:solidFill>
                  <a:srgbClr val="F59E0B"/>
                </a:solidFill>
                <a:latin typeface="Arial"/>
              </a:rPr>
              <a:t>Note   </a:t>
            </a:r>
            <a:r>
              <a:rPr sz="1300" b="0">
                <a:solidFill>
                  <a:srgbClr val="5B6372"/>
                </a:solidFill>
                <a:latin typeface="Arial"/>
              </a:rPr>
              <a:t>Static pod manifests: changes cause automatic pod restart by kubelet -- no restart needed. Use crictl when API server is down: crictl pods, crictl logs, crictl ps -a.</a:t>
            </a:r>
          </a:p>
        </p:txBody>
      </p:sp>
      <p:sp>
        <p:nvSpPr>
          <p:cNvPr id="16" name="TextBox 15"/>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7" name="TextBox 16"/>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8" name="TextBox 17"/>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232</a:t>
            </a:r>
          </a:p>
        </p:txBody>
      </p:sp>
    </p:spTree>
  </p:cSld>
  <p:clrMapOvr>
    <a:masterClrMapping/>
  </p:clrMapOvr>
</p:sld>
</file>

<file path=ppt/slides/slide2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26  ·  TEST IT</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Troubleshoot Cluster Components: API Server, Controller Manager, Scheduler, etcd</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03120"/>
            <a:ext cx="10698480" cy="2560320"/>
          </a:xfrm>
          <a:prstGeom prst="roundRect">
            <a:avLst>
              <a:gd name="adj" fmla="val 5000"/>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lIns="0" rIns="0" tIns="0" bIns="0">
            <a:spAutoFit/>
          </a:bodyPr>
          <a:lstStyle/>
          <a:p>
            <a:pPr algn="l">
              <a:spcBef>
                <a:spcPts val="0"/>
              </a:spcBef>
              <a:spcAft>
                <a:spcPts val="400"/>
              </a:spcAft>
            </a:pPr>
            <a:r>
              <a:rPr sz="2200" b="1">
                <a:solidFill>
                  <a:srgbClr val="127A3E"/>
                </a:solidFill>
                <a:latin typeface="Arial"/>
              </a:rPr>
              <a:t>✅  Test it</a:t>
            </a:r>
          </a:p>
        </p:txBody>
      </p:sp>
      <p:sp>
        <p:nvSpPr>
          <p:cNvPr id="9" name="TextBox 8"/>
          <p:cNvSpPr txBox="1"/>
          <p:nvPr/>
        </p:nvSpPr>
        <p:spPr>
          <a:xfrm>
            <a:off x="1097280" y="3017520"/>
            <a:ext cx="10149840" cy="1463040"/>
          </a:xfrm>
          <a:prstGeom prst="rect">
            <a:avLst/>
          </a:prstGeom>
          <a:noFill/>
        </p:spPr>
        <p:txBody>
          <a:bodyPr wrap="square" anchor="t" lIns="0" rIns="0" tIns="0" bIns="0">
            <a:spAutoFit/>
          </a:bodyPr>
          <a:lstStyle/>
          <a:p>
            <a:pPr algn="l">
              <a:spcBef>
                <a:spcPts val="0"/>
              </a:spcBef>
              <a:spcAft>
                <a:spcPts val="400"/>
              </a:spcAft>
            </a:pPr>
            <a:r>
              <a:rPr sz="1800" b="0">
                <a:solidFill>
                  <a:srgbClr val="161B26"/>
                </a:solidFill>
                <a:latin typeface="Arial"/>
              </a:rPr>
              <a:t>Broken API server manifest is fixed; kubectl get nodes works again. journalctl shows the specific error. All kube-system pods are Running.</a:t>
            </a:r>
          </a:p>
        </p:txBody>
      </p:sp>
      <p:sp>
        <p:nvSpPr>
          <p:cNvPr id="10" name="TextBox 9"/>
          <p:cNvSpPr txBox="1"/>
          <p:nvPr/>
        </p:nvSpPr>
        <p:spPr>
          <a:xfrm>
            <a:off x="777240" y="4983480"/>
            <a:ext cx="10698480" cy="365760"/>
          </a:xfrm>
          <a:prstGeom prst="rect">
            <a:avLst/>
          </a:prstGeom>
          <a:noFill/>
        </p:spPr>
        <p:txBody>
          <a:bodyPr wrap="square" anchor="t" lIns="0" rIns="0" tIns="0" bIns="0">
            <a:spAutoFit/>
          </a:bodyPr>
          <a:lstStyle/>
          <a:p>
            <a:pPr algn="l">
              <a:spcBef>
                <a:spcPts val="0"/>
              </a:spcBef>
              <a:spcAft>
                <a:spcPts val="400"/>
              </a:spcAft>
            </a:pPr>
            <a:r>
              <a:rPr sz="1300" b="1">
                <a:solidFill>
                  <a:srgbClr val="10B981"/>
                </a:solidFill>
                <a:latin typeface="Arial"/>
              </a:rPr>
              <a:t>Killercoda:  </a:t>
            </a:r>
            <a:r>
              <a:rPr sz="1300" b="0">
                <a:solidFill>
                  <a:srgbClr val="5B6372"/>
                </a:solidFill>
                <a:latin typeface="Arial"/>
              </a:rPr>
              <a:t>https://killercoda.com/playgrounds/scenario/kubeadm</a:t>
            </a:r>
          </a:p>
        </p:txBody>
      </p:sp>
      <p:sp>
        <p:nvSpPr>
          <p:cNvPr id="11" name="TextBox 10"/>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233</a:t>
            </a:r>
          </a:p>
        </p:txBody>
      </p:sp>
    </p:spTree>
  </p:cSld>
  <p:clrMapOvr>
    <a:masterClrMapping/>
  </p:clrMapOvr>
</p:sld>
</file>

<file path=ppt/slides/slide2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DAY 3 · NODE TROUBLESHOOTING</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Troubleshoot Nodes: NotReady, kubelet Failure, cgroup Driver Mismatch, Drain</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64208"/>
            <a:ext cx="169164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09928"/>
            <a:ext cx="1691640" cy="365760"/>
          </a:xfrm>
          <a:prstGeom prst="rect">
            <a:avLst/>
          </a:prstGeom>
          <a:noFill/>
        </p:spPr>
        <p:txBody>
          <a:bodyPr wrap="square" anchor="t" lIns="0" rIns="0" tIns="0" bIns="0">
            <a:spAutoFit/>
          </a:bodyPr>
          <a:lstStyle/>
          <a:p>
            <a:pPr algn="ctr">
              <a:spcBef>
                <a:spcPts val="0"/>
              </a:spcBef>
              <a:spcAft>
                <a:spcPts val="400"/>
              </a:spcAft>
            </a:pPr>
            <a:r>
              <a:rPr sz="1600" b="1">
                <a:solidFill>
                  <a:srgbClr val="FFFFFF"/>
                </a:solidFill>
                <a:latin typeface="Arial"/>
              </a:rPr>
              <a:t>LAB 27</a:t>
            </a:r>
          </a:p>
        </p:txBody>
      </p:sp>
      <p:sp>
        <p:nvSpPr>
          <p:cNvPr id="9" name="TextBox 8"/>
          <p:cNvSpPr txBox="1"/>
          <p:nvPr/>
        </p:nvSpPr>
        <p:spPr>
          <a:xfrm>
            <a:off x="2697480" y="1691640"/>
            <a:ext cx="8778240" cy="411480"/>
          </a:xfrm>
          <a:prstGeom prst="rect">
            <a:avLst/>
          </a:prstGeom>
          <a:noFill/>
        </p:spPr>
        <p:txBody>
          <a:bodyPr wrap="square" anchor="ctr" lIns="0" rIns="0" tIns="0" bIns="0">
            <a:spAutoFit/>
          </a:bodyPr>
          <a:lstStyle/>
          <a:p>
            <a:pPr algn="l">
              <a:spcBef>
                <a:spcPts val="0"/>
              </a:spcBef>
              <a:spcAft>
                <a:spcPts val="400"/>
              </a:spcAft>
            </a:pPr>
            <a:r>
              <a:rPr sz="1400" b="1">
                <a:solidFill>
                  <a:srgbClr val="5B6372"/>
                </a:solidFill>
                <a:latin typeface="Arial"/>
              </a:rPr>
              <a:t>Node troubleshooting</a:t>
            </a:r>
          </a:p>
        </p:txBody>
      </p:sp>
      <p:sp>
        <p:nvSpPr>
          <p:cNvPr id="10" name="TextBox 9"/>
          <p:cNvSpPr txBox="1"/>
          <p:nvPr/>
        </p:nvSpPr>
        <p:spPr>
          <a:xfrm>
            <a:off x="777240" y="2286000"/>
            <a:ext cx="10698480" cy="1554480"/>
          </a:xfrm>
          <a:prstGeom prst="rect">
            <a:avLst/>
          </a:prstGeom>
          <a:noFill/>
        </p:spPr>
        <p:txBody>
          <a:bodyPr wrap="square" anchor="t" lIns="0" rIns="0" tIns="0" bIns="0">
            <a:spAutoFit/>
          </a:bodyPr>
          <a:lstStyle/>
          <a:p>
            <a:pPr algn="l">
              <a:spcBef>
                <a:spcPts val="0"/>
              </a:spcBef>
              <a:spcAft>
                <a:spcPts val="400"/>
              </a:spcAft>
            </a:pPr>
            <a:r>
              <a:rPr sz="1900" b="0">
                <a:solidFill>
                  <a:srgbClr val="161B26"/>
                </a:solidFill>
                <a:latin typeface="Arial"/>
              </a:rPr>
              <a:t>Diagnose a node transition to NotReady by identifying common causes: kubelet service failure, cgroup driver mismatch between kubelet and containerd, and containerd failure. Practice safely draining a node for maintenance.</a:t>
            </a:r>
          </a:p>
        </p:txBody>
      </p:sp>
      <p:sp>
        <p:nvSpPr>
          <p:cNvPr id="11" name="Rounded Rectangle 10"/>
          <p:cNvSpPr/>
          <p:nvPr/>
        </p:nvSpPr>
        <p:spPr>
          <a:xfrm>
            <a:off x="777240" y="4069080"/>
            <a:ext cx="10698480" cy="1783080"/>
          </a:xfrm>
          <a:prstGeom prst="roundRect">
            <a:avLst>
              <a:gd name="adj" fmla="val 5000"/>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05840" y="4251960"/>
            <a:ext cx="10058400" cy="365760"/>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You'll build</a:t>
            </a:r>
          </a:p>
        </p:txBody>
      </p:sp>
      <p:sp>
        <p:nvSpPr>
          <p:cNvPr id="13" name="TextBox 12"/>
          <p:cNvSpPr txBox="1"/>
          <p:nvPr/>
        </p:nvSpPr>
        <p:spPr>
          <a:xfrm>
            <a:off x="1005840" y="4617720"/>
            <a:ext cx="10241280" cy="640080"/>
          </a:xfrm>
          <a:prstGeom prst="rect">
            <a:avLst/>
          </a:prstGeom>
          <a:noFill/>
        </p:spPr>
        <p:txBody>
          <a:bodyPr wrap="square" anchor="t" lIns="0" rIns="0" tIns="0" bIns="0">
            <a:spAutoFit/>
          </a:bodyPr>
          <a:lstStyle/>
          <a:p>
            <a:pPr algn="l">
              <a:spcBef>
                <a:spcPts val="0"/>
              </a:spcBef>
              <a:spcAft>
                <a:spcPts val="400"/>
              </a:spcAft>
            </a:pPr>
            <a:r>
              <a:rPr sz="1700" b="1">
                <a:solidFill>
                  <a:srgbClr val="161B26"/>
                </a:solidFill>
                <a:latin typeface="Arial"/>
              </a:rPr>
              <a:t>Stop kubelet, observe NotReady, restart. Introduce cgroup mismatch, diagnose with journalctl, fix config.toml, drain and uncordon node.</a:t>
            </a:r>
          </a:p>
        </p:txBody>
      </p:sp>
      <p:sp>
        <p:nvSpPr>
          <p:cNvPr id="14" name="TextBox 13"/>
          <p:cNvSpPr txBox="1"/>
          <p:nvPr/>
        </p:nvSpPr>
        <p:spPr>
          <a:xfrm>
            <a:off x="1005840" y="5349240"/>
            <a:ext cx="10058400" cy="457200"/>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Key commands:  </a:t>
            </a:r>
            <a:r>
              <a:rPr sz="1300" b="0">
                <a:solidFill>
                  <a:srgbClr val="5B6372"/>
                </a:solidFill>
                <a:latin typeface="Arial"/>
              </a:rPr>
              <a:t>kubectl get · sudo systemctl · journalctl -u · kubectl drain · » After</a:t>
            </a:r>
          </a:p>
        </p:txBody>
      </p:sp>
      <p:sp>
        <p:nvSpPr>
          <p:cNvPr id="15" name="TextBox 14"/>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6" name="TextBox 15"/>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7" name="TextBox 16"/>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234</a:t>
            </a:r>
          </a:p>
        </p:txBody>
      </p:sp>
    </p:spTree>
  </p:cSld>
  <p:clrMapOvr>
    <a:masterClrMapping/>
  </p:clrMapOvr>
</p:sld>
</file>

<file path=ppt/slides/slide2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27  ·  COMMANDS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Troubleshoot Nodes: NotReady, kubelet Failure, cgroup Driver Mismatch, Drain</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91640"/>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Step 1 -- Check node status baseline</a:t>
            </a:r>
          </a:p>
        </p:txBody>
      </p:sp>
      <p:sp>
        <p:nvSpPr>
          <p:cNvPr id="8" name="Rounded Rectangle 7"/>
          <p:cNvSpPr/>
          <p:nvPr/>
        </p:nvSpPr>
        <p:spPr>
          <a:xfrm>
            <a:off x="777240" y="2075688"/>
            <a:ext cx="10652760" cy="521207"/>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075688"/>
            <a:ext cx="82296" cy="521207"/>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6" y="2139696"/>
            <a:ext cx="10323576" cy="429767"/>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kubectl get nodes -o wide</a:t>
            </a:r>
          </a:p>
          <a:p>
            <a:pPr>
              <a:spcBef>
                <a:spcPts val="0"/>
              </a:spcBef>
              <a:spcAft>
                <a:spcPts val="0"/>
              </a:spcAft>
            </a:pPr>
            <a:r>
              <a:rPr sz="1050">
                <a:solidFill>
                  <a:srgbClr val="161B26"/>
                </a:solidFill>
                <a:latin typeface="Consolas"/>
              </a:rPr>
              <a:t>kubectl describe node node01 | grep -A10 Conditions</a:t>
            </a:r>
          </a:p>
        </p:txBody>
      </p:sp>
      <p:sp>
        <p:nvSpPr>
          <p:cNvPr id="11" name="TextBox 10"/>
          <p:cNvSpPr txBox="1"/>
          <p:nvPr/>
        </p:nvSpPr>
        <p:spPr>
          <a:xfrm>
            <a:off x="777240" y="2779775"/>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Step 2 -- Scenario: kubelet service stops</a:t>
            </a:r>
          </a:p>
        </p:txBody>
      </p:sp>
      <p:sp>
        <p:nvSpPr>
          <p:cNvPr id="12" name="Rounded Rectangle 11"/>
          <p:cNvSpPr/>
          <p:nvPr/>
        </p:nvSpPr>
        <p:spPr>
          <a:xfrm>
            <a:off x="777240" y="3163823"/>
            <a:ext cx="10652760" cy="1458467"/>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3163823"/>
            <a:ext cx="82296" cy="1458467"/>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3227831"/>
            <a:ext cx="10323576" cy="1367027"/>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 On node01:</a:t>
            </a:r>
          </a:p>
          <a:p>
            <a:pPr>
              <a:spcBef>
                <a:spcPts val="0"/>
              </a:spcBef>
              <a:spcAft>
                <a:spcPts val="0"/>
              </a:spcAft>
            </a:pPr>
            <a:r>
              <a:rPr sz="1050">
                <a:solidFill>
                  <a:srgbClr val="161B26"/>
                </a:solidFill>
                <a:latin typeface="Consolas"/>
              </a:rPr>
              <a:t>sudo systemctl stop kubelet</a:t>
            </a:r>
          </a:p>
          <a:p>
            <a:pPr>
              <a:spcBef>
                <a:spcPts val="0"/>
              </a:spcBef>
              <a:spcAft>
                <a:spcPts val="0"/>
              </a:spcAft>
            </a:pPr>
            <a:r>
              <a:rPr sz="1050">
                <a:solidFill>
                  <a:srgbClr val="161B26"/>
                </a:solidFill>
                <a:latin typeface="Consolas"/>
              </a:rPr>
              <a:t># On control plane (wait 40s):</a:t>
            </a:r>
          </a:p>
          <a:p>
            <a:pPr>
              <a:spcBef>
                <a:spcPts val="0"/>
              </a:spcBef>
              <a:spcAft>
                <a:spcPts val="0"/>
              </a:spcAft>
            </a:pPr>
            <a:r>
              <a:rPr sz="1050">
                <a:solidFill>
                  <a:srgbClr val="161B26"/>
                </a:solidFill>
                <a:latin typeface="Consolas"/>
              </a:rPr>
              <a:t>kubectl get nodes</a:t>
            </a:r>
          </a:p>
          <a:p>
            <a:pPr>
              <a:spcBef>
                <a:spcPts val="0"/>
              </a:spcBef>
              <a:spcAft>
                <a:spcPts val="0"/>
              </a:spcAft>
            </a:pPr>
            <a:r>
              <a:rPr sz="1050">
                <a:solidFill>
                  <a:srgbClr val="161B26"/>
                </a:solidFill>
                <a:latin typeface="Consolas"/>
              </a:rPr>
              <a:t># node01: NotReady</a:t>
            </a:r>
          </a:p>
          <a:p>
            <a:pPr>
              <a:spcBef>
                <a:spcPts val="0"/>
              </a:spcBef>
              <a:spcAft>
                <a:spcPts val="0"/>
              </a:spcAft>
            </a:pPr>
            <a:r>
              <a:rPr sz="1050">
                <a:solidFill>
                  <a:srgbClr val="161B26"/>
                </a:solidFill>
                <a:latin typeface="Consolas"/>
              </a:rPr>
              <a:t># Fix (on node01):</a:t>
            </a:r>
          </a:p>
          <a:p>
            <a:pPr>
              <a:spcBef>
                <a:spcPts val="0"/>
              </a:spcBef>
              <a:spcAft>
                <a:spcPts val="0"/>
              </a:spcAft>
            </a:pPr>
            <a:r>
              <a:rPr sz="1050">
                <a:solidFill>
                  <a:srgbClr val="161B26"/>
                </a:solidFill>
                <a:latin typeface="Consolas"/>
              </a:rPr>
              <a:t>sudo systemctl start kubelet &amp;&amp; kubectl get nodes</a:t>
            </a:r>
          </a:p>
        </p:txBody>
      </p:sp>
      <p:sp>
        <p:nvSpPr>
          <p:cNvPr id="15" name="TextBox 14"/>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6" name="TextBox 15"/>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7" name="TextBox 16"/>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235</a:t>
            </a:r>
          </a:p>
        </p:txBody>
      </p:sp>
    </p:spTree>
  </p:cSld>
  <p:clrMapOvr>
    <a:masterClrMapping/>
  </p:clrMapOvr>
</p:sld>
</file>

<file path=ppt/slides/slide2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27  ·  COMMANDS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Troubleshoot Nodes: NotReady, kubelet Failure, cgroup Driver Mismatch, Drain (cont.)</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91640"/>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Step 3 -- Scenario: cgroup driver mismatch</a:t>
            </a:r>
          </a:p>
        </p:txBody>
      </p:sp>
      <p:sp>
        <p:nvSpPr>
          <p:cNvPr id="8" name="Rounded Rectangle 7"/>
          <p:cNvSpPr/>
          <p:nvPr/>
        </p:nvSpPr>
        <p:spPr>
          <a:xfrm>
            <a:off x="777240" y="2075688"/>
            <a:ext cx="10652760" cy="1271016"/>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075688"/>
            <a:ext cx="82296" cy="127101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6" y="2139696"/>
            <a:ext cx="10323576" cy="1179576"/>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journalctl -u kubelet --no-pager -n 30</a:t>
            </a:r>
          </a:p>
          <a:p>
            <a:pPr>
              <a:spcBef>
                <a:spcPts val="0"/>
              </a:spcBef>
              <a:spcAft>
                <a:spcPts val="0"/>
              </a:spcAft>
            </a:pPr>
            <a:r>
              <a:rPr sz="1050">
                <a:solidFill>
                  <a:srgbClr val="161B26"/>
                </a:solidFill>
                <a:latin typeface="Consolas"/>
              </a:rPr>
              <a:t># Look for: 'failed to create containerd task' or 'cgroupDriver'</a:t>
            </a:r>
          </a:p>
          <a:p>
            <a:pPr>
              <a:spcBef>
                <a:spcPts val="0"/>
              </a:spcBef>
              <a:spcAft>
                <a:spcPts val="0"/>
              </a:spcAft>
            </a:pPr>
            <a:r>
              <a:rPr sz="1050">
                <a:solidFill>
                  <a:srgbClr val="161B26"/>
                </a:solidFill>
                <a:latin typeface="Consolas"/>
              </a:rPr>
              <a:t>grep -i cgroup /var/lib/kubelet/config.yaml</a:t>
            </a:r>
          </a:p>
          <a:p>
            <a:pPr>
              <a:spcBef>
                <a:spcPts val="0"/>
              </a:spcBef>
              <a:spcAft>
                <a:spcPts val="0"/>
              </a:spcAft>
            </a:pPr>
            <a:r>
              <a:rPr sz="1050">
                <a:solidFill>
                  <a:srgbClr val="161B26"/>
                </a:solidFill>
                <a:latin typeface="Consolas"/>
              </a:rPr>
              <a:t>grep -i SystemdCgroup /etc/containerd/config.toml</a:t>
            </a:r>
          </a:p>
          <a:p>
            <a:pPr>
              <a:spcBef>
                <a:spcPts val="0"/>
              </a:spcBef>
              <a:spcAft>
                <a:spcPts val="0"/>
              </a:spcAft>
            </a:pPr>
            <a:r>
              <a:rPr sz="1050">
                <a:solidFill>
                  <a:srgbClr val="161B26"/>
                </a:solidFill>
                <a:latin typeface="Consolas"/>
              </a:rPr>
              <a:t># Fix: ensure both use cgroupDriver: systemd / SystemdCgroup = true</a:t>
            </a:r>
          </a:p>
          <a:p>
            <a:pPr>
              <a:spcBef>
                <a:spcPts val="0"/>
              </a:spcBef>
              <a:spcAft>
                <a:spcPts val="0"/>
              </a:spcAft>
            </a:pPr>
            <a:r>
              <a:rPr sz="1050">
                <a:solidFill>
                  <a:srgbClr val="161B26"/>
                </a:solidFill>
                <a:latin typeface="Consolas"/>
              </a:rPr>
              <a:t>sudo systemctl restart kubelet containerd</a:t>
            </a:r>
          </a:p>
        </p:txBody>
      </p:sp>
      <p:sp>
        <p:nvSpPr>
          <p:cNvPr id="11" name="TextBox 10"/>
          <p:cNvSpPr txBox="1"/>
          <p:nvPr/>
        </p:nvSpPr>
        <p:spPr>
          <a:xfrm>
            <a:off x="777240" y="3529584"/>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Step 4 -- Drain node for maintenance</a:t>
            </a:r>
          </a:p>
        </p:txBody>
      </p:sp>
      <p:sp>
        <p:nvSpPr>
          <p:cNvPr id="12" name="Rounded Rectangle 11"/>
          <p:cNvSpPr/>
          <p:nvPr/>
        </p:nvSpPr>
        <p:spPr>
          <a:xfrm>
            <a:off x="777240" y="3913632"/>
            <a:ext cx="10652760" cy="1083563"/>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3913632"/>
            <a:ext cx="82296" cy="1083563"/>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3977640"/>
            <a:ext cx="10323576" cy="992123"/>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kubectl drain node01 --ignore-daemonsets --delete-emptydir-data</a:t>
            </a:r>
          </a:p>
          <a:p>
            <a:pPr>
              <a:spcBef>
                <a:spcPts val="0"/>
              </a:spcBef>
              <a:spcAft>
                <a:spcPts val="0"/>
              </a:spcAft>
            </a:pPr>
            <a:r>
              <a:rPr sz="1050">
                <a:solidFill>
                  <a:srgbClr val="161B26"/>
                </a:solidFill>
                <a:latin typeface="Consolas"/>
              </a:rPr>
              <a:t>kubectl get nodes</a:t>
            </a:r>
          </a:p>
          <a:p>
            <a:pPr>
              <a:spcBef>
                <a:spcPts val="0"/>
              </a:spcBef>
              <a:spcAft>
                <a:spcPts val="0"/>
              </a:spcAft>
            </a:pPr>
            <a:r>
              <a:rPr sz="1050">
                <a:solidFill>
                  <a:srgbClr val="161B26"/>
                </a:solidFill>
                <a:latin typeface="Consolas"/>
              </a:rPr>
              <a:t># node01: Ready,SchedulingDisabled</a:t>
            </a:r>
          </a:p>
          <a:p>
            <a:pPr>
              <a:spcBef>
                <a:spcPts val="0"/>
              </a:spcBef>
              <a:spcAft>
                <a:spcPts val="0"/>
              </a:spcAft>
            </a:pPr>
            <a:r>
              <a:rPr sz="1050">
                <a:solidFill>
                  <a:srgbClr val="161B26"/>
                </a:solidFill>
                <a:latin typeface="Consolas"/>
              </a:rPr>
              <a:t># After maintenance:</a:t>
            </a:r>
          </a:p>
          <a:p>
            <a:pPr>
              <a:spcBef>
                <a:spcPts val="0"/>
              </a:spcBef>
              <a:spcAft>
                <a:spcPts val="0"/>
              </a:spcAft>
            </a:pPr>
            <a:r>
              <a:rPr sz="1050">
                <a:solidFill>
                  <a:srgbClr val="161B26"/>
                </a:solidFill>
                <a:latin typeface="Consolas"/>
              </a:rPr>
              <a:t>kubectl uncordon node01</a:t>
            </a:r>
          </a:p>
        </p:txBody>
      </p:sp>
      <p:sp>
        <p:nvSpPr>
          <p:cNvPr id="15" name="TextBox 14"/>
          <p:cNvSpPr txBox="1"/>
          <p:nvPr/>
        </p:nvSpPr>
        <p:spPr>
          <a:xfrm>
            <a:off x="777240" y="5180075"/>
            <a:ext cx="10652760" cy="310896"/>
          </a:xfrm>
          <a:prstGeom prst="rect">
            <a:avLst/>
          </a:prstGeom>
          <a:noFill/>
        </p:spPr>
        <p:txBody>
          <a:bodyPr wrap="square" anchor="t" lIns="0" rIns="0" tIns="0" bIns="0">
            <a:spAutoFit/>
          </a:bodyPr>
          <a:lstStyle/>
          <a:p>
            <a:pPr algn="l">
              <a:spcBef>
                <a:spcPts val="0"/>
              </a:spcBef>
              <a:spcAft>
                <a:spcPts val="400"/>
              </a:spcAft>
            </a:pPr>
            <a:r>
              <a:rPr sz="1300" b="1">
                <a:solidFill>
                  <a:srgbClr val="F59E0B"/>
                </a:solidFill>
                <a:latin typeface="Arial"/>
              </a:rPr>
              <a:t>Note   </a:t>
            </a:r>
            <a:r>
              <a:rPr sz="1300" b="0">
                <a:solidFill>
                  <a:srgbClr val="5B6372"/>
                </a:solidFill>
                <a:latin typeface="Arial"/>
              </a:rPr>
              <a:t>After 40s without kubelet heartbeat, node controller marks NotReady. After 5 minutes, pods are evicted to healthy nodes. Drain before any maintenance.</a:t>
            </a:r>
          </a:p>
        </p:txBody>
      </p:sp>
      <p:sp>
        <p:nvSpPr>
          <p:cNvPr id="16" name="TextBox 15"/>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7" name="TextBox 16"/>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8" name="TextBox 17"/>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236</a:t>
            </a:r>
          </a:p>
        </p:txBody>
      </p:sp>
    </p:spTree>
  </p:cSld>
  <p:clrMapOvr>
    <a:masterClrMapping/>
  </p:clrMapOvr>
</p:sld>
</file>

<file path=ppt/slides/slide2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27  ·  TEST IT</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Troubleshoot Nodes: NotReady, kubelet Failure, cgroup Driver Mismatch, Drain</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03120"/>
            <a:ext cx="10698480" cy="2560320"/>
          </a:xfrm>
          <a:prstGeom prst="roundRect">
            <a:avLst>
              <a:gd name="adj" fmla="val 5000"/>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lIns="0" rIns="0" tIns="0" bIns="0">
            <a:spAutoFit/>
          </a:bodyPr>
          <a:lstStyle/>
          <a:p>
            <a:pPr algn="l">
              <a:spcBef>
                <a:spcPts val="0"/>
              </a:spcBef>
              <a:spcAft>
                <a:spcPts val="400"/>
              </a:spcAft>
            </a:pPr>
            <a:r>
              <a:rPr sz="2200" b="1">
                <a:solidFill>
                  <a:srgbClr val="127A3E"/>
                </a:solidFill>
                <a:latin typeface="Arial"/>
              </a:rPr>
              <a:t>✅  Test it</a:t>
            </a:r>
          </a:p>
        </p:txBody>
      </p:sp>
      <p:sp>
        <p:nvSpPr>
          <p:cNvPr id="9" name="TextBox 8"/>
          <p:cNvSpPr txBox="1"/>
          <p:nvPr/>
        </p:nvSpPr>
        <p:spPr>
          <a:xfrm>
            <a:off x="1097280" y="3017520"/>
            <a:ext cx="10149840" cy="1463040"/>
          </a:xfrm>
          <a:prstGeom prst="rect">
            <a:avLst/>
          </a:prstGeom>
          <a:noFill/>
        </p:spPr>
        <p:txBody>
          <a:bodyPr wrap="square" anchor="t" lIns="0" rIns="0" tIns="0" bIns="0">
            <a:spAutoFit/>
          </a:bodyPr>
          <a:lstStyle/>
          <a:p>
            <a:pPr algn="l">
              <a:spcBef>
                <a:spcPts val="0"/>
              </a:spcBef>
              <a:spcAft>
                <a:spcPts val="400"/>
              </a:spcAft>
            </a:pPr>
            <a:r>
              <a:rPr sz="1800" b="0">
                <a:solidFill>
                  <a:srgbClr val="161B26"/>
                </a:solidFill>
                <a:latin typeface="Arial"/>
              </a:rPr>
              <a:t>Stopped kubelet causes NotReady; starting it restores Ready within 1 minute. Drain evicts pods and cordons node; uncordon re-enables scheduling.</a:t>
            </a:r>
          </a:p>
        </p:txBody>
      </p:sp>
      <p:sp>
        <p:nvSpPr>
          <p:cNvPr id="10" name="TextBox 9"/>
          <p:cNvSpPr txBox="1"/>
          <p:nvPr/>
        </p:nvSpPr>
        <p:spPr>
          <a:xfrm>
            <a:off x="777240" y="4983480"/>
            <a:ext cx="10698480" cy="365760"/>
          </a:xfrm>
          <a:prstGeom prst="rect">
            <a:avLst/>
          </a:prstGeom>
          <a:noFill/>
        </p:spPr>
        <p:txBody>
          <a:bodyPr wrap="square" anchor="t" lIns="0" rIns="0" tIns="0" bIns="0">
            <a:spAutoFit/>
          </a:bodyPr>
          <a:lstStyle/>
          <a:p>
            <a:pPr algn="l">
              <a:spcBef>
                <a:spcPts val="0"/>
              </a:spcBef>
              <a:spcAft>
                <a:spcPts val="400"/>
              </a:spcAft>
            </a:pPr>
            <a:r>
              <a:rPr sz="1300" b="1">
                <a:solidFill>
                  <a:srgbClr val="10B981"/>
                </a:solidFill>
                <a:latin typeface="Arial"/>
              </a:rPr>
              <a:t>Killercoda:  </a:t>
            </a:r>
            <a:r>
              <a:rPr sz="1300" b="0">
                <a:solidFill>
                  <a:srgbClr val="5B6372"/>
                </a:solidFill>
                <a:latin typeface="Arial"/>
              </a:rPr>
              <a:t>https://killercoda.com/playgrounds/scenario/kubeadm</a:t>
            </a:r>
          </a:p>
        </p:txBody>
      </p:sp>
      <p:sp>
        <p:nvSpPr>
          <p:cNvPr id="11" name="TextBox 10"/>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237</a:t>
            </a:r>
          </a:p>
        </p:txBody>
      </p:sp>
    </p:spTree>
  </p:cSld>
  <p:clrMapOvr>
    <a:masterClrMapping/>
  </p:clrMapOvr>
</p:sld>
</file>

<file path=ppt/slides/slide2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lIns="0" rIns="0" tIns="0" bIns="0">
            <a:spAutoFit/>
          </a:bodyPr>
          <a:lstStyle/>
          <a:p>
            <a:pPr algn="l">
              <a:spcBef>
                <a:spcPts val="0"/>
              </a:spcBef>
              <a:spcAft>
                <a:spcPts val="400"/>
              </a:spcAft>
            </a:pPr>
            <a:r>
              <a:rPr sz="1800" b="1">
                <a:solidFill>
                  <a:srgbClr val="1F6FEB"/>
                </a:solidFill>
                <a:latin typeface="Arial"/>
              </a:rPr>
              <a:t>TOPIC 5</a:t>
            </a:r>
          </a:p>
        </p:txBody>
      </p:sp>
      <p:sp>
        <p:nvSpPr>
          <p:cNvPr id="6" name="TextBox 5"/>
          <p:cNvSpPr txBox="1"/>
          <p:nvPr/>
        </p:nvSpPr>
        <p:spPr>
          <a:xfrm>
            <a:off x="1143000" y="2743200"/>
            <a:ext cx="10424160" cy="1463040"/>
          </a:xfrm>
          <a:prstGeom prst="rect">
            <a:avLst/>
          </a:prstGeom>
          <a:noFill/>
        </p:spPr>
        <p:txBody>
          <a:bodyPr wrap="square" anchor="t" lIns="0" rIns="0" tIns="0" bIns="0">
            <a:spAutoFit/>
          </a:bodyPr>
          <a:lstStyle/>
          <a:p>
            <a:pPr algn="l">
              <a:spcBef>
                <a:spcPts val="0"/>
              </a:spcBef>
              <a:spcAft>
                <a:spcPts val="400"/>
              </a:spcAft>
            </a:pPr>
            <a:r>
              <a:rPr sz="4000" b="1">
                <a:solidFill>
                  <a:srgbClr val="161B26"/>
                </a:solidFill>
                <a:latin typeface="Arial"/>
              </a:rPr>
              <a:t>Application &amp; Log Troubleshooting</a:t>
            </a:r>
          </a:p>
        </p:txBody>
      </p:sp>
      <p:sp>
        <p:nvSpPr>
          <p:cNvPr id="7" name="TextBox 6"/>
          <p:cNvSpPr txBox="1"/>
          <p:nvPr/>
        </p:nvSpPr>
        <p:spPr>
          <a:xfrm>
            <a:off x="1161288" y="4114800"/>
            <a:ext cx="10058400" cy="731520"/>
          </a:xfrm>
          <a:prstGeom prst="rect">
            <a:avLst/>
          </a:prstGeom>
          <a:noFill/>
        </p:spPr>
        <p:txBody>
          <a:bodyPr wrap="square" anchor="t" lIns="0" rIns="0" tIns="0" bIns="0">
            <a:spAutoFit/>
          </a:bodyPr>
          <a:lstStyle/>
          <a:p>
            <a:pPr algn="l">
              <a:spcBef>
                <a:spcPts val="0"/>
              </a:spcBef>
              <a:spcAft>
                <a:spcPts val="400"/>
              </a:spcAft>
            </a:pPr>
            <a:r>
              <a:rPr sz="1600" b="0">
                <a:solidFill>
                  <a:srgbClr val="5B6372"/>
                </a:solidFill>
                <a:latin typeface="Arial"/>
              </a:rPr>
              <a:t>Pods, logs and container debugging</a:t>
            </a:r>
          </a:p>
        </p:txBody>
      </p:sp>
      <p:sp>
        <p:nvSpPr>
          <p:cNvPr id="8" name="TextBox 7"/>
          <p:cNvSpPr txBox="1"/>
          <p:nvPr/>
        </p:nvSpPr>
        <p:spPr>
          <a:xfrm>
            <a:off x="9418320" y="640080"/>
            <a:ext cx="2286000" cy="1463040"/>
          </a:xfrm>
          <a:prstGeom prst="rect">
            <a:avLst/>
          </a:prstGeom>
          <a:noFill/>
        </p:spPr>
        <p:txBody>
          <a:bodyPr wrap="square" anchor="t" lIns="0" rIns="0" tIns="0" bIns="0">
            <a:spAutoFit/>
          </a:bodyPr>
          <a:lstStyle/>
          <a:p>
            <a:pPr algn="r">
              <a:spcBef>
                <a:spcPts val="0"/>
              </a:spcBef>
              <a:spcAft>
                <a:spcPts val="400"/>
              </a:spcAft>
            </a:pPr>
            <a:r>
              <a:rPr sz="7200" b="1">
                <a:solidFill>
                  <a:srgbClr val="E2E8F0"/>
                </a:solidFill>
                <a:latin typeface="Arial"/>
              </a:rPr>
              <a:t/>
            </a:r>
          </a:p>
        </p:txBody>
      </p:sp>
      <p:sp>
        <p:nvSpPr>
          <p:cNvPr id="9" name="TextBox 8"/>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0" name="TextBox 9"/>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1" name="TextBox 10"/>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238</a:t>
            </a:r>
          </a:p>
        </p:txBody>
      </p:sp>
    </p:spTree>
  </p:cSld>
  <p:clrMapOvr>
    <a:masterClrMapping/>
  </p:clrMapOvr>
</p:sld>
</file>

<file path=ppt/slides/slide2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POD DEBUGGING</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Pod Failure States</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07040" cy="4480560"/>
          </a:xfrm>
          <a:prstGeom prst="rect">
            <a:avLst/>
          </a:prstGeom>
          <a:noFill/>
        </p:spPr>
        <p:txBody>
          <a:bodyPr wrap="square" lIns="0" rIns="0">
            <a:spAutoFit/>
          </a:bodyPr>
          <a:lstStyle/>
          <a:p>
            <a:pPr>
              <a:spcBef>
                <a:spcPts val="0"/>
              </a:spcBef>
              <a:spcAft>
                <a:spcPts val="1000"/>
              </a:spcAft>
            </a:pPr>
            <a:r>
              <a:rPr sz="1900" b="1">
                <a:solidFill>
                  <a:srgbClr val="1F6FEB"/>
                </a:solidFill>
                <a:latin typeface="Arial"/>
              </a:rPr>
              <a:t>•  </a:t>
            </a:r>
            <a:r>
              <a:rPr sz="1900">
                <a:solidFill>
                  <a:srgbClr val="161B26"/>
                </a:solidFill>
                <a:latin typeface="Arial"/>
              </a:rPr>
              <a:t>ImagePullBackOff: wrong image name, tag or missing imagePullSecret — check Events in kubectl describe pod.</a:t>
            </a:r>
          </a:p>
          <a:p>
            <a:pPr>
              <a:spcBef>
                <a:spcPts val="0"/>
              </a:spcBef>
              <a:spcAft>
                <a:spcPts val="1000"/>
              </a:spcAft>
            </a:pPr>
            <a:r>
              <a:rPr sz="1900" b="1">
                <a:solidFill>
                  <a:srgbClr val="1F6FEB"/>
                </a:solidFill>
                <a:latin typeface="Arial"/>
              </a:rPr>
              <a:t>•  </a:t>
            </a:r>
            <a:r>
              <a:rPr sz="1900">
                <a:solidFill>
                  <a:srgbClr val="161B26"/>
                </a:solidFill>
                <a:latin typeface="Arial"/>
              </a:rPr>
              <a:t>CrashLoopBackOff: container exits non-zero repeatedly — read kubectl logs &lt;pod&gt; --previous.</a:t>
            </a:r>
          </a:p>
          <a:p>
            <a:pPr>
              <a:spcBef>
                <a:spcPts val="0"/>
              </a:spcBef>
              <a:spcAft>
                <a:spcPts val="1000"/>
              </a:spcAft>
            </a:pPr>
            <a:r>
              <a:rPr sz="1900" b="1">
                <a:solidFill>
                  <a:srgbClr val="1F6FEB"/>
                </a:solidFill>
                <a:latin typeface="Arial"/>
              </a:rPr>
              <a:t>•  </a:t>
            </a:r>
            <a:r>
              <a:rPr sz="1900">
                <a:solidFill>
                  <a:srgbClr val="161B26"/>
                </a:solidFill>
                <a:latin typeface="Arial"/>
              </a:rPr>
              <a:t>OOMKilled: container exceeded its memory limit — raise resources.limits.memory.</a:t>
            </a:r>
          </a:p>
          <a:p>
            <a:pPr>
              <a:spcBef>
                <a:spcPts val="0"/>
              </a:spcBef>
              <a:spcAft>
                <a:spcPts val="1000"/>
              </a:spcAft>
            </a:pPr>
            <a:r>
              <a:rPr sz="1900" b="1">
                <a:solidFill>
                  <a:srgbClr val="1F6FEB"/>
                </a:solidFill>
                <a:latin typeface="Arial"/>
              </a:rPr>
              <a:t>•  </a:t>
            </a:r>
            <a:r>
              <a:rPr sz="1900">
                <a:solidFill>
                  <a:srgbClr val="161B26"/>
                </a:solidFill>
                <a:latin typeface="Arial"/>
              </a:rPr>
              <a:t>kubectl get events --sort-by=.lastTimestamp -A gives a cluster-wide timeline — start here for unknown failures.</a:t>
            </a:r>
          </a:p>
        </p:txBody>
      </p:sp>
      <p:sp>
        <p:nvSpPr>
          <p:cNvPr id="8" name="TextBox 7"/>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9" name="TextBox 8"/>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239</a:t>
            </a:r>
          </a:p>
        </p:txBody>
      </p:sp>
    </p:spTree>
  </p:cSld>
  <p:clrMapOvr>
    <a:masterClrMapping/>
  </p:clrMapOvr>
</p:sld>
</file>

<file path=ppt/slides/slide2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DOMAIN 5  ·  POD DEBUGGING</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Pod Failure States</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1965960"/>
            <a:ext cx="10652760" cy="1078992"/>
          </a:xfrm>
          <a:prstGeom prst="roundRect">
            <a:avLst>
              <a:gd name="adj" fmla="val 5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965960"/>
            <a:ext cx="109728" cy="1078992"/>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65960"/>
            <a:ext cx="3840480" cy="1078992"/>
          </a:xfrm>
          <a:prstGeom prst="rect">
            <a:avLst/>
          </a:prstGeom>
          <a:noFill/>
        </p:spPr>
        <p:txBody>
          <a:bodyPr wrap="square" anchor="ctr" lIns="0" rIns="0" tIns="0" bIns="0">
            <a:spAutoFit/>
          </a:bodyPr>
          <a:lstStyle/>
          <a:p>
            <a:pPr algn="l">
              <a:spcBef>
                <a:spcPts val="0"/>
              </a:spcBef>
              <a:spcAft>
                <a:spcPts val="300"/>
              </a:spcAft>
            </a:pPr>
            <a:r>
              <a:rPr sz="1500" b="1">
                <a:solidFill>
                  <a:srgbClr val="DC2626"/>
                </a:solidFill>
                <a:latin typeface="Arial"/>
              </a:rPr>
              <a:t>ImagePullBackOff</a:t>
            </a:r>
          </a:p>
          <a:p>
            <a:pPr algn="l">
              <a:spcBef>
                <a:spcPts val="0"/>
              </a:spcBef>
              <a:spcAft>
                <a:spcPts val="300"/>
              </a:spcAft>
            </a:pPr>
            <a:r>
              <a:rPr sz="1200" b="0">
                <a:solidFill>
                  <a:srgbClr val="5B6372"/>
                </a:solidFill>
                <a:latin typeface="Arial"/>
              </a:rPr>
              <a:t>wrong image name, tag or missing imagePullSecret</a:t>
            </a:r>
          </a:p>
        </p:txBody>
      </p:sp>
      <p:sp>
        <p:nvSpPr>
          <p:cNvPr id="10" name="Right Arrow 9"/>
          <p:cNvSpPr/>
          <p:nvPr/>
        </p:nvSpPr>
        <p:spPr>
          <a:xfrm>
            <a:off x="5074920" y="2340864"/>
            <a:ext cx="640080" cy="329184"/>
          </a:xfrm>
          <a:prstGeom prst="rightArrow">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989320" y="1965960"/>
            <a:ext cx="5349240" cy="1078992"/>
          </a:xfrm>
          <a:prstGeom prst="rect">
            <a:avLst/>
          </a:prstGeom>
          <a:noFill/>
        </p:spPr>
        <p:txBody>
          <a:bodyPr wrap="square" anchor="ctr" lIns="0" rIns="0" tIns="0" bIns="0">
            <a:spAutoFit/>
          </a:bodyPr>
          <a:lstStyle/>
          <a:p>
            <a:pPr algn="l">
              <a:spcBef>
                <a:spcPts val="0"/>
              </a:spcBef>
              <a:spcAft>
                <a:spcPts val="400"/>
              </a:spcAft>
            </a:pPr>
            <a:r>
              <a:rPr sz="1400" b="0">
                <a:solidFill>
                  <a:srgbClr val="161B26"/>
                </a:solidFill>
                <a:latin typeface="Arial"/>
              </a:rPr>
              <a:t>kubectl describe pod → Events → 'Failed to pull image'. Fix image ref and recreate.</a:t>
            </a:r>
          </a:p>
        </p:txBody>
      </p:sp>
      <p:sp>
        <p:nvSpPr>
          <p:cNvPr id="12" name="Rounded Rectangle 11"/>
          <p:cNvSpPr/>
          <p:nvPr/>
        </p:nvSpPr>
        <p:spPr>
          <a:xfrm>
            <a:off x="777240" y="3163824"/>
            <a:ext cx="10652760" cy="1078992"/>
          </a:xfrm>
          <a:prstGeom prst="roundRect">
            <a:avLst>
              <a:gd name="adj" fmla="val 5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3163824"/>
            <a:ext cx="109728" cy="107899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97280" y="3163824"/>
            <a:ext cx="3840480" cy="1078992"/>
          </a:xfrm>
          <a:prstGeom prst="rect">
            <a:avLst/>
          </a:prstGeom>
          <a:noFill/>
        </p:spPr>
        <p:txBody>
          <a:bodyPr wrap="square" anchor="ctr" lIns="0" rIns="0" tIns="0" bIns="0">
            <a:spAutoFit/>
          </a:bodyPr>
          <a:lstStyle/>
          <a:p>
            <a:pPr algn="l">
              <a:spcBef>
                <a:spcPts val="0"/>
              </a:spcBef>
              <a:spcAft>
                <a:spcPts val="300"/>
              </a:spcAft>
            </a:pPr>
            <a:r>
              <a:rPr sz="1500" b="1">
                <a:solidFill>
                  <a:srgbClr val="F59E0B"/>
                </a:solidFill>
                <a:latin typeface="Arial"/>
              </a:rPr>
              <a:t>CrashLoopBackOff</a:t>
            </a:r>
          </a:p>
          <a:p>
            <a:pPr algn="l">
              <a:spcBef>
                <a:spcPts val="0"/>
              </a:spcBef>
              <a:spcAft>
                <a:spcPts val="300"/>
              </a:spcAft>
            </a:pPr>
            <a:r>
              <a:rPr sz="1200" b="0">
                <a:solidFill>
                  <a:srgbClr val="5B6372"/>
                </a:solidFill>
                <a:latin typeface="Arial"/>
              </a:rPr>
              <a:t>container exits non-zero repeatedly</a:t>
            </a:r>
          </a:p>
        </p:txBody>
      </p:sp>
      <p:sp>
        <p:nvSpPr>
          <p:cNvPr id="15" name="Right Arrow 14"/>
          <p:cNvSpPr/>
          <p:nvPr/>
        </p:nvSpPr>
        <p:spPr>
          <a:xfrm>
            <a:off x="5074920" y="3538728"/>
            <a:ext cx="640080" cy="329184"/>
          </a:xfrm>
          <a:prstGeom prst="rightArrow">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989320" y="3163824"/>
            <a:ext cx="5349240" cy="1078992"/>
          </a:xfrm>
          <a:prstGeom prst="rect">
            <a:avLst/>
          </a:prstGeom>
          <a:noFill/>
        </p:spPr>
        <p:txBody>
          <a:bodyPr wrap="square" anchor="ctr" lIns="0" rIns="0" tIns="0" bIns="0">
            <a:spAutoFit/>
          </a:bodyPr>
          <a:lstStyle/>
          <a:p>
            <a:pPr algn="l">
              <a:spcBef>
                <a:spcPts val="0"/>
              </a:spcBef>
              <a:spcAft>
                <a:spcPts val="400"/>
              </a:spcAft>
            </a:pPr>
            <a:r>
              <a:rPr sz="1400" b="0">
                <a:solidFill>
                  <a:srgbClr val="161B26"/>
                </a:solidFill>
                <a:latin typeface="Arial"/>
              </a:rPr>
              <a:t>kubectl logs &lt;pod&gt; --previous → read the crash output. Fix command / config / entrypoint.</a:t>
            </a:r>
          </a:p>
        </p:txBody>
      </p:sp>
      <p:sp>
        <p:nvSpPr>
          <p:cNvPr id="17" name="Rounded Rectangle 16"/>
          <p:cNvSpPr/>
          <p:nvPr/>
        </p:nvSpPr>
        <p:spPr>
          <a:xfrm>
            <a:off x="777240" y="4361688"/>
            <a:ext cx="10652760" cy="1078992"/>
          </a:xfrm>
          <a:prstGeom prst="roundRect">
            <a:avLst>
              <a:gd name="adj" fmla="val 5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361688"/>
            <a:ext cx="109728" cy="107899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97280" y="4361688"/>
            <a:ext cx="3840480" cy="1078992"/>
          </a:xfrm>
          <a:prstGeom prst="rect">
            <a:avLst/>
          </a:prstGeom>
          <a:noFill/>
        </p:spPr>
        <p:txBody>
          <a:bodyPr wrap="square" anchor="ctr" lIns="0" rIns="0" tIns="0" bIns="0">
            <a:spAutoFit/>
          </a:bodyPr>
          <a:lstStyle/>
          <a:p>
            <a:pPr algn="l">
              <a:spcBef>
                <a:spcPts val="0"/>
              </a:spcBef>
              <a:spcAft>
                <a:spcPts val="300"/>
              </a:spcAft>
            </a:pPr>
            <a:r>
              <a:rPr sz="1500" b="1">
                <a:solidFill>
                  <a:srgbClr val="7C3AED"/>
                </a:solidFill>
                <a:latin typeface="Arial"/>
              </a:rPr>
              <a:t>OOMKilled</a:t>
            </a:r>
          </a:p>
          <a:p>
            <a:pPr algn="l">
              <a:spcBef>
                <a:spcPts val="0"/>
              </a:spcBef>
              <a:spcAft>
                <a:spcPts val="300"/>
              </a:spcAft>
            </a:pPr>
            <a:r>
              <a:rPr sz="1200" b="0">
                <a:solidFill>
                  <a:srgbClr val="5B6372"/>
                </a:solidFill>
                <a:latin typeface="Arial"/>
              </a:rPr>
              <a:t>container exceeded memory limit</a:t>
            </a:r>
          </a:p>
        </p:txBody>
      </p:sp>
      <p:sp>
        <p:nvSpPr>
          <p:cNvPr id="20" name="Right Arrow 19"/>
          <p:cNvSpPr/>
          <p:nvPr/>
        </p:nvSpPr>
        <p:spPr>
          <a:xfrm>
            <a:off x="5074920" y="4736592"/>
            <a:ext cx="640080" cy="329184"/>
          </a:xfrm>
          <a:prstGeom prst="rightArrow">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989320" y="4361688"/>
            <a:ext cx="5349240" cy="1078992"/>
          </a:xfrm>
          <a:prstGeom prst="rect">
            <a:avLst/>
          </a:prstGeom>
          <a:noFill/>
        </p:spPr>
        <p:txBody>
          <a:bodyPr wrap="square" anchor="ctr" lIns="0" rIns="0" tIns="0" bIns="0">
            <a:spAutoFit/>
          </a:bodyPr>
          <a:lstStyle/>
          <a:p>
            <a:pPr algn="l">
              <a:spcBef>
                <a:spcPts val="0"/>
              </a:spcBef>
              <a:spcAft>
                <a:spcPts val="400"/>
              </a:spcAft>
            </a:pPr>
            <a:r>
              <a:rPr sz="1400" b="0">
                <a:solidFill>
                  <a:srgbClr val="161B26"/>
                </a:solidFill>
                <a:latin typeface="Arial"/>
              </a:rPr>
              <a:t>kubectl describe pod → Reason: OOMKilled → raise resources.limits.memory.</a:t>
            </a:r>
          </a:p>
        </p:txBody>
      </p:sp>
      <p:sp>
        <p:nvSpPr>
          <p:cNvPr id="22" name="Rounded Rectangle 21"/>
          <p:cNvSpPr/>
          <p:nvPr/>
        </p:nvSpPr>
        <p:spPr>
          <a:xfrm>
            <a:off x="777240" y="5486400"/>
            <a:ext cx="10652760" cy="384048"/>
          </a:xfrm>
          <a:prstGeom prst="roundRect">
            <a:avLst>
              <a:gd name="adj" fmla="val 5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51560" y="5486400"/>
            <a:ext cx="10149840" cy="384048"/>
          </a:xfrm>
          <a:prstGeom prst="rect">
            <a:avLst/>
          </a:prstGeom>
          <a:noFill/>
        </p:spPr>
        <p:txBody>
          <a:bodyPr wrap="square" anchor="ctr" lIns="0" rIns="0" tIns="0" bIns="0">
            <a:spAutoFit/>
          </a:bodyPr>
          <a:lstStyle/>
          <a:p>
            <a:pPr algn="l">
              <a:spcBef>
                <a:spcPts val="0"/>
              </a:spcBef>
              <a:spcAft>
                <a:spcPts val="400"/>
              </a:spcAft>
            </a:pPr>
            <a:r>
              <a:rPr sz="1200" b="1">
                <a:solidFill>
                  <a:srgbClr val="1F6FEB"/>
                </a:solidFill>
                <a:latin typeface="Arial"/>
              </a:rPr>
              <a:t>Fast triage: </a:t>
            </a:r>
            <a:r>
              <a:rPr sz="1200" b="0">
                <a:solidFill>
                  <a:srgbClr val="161B26"/>
                </a:solidFill>
                <a:latin typeface="Arial"/>
              </a:rPr>
              <a:t>kubectl get events --sort-by=.lastTimestamp -A   ·   kubectl debug (ephemeral container for distroless)</a:t>
            </a:r>
          </a:p>
        </p:txBody>
      </p:sp>
      <p:sp>
        <p:nvSpPr>
          <p:cNvPr id="24" name="TextBox 23"/>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25" name="TextBox 24"/>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26" name="TextBox 25"/>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240</a:t>
            </a:r>
          </a:p>
        </p:txBody>
      </p:sp>
    </p:spTree>
  </p:cSld>
  <p:clrMapOvr>
    <a:masterClrMapping/>
  </p:clrMapOvr>
</p:sld>
</file>

<file path=ppt/slides/slide2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DAY 3 · LOGS AND DEBUGGING</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Application Logs: kubectl logs, --previous, Multi-Container, Raw Log Files on Disk</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64208"/>
            <a:ext cx="169164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09928"/>
            <a:ext cx="1691640" cy="365760"/>
          </a:xfrm>
          <a:prstGeom prst="rect">
            <a:avLst/>
          </a:prstGeom>
          <a:noFill/>
        </p:spPr>
        <p:txBody>
          <a:bodyPr wrap="square" anchor="t" lIns="0" rIns="0" tIns="0" bIns="0">
            <a:spAutoFit/>
          </a:bodyPr>
          <a:lstStyle/>
          <a:p>
            <a:pPr algn="ctr">
              <a:spcBef>
                <a:spcPts val="0"/>
              </a:spcBef>
              <a:spcAft>
                <a:spcPts val="400"/>
              </a:spcAft>
            </a:pPr>
            <a:r>
              <a:rPr sz="1600" b="1">
                <a:solidFill>
                  <a:srgbClr val="FFFFFF"/>
                </a:solidFill>
                <a:latin typeface="Arial"/>
              </a:rPr>
              <a:t>LAB 28</a:t>
            </a:r>
          </a:p>
        </p:txBody>
      </p:sp>
      <p:sp>
        <p:nvSpPr>
          <p:cNvPr id="9" name="TextBox 8"/>
          <p:cNvSpPr txBox="1"/>
          <p:nvPr/>
        </p:nvSpPr>
        <p:spPr>
          <a:xfrm>
            <a:off x="2697480" y="1691640"/>
            <a:ext cx="8778240" cy="411480"/>
          </a:xfrm>
          <a:prstGeom prst="rect">
            <a:avLst/>
          </a:prstGeom>
          <a:noFill/>
        </p:spPr>
        <p:txBody>
          <a:bodyPr wrap="square" anchor="ctr" lIns="0" rIns="0" tIns="0" bIns="0">
            <a:spAutoFit/>
          </a:bodyPr>
          <a:lstStyle/>
          <a:p>
            <a:pPr algn="l">
              <a:spcBef>
                <a:spcPts val="0"/>
              </a:spcBef>
              <a:spcAft>
                <a:spcPts val="400"/>
              </a:spcAft>
            </a:pPr>
            <a:r>
              <a:rPr sz="1400" b="1">
                <a:solidFill>
                  <a:srgbClr val="5B6372"/>
                </a:solidFill>
                <a:latin typeface="Arial"/>
              </a:rPr>
              <a:t>Application logs</a:t>
            </a:r>
          </a:p>
        </p:txBody>
      </p:sp>
      <p:sp>
        <p:nvSpPr>
          <p:cNvPr id="10" name="TextBox 9"/>
          <p:cNvSpPr txBox="1"/>
          <p:nvPr/>
        </p:nvSpPr>
        <p:spPr>
          <a:xfrm>
            <a:off x="777240" y="2286000"/>
            <a:ext cx="10698480" cy="1554480"/>
          </a:xfrm>
          <a:prstGeom prst="rect">
            <a:avLst/>
          </a:prstGeom>
          <a:noFill/>
        </p:spPr>
        <p:txBody>
          <a:bodyPr wrap="square" anchor="t" lIns="0" rIns="0" tIns="0" bIns="0">
            <a:spAutoFit/>
          </a:bodyPr>
          <a:lstStyle/>
          <a:p>
            <a:pPr algn="l">
              <a:spcBef>
                <a:spcPts val="0"/>
              </a:spcBef>
              <a:spcAft>
                <a:spcPts val="400"/>
              </a:spcAft>
            </a:pPr>
            <a:r>
              <a:rPr sz="1900" b="0">
                <a:solidFill>
                  <a:srgbClr val="161B26"/>
                </a:solidFill>
                <a:latin typeface="Arial"/>
              </a:rPr>
              <a:t>Read logs from running containers, crashed containers (--previous), specific containers in multi-container pods, and raw log files on disk at /var/log/pods/. Log retrieval is the first step in every CKA application troubleshooting question.</a:t>
            </a:r>
          </a:p>
        </p:txBody>
      </p:sp>
      <p:sp>
        <p:nvSpPr>
          <p:cNvPr id="11" name="Rounded Rectangle 10"/>
          <p:cNvSpPr/>
          <p:nvPr/>
        </p:nvSpPr>
        <p:spPr>
          <a:xfrm>
            <a:off x="777240" y="4069080"/>
            <a:ext cx="10698480" cy="1783080"/>
          </a:xfrm>
          <a:prstGeom prst="roundRect">
            <a:avLst>
              <a:gd name="adj" fmla="val 5000"/>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05840" y="4251960"/>
            <a:ext cx="10058400" cy="365760"/>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You'll build</a:t>
            </a:r>
          </a:p>
        </p:txBody>
      </p:sp>
      <p:sp>
        <p:nvSpPr>
          <p:cNvPr id="13" name="TextBox 12"/>
          <p:cNvSpPr txBox="1"/>
          <p:nvPr/>
        </p:nvSpPr>
        <p:spPr>
          <a:xfrm>
            <a:off x="1005840" y="4617720"/>
            <a:ext cx="10241280" cy="640080"/>
          </a:xfrm>
          <a:prstGeom prst="rect">
            <a:avLst/>
          </a:prstGeom>
          <a:noFill/>
        </p:spPr>
        <p:txBody>
          <a:bodyPr wrap="square" anchor="t" lIns="0" rIns="0" tIns="0" bIns="0">
            <a:spAutoFit/>
          </a:bodyPr>
          <a:lstStyle/>
          <a:p>
            <a:pPr algn="l">
              <a:spcBef>
                <a:spcPts val="0"/>
              </a:spcBef>
              <a:spcAft>
                <a:spcPts val="400"/>
              </a:spcAft>
            </a:pPr>
            <a:r>
              <a:rPr sz="1700" b="1">
                <a:solidFill>
                  <a:srgbClr val="161B26"/>
                </a:solidFill>
                <a:latin typeface="Arial"/>
              </a:rPr>
              <a:t>Run noisy pod, use kubectl logs with --tail --timestamps --follow. Create crashloop pod and read with --previous. Locate raw log file on disk.</a:t>
            </a:r>
          </a:p>
        </p:txBody>
      </p:sp>
      <p:sp>
        <p:nvSpPr>
          <p:cNvPr id="14" name="TextBox 13"/>
          <p:cNvSpPr txBox="1"/>
          <p:nvPr/>
        </p:nvSpPr>
        <p:spPr>
          <a:xfrm>
            <a:off x="1005840" y="5349240"/>
            <a:ext cx="10058400" cy="457200"/>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Key commands:  </a:t>
            </a:r>
            <a:r>
              <a:rPr sz="1300" b="0">
                <a:solidFill>
                  <a:srgbClr val="5B6372"/>
                </a:solidFill>
                <a:latin typeface="Arial"/>
              </a:rPr>
              <a:t>kubectl run · kubectl logs · ls /var/log/pods/ · » --previous</a:t>
            </a:r>
          </a:p>
        </p:txBody>
      </p:sp>
      <p:sp>
        <p:nvSpPr>
          <p:cNvPr id="15" name="TextBox 14"/>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6" name="TextBox 15"/>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7" name="TextBox 16"/>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241</a:t>
            </a:r>
          </a:p>
        </p:txBody>
      </p:sp>
    </p:spTree>
  </p:cSld>
  <p:clrMapOvr>
    <a:masterClrMapping/>
  </p:clrMapOvr>
</p:sld>
</file>

<file path=ppt/slides/slide2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28  ·  COMMANDS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Application Logs: kubectl logs, --previous, Multi-Container, Raw Log Files on Disk</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91640"/>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Step 1 -- Basic log commands</a:t>
            </a:r>
          </a:p>
        </p:txBody>
      </p:sp>
      <p:sp>
        <p:nvSpPr>
          <p:cNvPr id="8" name="Rounded Rectangle 7"/>
          <p:cNvSpPr/>
          <p:nvPr/>
        </p:nvSpPr>
        <p:spPr>
          <a:xfrm>
            <a:off x="777240" y="2075688"/>
            <a:ext cx="10652760" cy="896112"/>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075688"/>
            <a:ext cx="82296" cy="896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6" y="2139696"/>
            <a:ext cx="10323576" cy="804672"/>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kubectl run noisy --image=busybox --restart=Never -- \</a:t>
            </a:r>
          </a:p>
          <a:p>
            <a:pPr>
              <a:spcBef>
                <a:spcPts val="0"/>
              </a:spcBef>
              <a:spcAft>
                <a:spcPts val="0"/>
              </a:spcAft>
            </a:pPr>
            <a:r>
              <a:rPr sz="1050">
                <a:solidFill>
                  <a:srgbClr val="161B26"/>
                </a:solidFill>
                <a:latin typeface="Consolas"/>
              </a:rPr>
              <a:t>  sh -c 'i=0; while true; do echo "line $i"; i=$((i+1)); sleep 1; done'</a:t>
            </a:r>
          </a:p>
          <a:p>
            <a:pPr>
              <a:spcBef>
                <a:spcPts val="0"/>
              </a:spcBef>
              <a:spcAft>
                <a:spcPts val="0"/>
              </a:spcAft>
            </a:pPr>
            <a:r>
              <a:rPr sz="1050">
                <a:solidFill>
                  <a:srgbClr val="161B26"/>
                </a:solidFill>
                <a:latin typeface="Consolas"/>
              </a:rPr>
              <a:t>kubectl logs noisy --tail=5</a:t>
            </a:r>
          </a:p>
          <a:p>
            <a:pPr>
              <a:spcBef>
                <a:spcPts val="0"/>
              </a:spcBef>
              <a:spcAft>
                <a:spcPts val="0"/>
              </a:spcAft>
            </a:pPr>
            <a:r>
              <a:rPr sz="1050">
                <a:solidFill>
                  <a:srgbClr val="161B26"/>
                </a:solidFill>
                <a:latin typeface="Consolas"/>
              </a:rPr>
              <a:t>kubectl logs noisy --tail=10 --timestamps=true</a:t>
            </a:r>
          </a:p>
        </p:txBody>
      </p:sp>
      <p:sp>
        <p:nvSpPr>
          <p:cNvPr id="11" name="TextBox 10"/>
          <p:cNvSpPr txBox="1"/>
          <p:nvPr/>
        </p:nvSpPr>
        <p:spPr>
          <a:xfrm>
            <a:off x="777240" y="3154680"/>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Step 2 -- Crashed container logs with --previous</a:t>
            </a:r>
          </a:p>
        </p:txBody>
      </p:sp>
      <p:sp>
        <p:nvSpPr>
          <p:cNvPr id="12" name="Rounded Rectangle 11"/>
          <p:cNvSpPr/>
          <p:nvPr/>
        </p:nvSpPr>
        <p:spPr>
          <a:xfrm>
            <a:off x="777240" y="3538728"/>
            <a:ext cx="10652760" cy="1083563"/>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3538728"/>
            <a:ext cx="82296" cy="1083563"/>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3602736"/>
            <a:ext cx="10323576" cy="992123"/>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kubectl run crasher --image=busybox --restart=Always -- \</a:t>
            </a:r>
          </a:p>
          <a:p>
            <a:pPr>
              <a:spcBef>
                <a:spcPts val="0"/>
              </a:spcBef>
              <a:spcAft>
                <a:spcPts val="0"/>
              </a:spcAft>
            </a:pPr>
            <a:r>
              <a:rPr sz="1050">
                <a:solidFill>
                  <a:srgbClr val="161B26"/>
                </a:solidFill>
                <a:latin typeface="Consolas"/>
              </a:rPr>
              <a:t>  sh -c 'echo starting; sleep 2; echo crashing; exit 1'</a:t>
            </a:r>
          </a:p>
          <a:p>
            <a:pPr>
              <a:spcBef>
                <a:spcPts val="0"/>
              </a:spcBef>
              <a:spcAft>
                <a:spcPts val="0"/>
              </a:spcAft>
            </a:pPr>
            <a:r>
              <a:rPr sz="1050">
                <a:solidFill>
                  <a:srgbClr val="161B26"/>
                </a:solidFill>
                <a:latin typeface="Consolas"/>
              </a:rPr>
              <a:t>kubectl get pod crasher -w</a:t>
            </a:r>
          </a:p>
          <a:p>
            <a:pPr>
              <a:spcBef>
                <a:spcPts val="0"/>
              </a:spcBef>
              <a:spcAft>
                <a:spcPts val="0"/>
              </a:spcAft>
            </a:pPr>
            <a:r>
              <a:rPr sz="1050">
                <a:solidFill>
                  <a:srgbClr val="161B26"/>
                </a:solidFill>
                <a:latin typeface="Consolas"/>
              </a:rPr>
              <a:t># Watch CrashLoopBackOff</a:t>
            </a:r>
          </a:p>
          <a:p>
            <a:pPr>
              <a:spcBef>
                <a:spcPts val="0"/>
              </a:spcBef>
              <a:spcAft>
                <a:spcPts val="0"/>
              </a:spcAft>
            </a:pPr>
            <a:r>
              <a:rPr sz="1050">
                <a:solidFill>
                  <a:srgbClr val="161B26"/>
                </a:solidFill>
                <a:latin typeface="Consolas"/>
              </a:rPr>
              <a:t>kubectl logs crasher --previous</a:t>
            </a:r>
          </a:p>
        </p:txBody>
      </p:sp>
      <p:sp>
        <p:nvSpPr>
          <p:cNvPr id="15" name="TextBox 14"/>
          <p:cNvSpPr txBox="1"/>
          <p:nvPr/>
        </p:nvSpPr>
        <p:spPr>
          <a:xfrm>
            <a:off x="777240" y="4805171"/>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Step 3 -- Multi-container pod logs</a:t>
            </a:r>
          </a:p>
        </p:txBody>
      </p:sp>
      <p:sp>
        <p:nvSpPr>
          <p:cNvPr id="16" name="Rounded Rectangle 15"/>
          <p:cNvSpPr/>
          <p:nvPr/>
        </p:nvSpPr>
        <p:spPr>
          <a:xfrm>
            <a:off x="777240" y="5189219"/>
            <a:ext cx="10652760" cy="708660"/>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77240" y="5189219"/>
            <a:ext cx="82296" cy="7086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96696" y="5253227"/>
            <a:ext cx="10323576" cy="617220"/>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kubectl logs multi-pod -c c1</a:t>
            </a:r>
          </a:p>
          <a:p>
            <a:pPr>
              <a:spcBef>
                <a:spcPts val="0"/>
              </a:spcBef>
              <a:spcAft>
                <a:spcPts val="0"/>
              </a:spcAft>
            </a:pPr>
            <a:r>
              <a:rPr sz="1050">
                <a:solidFill>
                  <a:srgbClr val="161B26"/>
                </a:solidFill>
                <a:latin typeface="Consolas"/>
              </a:rPr>
              <a:t>kubectl logs multi-pod -c c2</a:t>
            </a:r>
          </a:p>
          <a:p>
            <a:pPr>
              <a:spcBef>
                <a:spcPts val="0"/>
              </a:spcBef>
              <a:spcAft>
                <a:spcPts val="0"/>
              </a:spcAft>
            </a:pPr>
            <a:r>
              <a:rPr sz="1050">
                <a:solidFill>
                  <a:srgbClr val="161B26"/>
                </a:solidFill>
                <a:latin typeface="Consolas"/>
              </a:rPr>
              <a:t>kubectl logs multi-pod --all-containers</a:t>
            </a:r>
          </a:p>
        </p:txBody>
      </p:sp>
      <p:sp>
        <p:nvSpPr>
          <p:cNvPr id="19" name="TextBox 18"/>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20" name="TextBox 19"/>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21" name="TextBox 20"/>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242</a:t>
            </a:r>
          </a:p>
        </p:txBody>
      </p:sp>
    </p:spTree>
  </p:cSld>
  <p:clrMapOvr>
    <a:masterClrMapping/>
  </p:clrMapOvr>
</p:sld>
</file>

<file path=ppt/slides/slide2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28  ·  COMMANDS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Application Logs: kubectl logs, --previous, Multi-Container, Raw Log Files on Disk (cont.)</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91640"/>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Step 4 -- Raw log files on disk</a:t>
            </a:r>
          </a:p>
        </p:txBody>
      </p:sp>
      <p:sp>
        <p:nvSpPr>
          <p:cNvPr id="8" name="Rounded Rectangle 7"/>
          <p:cNvSpPr/>
          <p:nvPr/>
        </p:nvSpPr>
        <p:spPr>
          <a:xfrm>
            <a:off x="777240" y="2075688"/>
            <a:ext cx="10652760" cy="708660"/>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075688"/>
            <a:ext cx="82296" cy="7086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6" y="2139696"/>
            <a:ext cx="10323576" cy="617220"/>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ls /var/log/pods/</a:t>
            </a:r>
          </a:p>
          <a:p>
            <a:pPr>
              <a:spcBef>
                <a:spcPts val="0"/>
              </a:spcBef>
              <a:spcAft>
                <a:spcPts val="0"/>
              </a:spcAft>
            </a:pPr>
            <a:r>
              <a:rPr sz="1050">
                <a:solidFill>
                  <a:srgbClr val="161B26"/>
                </a:solidFill>
                <a:latin typeface="Consolas"/>
              </a:rPr>
              <a:t>find /var/log/pods/ -name '*.log' | head -5</a:t>
            </a:r>
          </a:p>
          <a:p>
            <a:pPr>
              <a:spcBef>
                <a:spcPts val="0"/>
              </a:spcBef>
              <a:spcAft>
                <a:spcPts val="0"/>
              </a:spcAft>
            </a:pPr>
            <a:r>
              <a:rPr sz="1050">
                <a:solidFill>
                  <a:srgbClr val="161B26"/>
                </a:solidFill>
                <a:latin typeface="Consolas"/>
              </a:rPr>
              <a:t>tail -20 /var/log/pods/default_noisy_*/noisy/0.log</a:t>
            </a:r>
          </a:p>
        </p:txBody>
      </p:sp>
      <p:sp>
        <p:nvSpPr>
          <p:cNvPr id="11" name="TextBox 10"/>
          <p:cNvSpPr txBox="1"/>
          <p:nvPr/>
        </p:nvSpPr>
        <p:spPr>
          <a:xfrm>
            <a:off x="777240" y="2967228"/>
            <a:ext cx="10652760" cy="310896"/>
          </a:xfrm>
          <a:prstGeom prst="rect">
            <a:avLst/>
          </a:prstGeom>
          <a:noFill/>
        </p:spPr>
        <p:txBody>
          <a:bodyPr wrap="square" anchor="t" lIns="0" rIns="0" tIns="0" bIns="0">
            <a:spAutoFit/>
          </a:bodyPr>
          <a:lstStyle/>
          <a:p>
            <a:pPr algn="l">
              <a:spcBef>
                <a:spcPts val="0"/>
              </a:spcBef>
              <a:spcAft>
                <a:spcPts val="400"/>
              </a:spcAft>
            </a:pPr>
            <a:r>
              <a:rPr sz="1300" b="1">
                <a:solidFill>
                  <a:srgbClr val="F59E0B"/>
                </a:solidFill>
                <a:latin typeface="Arial"/>
              </a:rPr>
              <a:t>Note   </a:t>
            </a:r>
            <a:r>
              <a:rPr sz="1300" b="0">
                <a:solidFill>
                  <a:srgbClr val="5B6372"/>
                </a:solidFill>
                <a:latin typeface="Arial"/>
              </a:rPr>
              <a:t>--previous reads the last terminated container instance -- essential for CrashLoopBackOff. Raw log files at /var/log/pods/ persist even if the pod is deleted.</a:t>
            </a:r>
          </a:p>
        </p:txBody>
      </p:sp>
      <p:sp>
        <p:nvSpPr>
          <p:cNvPr id="12" name="TextBox 11"/>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3" name="TextBox 12"/>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4" name="TextBox 13"/>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243</a:t>
            </a:r>
          </a:p>
        </p:txBody>
      </p:sp>
    </p:spTree>
  </p:cSld>
  <p:clrMapOvr>
    <a:masterClrMapping/>
  </p:clrMapOvr>
</p:sld>
</file>

<file path=ppt/slides/slide2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28  ·  TEST IT</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Application Logs: kubectl logs, --previous, Multi-Container, Raw Log Files on Disk</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03120"/>
            <a:ext cx="10698480" cy="2560320"/>
          </a:xfrm>
          <a:prstGeom prst="roundRect">
            <a:avLst>
              <a:gd name="adj" fmla="val 5000"/>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lIns="0" rIns="0" tIns="0" bIns="0">
            <a:spAutoFit/>
          </a:bodyPr>
          <a:lstStyle/>
          <a:p>
            <a:pPr algn="l">
              <a:spcBef>
                <a:spcPts val="0"/>
              </a:spcBef>
              <a:spcAft>
                <a:spcPts val="400"/>
              </a:spcAft>
            </a:pPr>
            <a:r>
              <a:rPr sz="2200" b="1">
                <a:solidFill>
                  <a:srgbClr val="127A3E"/>
                </a:solidFill>
                <a:latin typeface="Arial"/>
              </a:rPr>
              <a:t>✅  Test it</a:t>
            </a:r>
          </a:p>
        </p:txBody>
      </p:sp>
      <p:sp>
        <p:nvSpPr>
          <p:cNvPr id="9" name="TextBox 8"/>
          <p:cNvSpPr txBox="1"/>
          <p:nvPr/>
        </p:nvSpPr>
        <p:spPr>
          <a:xfrm>
            <a:off x="1097280" y="3017520"/>
            <a:ext cx="10149840" cy="1463040"/>
          </a:xfrm>
          <a:prstGeom prst="rect">
            <a:avLst/>
          </a:prstGeom>
          <a:noFill/>
        </p:spPr>
        <p:txBody>
          <a:bodyPr wrap="square" anchor="t" lIns="0" rIns="0" tIns="0" bIns="0">
            <a:spAutoFit/>
          </a:bodyPr>
          <a:lstStyle/>
          <a:p>
            <a:pPr algn="l">
              <a:spcBef>
                <a:spcPts val="0"/>
              </a:spcBef>
              <a:spcAft>
                <a:spcPts val="400"/>
              </a:spcAft>
            </a:pPr>
            <a:r>
              <a:rPr sz="1800" b="0">
                <a:solidFill>
                  <a:srgbClr val="161B26"/>
                </a:solidFill>
                <a:latin typeface="Arial"/>
              </a:rPr>
              <a:t>kubectl logs noisy shows incrementing lines. kubectl logs crasher --previous shows crash message. Raw log file found under /var/log/pods/default_noisy_*/.</a:t>
            </a:r>
          </a:p>
        </p:txBody>
      </p:sp>
      <p:sp>
        <p:nvSpPr>
          <p:cNvPr id="10" name="TextBox 9"/>
          <p:cNvSpPr txBox="1"/>
          <p:nvPr/>
        </p:nvSpPr>
        <p:spPr>
          <a:xfrm>
            <a:off x="777240" y="4983480"/>
            <a:ext cx="10698480" cy="365760"/>
          </a:xfrm>
          <a:prstGeom prst="rect">
            <a:avLst/>
          </a:prstGeom>
          <a:noFill/>
        </p:spPr>
        <p:txBody>
          <a:bodyPr wrap="square" anchor="t" lIns="0" rIns="0" tIns="0" bIns="0">
            <a:spAutoFit/>
          </a:bodyPr>
          <a:lstStyle/>
          <a:p>
            <a:pPr algn="l">
              <a:spcBef>
                <a:spcPts val="0"/>
              </a:spcBef>
              <a:spcAft>
                <a:spcPts val="400"/>
              </a:spcAft>
            </a:pPr>
            <a:r>
              <a:rPr sz="1300" b="1">
                <a:solidFill>
                  <a:srgbClr val="10B981"/>
                </a:solidFill>
                <a:latin typeface="Arial"/>
              </a:rPr>
              <a:t>Killercoda:  </a:t>
            </a:r>
            <a:r>
              <a:rPr sz="1300" b="0">
                <a:solidFill>
                  <a:srgbClr val="5B6372"/>
                </a:solidFill>
                <a:latin typeface="Arial"/>
              </a:rPr>
              <a:t>https://killercoda.com/playgrounds/scenario/kubernetes</a:t>
            </a:r>
          </a:p>
        </p:txBody>
      </p:sp>
      <p:sp>
        <p:nvSpPr>
          <p:cNvPr id="11" name="TextBox 10"/>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244</a:t>
            </a:r>
          </a:p>
        </p:txBody>
      </p:sp>
    </p:spTree>
  </p:cSld>
  <p:clrMapOvr>
    <a:masterClrMapping/>
  </p:clrMapOvr>
</p:sld>
</file>

<file path=ppt/slides/slide2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lIns="0" rIns="0" tIns="0" bIns="0">
            <a:spAutoFit/>
          </a:bodyPr>
          <a:lstStyle/>
          <a:p>
            <a:pPr algn="l">
              <a:spcBef>
                <a:spcPts val="0"/>
              </a:spcBef>
              <a:spcAft>
                <a:spcPts val="400"/>
              </a:spcAft>
            </a:pPr>
            <a:r>
              <a:rPr sz="1600" b="1">
                <a:solidFill>
                  <a:srgbClr val="1F6FEB"/>
                </a:solidFill>
                <a:latin typeface="Arial"/>
              </a:rPr>
              <a:t>WRAP-UP</a:t>
            </a:r>
          </a:p>
        </p:txBody>
      </p:sp>
      <p:sp>
        <p:nvSpPr>
          <p:cNvPr id="5" name="TextBox 4"/>
          <p:cNvSpPr txBox="1"/>
          <p:nvPr/>
        </p:nvSpPr>
        <p:spPr>
          <a:xfrm>
            <a:off x="1005840" y="2560320"/>
            <a:ext cx="10332720" cy="2194560"/>
          </a:xfrm>
          <a:prstGeom prst="rect">
            <a:avLst/>
          </a:prstGeom>
          <a:noFill/>
        </p:spPr>
        <p:txBody>
          <a:bodyPr wrap="square" anchor="t" lIns="0" rIns="0" tIns="0" bIns="0">
            <a:spAutoFit/>
          </a:bodyPr>
          <a:lstStyle/>
          <a:p>
            <a:pPr algn="l">
              <a:spcBef>
                <a:spcPts val="0"/>
              </a:spcBef>
              <a:spcAft>
                <a:spcPts val="400"/>
              </a:spcAft>
            </a:pPr>
            <a:r>
              <a:rPr sz="3800" b="1">
                <a:solidFill>
                  <a:srgbClr val="161B26"/>
                </a:solidFill>
                <a:latin typeface="Arial"/>
              </a:rPr>
              <a:t>Day 3 done — networking, storage and component troubleshooting.</a:t>
            </a:r>
          </a:p>
        </p:txBody>
      </p:sp>
      <p:sp>
        <p:nvSpPr>
          <p:cNvPr id="6" name="TextBox 5"/>
          <p:cNvSpPr txBox="1"/>
          <p:nvPr/>
        </p:nvSpPr>
        <p:spPr>
          <a:xfrm>
            <a:off x="1024128" y="4389120"/>
            <a:ext cx="10058400" cy="1097280"/>
          </a:xfrm>
          <a:prstGeom prst="rect">
            <a:avLst/>
          </a:prstGeom>
          <a:noFill/>
        </p:spPr>
        <p:txBody>
          <a:bodyPr wrap="square" anchor="t" lIns="0" rIns="0" tIns="0" bIns="0">
            <a:spAutoFit/>
          </a:bodyPr>
          <a:lstStyle/>
          <a:p>
            <a:pPr algn="l">
              <a:spcBef>
                <a:spcPts val="0"/>
              </a:spcBef>
              <a:spcAft>
                <a:spcPts val="400"/>
              </a:spcAft>
            </a:pPr>
            <a:r>
              <a:rPr sz="2000" b="0">
                <a:solidFill>
                  <a:srgbClr val="5B6372"/>
                </a:solidFill>
                <a:latin typeface="Arial"/>
              </a:rPr>
              <a:t>Tomorrow morning: monitoring, service triage, RBAC/scheduling failures. Then mock exam and assessment.</a:t>
            </a:r>
          </a:p>
        </p:txBody>
      </p:sp>
      <p:sp>
        <p:nvSpPr>
          <p:cNvPr id="7" name="TextBox 6"/>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8" name="TextBox 7"/>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9" name="TextBox 8"/>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245</a:t>
            </a:r>
          </a:p>
        </p:txBody>
      </p:sp>
    </p:spTree>
  </p:cSld>
  <p:clrMapOvr>
    <a:masterClrMapping/>
  </p:clrMapOvr>
</p:sld>
</file>

<file path=ppt/slides/slide2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56832"/>
            <a:ext cx="12191695" cy="2011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2103120"/>
            <a:ext cx="10972800" cy="548640"/>
          </a:xfrm>
          <a:prstGeom prst="rect">
            <a:avLst/>
          </a:prstGeom>
          <a:noFill/>
        </p:spPr>
        <p:txBody>
          <a:bodyPr wrap="square" anchor="t" lIns="0" rIns="0" tIns="0" bIns="0">
            <a:spAutoFit/>
          </a:bodyPr>
          <a:lstStyle/>
          <a:p>
            <a:pPr algn="l">
              <a:spcBef>
                <a:spcPts val="0"/>
              </a:spcBef>
              <a:spcAft>
                <a:spcPts val="400"/>
              </a:spcAft>
            </a:pPr>
            <a:r>
              <a:rPr sz="1600" b="1">
                <a:solidFill>
                  <a:srgbClr val="1F6FEB"/>
                </a:solidFill>
                <a:latin typeface="Arial"/>
              </a:rPr>
              <a:t>COURSE SLIDES</a:t>
            </a:r>
          </a:p>
        </p:txBody>
      </p:sp>
      <p:sp>
        <p:nvSpPr>
          <p:cNvPr id="6" name="TextBox 5"/>
          <p:cNvSpPr txBox="1"/>
          <p:nvPr/>
        </p:nvSpPr>
        <p:spPr>
          <a:xfrm>
            <a:off x="822960" y="2606040"/>
            <a:ext cx="10972800" cy="1737360"/>
          </a:xfrm>
          <a:prstGeom prst="rect">
            <a:avLst/>
          </a:prstGeom>
          <a:noFill/>
        </p:spPr>
        <p:txBody>
          <a:bodyPr wrap="square" anchor="t" lIns="0" rIns="0" tIns="0" bIns="0">
            <a:spAutoFit/>
          </a:bodyPr>
          <a:lstStyle/>
          <a:p>
            <a:pPr algn="l">
              <a:spcBef>
                <a:spcPts val="0"/>
              </a:spcBef>
              <a:spcAft>
                <a:spcPts val="400"/>
              </a:spcAft>
            </a:pPr>
            <a:r>
              <a:rPr sz="4400" b="1">
                <a:solidFill>
                  <a:srgbClr val="161B26"/>
                </a:solidFill>
                <a:latin typeface="Arial"/>
              </a:rPr>
              <a:t>Certified Kubernetes Administrator (CKA)</a:t>
            </a:r>
          </a:p>
        </p:txBody>
      </p:sp>
      <p:sp>
        <p:nvSpPr>
          <p:cNvPr id="7" name="Rectangle 6"/>
          <p:cNvSpPr/>
          <p:nvPr/>
        </p:nvSpPr>
        <p:spPr>
          <a:xfrm>
            <a:off x="841248" y="4526280"/>
            <a:ext cx="2194560" cy="5486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4800600"/>
            <a:ext cx="10972800" cy="1280160"/>
          </a:xfrm>
          <a:prstGeom prst="rect">
            <a:avLst/>
          </a:prstGeom>
          <a:noFill/>
        </p:spPr>
        <p:txBody>
          <a:bodyPr wrap="square" anchor="t" lIns="0" rIns="0" tIns="0" bIns="0">
            <a:spAutoFit/>
          </a:bodyPr>
          <a:lstStyle/>
          <a:p>
            <a:pPr algn="l">
              <a:spcBef>
                <a:spcPts val="0"/>
              </a:spcBef>
              <a:spcAft>
                <a:spcPts val="600"/>
              </a:spcAft>
            </a:pPr>
            <a:r>
              <a:rPr sz="1600" b="0">
                <a:solidFill>
                  <a:srgbClr val="5B6372"/>
                </a:solidFill>
                <a:latin typeface="Arial"/>
              </a:rPr>
              <a:t>WSQ Course Code: TGS-2025054612</a:t>
            </a:r>
          </a:p>
          <a:p>
            <a:pPr algn="l">
              <a:spcBef>
                <a:spcPts val="0"/>
              </a:spcBef>
              <a:spcAft>
                <a:spcPts val="600"/>
              </a:spcAft>
            </a:pPr>
            <a:r>
              <a:rPr sz="1400" b="0">
                <a:solidFill>
                  <a:srgbClr val="5B6372"/>
                </a:solidFill>
                <a:latin typeface="Arial"/>
              </a:rPr>
              <a:t>Conducted by Tertiary Infotech Academy Pte Ltd  ·  UEN 201200696W</a:t>
            </a:r>
          </a:p>
        </p:txBody>
      </p:sp>
      <p:sp>
        <p:nvSpPr>
          <p:cNvPr id="9" name="TextBox 8"/>
          <p:cNvSpPr txBox="1"/>
          <p:nvPr/>
        </p:nvSpPr>
        <p:spPr>
          <a:xfrm>
            <a:off x="822960" y="6126480"/>
            <a:ext cx="10972800" cy="310896"/>
          </a:xfrm>
          <a:prstGeom prst="rect">
            <a:avLst/>
          </a:prstGeom>
          <a:noFill/>
        </p:spPr>
        <p:txBody>
          <a:bodyPr wrap="square" anchor="t" lIns="0" rIns="0" tIns="0" bIns="0">
            <a:spAutoFit/>
          </a:bodyPr>
          <a:lstStyle/>
          <a:p>
            <a:pPr algn="l">
              <a:spcBef>
                <a:spcPts val="0"/>
              </a:spcBef>
              <a:spcAft>
                <a:spcPts val="400"/>
              </a:spcAft>
            </a:pPr>
            <a:r>
              <a:rPr sz="1000" b="0">
                <a:solidFill>
                  <a:srgbClr val="5B6372"/>
                </a:solidFill>
                <a:latin typeface="Arial"/>
              </a:rPr>
              <a:t>© 2026 Tertiary Infotech Academy Pte Ltd. All rights reserved.  ·  www.tertiarycourses.com.sg</a:t>
            </a:r>
          </a:p>
        </p:txBody>
      </p:sp>
    </p:spTree>
  </p:cSld>
  <p:clrMapOvr>
    <a:masterClrMapping/>
  </p:clrMapOvr>
</p:sld>
</file>

<file path=ppt/slides/slide2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lIns="0" rIns="0" tIns="0" bIns="0">
            <a:spAutoFit/>
          </a:bodyPr>
          <a:lstStyle/>
          <a:p>
            <a:pPr algn="l">
              <a:spcBef>
                <a:spcPts val="0"/>
              </a:spcBef>
              <a:spcAft>
                <a:spcPts val="400"/>
              </a:spcAft>
            </a:pPr>
            <a:r>
              <a:rPr sz="1800" b="1">
                <a:solidFill>
                  <a:srgbClr val="1F6FEB"/>
                </a:solidFill>
                <a:latin typeface="Arial"/>
              </a:rPr>
              <a:t>DAY 4  (½ day)</a:t>
            </a:r>
          </a:p>
        </p:txBody>
      </p:sp>
      <p:sp>
        <p:nvSpPr>
          <p:cNvPr id="6" name="TextBox 5"/>
          <p:cNvSpPr txBox="1"/>
          <p:nvPr/>
        </p:nvSpPr>
        <p:spPr>
          <a:xfrm>
            <a:off x="1143000" y="2743200"/>
            <a:ext cx="10424160" cy="1463040"/>
          </a:xfrm>
          <a:prstGeom prst="rect">
            <a:avLst/>
          </a:prstGeom>
          <a:noFill/>
        </p:spPr>
        <p:txBody>
          <a:bodyPr wrap="square" anchor="t" lIns="0" rIns="0" tIns="0" bIns="0">
            <a:spAutoFit/>
          </a:bodyPr>
          <a:lstStyle/>
          <a:p>
            <a:pPr algn="l">
              <a:spcBef>
                <a:spcPts val="0"/>
              </a:spcBef>
              <a:spcAft>
                <a:spcPts val="400"/>
              </a:spcAft>
            </a:pPr>
            <a:r>
              <a:rPr sz="4000" b="1">
                <a:solidFill>
                  <a:srgbClr val="161B26"/>
                </a:solidFill>
                <a:latin typeface="Arial"/>
              </a:rPr>
              <a:t>Monitoring, Service Networking &amp; Troubleshooting</a:t>
            </a:r>
          </a:p>
        </p:txBody>
      </p:sp>
      <p:sp>
        <p:nvSpPr>
          <p:cNvPr id="7" name="TextBox 6"/>
          <p:cNvSpPr txBox="1"/>
          <p:nvPr/>
        </p:nvSpPr>
        <p:spPr>
          <a:xfrm>
            <a:off x="1161288" y="4114800"/>
            <a:ext cx="10058400" cy="731520"/>
          </a:xfrm>
          <a:prstGeom prst="rect">
            <a:avLst/>
          </a:prstGeom>
          <a:noFill/>
        </p:spPr>
        <p:txBody>
          <a:bodyPr wrap="square" anchor="t" lIns="0" rIns="0" tIns="0" bIns="0">
            <a:spAutoFit/>
          </a:bodyPr>
          <a:lstStyle/>
          <a:p>
            <a:pPr algn="l">
              <a:spcBef>
                <a:spcPts val="0"/>
              </a:spcBef>
              <a:spcAft>
                <a:spcPts val="400"/>
              </a:spcAft>
            </a:pPr>
            <a:r>
              <a:rPr sz="1600" b="0">
                <a:solidFill>
                  <a:srgbClr val="5B6372"/>
                </a:solidFill>
                <a:latin typeface="Arial"/>
              </a:rPr>
              <a:t>Domain 5 final — Labs 29–31  ·  Then: 12PM lunch · 1PM mock exam · 3:30PM tea · 3:45PM assessment</a:t>
            </a:r>
          </a:p>
        </p:txBody>
      </p:sp>
      <p:sp>
        <p:nvSpPr>
          <p:cNvPr id="8" name="TextBox 7"/>
          <p:cNvSpPr txBox="1"/>
          <p:nvPr/>
        </p:nvSpPr>
        <p:spPr>
          <a:xfrm>
            <a:off x="9418320" y="640080"/>
            <a:ext cx="2286000" cy="1463040"/>
          </a:xfrm>
          <a:prstGeom prst="rect">
            <a:avLst/>
          </a:prstGeom>
          <a:noFill/>
        </p:spPr>
        <p:txBody>
          <a:bodyPr wrap="square" anchor="t" lIns="0" rIns="0" tIns="0" bIns="0">
            <a:spAutoFit/>
          </a:bodyPr>
          <a:lstStyle/>
          <a:p>
            <a:pPr algn="r">
              <a:spcBef>
                <a:spcPts val="0"/>
              </a:spcBef>
              <a:spcAft>
                <a:spcPts val="400"/>
              </a:spcAft>
            </a:pPr>
            <a:r>
              <a:rPr sz="7200" b="1">
                <a:solidFill>
                  <a:srgbClr val="E2E8F0"/>
                </a:solidFill>
                <a:latin typeface="Arial"/>
              </a:rPr>
              <a:t>04</a:t>
            </a:r>
          </a:p>
        </p:txBody>
      </p:sp>
      <p:sp>
        <p:nvSpPr>
          <p:cNvPr id="9" name="TextBox 8"/>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0" name="TextBox 9"/>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1" name="TextBox 10"/>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246</a:t>
            </a:r>
          </a:p>
        </p:txBody>
      </p:sp>
    </p:spTree>
  </p:cSld>
  <p:clrMapOvr>
    <a:masterClrMapping/>
  </p:clrMapOvr>
</p:sld>
</file>

<file path=ppt/slides/slide2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TRAQOM · SSG DIGITAL ATTENDANCE</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Digital Attendance (Mandatory)</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828800"/>
            <a:ext cx="5760720" cy="3840480"/>
          </a:xfrm>
          <a:prstGeom prst="rect">
            <a:avLst/>
          </a:prstGeom>
          <a:noFill/>
        </p:spPr>
        <p:txBody>
          <a:bodyPr wrap="square" lIns="0" rIns="0">
            <a:spAutoFit/>
          </a:bodyPr>
          <a:lstStyle/>
          <a:p>
            <a:pPr>
              <a:spcBef>
                <a:spcPts val="0"/>
              </a:spcBef>
              <a:spcAft>
                <a:spcPts val="1400"/>
              </a:spcAft>
            </a:pPr>
            <a:r>
              <a:rPr sz="1600" b="1">
                <a:solidFill>
                  <a:srgbClr val="1F6FEB"/>
                </a:solidFill>
                <a:latin typeface="Arial"/>
              </a:rPr>
              <a:t>•  </a:t>
            </a:r>
            <a:r>
              <a:rPr sz="1600">
                <a:solidFill>
                  <a:srgbClr val="161B26"/>
                </a:solidFill>
                <a:latin typeface="Arial"/>
              </a:rPr>
              <a:t>It is mandatory to take the AM, PM and Assessment digital attendance for WSQ-funded courses.</a:t>
            </a:r>
          </a:p>
          <a:p>
            <a:pPr>
              <a:spcBef>
                <a:spcPts val="0"/>
              </a:spcBef>
              <a:spcAft>
                <a:spcPts val="1400"/>
              </a:spcAft>
            </a:pPr>
            <a:r>
              <a:rPr sz="1600" b="1">
                <a:solidFill>
                  <a:srgbClr val="1F6FEB"/>
                </a:solidFill>
                <a:latin typeface="Arial"/>
              </a:rPr>
              <a:t>•  </a:t>
            </a:r>
            <a:r>
              <a:rPr sz="1600">
                <a:solidFill>
                  <a:srgbClr val="161B26"/>
                </a:solidFill>
                <a:latin typeface="Arial"/>
              </a:rPr>
              <a:t>The trainer displays the digital attendance QR code from the SSG portal.</a:t>
            </a:r>
          </a:p>
          <a:p>
            <a:pPr>
              <a:spcBef>
                <a:spcPts val="0"/>
              </a:spcBef>
              <a:spcAft>
                <a:spcPts val="1400"/>
              </a:spcAft>
            </a:pPr>
            <a:r>
              <a:rPr sz="1600" b="1">
                <a:solidFill>
                  <a:srgbClr val="1F6FEB"/>
                </a:solidFill>
                <a:latin typeface="Arial"/>
              </a:rPr>
              <a:t>•  </a:t>
            </a:r>
            <a:r>
              <a:rPr sz="1600">
                <a:solidFill>
                  <a:srgbClr val="161B26"/>
                </a:solidFill>
                <a:latin typeface="Arial"/>
              </a:rPr>
              <a:t>Scan the QR code with your phone camera and submit your attendance.</a:t>
            </a:r>
          </a:p>
          <a:p>
            <a:pPr>
              <a:spcBef>
                <a:spcPts val="0"/>
              </a:spcBef>
              <a:spcAft>
                <a:spcPts val="1400"/>
              </a:spcAft>
            </a:pPr>
            <a:r>
              <a:rPr sz="1600" b="1">
                <a:solidFill>
                  <a:srgbClr val="1F6FEB"/>
                </a:solidFill>
                <a:latin typeface="Arial"/>
              </a:rPr>
              <a:t>•  </a:t>
            </a:r>
            <a:r>
              <a:rPr sz="1600">
                <a:solidFill>
                  <a:srgbClr val="161B26"/>
                </a:solidFill>
                <a:latin typeface="Arial"/>
              </a:rPr>
              <a:t>A minimum of 75% attendance is required for assessment and funding.</a:t>
            </a:r>
          </a:p>
        </p:txBody>
      </p:sp>
      <p:sp>
        <p:nvSpPr>
          <p:cNvPr id="8" name="Rounded Rectangle 7"/>
          <p:cNvSpPr/>
          <p:nvPr/>
        </p:nvSpPr>
        <p:spPr>
          <a:xfrm>
            <a:off x="6903720" y="1828800"/>
            <a:ext cx="4389120" cy="2743200"/>
          </a:xfrm>
          <a:prstGeom prst="roundRect">
            <a:avLst>
              <a:gd name="adj" fmla="val 5000"/>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595360" y="2148840"/>
            <a:ext cx="1005840" cy="10058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ic_attend.png"/>
          <p:cNvPicPr>
            <a:picLocks noChangeAspect="1"/>
          </p:cNvPicPr>
          <p:nvPr/>
        </p:nvPicPr>
        <p:blipFill>
          <a:blip r:embed="rId2"/>
          <a:stretch>
            <a:fillRect/>
          </a:stretch>
        </p:blipFill>
        <p:spPr>
          <a:xfrm>
            <a:off x="8866936" y="2420416"/>
            <a:ext cx="462688" cy="462688"/>
          </a:xfrm>
          <a:prstGeom prst="rect">
            <a:avLst/>
          </a:prstGeom>
        </p:spPr>
      </p:pic>
      <p:sp>
        <p:nvSpPr>
          <p:cNvPr id="11" name="TextBox 10"/>
          <p:cNvSpPr txBox="1"/>
          <p:nvPr/>
        </p:nvSpPr>
        <p:spPr>
          <a:xfrm>
            <a:off x="7178040" y="3337560"/>
            <a:ext cx="3840480" cy="1097280"/>
          </a:xfrm>
          <a:prstGeom prst="rect">
            <a:avLst/>
          </a:prstGeom>
          <a:noFill/>
        </p:spPr>
        <p:txBody>
          <a:bodyPr wrap="square" anchor="t" lIns="0" rIns="0" tIns="0" bIns="0">
            <a:spAutoFit/>
          </a:bodyPr>
          <a:lstStyle/>
          <a:p>
            <a:pPr algn="ctr">
              <a:spcBef>
                <a:spcPts val="0"/>
              </a:spcBef>
              <a:spcAft>
                <a:spcPts val="200"/>
              </a:spcAft>
            </a:pPr>
            <a:r>
              <a:rPr sz="2600" b="1">
                <a:solidFill>
                  <a:srgbClr val="1F6FEB"/>
                </a:solidFill>
                <a:latin typeface="Arial"/>
              </a:rPr>
              <a:t>Minimum 75%</a:t>
            </a:r>
          </a:p>
          <a:p>
            <a:pPr algn="ctr">
              <a:spcBef>
                <a:spcPts val="0"/>
              </a:spcBef>
              <a:spcAft>
                <a:spcPts val="200"/>
              </a:spcAft>
            </a:pPr>
            <a:r>
              <a:rPr sz="2600" b="1">
                <a:solidFill>
                  <a:srgbClr val="1F6FEB"/>
                </a:solidFill>
                <a:latin typeface="Arial"/>
              </a:rPr>
              <a:t>attendance required</a:t>
            </a:r>
          </a:p>
        </p:txBody>
      </p:sp>
      <p:sp>
        <p:nvSpPr>
          <p:cNvPr id="12" name="TextBox 11"/>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3" name="TextBox 12"/>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4" name="TextBox 13"/>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247</a:t>
            </a:r>
          </a:p>
        </p:txBody>
      </p:sp>
    </p:spTree>
  </p:cSld>
  <p:clrMapOvr>
    <a:masterClrMapping/>
  </p:clrMapOvr>
</p:sld>
</file>

<file path=ppt/slides/slide2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DAY 4 OBJECTIVES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Recap &amp; Today</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07040" cy="4480560"/>
          </a:xfrm>
          <a:prstGeom prst="rect">
            <a:avLst/>
          </a:prstGeom>
          <a:noFill/>
        </p:spPr>
        <p:txBody>
          <a:bodyPr wrap="square" lIns="0" rIns="0">
            <a:spAutoFit/>
          </a:bodyPr>
          <a:lstStyle/>
          <a:p>
            <a:pPr>
              <a:spcBef>
                <a:spcPts val="0"/>
              </a:spcBef>
              <a:spcAft>
                <a:spcPts val="1000"/>
              </a:spcAft>
            </a:pPr>
            <a:r>
              <a:rPr sz="1900" b="1">
                <a:solidFill>
                  <a:srgbClr val="1F6FEB"/>
                </a:solidFill>
                <a:latin typeface="Arial"/>
              </a:rPr>
              <a:t>•  </a:t>
            </a:r>
            <a:r>
              <a:rPr sz="1900">
                <a:solidFill>
                  <a:srgbClr val="161B26"/>
                </a:solidFill>
                <a:latin typeface="Arial"/>
              </a:rPr>
              <a:t>Three days of training done — Cluster Architecture, Workloads, Networking, Storage and Troubleshooting.</a:t>
            </a:r>
          </a:p>
          <a:p>
            <a:pPr>
              <a:spcBef>
                <a:spcPts val="0"/>
              </a:spcBef>
              <a:spcAft>
                <a:spcPts val="1000"/>
              </a:spcAft>
            </a:pPr>
            <a:r>
              <a:rPr sz="1900" b="1">
                <a:solidFill>
                  <a:srgbClr val="1F6FEB"/>
                </a:solidFill>
                <a:latin typeface="Arial"/>
              </a:rPr>
              <a:t>•  </a:t>
            </a:r>
            <a:r>
              <a:rPr sz="1900">
                <a:solidFill>
                  <a:srgbClr val="161B26"/>
                </a:solidFill>
                <a:latin typeface="Arial"/>
              </a:rPr>
              <a:t>This morning — Domain 5 final: monitoring cluster usage, service networking triage, RBAC &amp; scheduling failures.</a:t>
            </a:r>
          </a:p>
          <a:p>
            <a:pPr>
              <a:spcBef>
                <a:spcPts val="0"/>
              </a:spcBef>
              <a:spcAft>
                <a:spcPts val="1000"/>
              </a:spcAft>
            </a:pPr>
            <a:r>
              <a:rPr sz="1900" b="1">
                <a:solidFill>
                  <a:srgbClr val="1F6FEB"/>
                </a:solidFill>
                <a:latin typeface="Arial"/>
              </a:rPr>
              <a:t>•  </a:t>
            </a:r>
            <a:r>
              <a:rPr sz="1900">
                <a:solidFill>
                  <a:srgbClr val="161B26"/>
                </a:solidFill>
                <a:latin typeface="Arial"/>
              </a:rPr>
              <a:t>Labs 29–31 complete the 31-lab CKA curriculum.</a:t>
            </a:r>
          </a:p>
          <a:p>
            <a:pPr>
              <a:spcBef>
                <a:spcPts val="0"/>
              </a:spcBef>
              <a:spcAft>
                <a:spcPts val="1000"/>
              </a:spcAft>
            </a:pPr>
            <a:r>
              <a:rPr sz="1900" b="1">
                <a:solidFill>
                  <a:srgbClr val="1F6FEB"/>
                </a:solidFill>
                <a:latin typeface="Arial"/>
              </a:rPr>
              <a:t>•  </a:t>
            </a:r>
            <a:r>
              <a:rPr sz="1900">
                <a:solidFill>
                  <a:srgbClr val="161B26"/>
                </a:solidFill>
                <a:latin typeface="Arial"/>
              </a:rPr>
              <a:t>From 1:00 PM — mock-exam practice on Killercoda; final written assessment from 3:45 PM.</a:t>
            </a:r>
          </a:p>
        </p:txBody>
      </p:sp>
      <p:sp>
        <p:nvSpPr>
          <p:cNvPr id="8" name="TextBox 7"/>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9" name="TextBox 8"/>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248</a:t>
            </a:r>
          </a:p>
        </p:txBody>
      </p:sp>
    </p:spTree>
  </p:cSld>
  <p:clrMapOvr>
    <a:masterClrMapping/>
  </p:clrMapOvr>
</p:sld>
</file>

<file path=ppt/slides/slide2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lIns="0" rIns="0" tIns="0" bIns="0">
            <a:spAutoFit/>
          </a:bodyPr>
          <a:lstStyle/>
          <a:p>
            <a:pPr algn="l">
              <a:spcBef>
                <a:spcPts val="0"/>
              </a:spcBef>
              <a:spcAft>
                <a:spcPts val="400"/>
              </a:spcAft>
            </a:pPr>
            <a:r>
              <a:rPr sz="1800" b="1">
                <a:solidFill>
                  <a:srgbClr val="1F6FEB"/>
                </a:solidFill>
                <a:latin typeface="Arial"/>
              </a:rPr>
              <a:t>TOPIC 1</a:t>
            </a:r>
          </a:p>
        </p:txBody>
      </p:sp>
      <p:sp>
        <p:nvSpPr>
          <p:cNvPr id="6" name="TextBox 5"/>
          <p:cNvSpPr txBox="1"/>
          <p:nvPr/>
        </p:nvSpPr>
        <p:spPr>
          <a:xfrm>
            <a:off x="1143000" y="2743200"/>
            <a:ext cx="10424160" cy="1463040"/>
          </a:xfrm>
          <a:prstGeom prst="rect">
            <a:avLst/>
          </a:prstGeom>
          <a:noFill/>
        </p:spPr>
        <p:txBody>
          <a:bodyPr wrap="square" anchor="t" lIns="0" rIns="0" tIns="0" bIns="0">
            <a:spAutoFit/>
          </a:bodyPr>
          <a:lstStyle/>
          <a:p>
            <a:pPr algn="l">
              <a:spcBef>
                <a:spcPts val="0"/>
              </a:spcBef>
              <a:spcAft>
                <a:spcPts val="400"/>
              </a:spcAft>
            </a:pPr>
            <a:r>
              <a:rPr sz="4000" b="1">
                <a:solidFill>
                  <a:srgbClr val="161B26"/>
                </a:solidFill>
                <a:latin typeface="Arial"/>
              </a:rPr>
              <a:t>Monitoring Cluster Usage</a:t>
            </a:r>
          </a:p>
        </p:txBody>
      </p:sp>
      <p:sp>
        <p:nvSpPr>
          <p:cNvPr id="7" name="TextBox 6"/>
          <p:cNvSpPr txBox="1"/>
          <p:nvPr/>
        </p:nvSpPr>
        <p:spPr>
          <a:xfrm>
            <a:off x="1161288" y="4114800"/>
            <a:ext cx="10058400" cy="731520"/>
          </a:xfrm>
          <a:prstGeom prst="rect">
            <a:avLst/>
          </a:prstGeom>
          <a:noFill/>
        </p:spPr>
        <p:txBody>
          <a:bodyPr wrap="square" anchor="t" lIns="0" rIns="0" tIns="0" bIns="0">
            <a:spAutoFit/>
          </a:bodyPr>
          <a:lstStyle/>
          <a:p>
            <a:pPr algn="l">
              <a:spcBef>
                <a:spcPts val="0"/>
              </a:spcBef>
              <a:spcAft>
                <a:spcPts val="400"/>
              </a:spcAft>
            </a:pPr>
            <a:r>
              <a:rPr sz="1600" b="0">
                <a:solidFill>
                  <a:srgbClr val="5B6372"/>
                </a:solidFill>
                <a:latin typeface="Arial"/>
              </a:rPr>
              <a:t>metrics-server, kubectl top and cluster events</a:t>
            </a:r>
          </a:p>
        </p:txBody>
      </p:sp>
      <p:sp>
        <p:nvSpPr>
          <p:cNvPr id="8" name="TextBox 7"/>
          <p:cNvSpPr txBox="1"/>
          <p:nvPr/>
        </p:nvSpPr>
        <p:spPr>
          <a:xfrm>
            <a:off x="9418320" y="640080"/>
            <a:ext cx="2286000" cy="1463040"/>
          </a:xfrm>
          <a:prstGeom prst="rect">
            <a:avLst/>
          </a:prstGeom>
          <a:noFill/>
        </p:spPr>
        <p:txBody>
          <a:bodyPr wrap="square" anchor="t" lIns="0" rIns="0" tIns="0" bIns="0">
            <a:spAutoFit/>
          </a:bodyPr>
          <a:lstStyle/>
          <a:p>
            <a:pPr algn="r">
              <a:spcBef>
                <a:spcPts val="0"/>
              </a:spcBef>
              <a:spcAft>
                <a:spcPts val="400"/>
              </a:spcAft>
            </a:pPr>
            <a:r>
              <a:rPr sz="7200" b="1">
                <a:solidFill>
                  <a:srgbClr val="E2E8F0"/>
                </a:solidFill>
                <a:latin typeface="Arial"/>
              </a:rPr>
              <a:t/>
            </a:r>
          </a:p>
        </p:txBody>
      </p:sp>
      <p:sp>
        <p:nvSpPr>
          <p:cNvPr id="9" name="TextBox 8"/>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0" name="TextBox 9"/>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1" name="TextBox 10"/>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249</a:t>
            </a:r>
          </a:p>
        </p:txBody>
      </p:sp>
    </p:spTree>
  </p:cSld>
  <p:clrMapOvr>
    <a:masterClrMapping/>
  </p:clrMapOvr>
</p:sld>
</file>

<file path=ppt/slides/slide2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OBSERVABILITY</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Cluster Metrics</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07040" cy="4480560"/>
          </a:xfrm>
          <a:prstGeom prst="rect">
            <a:avLst/>
          </a:prstGeom>
          <a:noFill/>
        </p:spPr>
        <p:txBody>
          <a:bodyPr wrap="square" lIns="0" rIns="0">
            <a:spAutoFit/>
          </a:bodyPr>
          <a:lstStyle/>
          <a:p>
            <a:pPr>
              <a:spcBef>
                <a:spcPts val="0"/>
              </a:spcBef>
              <a:spcAft>
                <a:spcPts val="1000"/>
              </a:spcAft>
            </a:pPr>
            <a:r>
              <a:rPr sz="1900" b="1">
                <a:solidFill>
                  <a:srgbClr val="1F6FEB"/>
                </a:solidFill>
                <a:latin typeface="Arial"/>
              </a:rPr>
              <a:t>•  </a:t>
            </a:r>
            <a:r>
              <a:rPr sz="1900">
                <a:solidFill>
                  <a:srgbClr val="161B26"/>
                </a:solidFill>
                <a:latin typeface="Arial"/>
              </a:rPr>
              <a:t>metrics-server scrapes each kubelet's cAdvisor and exposes the aggregated Metrics API (metrics.k8s.io).</a:t>
            </a:r>
          </a:p>
          <a:p>
            <a:pPr>
              <a:spcBef>
                <a:spcPts val="0"/>
              </a:spcBef>
              <a:spcAft>
                <a:spcPts val="1000"/>
              </a:spcAft>
            </a:pPr>
            <a:r>
              <a:rPr sz="1900" b="1">
                <a:solidFill>
                  <a:srgbClr val="1F6FEB"/>
                </a:solidFill>
                <a:latin typeface="Arial"/>
              </a:rPr>
              <a:t>•  </a:t>
            </a:r>
            <a:r>
              <a:rPr sz="1900">
                <a:solidFill>
                  <a:srgbClr val="161B26"/>
                </a:solidFill>
                <a:latin typeface="Arial"/>
              </a:rPr>
              <a:t>kubectl top nodes and kubectl top pods show live CPU and memory; --sort-by=cpu/memory ranks results.</a:t>
            </a:r>
          </a:p>
          <a:p>
            <a:pPr>
              <a:spcBef>
                <a:spcPts val="0"/>
              </a:spcBef>
              <a:spcAft>
                <a:spcPts val="1000"/>
              </a:spcAft>
            </a:pPr>
            <a:r>
              <a:rPr sz="1900" b="1">
                <a:solidFill>
                  <a:srgbClr val="1F6FEB"/>
                </a:solidFill>
                <a:latin typeface="Arial"/>
              </a:rPr>
              <a:t>•  </a:t>
            </a:r>
            <a:r>
              <a:rPr sz="1900">
                <a:solidFill>
                  <a:srgbClr val="161B26"/>
                </a:solidFill>
                <a:latin typeface="Arial"/>
              </a:rPr>
              <a:t>kubectl get events --sort-by=.lastTimestamp -A provides a ~1-hour cluster-wide event timeline.</a:t>
            </a:r>
          </a:p>
          <a:p>
            <a:pPr>
              <a:spcBef>
                <a:spcPts val="0"/>
              </a:spcBef>
              <a:spcAft>
                <a:spcPts val="1000"/>
              </a:spcAft>
            </a:pPr>
            <a:r>
              <a:rPr sz="1900" b="1">
                <a:solidFill>
                  <a:srgbClr val="1F6FEB"/>
                </a:solidFill>
                <a:latin typeface="Arial"/>
              </a:rPr>
              <a:t>•  </a:t>
            </a:r>
            <a:r>
              <a:rPr sz="1900">
                <a:solidFill>
                  <a:srgbClr val="161B26"/>
                </a:solidFill>
                <a:latin typeface="Arial"/>
              </a:rPr>
              <a:t>kubectl describe node shows capacity vs allocatable vs requested — essential for scheduling failures.</a:t>
            </a:r>
          </a:p>
        </p:txBody>
      </p:sp>
      <p:sp>
        <p:nvSpPr>
          <p:cNvPr id="8" name="TextBox 7"/>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9" name="TextBox 8"/>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250</a:t>
            </a:r>
          </a:p>
        </p:txBody>
      </p:sp>
    </p:spTree>
  </p:cSld>
  <p:clrMapOvr>
    <a:masterClrMapping/>
  </p:clrMapOvr>
</p:sld>
</file>

<file path=ppt/slides/slide2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DOMAIN 5  ·  OBSERVABILITY</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Monitoring — Metrics, Events &amp; Node Health</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1874519"/>
            <a:ext cx="10652760" cy="841248"/>
          </a:xfrm>
          <a:prstGeom prst="roundRect">
            <a:avLst>
              <a:gd name="adj" fmla="val 5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74519"/>
            <a:ext cx="109728" cy="8412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874519"/>
            <a:ext cx="3840480" cy="841248"/>
          </a:xfrm>
          <a:prstGeom prst="rect">
            <a:avLst/>
          </a:prstGeom>
          <a:noFill/>
        </p:spPr>
        <p:txBody>
          <a:bodyPr wrap="square" anchor="ctr" lIns="0" rIns="0" tIns="0" bIns="0">
            <a:spAutoFit/>
          </a:bodyPr>
          <a:lstStyle/>
          <a:p>
            <a:pPr algn="l">
              <a:spcBef>
                <a:spcPts val="0"/>
              </a:spcBef>
              <a:spcAft>
                <a:spcPts val="300"/>
              </a:spcAft>
            </a:pPr>
            <a:r>
              <a:rPr sz="1500" b="1">
                <a:solidFill>
                  <a:srgbClr val="1F6FEB"/>
                </a:solidFill>
                <a:latin typeface="Arial"/>
              </a:rPr>
              <a:t>kubectl top nodes/pods</a:t>
            </a:r>
          </a:p>
          <a:p>
            <a:pPr algn="l">
              <a:spcBef>
                <a:spcPts val="0"/>
              </a:spcBef>
              <a:spcAft>
                <a:spcPts val="300"/>
              </a:spcAft>
            </a:pPr>
            <a:r>
              <a:rPr sz="1200" b="0">
                <a:solidFill>
                  <a:srgbClr val="5B6372"/>
                </a:solidFill>
                <a:latin typeface="Arial"/>
              </a:rPr>
              <a:t>metrics-server → Metrics API (metrics.k8s.io)</a:t>
            </a:r>
          </a:p>
        </p:txBody>
      </p:sp>
      <p:sp>
        <p:nvSpPr>
          <p:cNvPr id="10" name="Right Arrow 9"/>
          <p:cNvSpPr/>
          <p:nvPr/>
        </p:nvSpPr>
        <p:spPr>
          <a:xfrm>
            <a:off x="5074920" y="2130551"/>
            <a:ext cx="640080" cy="329184"/>
          </a:xfrm>
          <a:prstGeom prst="rightArrow">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989320" y="1874519"/>
            <a:ext cx="5349240" cy="841248"/>
          </a:xfrm>
          <a:prstGeom prst="rect">
            <a:avLst/>
          </a:prstGeom>
          <a:noFill/>
        </p:spPr>
        <p:txBody>
          <a:bodyPr wrap="square" anchor="ctr" lIns="0" rIns="0" tIns="0" bIns="0">
            <a:spAutoFit/>
          </a:bodyPr>
          <a:lstStyle/>
          <a:p>
            <a:pPr algn="l">
              <a:spcBef>
                <a:spcPts val="0"/>
              </a:spcBef>
              <a:spcAft>
                <a:spcPts val="400"/>
              </a:spcAft>
            </a:pPr>
            <a:r>
              <a:rPr sz="1400" b="0">
                <a:solidFill>
                  <a:srgbClr val="161B26"/>
                </a:solidFill>
                <a:latin typeface="Arial"/>
              </a:rPr>
              <a:t>Live CPU &amp; memory usage. --sort-by=cpu/memory ranks results. Needs metrics-server running.</a:t>
            </a:r>
          </a:p>
        </p:txBody>
      </p:sp>
      <p:sp>
        <p:nvSpPr>
          <p:cNvPr id="12" name="Rounded Rectangle 11"/>
          <p:cNvSpPr/>
          <p:nvPr/>
        </p:nvSpPr>
        <p:spPr>
          <a:xfrm>
            <a:off x="777240" y="2807207"/>
            <a:ext cx="10652760" cy="841248"/>
          </a:xfrm>
          <a:prstGeom prst="roundRect">
            <a:avLst>
              <a:gd name="adj" fmla="val 5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807207"/>
            <a:ext cx="109728" cy="8412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97280" y="2807207"/>
            <a:ext cx="3840480" cy="841248"/>
          </a:xfrm>
          <a:prstGeom prst="rect">
            <a:avLst/>
          </a:prstGeom>
          <a:noFill/>
        </p:spPr>
        <p:txBody>
          <a:bodyPr wrap="square" anchor="ctr" lIns="0" rIns="0" tIns="0" bIns="0">
            <a:spAutoFit/>
          </a:bodyPr>
          <a:lstStyle/>
          <a:p>
            <a:pPr algn="l">
              <a:spcBef>
                <a:spcPts val="0"/>
              </a:spcBef>
              <a:spcAft>
                <a:spcPts val="300"/>
              </a:spcAft>
            </a:pPr>
            <a:r>
              <a:rPr sz="1500" b="1">
                <a:solidFill>
                  <a:srgbClr val="10B981"/>
                </a:solidFill>
                <a:latin typeface="Arial"/>
              </a:rPr>
              <a:t>kubectl describe node</a:t>
            </a:r>
          </a:p>
          <a:p>
            <a:pPr algn="l">
              <a:spcBef>
                <a:spcPts val="0"/>
              </a:spcBef>
              <a:spcAft>
                <a:spcPts val="300"/>
              </a:spcAft>
            </a:pPr>
            <a:r>
              <a:rPr sz="1200" b="0">
                <a:solidFill>
                  <a:srgbClr val="5B6372"/>
                </a:solidFill>
                <a:latin typeface="Arial"/>
              </a:rPr>
              <a:t>capacity vs allocatable vs requests + Taints + Conditions</a:t>
            </a:r>
          </a:p>
        </p:txBody>
      </p:sp>
      <p:sp>
        <p:nvSpPr>
          <p:cNvPr id="15" name="Right Arrow 14"/>
          <p:cNvSpPr/>
          <p:nvPr/>
        </p:nvSpPr>
        <p:spPr>
          <a:xfrm>
            <a:off x="5074920" y="3063239"/>
            <a:ext cx="640080" cy="329184"/>
          </a:xfrm>
          <a:prstGeom prst="rightArrow">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989320" y="2807207"/>
            <a:ext cx="5349240" cy="841248"/>
          </a:xfrm>
          <a:prstGeom prst="rect">
            <a:avLst/>
          </a:prstGeom>
          <a:noFill/>
        </p:spPr>
        <p:txBody>
          <a:bodyPr wrap="square" anchor="ctr" lIns="0" rIns="0" tIns="0" bIns="0">
            <a:spAutoFit/>
          </a:bodyPr>
          <a:lstStyle/>
          <a:p>
            <a:pPr algn="l">
              <a:spcBef>
                <a:spcPts val="0"/>
              </a:spcBef>
              <a:spcAft>
                <a:spcPts val="400"/>
              </a:spcAft>
            </a:pPr>
            <a:r>
              <a:rPr sz="1400" b="0">
                <a:solidFill>
                  <a:srgbClr val="161B26"/>
                </a:solidFill>
                <a:latin typeface="Arial"/>
              </a:rPr>
              <a:t>First check for scheduling failures — shows resource headroom and all conditions.</a:t>
            </a:r>
          </a:p>
        </p:txBody>
      </p:sp>
      <p:sp>
        <p:nvSpPr>
          <p:cNvPr id="17" name="Rounded Rectangle 16"/>
          <p:cNvSpPr/>
          <p:nvPr/>
        </p:nvSpPr>
        <p:spPr>
          <a:xfrm>
            <a:off x="777240" y="3739895"/>
            <a:ext cx="10652760" cy="841248"/>
          </a:xfrm>
          <a:prstGeom prst="roundRect">
            <a:avLst>
              <a:gd name="adj" fmla="val 5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739895"/>
            <a:ext cx="109728" cy="8412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97280" y="3739895"/>
            <a:ext cx="3840480" cy="841248"/>
          </a:xfrm>
          <a:prstGeom prst="rect">
            <a:avLst/>
          </a:prstGeom>
          <a:noFill/>
        </p:spPr>
        <p:txBody>
          <a:bodyPr wrap="square" anchor="ctr" lIns="0" rIns="0" tIns="0" bIns="0">
            <a:spAutoFit/>
          </a:bodyPr>
          <a:lstStyle/>
          <a:p>
            <a:pPr algn="l">
              <a:spcBef>
                <a:spcPts val="0"/>
              </a:spcBef>
              <a:spcAft>
                <a:spcPts val="300"/>
              </a:spcAft>
            </a:pPr>
            <a:r>
              <a:rPr sz="1500" b="1">
                <a:solidFill>
                  <a:srgbClr val="F59E0B"/>
                </a:solidFill>
                <a:latin typeface="Arial"/>
              </a:rPr>
              <a:t>kubectl get events -A</a:t>
            </a:r>
          </a:p>
          <a:p>
            <a:pPr algn="l">
              <a:spcBef>
                <a:spcPts val="0"/>
              </a:spcBef>
              <a:spcAft>
                <a:spcPts val="300"/>
              </a:spcAft>
            </a:pPr>
            <a:r>
              <a:rPr sz="1200" b="0">
                <a:solidFill>
                  <a:srgbClr val="5B6372"/>
                </a:solidFill>
                <a:latin typeface="Arial"/>
              </a:rPr>
              <a:t>--sort-by=.lastTimestamp gives ~1h cluster-wide timeline</a:t>
            </a:r>
          </a:p>
        </p:txBody>
      </p:sp>
      <p:sp>
        <p:nvSpPr>
          <p:cNvPr id="20" name="Right Arrow 19"/>
          <p:cNvSpPr/>
          <p:nvPr/>
        </p:nvSpPr>
        <p:spPr>
          <a:xfrm>
            <a:off x="5074920" y="3995927"/>
            <a:ext cx="640080" cy="329184"/>
          </a:xfrm>
          <a:prstGeom prst="rightArrow">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989320" y="3739895"/>
            <a:ext cx="5349240" cy="841248"/>
          </a:xfrm>
          <a:prstGeom prst="rect">
            <a:avLst/>
          </a:prstGeom>
          <a:noFill/>
        </p:spPr>
        <p:txBody>
          <a:bodyPr wrap="square" anchor="ctr" lIns="0" rIns="0" tIns="0" bIns="0">
            <a:spAutoFit/>
          </a:bodyPr>
          <a:lstStyle/>
          <a:p>
            <a:pPr algn="l">
              <a:spcBef>
                <a:spcPts val="0"/>
              </a:spcBef>
              <a:spcAft>
                <a:spcPts val="400"/>
              </a:spcAft>
            </a:pPr>
            <a:r>
              <a:rPr sz="1400" b="0">
                <a:solidFill>
                  <a:srgbClr val="161B26"/>
                </a:solidFill>
                <a:latin typeface="Arial"/>
              </a:rPr>
              <a:t>Find ImagePullErrors, OOMKills, probe failures and rescheduled pods at a glance.</a:t>
            </a:r>
          </a:p>
        </p:txBody>
      </p:sp>
      <p:sp>
        <p:nvSpPr>
          <p:cNvPr id="22" name="Rounded Rectangle 21"/>
          <p:cNvSpPr/>
          <p:nvPr/>
        </p:nvSpPr>
        <p:spPr>
          <a:xfrm>
            <a:off x="777240" y="4672583"/>
            <a:ext cx="10652760" cy="841248"/>
          </a:xfrm>
          <a:prstGeom prst="roundRect">
            <a:avLst>
              <a:gd name="adj" fmla="val 5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4672583"/>
            <a:ext cx="109728" cy="8412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097280" y="4672583"/>
            <a:ext cx="3840480" cy="841248"/>
          </a:xfrm>
          <a:prstGeom prst="rect">
            <a:avLst/>
          </a:prstGeom>
          <a:noFill/>
        </p:spPr>
        <p:txBody>
          <a:bodyPr wrap="square" anchor="ctr" lIns="0" rIns="0" tIns="0" bIns="0">
            <a:spAutoFit/>
          </a:bodyPr>
          <a:lstStyle/>
          <a:p>
            <a:pPr algn="l">
              <a:spcBef>
                <a:spcPts val="0"/>
              </a:spcBef>
              <a:spcAft>
                <a:spcPts val="300"/>
              </a:spcAft>
            </a:pPr>
            <a:r>
              <a:rPr sz="1500" b="1">
                <a:solidFill>
                  <a:srgbClr val="7C3AED"/>
                </a:solidFill>
                <a:latin typeface="Arial"/>
              </a:rPr>
              <a:t>kubectl describe pod</a:t>
            </a:r>
          </a:p>
          <a:p>
            <a:pPr algn="l">
              <a:spcBef>
                <a:spcPts val="0"/>
              </a:spcBef>
              <a:spcAft>
                <a:spcPts val="300"/>
              </a:spcAft>
            </a:pPr>
            <a:r>
              <a:rPr sz="1200" b="0">
                <a:solidFill>
                  <a:srgbClr val="5B6372"/>
                </a:solidFill>
                <a:latin typeface="Arial"/>
              </a:rPr>
              <a:t>Events section — most failure causes appear directly here</a:t>
            </a:r>
          </a:p>
        </p:txBody>
      </p:sp>
      <p:sp>
        <p:nvSpPr>
          <p:cNvPr id="25" name="Right Arrow 24"/>
          <p:cNvSpPr/>
          <p:nvPr/>
        </p:nvSpPr>
        <p:spPr>
          <a:xfrm>
            <a:off x="5074920" y="4928615"/>
            <a:ext cx="640080" cy="329184"/>
          </a:xfrm>
          <a:prstGeom prst="rightArrow">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989320" y="4672583"/>
            <a:ext cx="5349240" cy="841248"/>
          </a:xfrm>
          <a:prstGeom prst="rect">
            <a:avLst/>
          </a:prstGeom>
          <a:noFill/>
        </p:spPr>
        <p:txBody>
          <a:bodyPr wrap="square" anchor="ctr" lIns="0" rIns="0" tIns="0" bIns="0">
            <a:spAutoFit/>
          </a:bodyPr>
          <a:lstStyle/>
          <a:p>
            <a:pPr algn="l">
              <a:spcBef>
                <a:spcPts val="0"/>
              </a:spcBef>
              <a:spcAft>
                <a:spcPts val="400"/>
              </a:spcAft>
            </a:pPr>
            <a:r>
              <a:rPr sz="1400" b="0">
                <a:solidFill>
                  <a:srgbClr val="161B26"/>
                </a:solidFill>
                <a:latin typeface="Arial"/>
              </a:rPr>
              <a:t>Read the Events bottom section first — scheduling reason, pull errors, probe failures all here.</a:t>
            </a:r>
          </a:p>
        </p:txBody>
      </p:sp>
      <p:sp>
        <p:nvSpPr>
          <p:cNvPr id="27" name="Rounded Rectangle 26"/>
          <p:cNvSpPr/>
          <p:nvPr/>
        </p:nvSpPr>
        <p:spPr>
          <a:xfrm>
            <a:off x="777240" y="5943600"/>
            <a:ext cx="10652760" cy="502920"/>
          </a:xfrm>
          <a:prstGeom prst="roundRect">
            <a:avLst>
              <a:gd name="adj" fmla="val 5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51560" y="5943600"/>
            <a:ext cx="10149840" cy="502920"/>
          </a:xfrm>
          <a:prstGeom prst="rect">
            <a:avLst/>
          </a:prstGeom>
          <a:noFill/>
        </p:spPr>
        <p:txBody>
          <a:bodyPr wrap="square" anchor="ctr" lIns="0" rIns="0" tIns="0" bIns="0">
            <a:spAutoFit/>
          </a:bodyPr>
          <a:lstStyle/>
          <a:p>
            <a:pPr algn="l">
              <a:spcBef>
                <a:spcPts val="0"/>
              </a:spcBef>
              <a:spcAft>
                <a:spcPts val="400"/>
              </a:spcAft>
            </a:pPr>
            <a:r>
              <a:rPr sz="1300" b="0">
                <a:solidFill>
                  <a:srgbClr val="5B6372"/>
                </a:solidFill>
                <a:latin typeface="Arial"/>
              </a:rPr>
              <a:t>Start every session with </a:t>
            </a:r>
            <a:r>
              <a:rPr sz="1300" b="1">
                <a:solidFill>
                  <a:srgbClr val="161B26"/>
                </a:solidFill>
                <a:latin typeface="Arial"/>
              </a:rPr>
              <a:t>kubectl get events --sort-by=.lastTimestamp -A</a:t>
            </a:r>
            <a:r>
              <a:rPr sz="1300" b="0">
                <a:solidFill>
                  <a:srgbClr val="5B6372"/>
                </a:solidFill>
                <a:latin typeface="Arial"/>
              </a:rPr>
              <a:t> — it tells you what happened and when, cluster-wide.</a:t>
            </a:r>
          </a:p>
        </p:txBody>
      </p:sp>
      <p:sp>
        <p:nvSpPr>
          <p:cNvPr id="29" name="TextBox 28"/>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30" name="TextBox 29"/>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31" name="TextBox 30"/>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251</a:t>
            </a:r>
          </a:p>
        </p:txBody>
      </p:sp>
    </p:spTree>
  </p:cSld>
  <p:clrMapOvr>
    <a:masterClrMapping/>
  </p:clrMapOvr>
</p:sld>
</file>

<file path=ppt/slides/slide2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OBSERVABILITY</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Metrics Server — Cluster-Wide Resource Metrics</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day5_s060_i1.jpg"/>
          <p:cNvPicPr>
            <a:picLocks noChangeAspect="1"/>
          </p:cNvPicPr>
          <p:nvPr/>
        </p:nvPicPr>
        <p:blipFill>
          <a:blip r:embed="rId2"/>
          <a:stretch>
            <a:fillRect/>
          </a:stretch>
        </p:blipFill>
        <p:spPr>
          <a:xfrm>
            <a:off x="2056450" y="1627632"/>
            <a:ext cx="8094340" cy="4544568"/>
          </a:xfrm>
          <a:prstGeom prst="rect">
            <a:avLst/>
          </a:prstGeom>
        </p:spPr>
      </p:pic>
      <p:sp>
        <p:nvSpPr>
          <p:cNvPr id="8" name="TextBox 7"/>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9" name="TextBox 8"/>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252</a:t>
            </a:r>
          </a:p>
        </p:txBody>
      </p:sp>
    </p:spTree>
  </p:cSld>
  <p:clrMapOvr>
    <a:masterClrMapping/>
  </p:clrMapOvr>
</p:sld>
</file>

<file path=ppt/slides/slide2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DAY 4 · MONITORING</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Monitor Cluster and Application Usage: kubectl top, Events, Metrics Pipeline</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64208"/>
            <a:ext cx="169164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09928"/>
            <a:ext cx="1691640" cy="365760"/>
          </a:xfrm>
          <a:prstGeom prst="rect">
            <a:avLst/>
          </a:prstGeom>
          <a:noFill/>
        </p:spPr>
        <p:txBody>
          <a:bodyPr wrap="square" anchor="t" lIns="0" rIns="0" tIns="0" bIns="0">
            <a:spAutoFit/>
          </a:bodyPr>
          <a:lstStyle/>
          <a:p>
            <a:pPr algn="ctr">
              <a:spcBef>
                <a:spcPts val="0"/>
              </a:spcBef>
              <a:spcAft>
                <a:spcPts val="400"/>
              </a:spcAft>
            </a:pPr>
            <a:r>
              <a:rPr sz="1600" b="1">
                <a:solidFill>
                  <a:srgbClr val="FFFFFF"/>
                </a:solidFill>
                <a:latin typeface="Arial"/>
              </a:rPr>
              <a:t>LAB 29</a:t>
            </a:r>
          </a:p>
        </p:txBody>
      </p:sp>
      <p:sp>
        <p:nvSpPr>
          <p:cNvPr id="9" name="TextBox 8"/>
          <p:cNvSpPr txBox="1"/>
          <p:nvPr/>
        </p:nvSpPr>
        <p:spPr>
          <a:xfrm>
            <a:off x="2697480" y="1691640"/>
            <a:ext cx="8778240" cy="411480"/>
          </a:xfrm>
          <a:prstGeom prst="rect">
            <a:avLst/>
          </a:prstGeom>
          <a:noFill/>
        </p:spPr>
        <p:txBody>
          <a:bodyPr wrap="square" anchor="ctr" lIns="0" rIns="0" tIns="0" bIns="0">
            <a:spAutoFit/>
          </a:bodyPr>
          <a:lstStyle/>
          <a:p>
            <a:pPr algn="l">
              <a:spcBef>
                <a:spcPts val="0"/>
              </a:spcBef>
              <a:spcAft>
                <a:spcPts val="400"/>
              </a:spcAft>
            </a:pPr>
            <a:r>
              <a:rPr sz="1400" b="1">
                <a:solidFill>
                  <a:srgbClr val="5B6372"/>
                </a:solidFill>
                <a:latin typeface="Arial"/>
              </a:rPr>
              <a:t>Monitoring and observability</a:t>
            </a:r>
          </a:p>
        </p:txBody>
      </p:sp>
      <p:sp>
        <p:nvSpPr>
          <p:cNvPr id="10" name="TextBox 9"/>
          <p:cNvSpPr txBox="1"/>
          <p:nvPr/>
        </p:nvSpPr>
        <p:spPr>
          <a:xfrm>
            <a:off x="777240" y="2286000"/>
            <a:ext cx="10698480" cy="1554480"/>
          </a:xfrm>
          <a:prstGeom prst="rect">
            <a:avLst/>
          </a:prstGeom>
          <a:noFill/>
        </p:spPr>
        <p:txBody>
          <a:bodyPr wrap="square" anchor="t" lIns="0" rIns="0" tIns="0" bIns="0">
            <a:spAutoFit/>
          </a:bodyPr>
          <a:lstStyle/>
          <a:p>
            <a:pPr algn="l">
              <a:spcBef>
                <a:spcPts val="0"/>
              </a:spcBef>
              <a:spcAft>
                <a:spcPts val="400"/>
              </a:spcAft>
            </a:pPr>
            <a:r>
              <a:rPr sz="1900" b="0">
                <a:solidFill>
                  <a:srgbClr val="161B26"/>
                </a:solidFill>
                <a:latin typeface="Arial"/>
              </a:rPr>
              <a:t>Use kubectl top to check CPU and memory usage for nodes and pods, inspect cluster events to identify recent warnings, and understand how metrics flow from cAdvisor through metrics-server to kubectl top and HPA.</a:t>
            </a:r>
          </a:p>
        </p:txBody>
      </p:sp>
      <p:sp>
        <p:nvSpPr>
          <p:cNvPr id="11" name="Rounded Rectangle 10"/>
          <p:cNvSpPr/>
          <p:nvPr/>
        </p:nvSpPr>
        <p:spPr>
          <a:xfrm>
            <a:off x="777240" y="4069080"/>
            <a:ext cx="10698480" cy="1783080"/>
          </a:xfrm>
          <a:prstGeom prst="roundRect">
            <a:avLst>
              <a:gd name="adj" fmla="val 5000"/>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05840" y="4251960"/>
            <a:ext cx="10058400" cy="365760"/>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You'll build</a:t>
            </a:r>
          </a:p>
        </p:txBody>
      </p:sp>
      <p:sp>
        <p:nvSpPr>
          <p:cNvPr id="13" name="TextBox 12"/>
          <p:cNvSpPr txBox="1"/>
          <p:nvPr/>
        </p:nvSpPr>
        <p:spPr>
          <a:xfrm>
            <a:off x="1005840" y="4617720"/>
            <a:ext cx="10241280" cy="640080"/>
          </a:xfrm>
          <a:prstGeom prst="rect">
            <a:avLst/>
          </a:prstGeom>
          <a:noFill/>
        </p:spPr>
        <p:txBody>
          <a:bodyPr wrap="square" anchor="t" lIns="0" rIns="0" tIns="0" bIns="0">
            <a:spAutoFit/>
          </a:bodyPr>
          <a:lstStyle/>
          <a:p>
            <a:pPr algn="l">
              <a:spcBef>
                <a:spcPts val="0"/>
              </a:spcBef>
              <a:spcAft>
                <a:spcPts val="400"/>
              </a:spcAft>
            </a:pPr>
            <a:r>
              <a:rPr sz="1700" b="1">
                <a:solidFill>
                  <a:srgbClr val="161B26"/>
                </a:solidFill>
                <a:latin typeface="Arial"/>
              </a:rPr>
              <a:t>Install metrics-server, run kubectl top node and kubectl top pod (sorted by CPU/memory), inspect kubectl get events, use kubectl describe to surface warning events.</a:t>
            </a:r>
          </a:p>
        </p:txBody>
      </p:sp>
      <p:sp>
        <p:nvSpPr>
          <p:cNvPr id="14" name="TextBox 13"/>
          <p:cNvSpPr txBox="1"/>
          <p:nvPr/>
        </p:nvSpPr>
        <p:spPr>
          <a:xfrm>
            <a:off x="1005840" y="5349240"/>
            <a:ext cx="10058400" cy="457200"/>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Key commands:  </a:t>
            </a:r>
            <a:r>
              <a:rPr sz="1300" b="0">
                <a:solidFill>
                  <a:srgbClr val="5B6372"/>
                </a:solidFill>
                <a:latin typeface="Arial"/>
              </a:rPr>
              <a:t>kubectl apply · kubectl top · kubectl get · » Metrics</a:t>
            </a:r>
          </a:p>
        </p:txBody>
      </p:sp>
      <p:sp>
        <p:nvSpPr>
          <p:cNvPr id="15" name="TextBox 14"/>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6" name="TextBox 15"/>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7" name="TextBox 16"/>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253</a:t>
            </a:r>
          </a:p>
        </p:txBody>
      </p:sp>
    </p:spTree>
  </p:cSld>
  <p:clrMapOvr>
    <a:masterClrMapping/>
  </p:clrMapOvr>
</p:sld>
</file>

<file path=ppt/slides/slide2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29  ·  COMMANDS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Monitor Cluster and Application Usage: kubectl top, Events, Metrics Pipeline</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91640"/>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Step 1 -- Install metrics-server</a:t>
            </a:r>
          </a:p>
        </p:txBody>
      </p:sp>
      <p:sp>
        <p:nvSpPr>
          <p:cNvPr id="8" name="Rounded Rectangle 7"/>
          <p:cNvSpPr/>
          <p:nvPr/>
        </p:nvSpPr>
        <p:spPr>
          <a:xfrm>
            <a:off x="777240" y="2075688"/>
            <a:ext cx="10652760" cy="896112"/>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075688"/>
            <a:ext cx="82296" cy="896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6" y="2139696"/>
            <a:ext cx="10323576" cy="804672"/>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kubectl apply -f https://github.com/kubernetes-sigs/metrics-server/releases/latest/download/components.yaml</a:t>
            </a:r>
          </a:p>
          <a:p>
            <a:pPr>
              <a:spcBef>
                <a:spcPts val="0"/>
              </a:spcBef>
              <a:spcAft>
                <a:spcPts val="0"/>
              </a:spcAft>
            </a:pPr>
            <a:r>
              <a:rPr sz="1050">
                <a:solidFill>
                  <a:srgbClr val="161B26"/>
                </a:solidFill>
                <a:latin typeface="Consolas"/>
              </a:rPr>
              <a:t>kubectl -n kube-system patch deploy metrics-server --type=json \</a:t>
            </a:r>
          </a:p>
          <a:p>
            <a:pPr>
              <a:spcBef>
                <a:spcPts val="0"/>
              </a:spcBef>
              <a:spcAft>
                <a:spcPts val="0"/>
              </a:spcAft>
            </a:pPr>
            <a:r>
              <a:rPr sz="1050">
                <a:solidFill>
                  <a:srgbClr val="161B26"/>
                </a:solidFill>
                <a:latin typeface="Consolas"/>
              </a:rPr>
              <a:t>  -p='[{"op":"add","path":"/spec/template/spec/containers/0/args/-","value":"--kubelet-insecure-tls"}]'</a:t>
            </a:r>
          </a:p>
          <a:p>
            <a:pPr>
              <a:spcBef>
                <a:spcPts val="0"/>
              </a:spcBef>
              <a:spcAft>
                <a:spcPts val="0"/>
              </a:spcAft>
            </a:pPr>
            <a:r>
              <a:rPr sz="1050">
                <a:solidFill>
                  <a:srgbClr val="161B26"/>
                </a:solidFill>
                <a:latin typeface="Consolas"/>
              </a:rPr>
              <a:t>until kubectl top node 2&gt;/dev/null; do echo 'waiting...'; sleep 5; done</a:t>
            </a:r>
          </a:p>
        </p:txBody>
      </p:sp>
      <p:sp>
        <p:nvSpPr>
          <p:cNvPr id="11" name="TextBox 10"/>
          <p:cNvSpPr txBox="1"/>
          <p:nvPr/>
        </p:nvSpPr>
        <p:spPr>
          <a:xfrm>
            <a:off x="777240" y="3154680"/>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Step 2 -- Resource usage</a:t>
            </a:r>
          </a:p>
        </p:txBody>
      </p:sp>
      <p:sp>
        <p:nvSpPr>
          <p:cNvPr id="12" name="Rounded Rectangle 11"/>
          <p:cNvSpPr/>
          <p:nvPr/>
        </p:nvSpPr>
        <p:spPr>
          <a:xfrm>
            <a:off x="777240" y="3538728"/>
            <a:ext cx="10652760" cy="896112"/>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3538728"/>
            <a:ext cx="82296" cy="896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3602736"/>
            <a:ext cx="10323576" cy="804672"/>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kubectl top node</a:t>
            </a:r>
          </a:p>
          <a:p>
            <a:pPr>
              <a:spcBef>
                <a:spcPts val="0"/>
              </a:spcBef>
              <a:spcAft>
                <a:spcPts val="0"/>
              </a:spcAft>
            </a:pPr>
            <a:r>
              <a:rPr sz="1050">
                <a:solidFill>
                  <a:srgbClr val="161B26"/>
                </a:solidFill>
                <a:latin typeface="Consolas"/>
              </a:rPr>
              <a:t>kubectl top pod -A</a:t>
            </a:r>
          </a:p>
          <a:p>
            <a:pPr>
              <a:spcBef>
                <a:spcPts val="0"/>
              </a:spcBef>
              <a:spcAft>
                <a:spcPts val="0"/>
              </a:spcAft>
            </a:pPr>
            <a:r>
              <a:rPr sz="1050">
                <a:solidFill>
                  <a:srgbClr val="161B26"/>
                </a:solidFill>
                <a:latin typeface="Consolas"/>
              </a:rPr>
              <a:t>kubectl top pod -A --sort-by=cpu | head -10</a:t>
            </a:r>
          </a:p>
          <a:p>
            <a:pPr>
              <a:spcBef>
                <a:spcPts val="0"/>
              </a:spcBef>
              <a:spcAft>
                <a:spcPts val="0"/>
              </a:spcAft>
            </a:pPr>
            <a:r>
              <a:rPr sz="1050">
                <a:solidFill>
                  <a:srgbClr val="161B26"/>
                </a:solidFill>
                <a:latin typeface="Consolas"/>
              </a:rPr>
              <a:t>kubectl top pod -A --sort-by=memory | head -10</a:t>
            </a:r>
          </a:p>
        </p:txBody>
      </p:sp>
      <p:sp>
        <p:nvSpPr>
          <p:cNvPr id="15" name="TextBox 14"/>
          <p:cNvSpPr txBox="1"/>
          <p:nvPr/>
        </p:nvSpPr>
        <p:spPr>
          <a:xfrm>
            <a:off x="777240" y="4617720"/>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Step 3 -- Cluster events</a:t>
            </a:r>
          </a:p>
        </p:txBody>
      </p:sp>
      <p:sp>
        <p:nvSpPr>
          <p:cNvPr id="16" name="Rounded Rectangle 15"/>
          <p:cNvSpPr/>
          <p:nvPr/>
        </p:nvSpPr>
        <p:spPr>
          <a:xfrm>
            <a:off x="777240" y="5001768"/>
            <a:ext cx="10652760" cy="708660"/>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77240" y="5001768"/>
            <a:ext cx="82296" cy="7086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96696" y="5065776"/>
            <a:ext cx="10323576" cy="617220"/>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kubectl get events -A --sort-by='.lastTimestamp'</a:t>
            </a:r>
          </a:p>
          <a:p>
            <a:pPr>
              <a:spcBef>
                <a:spcPts val="0"/>
              </a:spcBef>
              <a:spcAft>
                <a:spcPts val="0"/>
              </a:spcAft>
            </a:pPr>
            <a:r>
              <a:rPr sz="1050">
                <a:solidFill>
                  <a:srgbClr val="161B26"/>
                </a:solidFill>
                <a:latin typeface="Consolas"/>
              </a:rPr>
              <a:t>kubectl get events -A --field-selector type=Warning</a:t>
            </a:r>
          </a:p>
          <a:p>
            <a:pPr>
              <a:spcBef>
                <a:spcPts val="0"/>
              </a:spcBef>
              <a:spcAft>
                <a:spcPts val="0"/>
              </a:spcAft>
            </a:pPr>
            <a:r>
              <a:rPr sz="1050">
                <a:solidFill>
                  <a:srgbClr val="161B26"/>
                </a:solidFill>
                <a:latin typeface="Consolas"/>
              </a:rPr>
              <a:t>kubectl describe node worker01 | grep -A20 Events</a:t>
            </a:r>
          </a:p>
        </p:txBody>
      </p:sp>
      <p:sp>
        <p:nvSpPr>
          <p:cNvPr id="19" name="TextBox 18"/>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20" name="TextBox 19"/>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21" name="TextBox 20"/>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254</a:t>
            </a:r>
          </a:p>
        </p:txBody>
      </p:sp>
    </p:spTree>
  </p:cSld>
  <p:clrMapOvr>
    <a:masterClrMapping/>
  </p:clrMapOvr>
</p:sld>
</file>

<file path=ppt/slides/slide2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29  ·  COMMANDS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Monitor Cluster and Application Usage: kubectl top, Events, Metrics Pipeline (cont.)</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91640"/>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Step 4 -- Metrics pipeline raw API</a:t>
            </a:r>
          </a:p>
        </p:txBody>
      </p:sp>
      <p:sp>
        <p:nvSpPr>
          <p:cNvPr id="8" name="Rounded Rectangle 7"/>
          <p:cNvSpPr/>
          <p:nvPr/>
        </p:nvSpPr>
        <p:spPr>
          <a:xfrm>
            <a:off x="777240" y="2075688"/>
            <a:ext cx="10652760" cy="333756"/>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075688"/>
            <a:ext cx="82296" cy="33375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6" y="2139696"/>
            <a:ext cx="10323576" cy="242316"/>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kubectl get --raw '/apis/metrics.k8s.io/v1beta1/nodes' | python3 -m json.tool | head -30</a:t>
            </a:r>
          </a:p>
        </p:txBody>
      </p:sp>
      <p:sp>
        <p:nvSpPr>
          <p:cNvPr id="11" name="TextBox 10"/>
          <p:cNvSpPr txBox="1"/>
          <p:nvPr/>
        </p:nvSpPr>
        <p:spPr>
          <a:xfrm>
            <a:off x="777240" y="2592324"/>
            <a:ext cx="10652760" cy="310896"/>
          </a:xfrm>
          <a:prstGeom prst="rect">
            <a:avLst/>
          </a:prstGeom>
          <a:noFill/>
        </p:spPr>
        <p:txBody>
          <a:bodyPr wrap="square" anchor="t" lIns="0" rIns="0" tIns="0" bIns="0">
            <a:spAutoFit/>
          </a:bodyPr>
          <a:lstStyle/>
          <a:p>
            <a:pPr algn="l">
              <a:spcBef>
                <a:spcPts val="0"/>
              </a:spcBef>
              <a:spcAft>
                <a:spcPts val="400"/>
              </a:spcAft>
            </a:pPr>
            <a:r>
              <a:rPr sz="1300" b="1">
                <a:solidFill>
                  <a:srgbClr val="F59E0B"/>
                </a:solidFill>
                <a:latin typeface="Arial"/>
              </a:rPr>
              <a:t>Note   </a:t>
            </a:r>
            <a:r>
              <a:rPr sz="1300" b="0">
                <a:solidFill>
                  <a:srgbClr val="5B6372"/>
                </a:solidFill>
                <a:latin typeface="Arial"/>
              </a:rPr>
              <a:t>Metrics flow: cAdvisor (per node) -&gt; kubelet Summary API -&gt; metrics-server -&gt; kubectl top + HPA. kubectl top requires metrics-server. Events are the first place to look when a pod fails to start.</a:t>
            </a:r>
          </a:p>
        </p:txBody>
      </p:sp>
      <p:sp>
        <p:nvSpPr>
          <p:cNvPr id="12" name="TextBox 11"/>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3" name="TextBox 12"/>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4" name="TextBox 13"/>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255</a:t>
            </a:r>
          </a:p>
        </p:txBody>
      </p:sp>
    </p:spTree>
  </p:cSld>
  <p:clrMapOvr>
    <a:masterClrMapping/>
  </p:clrMapOvr>
</p:sld>
</file>

<file path=ppt/slides/slide2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29  ·  TEST IT</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Monitor Cluster and Application Usage: kubectl top, Events, Metrics Pipeline</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03120"/>
            <a:ext cx="10698480" cy="2560320"/>
          </a:xfrm>
          <a:prstGeom prst="roundRect">
            <a:avLst>
              <a:gd name="adj" fmla="val 5000"/>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lIns="0" rIns="0" tIns="0" bIns="0">
            <a:spAutoFit/>
          </a:bodyPr>
          <a:lstStyle/>
          <a:p>
            <a:pPr algn="l">
              <a:spcBef>
                <a:spcPts val="0"/>
              </a:spcBef>
              <a:spcAft>
                <a:spcPts val="400"/>
              </a:spcAft>
            </a:pPr>
            <a:r>
              <a:rPr sz="2200" b="1">
                <a:solidFill>
                  <a:srgbClr val="127A3E"/>
                </a:solidFill>
                <a:latin typeface="Arial"/>
              </a:rPr>
              <a:t>✅  Test it</a:t>
            </a:r>
          </a:p>
        </p:txBody>
      </p:sp>
      <p:sp>
        <p:nvSpPr>
          <p:cNvPr id="9" name="TextBox 8"/>
          <p:cNvSpPr txBox="1"/>
          <p:nvPr/>
        </p:nvSpPr>
        <p:spPr>
          <a:xfrm>
            <a:off x="1097280" y="3017520"/>
            <a:ext cx="10149840" cy="1463040"/>
          </a:xfrm>
          <a:prstGeom prst="rect">
            <a:avLst/>
          </a:prstGeom>
          <a:noFill/>
        </p:spPr>
        <p:txBody>
          <a:bodyPr wrap="square" anchor="t" lIns="0" rIns="0" tIns="0" bIns="0">
            <a:spAutoFit/>
          </a:bodyPr>
          <a:lstStyle/>
          <a:p>
            <a:pPr algn="l">
              <a:spcBef>
                <a:spcPts val="0"/>
              </a:spcBef>
              <a:spcAft>
                <a:spcPts val="400"/>
              </a:spcAft>
            </a:pPr>
            <a:r>
              <a:rPr sz="1800" b="0">
                <a:solidFill>
                  <a:srgbClr val="161B26"/>
                </a:solidFill>
                <a:latin typeface="Arial"/>
              </a:rPr>
              <a:t>kubectl top node shows CPU and memory for all nodes. kubectl get events shows Warning events. Metrics API returns JSON with per-node data.</a:t>
            </a:r>
          </a:p>
        </p:txBody>
      </p:sp>
      <p:sp>
        <p:nvSpPr>
          <p:cNvPr id="10" name="TextBox 9"/>
          <p:cNvSpPr txBox="1"/>
          <p:nvPr/>
        </p:nvSpPr>
        <p:spPr>
          <a:xfrm>
            <a:off x="777240" y="4983480"/>
            <a:ext cx="10698480" cy="365760"/>
          </a:xfrm>
          <a:prstGeom prst="rect">
            <a:avLst/>
          </a:prstGeom>
          <a:noFill/>
        </p:spPr>
        <p:txBody>
          <a:bodyPr wrap="square" anchor="t" lIns="0" rIns="0" tIns="0" bIns="0">
            <a:spAutoFit/>
          </a:bodyPr>
          <a:lstStyle/>
          <a:p>
            <a:pPr algn="l">
              <a:spcBef>
                <a:spcPts val="0"/>
              </a:spcBef>
              <a:spcAft>
                <a:spcPts val="400"/>
              </a:spcAft>
            </a:pPr>
            <a:r>
              <a:rPr sz="1300" b="1">
                <a:solidFill>
                  <a:srgbClr val="10B981"/>
                </a:solidFill>
                <a:latin typeface="Arial"/>
              </a:rPr>
              <a:t>Killercoda:  </a:t>
            </a:r>
            <a:r>
              <a:rPr sz="1300" b="0">
                <a:solidFill>
                  <a:srgbClr val="5B6372"/>
                </a:solidFill>
                <a:latin typeface="Arial"/>
              </a:rPr>
              <a:t>https://killercoda.com/playgrounds/scenario/kubernetes</a:t>
            </a:r>
          </a:p>
        </p:txBody>
      </p:sp>
      <p:sp>
        <p:nvSpPr>
          <p:cNvPr id="11" name="TextBox 10"/>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256</a:t>
            </a:r>
          </a:p>
        </p:txBody>
      </p:sp>
    </p:spTree>
  </p:cSld>
  <p:clrMapOvr>
    <a:masterClrMapping/>
  </p:clrMapOvr>
</p:sld>
</file>

<file path=ppt/slides/slide2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56832"/>
            <a:ext cx="12191695" cy="2011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937760" y="2148840"/>
            <a:ext cx="2313432"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0" y="2514600"/>
            <a:ext cx="12191695" cy="1097280"/>
          </a:xfrm>
          <a:prstGeom prst="rect">
            <a:avLst/>
          </a:prstGeom>
          <a:noFill/>
        </p:spPr>
        <p:txBody>
          <a:bodyPr wrap="square" anchor="t" lIns="0" rIns="0" tIns="0" bIns="0">
            <a:spAutoFit/>
          </a:bodyPr>
          <a:lstStyle/>
          <a:p>
            <a:pPr algn="ctr">
              <a:spcBef>
                <a:spcPts val="0"/>
              </a:spcBef>
              <a:spcAft>
                <a:spcPts val="400"/>
              </a:spcAft>
            </a:pPr>
            <a:r>
              <a:rPr sz="4800" b="1">
                <a:solidFill>
                  <a:srgbClr val="161B26"/>
                </a:solidFill>
                <a:latin typeface="Arial"/>
              </a:rPr>
              <a:t>Tea Break</a:t>
            </a:r>
          </a:p>
        </p:txBody>
      </p:sp>
      <p:sp>
        <p:nvSpPr>
          <p:cNvPr id="7" name="TextBox 6"/>
          <p:cNvSpPr txBox="1"/>
          <p:nvPr/>
        </p:nvSpPr>
        <p:spPr>
          <a:xfrm>
            <a:off x="0" y="3703320"/>
            <a:ext cx="12191695" cy="731520"/>
          </a:xfrm>
          <a:prstGeom prst="rect">
            <a:avLst/>
          </a:prstGeom>
          <a:noFill/>
        </p:spPr>
        <p:txBody>
          <a:bodyPr wrap="square" anchor="t" lIns="0" rIns="0" tIns="0" bIns="0">
            <a:spAutoFit/>
          </a:bodyPr>
          <a:lstStyle/>
          <a:p>
            <a:pPr algn="ctr">
              <a:spcBef>
                <a:spcPts val="0"/>
              </a:spcBef>
              <a:spcAft>
                <a:spcPts val="400"/>
              </a:spcAft>
            </a:pPr>
            <a:r>
              <a:rPr sz="2200" b="1">
                <a:solidFill>
                  <a:srgbClr val="10B981"/>
                </a:solidFill>
                <a:latin typeface="Arial"/>
              </a:rPr>
              <a:t>15 minutes</a:t>
            </a:r>
          </a:p>
        </p:txBody>
      </p:sp>
    </p:spTree>
  </p:cSld>
  <p:clrMapOvr>
    <a:masterClrMapping/>
  </p:clrMapOvr>
</p:sld>
</file>

<file path=ppt/slides/slide2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lIns="0" rIns="0" tIns="0" bIns="0">
            <a:spAutoFit/>
          </a:bodyPr>
          <a:lstStyle/>
          <a:p>
            <a:pPr algn="l">
              <a:spcBef>
                <a:spcPts val="0"/>
              </a:spcBef>
              <a:spcAft>
                <a:spcPts val="400"/>
              </a:spcAft>
            </a:pPr>
            <a:r>
              <a:rPr sz="1800" b="1">
                <a:solidFill>
                  <a:srgbClr val="1F6FEB"/>
                </a:solidFill>
                <a:latin typeface="Arial"/>
              </a:rPr>
              <a:t>TOPIC 2</a:t>
            </a:r>
          </a:p>
        </p:txBody>
      </p:sp>
      <p:sp>
        <p:nvSpPr>
          <p:cNvPr id="6" name="TextBox 5"/>
          <p:cNvSpPr txBox="1"/>
          <p:nvPr/>
        </p:nvSpPr>
        <p:spPr>
          <a:xfrm>
            <a:off x="1143000" y="2743200"/>
            <a:ext cx="10424160" cy="1463040"/>
          </a:xfrm>
          <a:prstGeom prst="rect">
            <a:avLst/>
          </a:prstGeom>
          <a:noFill/>
        </p:spPr>
        <p:txBody>
          <a:bodyPr wrap="square" anchor="t" lIns="0" rIns="0" tIns="0" bIns="0">
            <a:spAutoFit/>
          </a:bodyPr>
          <a:lstStyle/>
          <a:p>
            <a:pPr algn="l">
              <a:spcBef>
                <a:spcPts val="0"/>
              </a:spcBef>
              <a:spcAft>
                <a:spcPts val="400"/>
              </a:spcAft>
            </a:pPr>
            <a:r>
              <a:rPr sz="4000" b="1">
                <a:solidFill>
                  <a:srgbClr val="161B26"/>
                </a:solidFill>
                <a:latin typeface="Arial"/>
              </a:rPr>
              <a:t>Service Networking Triage</a:t>
            </a:r>
          </a:p>
        </p:txBody>
      </p:sp>
      <p:sp>
        <p:nvSpPr>
          <p:cNvPr id="7" name="TextBox 6"/>
          <p:cNvSpPr txBox="1"/>
          <p:nvPr/>
        </p:nvSpPr>
        <p:spPr>
          <a:xfrm>
            <a:off x="1161288" y="4114800"/>
            <a:ext cx="10058400" cy="731520"/>
          </a:xfrm>
          <a:prstGeom prst="rect">
            <a:avLst/>
          </a:prstGeom>
          <a:noFill/>
        </p:spPr>
        <p:txBody>
          <a:bodyPr wrap="square" anchor="t" lIns="0" rIns="0" tIns="0" bIns="0">
            <a:spAutoFit/>
          </a:bodyPr>
          <a:lstStyle/>
          <a:p>
            <a:pPr algn="l">
              <a:spcBef>
                <a:spcPts val="0"/>
              </a:spcBef>
              <a:spcAft>
                <a:spcPts val="400"/>
              </a:spcAft>
            </a:pPr>
            <a:r>
              <a:rPr sz="1600" b="0">
                <a:solidFill>
                  <a:srgbClr val="5B6372"/>
                </a:solidFill>
                <a:latin typeface="Arial"/>
              </a:rPr>
              <a:t>Diagnose broken Services, DNS and kube-proxy</a:t>
            </a:r>
          </a:p>
        </p:txBody>
      </p:sp>
      <p:sp>
        <p:nvSpPr>
          <p:cNvPr id="8" name="TextBox 7"/>
          <p:cNvSpPr txBox="1"/>
          <p:nvPr/>
        </p:nvSpPr>
        <p:spPr>
          <a:xfrm>
            <a:off x="9418320" y="640080"/>
            <a:ext cx="2286000" cy="1463040"/>
          </a:xfrm>
          <a:prstGeom prst="rect">
            <a:avLst/>
          </a:prstGeom>
          <a:noFill/>
        </p:spPr>
        <p:txBody>
          <a:bodyPr wrap="square" anchor="t" lIns="0" rIns="0" tIns="0" bIns="0">
            <a:spAutoFit/>
          </a:bodyPr>
          <a:lstStyle/>
          <a:p>
            <a:pPr algn="r">
              <a:spcBef>
                <a:spcPts val="0"/>
              </a:spcBef>
              <a:spcAft>
                <a:spcPts val="400"/>
              </a:spcAft>
            </a:pPr>
            <a:r>
              <a:rPr sz="7200" b="1">
                <a:solidFill>
                  <a:srgbClr val="E2E8F0"/>
                </a:solidFill>
                <a:latin typeface="Arial"/>
              </a:rPr>
              <a:t/>
            </a:r>
          </a:p>
        </p:txBody>
      </p:sp>
      <p:sp>
        <p:nvSpPr>
          <p:cNvPr id="9" name="TextBox 8"/>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0" name="TextBox 9"/>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1" name="TextBox 10"/>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258</a:t>
            </a:r>
          </a:p>
        </p:txBody>
      </p:sp>
    </p:spTree>
  </p:cSld>
  <p:clrMapOvr>
    <a:masterClrMapping/>
  </p:clrMapOvr>
</p:sld>
</file>

<file path=ppt/slides/slide2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SERVICE DEBUGGING</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Service Connectivity Debugging</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07040" cy="4480560"/>
          </a:xfrm>
          <a:prstGeom prst="rect">
            <a:avLst/>
          </a:prstGeom>
          <a:noFill/>
        </p:spPr>
        <p:txBody>
          <a:bodyPr wrap="square" lIns="0" rIns="0">
            <a:spAutoFit/>
          </a:bodyPr>
          <a:lstStyle/>
          <a:p>
            <a:pPr>
              <a:spcBef>
                <a:spcPts val="0"/>
              </a:spcBef>
              <a:spcAft>
                <a:spcPts val="1000"/>
              </a:spcAft>
            </a:pPr>
            <a:r>
              <a:rPr sz="1900" b="1">
                <a:solidFill>
                  <a:srgbClr val="1F6FEB"/>
                </a:solidFill>
                <a:latin typeface="Arial"/>
              </a:rPr>
              <a:t>•  </a:t>
            </a:r>
            <a:r>
              <a:rPr sz="1900">
                <a:solidFill>
                  <a:srgbClr val="161B26"/>
                </a:solidFill>
                <a:latin typeface="Arial"/>
              </a:rPr>
              <a:t>Empty Endpoints (kubectl get endpoints &lt;svc&gt;) almost always means a selector/label mismatch.</a:t>
            </a:r>
          </a:p>
          <a:p>
            <a:pPr>
              <a:spcBef>
                <a:spcPts val="0"/>
              </a:spcBef>
              <a:spcAft>
                <a:spcPts val="1000"/>
              </a:spcAft>
            </a:pPr>
            <a:r>
              <a:rPr sz="1900" b="1">
                <a:solidFill>
                  <a:srgbClr val="1F6FEB"/>
                </a:solidFill>
                <a:latin typeface="Arial"/>
              </a:rPr>
              <a:t>•  </a:t>
            </a:r>
            <a:r>
              <a:rPr sz="1900">
                <a:solidFill>
                  <a:srgbClr val="161B26"/>
                </a:solidFill>
                <a:latin typeface="Arial"/>
              </a:rPr>
              <a:t>DNS failure: exec into a pod and run nslookup &lt;service&gt;; check CoreDNS pods are Running.</a:t>
            </a:r>
          </a:p>
          <a:p>
            <a:pPr>
              <a:spcBef>
                <a:spcPts val="0"/>
              </a:spcBef>
              <a:spcAft>
                <a:spcPts val="1000"/>
              </a:spcAft>
            </a:pPr>
            <a:r>
              <a:rPr sz="1900" b="1">
                <a:solidFill>
                  <a:srgbClr val="1F6FEB"/>
                </a:solidFill>
                <a:latin typeface="Arial"/>
              </a:rPr>
              <a:t>•  </a:t>
            </a:r>
            <a:r>
              <a:rPr sz="1900">
                <a:solidFill>
                  <a:srgbClr val="161B26"/>
                </a:solidFill>
                <a:latin typeface="Arial"/>
              </a:rPr>
              <a:t>kube-proxy programs iptables/IPVS rules — if it crashes, ClusterIP traffic stops routing.</a:t>
            </a:r>
          </a:p>
          <a:p>
            <a:pPr>
              <a:spcBef>
                <a:spcPts val="0"/>
              </a:spcBef>
              <a:spcAft>
                <a:spcPts val="1000"/>
              </a:spcAft>
            </a:pPr>
            <a:r>
              <a:rPr sz="1900" b="1">
                <a:solidFill>
                  <a:srgbClr val="1F6FEB"/>
                </a:solidFill>
                <a:latin typeface="Arial"/>
              </a:rPr>
              <a:t>•  </a:t>
            </a:r>
            <a:r>
              <a:rPr sz="1900">
                <a:solidFill>
                  <a:srgbClr val="161B26"/>
                </a:solidFill>
                <a:latin typeface="Arial"/>
              </a:rPr>
              <a:t>Bypass the Service to isolate it: curl http://&lt;podIP&gt;:&lt;containerPort&gt; from another pod.</a:t>
            </a:r>
          </a:p>
        </p:txBody>
      </p:sp>
      <p:sp>
        <p:nvSpPr>
          <p:cNvPr id="8" name="TextBox 7"/>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9" name="TextBox 8"/>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259</a:t>
            </a:r>
          </a:p>
        </p:txBody>
      </p:sp>
    </p:spTree>
  </p:cSld>
  <p:clrMapOvr>
    <a:masterClrMapping/>
  </p:clrMapOvr>
</p:sld>
</file>

<file path=ppt/slides/slide2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DOMAIN 5  ·  BROKEN SERVICE CHECKLIST</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Service Connectivity Triage</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1664208"/>
            <a:ext cx="10652760" cy="594360"/>
          </a:xfrm>
          <a:prstGeom prst="roundRect">
            <a:avLst>
              <a:gd name="adj" fmla="val 5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664208"/>
            <a:ext cx="91440" cy="5943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664208"/>
            <a:ext cx="3108960" cy="594360"/>
          </a:xfrm>
          <a:prstGeom prst="rect">
            <a:avLst/>
          </a:prstGeom>
          <a:noFill/>
        </p:spPr>
        <p:txBody>
          <a:bodyPr wrap="square" anchor="ctr" lIns="0" rIns="0" tIns="0" bIns="0">
            <a:spAutoFit/>
          </a:bodyPr>
          <a:lstStyle/>
          <a:p>
            <a:pPr algn="l">
              <a:spcBef>
                <a:spcPts val="0"/>
              </a:spcBef>
              <a:spcAft>
                <a:spcPts val="400"/>
              </a:spcAft>
            </a:pPr>
            <a:r>
              <a:rPr sz="1300" b="1">
                <a:solidFill>
                  <a:srgbClr val="1F6FEB"/>
                </a:solidFill>
                <a:latin typeface="Arial"/>
              </a:rPr>
              <a:t>DNS resolves?</a:t>
            </a:r>
          </a:p>
        </p:txBody>
      </p:sp>
      <p:sp>
        <p:nvSpPr>
          <p:cNvPr id="10" name="TextBox 9"/>
          <p:cNvSpPr txBox="1"/>
          <p:nvPr/>
        </p:nvSpPr>
        <p:spPr>
          <a:xfrm>
            <a:off x="4251960" y="1664208"/>
            <a:ext cx="7040880" cy="594360"/>
          </a:xfrm>
          <a:prstGeom prst="rect">
            <a:avLst/>
          </a:prstGeom>
          <a:noFill/>
        </p:spPr>
        <p:txBody>
          <a:bodyPr wrap="square" anchor="ctr" lIns="0" rIns="0" tIns="0" bIns="0">
            <a:spAutoFit/>
          </a:bodyPr>
          <a:lstStyle/>
          <a:p>
            <a:pPr algn="l">
              <a:spcBef>
                <a:spcPts val="0"/>
              </a:spcBef>
              <a:spcAft>
                <a:spcPts val="400"/>
              </a:spcAft>
            </a:pPr>
            <a:r>
              <a:rPr sz="1200" b="0">
                <a:solidFill>
                  <a:srgbClr val="161B26"/>
                </a:solidFill>
                <a:latin typeface="Arial"/>
              </a:rPr>
              <a:t>kubectl exec probe -- nslookup &lt;svc&gt;</a:t>
            </a:r>
          </a:p>
        </p:txBody>
      </p:sp>
      <p:sp>
        <p:nvSpPr>
          <p:cNvPr id="11" name="Rectangle 10"/>
          <p:cNvSpPr/>
          <p:nvPr/>
        </p:nvSpPr>
        <p:spPr>
          <a:xfrm>
            <a:off x="4160520" y="1755648"/>
            <a:ext cx="19050" cy="41148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777240" y="2350008"/>
            <a:ext cx="10652760" cy="594360"/>
          </a:xfrm>
          <a:prstGeom prst="roundRect">
            <a:avLst>
              <a:gd name="adj" fmla="val 5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350008"/>
            <a:ext cx="91440" cy="5943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05840" y="2350008"/>
            <a:ext cx="3108960" cy="594360"/>
          </a:xfrm>
          <a:prstGeom prst="rect">
            <a:avLst/>
          </a:prstGeom>
          <a:noFill/>
        </p:spPr>
        <p:txBody>
          <a:bodyPr wrap="square" anchor="ctr" lIns="0" rIns="0" tIns="0" bIns="0">
            <a:spAutoFit/>
          </a:bodyPr>
          <a:lstStyle/>
          <a:p>
            <a:pPr algn="l">
              <a:spcBef>
                <a:spcPts val="0"/>
              </a:spcBef>
              <a:spcAft>
                <a:spcPts val="400"/>
              </a:spcAft>
            </a:pPr>
            <a:r>
              <a:rPr sz="1300" b="1">
                <a:solidFill>
                  <a:srgbClr val="10B981"/>
                </a:solidFill>
                <a:latin typeface="Arial"/>
              </a:rPr>
              <a:t>Service has endpoints?</a:t>
            </a:r>
          </a:p>
        </p:txBody>
      </p:sp>
      <p:sp>
        <p:nvSpPr>
          <p:cNvPr id="15" name="TextBox 14"/>
          <p:cNvSpPr txBox="1"/>
          <p:nvPr/>
        </p:nvSpPr>
        <p:spPr>
          <a:xfrm>
            <a:off x="4251960" y="2350008"/>
            <a:ext cx="7040880" cy="594360"/>
          </a:xfrm>
          <a:prstGeom prst="rect">
            <a:avLst/>
          </a:prstGeom>
          <a:noFill/>
        </p:spPr>
        <p:txBody>
          <a:bodyPr wrap="square" anchor="ctr" lIns="0" rIns="0" tIns="0" bIns="0">
            <a:spAutoFit/>
          </a:bodyPr>
          <a:lstStyle/>
          <a:p>
            <a:pPr algn="l">
              <a:spcBef>
                <a:spcPts val="0"/>
              </a:spcBef>
              <a:spcAft>
                <a:spcPts val="400"/>
              </a:spcAft>
            </a:pPr>
            <a:r>
              <a:rPr sz="1200" b="0">
                <a:solidFill>
                  <a:srgbClr val="161B26"/>
                </a:solidFill>
                <a:latin typeface="Arial"/>
              </a:rPr>
              <a:t>kubectl get endpoints &lt;svc&gt;  — non-empty?</a:t>
            </a:r>
          </a:p>
        </p:txBody>
      </p:sp>
      <p:sp>
        <p:nvSpPr>
          <p:cNvPr id="16" name="Rectangle 15"/>
          <p:cNvSpPr/>
          <p:nvPr/>
        </p:nvSpPr>
        <p:spPr>
          <a:xfrm>
            <a:off x="4160520" y="2441448"/>
            <a:ext cx="19050" cy="41148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777240" y="3035808"/>
            <a:ext cx="10652760" cy="594360"/>
          </a:xfrm>
          <a:prstGeom prst="roundRect">
            <a:avLst>
              <a:gd name="adj" fmla="val 5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035808"/>
            <a:ext cx="91440" cy="5943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05840" y="3035808"/>
            <a:ext cx="3108960" cy="594360"/>
          </a:xfrm>
          <a:prstGeom prst="rect">
            <a:avLst/>
          </a:prstGeom>
          <a:noFill/>
        </p:spPr>
        <p:txBody>
          <a:bodyPr wrap="square" anchor="ctr" lIns="0" rIns="0" tIns="0" bIns="0">
            <a:spAutoFit/>
          </a:bodyPr>
          <a:lstStyle/>
          <a:p>
            <a:pPr algn="l">
              <a:spcBef>
                <a:spcPts val="0"/>
              </a:spcBef>
              <a:spcAft>
                <a:spcPts val="400"/>
              </a:spcAft>
            </a:pPr>
            <a:r>
              <a:rPr sz="1300" b="1">
                <a:solidFill>
                  <a:srgbClr val="7C3AED"/>
                </a:solidFill>
                <a:latin typeface="Arial"/>
              </a:rPr>
              <a:t>Selector matches labels?</a:t>
            </a:r>
          </a:p>
        </p:txBody>
      </p:sp>
      <p:sp>
        <p:nvSpPr>
          <p:cNvPr id="20" name="TextBox 19"/>
          <p:cNvSpPr txBox="1"/>
          <p:nvPr/>
        </p:nvSpPr>
        <p:spPr>
          <a:xfrm>
            <a:off x="4251960" y="3035808"/>
            <a:ext cx="7040880" cy="594360"/>
          </a:xfrm>
          <a:prstGeom prst="rect">
            <a:avLst/>
          </a:prstGeom>
          <a:noFill/>
        </p:spPr>
        <p:txBody>
          <a:bodyPr wrap="square" anchor="ctr" lIns="0" rIns="0" tIns="0" bIns="0">
            <a:spAutoFit/>
          </a:bodyPr>
          <a:lstStyle/>
          <a:p>
            <a:pPr algn="l">
              <a:spcBef>
                <a:spcPts val="0"/>
              </a:spcBef>
              <a:spcAft>
                <a:spcPts val="400"/>
              </a:spcAft>
            </a:pPr>
            <a:r>
              <a:rPr sz="1200" b="0">
                <a:solidFill>
                  <a:srgbClr val="161B26"/>
                </a:solidFill>
                <a:latin typeface="Arial"/>
              </a:rPr>
              <a:t>svc.spec.selector == pod.metadata.labels</a:t>
            </a:r>
          </a:p>
        </p:txBody>
      </p:sp>
      <p:sp>
        <p:nvSpPr>
          <p:cNvPr id="21" name="Rectangle 20"/>
          <p:cNvSpPr/>
          <p:nvPr/>
        </p:nvSpPr>
        <p:spPr>
          <a:xfrm>
            <a:off x="4160520" y="3127248"/>
            <a:ext cx="19050" cy="41148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777240" y="3721608"/>
            <a:ext cx="10652760" cy="594360"/>
          </a:xfrm>
          <a:prstGeom prst="roundRect">
            <a:avLst>
              <a:gd name="adj" fmla="val 5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3721608"/>
            <a:ext cx="91440" cy="59436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005840" y="3721608"/>
            <a:ext cx="3108960" cy="594360"/>
          </a:xfrm>
          <a:prstGeom prst="rect">
            <a:avLst/>
          </a:prstGeom>
          <a:noFill/>
        </p:spPr>
        <p:txBody>
          <a:bodyPr wrap="square" anchor="ctr" lIns="0" rIns="0" tIns="0" bIns="0">
            <a:spAutoFit/>
          </a:bodyPr>
          <a:lstStyle/>
          <a:p>
            <a:pPr algn="l">
              <a:spcBef>
                <a:spcPts val="0"/>
              </a:spcBef>
              <a:spcAft>
                <a:spcPts val="400"/>
              </a:spcAft>
            </a:pPr>
            <a:r>
              <a:rPr sz="1300" b="1">
                <a:solidFill>
                  <a:srgbClr val="F59E0B"/>
                </a:solidFill>
                <a:latin typeface="Arial"/>
              </a:rPr>
              <a:t>targetPort matches?</a:t>
            </a:r>
          </a:p>
        </p:txBody>
      </p:sp>
      <p:sp>
        <p:nvSpPr>
          <p:cNvPr id="25" name="TextBox 24"/>
          <p:cNvSpPr txBox="1"/>
          <p:nvPr/>
        </p:nvSpPr>
        <p:spPr>
          <a:xfrm>
            <a:off x="4251960" y="3721608"/>
            <a:ext cx="7040880" cy="594360"/>
          </a:xfrm>
          <a:prstGeom prst="rect">
            <a:avLst/>
          </a:prstGeom>
          <a:noFill/>
        </p:spPr>
        <p:txBody>
          <a:bodyPr wrap="square" anchor="ctr" lIns="0" rIns="0" tIns="0" bIns="0">
            <a:spAutoFit/>
          </a:bodyPr>
          <a:lstStyle/>
          <a:p>
            <a:pPr algn="l">
              <a:spcBef>
                <a:spcPts val="0"/>
              </a:spcBef>
              <a:spcAft>
                <a:spcPts val="400"/>
              </a:spcAft>
            </a:pPr>
            <a:r>
              <a:rPr sz="1200" b="0">
                <a:solidFill>
                  <a:srgbClr val="161B26"/>
                </a:solidFill>
                <a:latin typeface="Arial"/>
              </a:rPr>
              <a:t>svc.spec.ports[].targetPort == containerPort</a:t>
            </a:r>
          </a:p>
        </p:txBody>
      </p:sp>
      <p:sp>
        <p:nvSpPr>
          <p:cNvPr id="26" name="Rectangle 25"/>
          <p:cNvSpPr/>
          <p:nvPr/>
        </p:nvSpPr>
        <p:spPr>
          <a:xfrm>
            <a:off x="4160520" y="3813048"/>
            <a:ext cx="19050" cy="41148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777240" y="4407408"/>
            <a:ext cx="10652760" cy="594360"/>
          </a:xfrm>
          <a:prstGeom prst="roundRect">
            <a:avLst>
              <a:gd name="adj" fmla="val 5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407408"/>
            <a:ext cx="91440" cy="5943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05840" y="4407408"/>
            <a:ext cx="3108960" cy="594360"/>
          </a:xfrm>
          <a:prstGeom prst="rect">
            <a:avLst/>
          </a:prstGeom>
          <a:noFill/>
        </p:spPr>
        <p:txBody>
          <a:bodyPr wrap="square" anchor="ctr" lIns="0" rIns="0" tIns="0" bIns="0">
            <a:spAutoFit/>
          </a:bodyPr>
          <a:lstStyle/>
          <a:p>
            <a:pPr algn="l">
              <a:spcBef>
                <a:spcPts val="0"/>
              </a:spcBef>
              <a:spcAft>
                <a:spcPts val="400"/>
              </a:spcAft>
            </a:pPr>
            <a:r>
              <a:rPr sz="1300" b="1">
                <a:solidFill>
                  <a:srgbClr val="1F6FEB"/>
                </a:solidFill>
                <a:latin typeface="Arial"/>
              </a:rPr>
              <a:t>Pod IP reachable?</a:t>
            </a:r>
          </a:p>
        </p:txBody>
      </p:sp>
      <p:sp>
        <p:nvSpPr>
          <p:cNvPr id="30" name="TextBox 29"/>
          <p:cNvSpPr txBox="1"/>
          <p:nvPr/>
        </p:nvSpPr>
        <p:spPr>
          <a:xfrm>
            <a:off x="4251960" y="4407408"/>
            <a:ext cx="7040880" cy="594360"/>
          </a:xfrm>
          <a:prstGeom prst="rect">
            <a:avLst/>
          </a:prstGeom>
          <a:noFill/>
        </p:spPr>
        <p:txBody>
          <a:bodyPr wrap="square" anchor="ctr" lIns="0" rIns="0" tIns="0" bIns="0">
            <a:spAutoFit/>
          </a:bodyPr>
          <a:lstStyle/>
          <a:p>
            <a:pPr algn="l">
              <a:spcBef>
                <a:spcPts val="0"/>
              </a:spcBef>
              <a:spcAft>
                <a:spcPts val="400"/>
              </a:spcAft>
            </a:pPr>
            <a:r>
              <a:rPr sz="1200" b="0">
                <a:solidFill>
                  <a:srgbClr val="161B26"/>
                </a:solidFill>
                <a:latin typeface="Arial"/>
              </a:rPr>
              <a:t>curl http://&lt;podIP&gt;:&lt;port&gt;  — bypasses Service</a:t>
            </a:r>
          </a:p>
        </p:txBody>
      </p:sp>
      <p:sp>
        <p:nvSpPr>
          <p:cNvPr id="31" name="Rectangle 30"/>
          <p:cNvSpPr/>
          <p:nvPr/>
        </p:nvSpPr>
        <p:spPr>
          <a:xfrm>
            <a:off x="4160520" y="4498848"/>
            <a:ext cx="19050" cy="41148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777240" y="5093208"/>
            <a:ext cx="10652760" cy="594360"/>
          </a:xfrm>
          <a:prstGeom prst="roundRect">
            <a:avLst>
              <a:gd name="adj" fmla="val 5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777240" y="5093208"/>
            <a:ext cx="91440" cy="59436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5840" y="5093208"/>
            <a:ext cx="3108960" cy="594360"/>
          </a:xfrm>
          <a:prstGeom prst="rect">
            <a:avLst/>
          </a:prstGeom>
          <a:noFill/>
        </p:spPr>
        <p:txBody>
          <a:bodyPr wrap="square" anchor="ctr" lIns="0" rIns="0" tIns="0" bIns="0">
            <a:spAutoFit/>
          </a:bodyPr>
          <a:lstStyle/>
          <a:p>
            <a:pPr algn="l">
              <a:spcBef>
                <a:spcPts val="0"/>
              </a:spcBef>
              <a:spcAft>
                <a:spcPts val="400"/>
              </a:spcAft>
            </a:pPr>
            <a:r>
              <a:rPr sz="1300" b="1">
                <a:solidFill>
                  <a:srgbClr val="DC2626"/>
                </a:solidFill>
                <a:latin typeface="Arial"/>
              </a:rPr>
              <a:t>NetworkPolicy blocking?</a:t>
            </a:r>
          </a:p>
        </p:txBody>
      </p:sp>
      <p:sp>
        <p:nvSpPr>
          <p:cNvPr id="35" name="TextBox 34"/>
          <p:cNvSpPr txBox="1"/>
          <p:nvPr/>
        </p:nvSpPr>
        <p:spPr>
          <a:xfrm>
            <a:off x="4251960" y="5093208"/>
            <a:ext cx="7040880" cy="594360"/>
          </a:xfrm>
          <a:prstGeom prst="rect">
            <a:avLst/>
          </a:prstGeom>
          <a:noFill/>
        </p:spPr>
        <p:txBody>
          <a:bodyPr wrap="square" anchor="ctr" lIns="0" rIns="0" tIns="0" bIns="0">
            <a:spAutoFit/>
          </a:bodyPr>
          <a:lstStyle/>
          <a:p>
            <a:pPr algn="l">
              <a:spcBef>
                <a:spcPts val="0"/>
              </a:spcBef>
              <a:spcAft>
                <a:spcPts val="400"/>
              </a:spcAft>
            </a:pPr>
            <a:r>
              <a:rPr sz="1200" b="0">
                <a:solidFill>
                  <a:srgbClr val="161B26"/>
                </a:solidFill>
                <a:latin typeface="Arial"/>
              </a:rPr>
              <a:t>kubectl get netpol -n &lt;ns&gt;  — check podSelector</a:t>
            </a:r>
          </a:p>
        </p:txBody>
      </p:sp>
      <p:sp>
        <p:nvSpPr>
          <p:cNvPr id="36" name="Rectangle 35"/>
          <p:cNvSpPr/>
          <p:nvPr/>
        </p:nvSpPr>
        <p:spPr>
          <a:xfrm>
            <a:off x="4160520" y="5184648"/>
            <a:ext cx="19050" cy="41148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ounded Rectangle 36"/>
          <p:cNvSpPr/>
          <p:nvPr/>
        </p:nvSpPr>
        <p:spPr>
          <a:xfrm>
            <a:off x="777240" y="5779008"/>
            <a:ext cx="10652760" cy="594360"/>
          </a:xfrm>
          <a:prstGeom prst="roundRect">
            <a:avLst>
              <a:gd name="adj" fmla="val 5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777240" y="5779008"/>
            <a:ext cx="91440" cy="5943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005840" y="5779008"/>
            <a:ext cx="3108960" cy="594360"/>
          </a:xfrm>
          <a:prstGeom prst="rect">
            <a:avLst/>
          </a:prstGeom>
          <a:noFill/>
        </p:spPr>
        <p:txBody>
          <a:bodyPr wrap="square" anchor="ctr" lIns="0" rIns="0" tIns="0" bIns="0">
            <a:spAutoFit/>
          </a:bodyPr>
          <a:lstStyle/>
          <a:p>
            <a:pPr algn="l">
              <a:spcBef>
                <a:spcPts val="0"/>
              </a:spcBef>
              <a:spcAft>
                <a:spcPts val="400"/>
              </a:spcAft>
            </a:pPr>
            <a:r>
              <a:rPr sz="1300" b="1">
                <a:solidFill>
                  <a:srgbClr val="10B981"/>
                </a:solidFill>
                <a:latin typeface="Arial"/>
              </a:rPr>
              <a:t>kube-proxy alive?</a:t>
            </a:r>
          </a:p>
        </p:txBody>
      </p:sp>
      <p:sp>
        <p:nvSpPr>
          <p:cNvPr id="40" name="TextBox 39"/>
          <p:cNvSpPr txBox="1"/>
          <p:nvPr/>
        </p:nvSpPr>
        <p:spPr>
          <a:xfrm>
            <a:off x="4251960" y="5779008"/>
            <a:ext cx="7040880" cy="594360"/>
          </a:xfrm>
          <a:prstGeom prst="rect">
            <a:avLst/>
          </a:prstGeom>
          <a:noFill/>
        </p:spPr>
        <p:txBody>
          <a:bodyPr wrap="square" anchor="ctr" lIns="0" rIns="0" tIns="0" bIns="0">
            <a:spAutoFit/>
          </a:bodyPr>
          <a:lstStyle/>
          <a:p>
            <a:pPr algn="l">
              <a:spcBef>
                <a:spcPts val="0"/>
              </a:spcBef>
              <a:spcAft>
                <a:spcPts val="400"/>
              </a:spcAft>
            </a:pPr>
            <a:r>
              <a:rPr sz="1200" b="0">
                <a:solidFill>
                  <a:srgbClr val="161B26"/>
                </a:solidFill>
                <a:latin typeface="Arial"/>
              </a:rPr>
              <a:t>kubectl -n kube-system get pods -l k8s-app=kube-proxy</a:t>
            </a:r>
          </a:p>
        </p:txBody>
      </p:sp>
      <p:sp>
        <p:nvSpPr>
          <p:cNvPr id="41" name="Rectangle 40"/>
          <p:cNvSpPr/>
          <p:nvPr/>
        </p:nvSpPr>
        <p:spPr>
          <a:xfrm>
            <a:off x="4160520" y="5870448"/>
            <a:ext cx="19050" cy="41148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43" name="TextBox 42"/>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44" name="TextBox 43"/>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260</a:t>
            </a:r>
          </a:p>
        </p:txBody>
      </p:sp>
    </p:spTree>
  </p:cSld>
  <p:clrMapOvr>
    <a:masterClrMapping/>
  </p:clrMapOvr>
</p:sld>
</file>

<file path=ppt/slides/slide2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SERVICE DEBUGGING</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Service Request Routing — How Traffic Reaches Pods</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day3_s006_i1.jpg"/>
          <p:cNvPicPr>
            <a:picLocks noChangeAspect="1"/>
          </p:cNvPicPr>
          <p:nvPr/>
        </p:nvPicPr>
        <p:blipFill>
          <a:blip r:embed="rId2"/>
          <a:stretch>
            <a:fillRect/>
          </a:stretch>
        </p:blipFill>
        <p:spPr>
          <a:xfrm>
            <a:off x="2002986" y="1627632"/>
            <a:ext cx="8201268" cy="4544568"/>
          </a:xfrm>
          <a:prstGeom prst="rect">
            <a:avLst/>
          </a:prstGeom>
        </p:spPr>
      </p:pic>
      <p:sp>
        <p:nvSpPr>
          <p:cNvPr id="8" name="TextBox 7"/>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9" name="TextBox 8"/>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261</a:t>
            </a:r>
          </a:p>
        </p:txBody>
      </p:sp>
    </p:spTree>
  </p:cSld>
  <p:clrMapOvr>
    <a:masterClrMapping/>
  </p:clrMapOvr>
</p:sld>
</file>

<file path=ppt/slides/slide2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SERVICE DEBUGGING</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Service Type Inheritance — ClusterIP to LoadBalancer</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day3_s011_i1.jpg"/>
          <p:cNvPicPr>
            <a:picLocks noChangeAspect="1"/>
          </p:cNvPicPr>
          <p:nvPr/>
        </p:nvPicPr>
        <p:blipFill>
          <a:blip r:embed="rId2"/>
          <a:stretch>
            <a:fillRect/>
          </a:stretch>
        </p:blipFill>
        <p:spPr>
          <a:xfrm>
            <a:off x="2104908" y="1627632"/>
            <a:ext cx="7997424" cy="4544568"/>
          </a:xfrm>
          <a:prstGeom prst="rect">
            <a:avLst/>
          </a:prstGeom>
        </p:spPr>
      </p:pic>
      <p:sp>
        <p:nvSpPr>
          <p:cNvPr id="8" name="TextBox 7"/>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9" name="TextBox 8"/>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262</a:t>
            </a:r>
          </a:p>
        </p:txBody>
      </p:sp>
    </p:spTree>
  </p:cSld>
  <p:clrMapOvr>
    <a:masterClrMapping/>
  </p:clrMapOvr>
</p:sld>
</file>

<file path=ppt/slides/slide2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DAY 4 · SERVICE NETWORKING</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Troubleshoot Networking: DNS, Service Selector, Endpoints, CNI, NetworkPolicy</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64208"/>
            <a:ext cx="169164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09928"/>
            <a:ext cx="1691640" cy="365760"/>
          </a:xfrm>
          <a:prstGeom prst="rect">
            <a:avLst/>
          </a:prstGeom>
          <a:noFill/>
        </p:spPr>
        <p:txBody>
          <a:bodyPr wrap="square" anchor="t" lIns="0" rIns="0" tIns="0" bIns="0">
            <a:spAutoFit/>
          </a:bodyPr>
          <a:lstStyle/>
          <a:p>
            <a:pPr algn="ctr">
              <a:spcBef>
                <a:spcPts val="0"/>
              </a:spcBef>
              <a:spcAft>
                <a:spcPts val="400"/>
              </a:spcAft>
            </a:pPr>
            <a:r>
              <a:rPr sz="1600" b="1">
                <a:solidFill>
                  <a:srgbClr val="FFFFFF"/>
                </a:solidFill>
                <a:latin typeface="Arial"/>
              </a:rPr>
              <a:t>LAB 30</a:t>
            </a:r>
          </a:p>
        </p:txBody>
      </p:sp>
      <p:sp>
        <p:nvSpPr>
          <p:cNvPr id="9" name="TextBox 8"/>
          <p:cNvSpPr txBox="1"/>
          <p:nvPr/>
        </p:nvSpPr>
        <p:spPr>
          <a:xfrm>
            <a:off x="2697480" y="1691640"/>
            <a:ext cx="8778240" cy="411480"/>
          </a:xfrm>
          <a:prstGeom prst="rect">
            <a:avLst/>
          </a:prstGeom>
          <a:noFill/>
        </p:spPr>
        <p:txBody>
          <a:bodyPr wrap="square" anchor="ctr" lIns="0" rIns="0" tIns="0" bIns="0">
            <a:spAutoFit/>
          </a:bodyPr>
          <a:lstStyle/>
          <a:p>
            <a:pPr algn="l">
              <a:spcBef>
                <a:spcPts val="0"/>
              </a:spcBef>
              <a:spcAft>
                <a:spcPts val="400"/>
              </a:spcAft>
            </a:pPr>
            <a:r>
              <a:rPr sz="1400" b="1">
                <a:solidFill>
                  <a:srgbClr val="5B6372"/>
                </a:solidFill>
                <a:latin typeface="Arial"/>
              </a:rPr>
              <a:t>Network troubleshooting</a:t>
            </a:r>
          </a:p>
        </p:txBody>
      </p:sp>
      <p:sp>
        <p:nvSpPr>
          <p:cNvPr id="10" name="TextBox 9"/>
          <p:cNvSpPr txBox="1"/>
          <p:nvPr/>
        </p:nvSpPr>
        <p:spPr>
          <a:xfrm>
            <a:off x="777240" y="2286000"/>
            <a:ext cx="10698480" cy="1554480"/>
          </a:xfrm>
          <a:prstGeom prst="rect">
            <a:avLst/>
          </a:prstGeom>
          <a:noFill/>
        </p:spPr>
        <p:txBody>
          <a:bodyPr wrap="square" anchor="t" lIns="0" rIns="0" tIns="0" bIns="0">
            <a:spAutoFit/>
          </a:bodyPr>
          <a:lstStyle/>
          <a:p>
            <a:pPr algn="l">
              <a:spcBef>
                <a:spcPts val="0"/>
              </a:spcBef>
              <a:spcAft>
                <a:spcPts val="400"/>
              </a:spcAft>
            </a:pPr>
            <a:r>
              <a:rPr sz="1900" b="0">
                <a:solidFill>
                  <a:srgbClr val="161B26"/>
                </a:solidFill>
                <a:latin typeface="Arial"/>
              </a:rPr>
              <a:t>Follow a structured 7-step triage chain for Kubernetes networking failures: DNS -&gt; Service selector -&gt; Endpoints -&gt; CNI -&gt; NetworkPolicy -&gt; kube-proxy -&gt; routing. CKA 2026 tests this methodical approach in multi-step troubleshooting questions.</a:t>
            </a:r>
          </a:p>
        </p:txBody>
      </p:sp>
      <p:sp>
        <p:nvSpPr>
          <p:cNvPr id="11" name="Rounded Rectangle 10"/>
          <p:cNvSpPr/>
          <p:nvPr/>
        </p:nvSpPr>
        <p:spPr>
          <a:xfrm>
            <a:off x="777240" y="4069080"/>
            <a:ext cx="10698480" cy="1783080"/>
          </a:xfrm>
          <a:prstGeom prst="roundRect">
            <a:avLst>
              <a:gd name="adj" fmla="val 5000"/>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05840" y="4251960"/>
            <a:ext cx="10058400" cy="365760"/>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You'll build</a:t>
            </a:r>
          </a:p>
        </p:txBody>
      </p:sp>
      <p:sp>
        <p:nvSpPr>
          <p:cNvPr id="13" name="TextBox 12"/>
          <p:cNvSpPr txBox="1"/>
          <p:nvPr/>
        </p:nvSpPr>
        <p:spPr>
          <a:xfrm>
            <a:off x="1005840" y="4617720"/>
            <a:ext cx="10241280" cy="640080"/>
          </a:xfrm>
          <a:prstGeom prst="rect">
            <a:avLst/>
          </a:prstGeom>
          <a:noFill/>
        </p:spPr>
        <p:txBody>
          <a:bodyPr wrap="square" anchor="t" lIns="0" rIns="0" tIns="0" bIns="0">
            <a:spAutoFit/>
          </a:bodyPr>
          <a:lstStyle/>
          <a:p>
            <a:pPr algn="l">
              <a:spcBef>
                <a:spcPts val="0"/>
              </a:spcBef>
              <a:spcAft>
                <a:spcPts val="400"/>
              </a:spcAft>
            </a:pPr>
            <a:r>
              <a:rPr sz="1700" b="1">
                <a:solidFill>
                  <a:srgbClr val="161B26"/>
                </a:solidFill>
                <a:latin typeface="Arial"/>
              </a:rPr>
              <a:t>Deploy baseline app, break DNS by patching CoreDNS, break service selector, block traffic with NetworkPolicy, fix each layer and verify restoration.</a:t>
            </a:r>
          </a:p>
        </p:txBody>
      </p:sp>
      <p:sp>
        <p:nvSpPr>
          <p:cNvPr id="14" name="TextBox 13"/>
          <p:cNvSpPr txBox="1"/>
          <p:nvPr/>
        </p:nvSpPr>
        <p:spPr>
          <a:xfrm>
            <a:off x="1005840" y="5349240"/>
            <a:ext cx="10058400" cy="457200"/>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Key commands:  </a:t>
            </a:r>
            <a:r>
              <a:rPr sz="1300" b="0">
                <a:solidFill>
                  <a:srgbClr val="5B6372"/>
                </a:solidFill>
                <a:latin typeface="Arial"/>
              </a:rPr>
              <a:t>kubectl create · kubectl exec · kubectl get · » Always</a:t>
            </a:r>
          </a:p>
        </p:txBody>
      </p:sp>
      <p:sp>
        <p:nvSpPr>
          <p:cNvPr id="15" name="TextBox 14"/>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6" name="TextBox 15"/>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7" name="TextBox 16"/>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263</a:t>
            </a:r>
          </a:p>
        </p:txBody>
      </p:sp>
    </p:spTree>
  </p:cSld>
  <p:clrMapOvr>
    <a:masterClrMapping/>
  </p:clrMapOvr>
</p:sld>
</file>

<file path=ppt/slides/slide2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30  ·  COMMANDS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Troubleshoot Networking: DNS, Service Selector, Endpoints, CNI, NetworkPolicy</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91640"/>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Step 1 -- Deploy baseline</a:t>
            </a:r>
          </a:p>
        </p:txBody>
      </p:sp>
      <p:sp>
        <p:nvSpPr>
          <p:cNvPr id="8" name="Rounded Rectangle 7"/>
          <p:cNvSpPr/>
          <p:nvPr/>
        </p:nvSpPr>
        <p:spPr>
          <a:xfrm>
            <a:off x="777240" y="2075688"/>
            <a:ext cx="10652760" cy="896112"/>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075688"/>
            <a:ext cx="82296" cy="896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6" y="2139696"/>
            <a:ext cx="10323576" cy="804672"/>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kubectl create deployment app --image=nginx --replicas=2</a:t>
            </a:r>
          </a:p>
          <a:p>
            <a:pPr>
              <a:spcBef>
                <a:spcPts val="0"/>
              </a:spcBef>
              <a:spcAft>
                <a:spcPts val="0"/>
              </a:spcAft>
            </a:pPr>
            <a:r>
              <a:rPr sz="1050">
                <a:solidFill>
                  <a:srgbClr val="161B26"/>
                </a:solidFill>
                <a:latin typeface="Consolas"/>
              </a:rPr>
              <a:t>kubectl expose deploy app --port=80 --name=app-svc</a:t>
            </a:r>
          </a:p>
          <a:p>
            <a:pPr>
              <a:spcBef>
                <a:spcPts val="0"/>
              </a:spcBef>
              <a:spcAft>
                <a:spcPts val="0"/>
              </a:spcAft>
            </a:pPr>
            <a:r>
              <a:rPr sz="1050">
                <a:solidFill>
                  <a:srgbClr val="161B26"/>
                </a:solidFill>
                <a:latin typeface="Consolas"/>
              </a:rPr>
              <a:t>kubectl run dbg --image=nicolaka/netshoot --command -- sleep 3600</a:t>
            </a:r>
          </a:p>
          <a:p>
            <a:pPr>
              <a:spcBef>
                <a:spcPts val="0"/>
              </a:spcBef>
              <a:spcAft>
                <a:spcPts val="0"/>
              </a:spcAft>
            </a:pPr>
            <a:r>
              <a:rPr sz="1050">
                <a:solidFill>
                  <a:srgbClr val="161B26"/>
                </a:solidFill>
                <a:latin typeface="Consolas"/>
              </a:rPr>
              <a:t>kubectl exec dbg -- curl -s http://app-svc</a:t>
            </a:r>
          </a:p>
        </p:txBody>
      </p:sp>
      <p:sp>
        <p:nvSpPr>
          <p:cNvPr id="11" name="TextBox 10"/>
          <p:cNvSpPr txBox="1"/>
          <p:nvPr/>
        </p:nvSpPr>
        <p:spPr>
          <a:xfrm>
            <a:off x="777240" y="3154680"/>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Step 2 -- Layer 1: DNS check</a:t>
            </a:r>
          </a:p>
        </p:txBody>
      </p:sp>
      <p:sp>
        <p:nvSpPr>
          <p:cNvPr id="12" name="Rounded Rectangle 11"/>
          <p:cNvSpPr/>
          <p:nvPr/>
        </p:nvSpPr>
        <p:spPr>
          <a:xfrm>
            <a:off x="777240" y="3538728"/>
            <a:ext cx="10652760" cy="708660"/>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3538728"/>
            <a:ext cx="82296" cy="7086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3602736"/>
            <a:ext cx="10323576" cy="617220"/>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kubectl exec dbg -- nslookup app-svc.default.svc.cluster.local</a:t>
            </a:r>
          </a:p>
          <a:p>
            <a:pPr>
              <a:spcBef>
                <a:spcPts val="0"/>
              </a:spcBef>
              <a:spcAft>
                <a:spcPts val="0"/>
              </a:spcAft>
            </a:pPr>
            <a:r>
              <a:rPr sz="1050">
                <a:solidFill>
                  <a:srgbClr val="161B26"/>
                </a:solidFill>
                <a:latin typeface="Consolas"/>
              </a:rPr>
              <a:t>kubectl -n kube-system get pods -l k8s-app=kube-dns</a:t>
            </a:r>
          </a:p>
          <a:p>
            <a:pPr>
              <a:spcBef>
                <a:spcPts val="0"/>
              </a:spcBef>
              <a:spcAft>
                <a:spcPts val="0"/>
              </a:spcAft>
            </a:pPr>
            <a:r>
              <a:rPr sz="1050">
                <a:solidFill>
                  <a:srgbClr val="161B26"/>
                </a:solidFill>
                <a:latin typeface="Consolas"/>
              </a:rPr>
              <a:t>kubectl -n kube-system logs -l k8s-app=kube-dns | tail -20</a:t>
            </a:r>
          </a:p>
        </p:txBody>
      </p:sp>
      <p:sp>
        <p:nvSpPr>
          <p:cNvPr id="15" name="TextBox 14"/>
          <p:cNvSpPr txBox="1"/>
          <p:nvPr/>
        </p:nvSpPr>
        <p:spPr>
          <a:xfrm>
            <a:off x="777240" y="4430268"/>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Step 3 -- Layer 2: Service and Endpoints</a:t>
            </a:r>
          </a:p>
        </p:txBody>
      </p:sp>
      <p:sp>
        <p:nvSpPr>
          <p:cNvPr id="16" name="Rounded Rectangle 15"/>
          <p:cNvSpPr/>
          <p:nvPr/>
        </p:nvSpPr>
        <p:spPr>
          <a:xfrm>
            <a:off x="777240" y="4814316"/>
            <a:ext cx="10652760" cy="896112"/>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77240" y="4814316"/>
            <a:ext cx="82296" cy="896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96696" y="4878324"/>
            <a:ext cx="10323576" cy="804672"/>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kubectl get svc app-svc -o yaml | grep selector -A 5</a:t>
            </a:r>
          </a:p>
          <a:p>
            <a:pPr>
              <a:spcBef>
                <a:spcPts val="0"/>
              </a:spcBef>
              <a:spcAft>
                <a:spcPts val="0"/>
              </a:spcAft>
            </a:pPr>
            <a:r>
              <a:rPr sz="1050">
                <a:solidFill>
                  <a:srgbClr val="161B26"/>
                </a:solidFill>
                <a:latin typeface="Consolas"/>
              </a:rPr>
              <a:t>kubectl get endpoints app-svc</a:t>
            </a:r>
          </a:p>
          <a:p>
            <a:pPr>
              <a:spcBef>
                <a:spcPts val="0"/>
              </a:spcBef>
              <a:spcAft>
                <a:spcPts val="0"/>
              </a:spcAft>
            </a:pPr>
            <a:r>
              <a:rPr sz="1050">
                <a:solidFill>
                  <a:srgbClr val="161B26"/>
                </a:solidFill>
                <a:latin typeface="Consolas"/>
              </a:rPr>
              <a:t>kubectl get pods --show-labels</a:t>
            </a:r>
          </a:p>
          <a:p>
            <a:pPr>
              <a:spcBef>
                <a:spcPts val="0"/>
              </a:spcBef>
              <a:spcAft>
                <a:spcPts val="0"/>
              </a:spcAft>
            </a:pPr>
            <a:r>
              <a:rPr sz="1050">
                <a:solidFill>
                  <a:srgbClr val="161B26"/>
                </a:solidFill>
                <a:latin typeface="Consolas"/>
              </a:rPr>
              <a:t># Empty endpoints = selector mismatch -- compare and fix</a:t>
            </a:r>
          </a:p>
        </p:txBody>
      </p:sp>
      <p:sp>
        <p:nvSpPr>
          <p:cNvPr id="19" name="TextBox 18"/>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20" name="TextBox 19"/>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21" name="TextBox 20"/>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264</a:t>
            </a:r>
          </a:p>
        </p:txBody>
      </p:sp>
    </p:spTree>
  </p:cSld>
  <p:clrMapOvr>
    <a:masterClrMapping/>
  </p:clrMapOvr>
</p:sld>
</file>

<file path=ppt/slides/slide2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30  ·  COMMANDS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Troubleshoot Networking: DNS, Service Selector, Endpoints, CNI, NetworkPolicy (cont.)</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91640"/>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Step 4 -- Layers 3-7: CNI, NetworkPolicy, kube-proxy</a:t>
            </a:r>
          </a:p>
        </p:txBody>
      </p:sp>
      <p:sp>
        <p:nvSpPr>
          <p:cNvPr id="8" name="Rounded Rectangle 7"/>
          <p:cNvSpPr/>
          <p:nvPr/>
        </p:nvSpPr>
        <p:spPr>
          <a:xfrm>
            <a:off x="777240" y="2075688"/>
            <a:ext cx="10652760" cy="1083563"/>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075688"/>
            <a:ext cx="82296" cy="1083563"/>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6" y="2139696"/>
            <a:ext cx="10323576" cy="992123"/>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kubectl get pods -o wide</a:t>
            </a:r>
          </a:p>
          <a:p>
            <a:pPr>
              <a:spcBef>
                <a:spcPts val="0"/>
              </a:spcBef>
              <a:spcAft>
                <a:spcPts val="0"/>
              </a:spcAft>
            </a:pPr>
            <a:r>
              <a:rPr sz="1050">
                <a:solidFill>
                  <a:srgbClr val="161B26"/>
                </a:solidFill>
                <a:latin typeface="Consolas"/>
              </a:rPr>
              <a:t># Check pod IPs assigned (CNI OK)</a:t>
            </a:r>
          </a:p>
          <a:p>
            <a:pPr>
              <a:spcBef>
                <a:spcPts val="0"/>
              </a:spcBef>
              <a:spcAft>
                <a:spcPts val="0"/>
              </a:spcAft>
            </a:pPr>
            <a:r>
              <a:rPr sz="1050">
                <a:solidFill>
                  <a:srgbClr val="161B26"/>
                </a:solidFill>
                <a:latin typeface="Consolas"/>
              </a:rPr>
              <a:t>kubectl get networkpolicy -A</a:t>
            </a:r>
          </a:p>
          <a:p>
            <a:pPr>
              <a:spcBef>
                <a:spcPts val="0"/>
              </a:spcBef>
              <a:spcAft>
                <a:spcPts val="0"/>
              </a:spcAft>
            </a:pPr>
            <a:r>
              <a:rPr sz="1050">
                <a:solidFill>
                  <a:srgbClr val="161B26"/>
                </a:solidFill>
                <a:latin typeface="Consolas"/>
              </a:rPr>
              <a:t># Check for blocking policies</a:t>
            </a:r>
          </a:p>
          <a:p>
            <a:pPr>
              <a:spcBef>
                <a:spcPts val="0"/>
              </a:spcBef>
              <a:spcAft>
                <a:spcPts val="0"/>
              </a:spcAft>
            </a:pPr>
            <a:r>
              <a:rPr sz="1050">
                <a:solidFill>
                  <a:srgbClr val="161B26"/>
                </a:solidFill>
                <a:latin typeface="Consolas"/>
              </a:rPr>
              <a:t>kubectl -n kube-system get pods -l k8s-app=kube-proxy</a:t>
            </a:r>
          </a:p>
        </p:txBody>
      </p:sp>
      <p:sp>
        <p:nvSpPr>
          <p:cNvPr id="11" name="TextBox 10"/>
          <p:cNvSpPr txBox="1"/>
          <p:nvPr/>
        </p:nvSpPr>
        <p:spPr>
          <a:xfrm>
            <a:off x="777240" y="3342131"/>
            <a:ext cx="10652760" cy="310896"/>
          </a:xfrm>
          <a:prstGeom prst="rect">
            <a:avLst/>
          </a:prstGeom>
          <a:noFill/>
        </p:spPr>
        <p:txBody>
          <a:bodyPr wrap="square" anchor="t" lIns="0" rIns="0" tIns="0" bIns="0">
            <a:spAutoFit/>
          </a:bodyPr>
          <a:lstStyle/>
          <a:p>
            <a:pPr algn="l">
              <a:spcBef>
                <a:spcPts val="0"/>
              </a:spcBef>
              <a:spcAft>
                <a:spcPts val="400"/>
              </a:spcAft>
            </a:pPr>
            <a:r>
              <a:rPr sz="1300" b="1">
                <a:solidFill>
                  <a:srgbClr val="F59E0B"/>
                </a:solidFill>
                <a:latin typeface="Arial"/>
              </a:rPr>
              <a:t>Note   </a:t>
            </a:r>
            <a:r>
              <a:rPr sz="1300" b="0">
                <a:solidFill>
                  <a:srgbClr val="5B6372"/>
                </a:solidFill>
                <a:latin typeface="Arial"/>
              </a:rPr>
              <a:t>Always start with DNS -- 80% of Kubernetes networking problems are DNS. If DNS works but curl fails: check Service selector vs pod labels. If endpoints exist but curl fails: check NetworkPolicy or kube-proxy.</a:t>
            </a:r>
          </a:p>
        </p:txBody>
      </p:sp>
      <p:sp>
        <p:nvSpPr>
          <p:cNvPr id="12" name="TextBox 11"/>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3" name="TextBox 12"/>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4" name="TextBox 13"/>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265</a:t>
            </a:r>
          </a:p>
        </p:txBody>
      </p:sp>
    </p:spTree>
  </p:cSld>
  <p:clrMapOvr>
    <a:masterClrMapping/>
  </p:clrMapOvr>
</p:sld>
</file>

<file path=ppt/slides/slide2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30  ·  TEST IT</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Troubleshoot Networking: DNS, Service Selector, Endpoints, CNI, NetworkPolicy</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03120"/>
            <a:ext cx="10698480" cy="2560320"/>
          </a:xfrm>
          <a:prstGeom prst="roundRect">
            <a:avLst>
              <a:gd name="adj" fmla="val 5000"/>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lIns="0" rIns="0" tIns="0" bIns="0">
            <a:spAutoFit/>
          </a:bodyPr>
          <a:lstStyle/>
          <a:p>
            <a:pPr algn="l">
              <a:spcBef>
                <a:spcPts val="0"/>
              </a:spcBef>
              <a:spcAft>
                <a:spcPts val="400"/>
              </a:spcAft>
            </a:pPr>
            <a:r>
              <a:rPr sz="2200" b="1">
                <a:solidFill>
                  <a:srgbClr val="127A3E"/>
                </a:solidFill>
                <a:latin typeface="Arial"/>
              </a:rPr>
              <a:t>✅  Test it</a:t>
            </a:r>
          </a:p>
        </p:txBody>
      </p:sp>
      <p:sp>
        <p:nvSpPr>
          <p:cNvPr id="9" name="TextBox 8"/>
          <p:cNvSpPr txBox="1"/>
          <p:nvPr/>
        </p:nvSpPr>
        <p:spPr>
          <a:xfrm>
            <a:off x="1097280" y="3017520"/>
            <a:ext cx="10149840" cy="1463040"/>
          </a:xfrm>
          <a:prstGeom prst="rect">
            <a:avLst/>
          </a:prstGeom>
          <a:noFill/>
        </p:spPr>
        <p:txBody>
          <a:bodyPr wrap="square" anchor="t" lIns="0" rIns="0" tIns="0" bIns="0">
            <a:spAutoFit/>
          </a:bodyPr>
          <a:lstStyle/>
          <a:p>
            <a:pPr algn="l">
              <a:spcBef>
                <a:spcPts val="0"/>
              </a:spcBef>
              <a:spcAft>
                <a:spcPts val="400"/>
              </a:spcAft>
            </a:pPr>
            <a:r>
              <a:rPr sz="1800" b="0">
                <a:solidFill>
                  <a:srgbClr val="161B26"/>
                </a:solidFill>
                <a:latin typeface="Arial"/>
              </a:rPr>
              <a:t>Baseline curl to app-svc works. Selector mismatch: endpoints empty, curl fails. After fixing selector: endpoints repopulated, curl works again.</a:t>
            </a:r>
          </a:p>
        </p:txBody>
      </p:sp>
      <p:sp>
        <p:nvSpPr>
          <p:cNvPr id="10" name="TextBox 9"/>
          <p:cNvSpPr txBox="1"/>
          <p:nvPr/>
        </p:nvSpPr>
        <p:spPr>
          <a:xfrm>
            <a:off x="777240" y="4983480"/>
            <a:ext cx="10698480" cy="365760"/>
          </a:xfrm>
          <a:prstGeom prst="rect">
            <a:avLst/>
          </a:prstGeom>
          <a:noFill/>
        </p:spPr>
        <p:txBody>
          <a:bodyPr wrap="square" anchor="t" lIns="0" rIns="0" tIns="0" bIns="0">
            <a:spAutoFit/>
          </a:bodyPr>
          <a:lstStyle/>
          <a:p>
            <a:pPr algn="l">
              <a:spcBef>
                <a:spcPts val="0"/>
              </a:spcBef>
              <a:spcAft>
                <a:spcPts val="400"/>
              </a:spcAft>
            </a:pPr>
            <a:r>
              <a:rPr sz="1300" b="1">
                <a:solidFill>
                  <a:srgbClr val="10B981"/>
                </a:solidFill>
                <a:latin typeface="Arial"/>
              </a:rPr>
              <a:t>Killercoda:  </a:t>
            </a:r>
            <a:r>
              <a:rPr sz="1300" b="0">
                <a:solidFill>
                  <a:srgbClr val="5B6372"/>
                </a:solidFill>
                <a:latin typeface="Arial"/>
              </a:rPr>
              <a:t>https://killercoda.com/playgrounds/scenario/kubernetes</a:t>
            </a:r>
          </a:p>
        </p:txBody>
      </p:sp>
      <p:sp>
        <p:nvSpPr>
          <p:cNvPr id="11" name="TextBox 10"/>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266</a:t>
            </a:r>
          </a:p>
        </p:txBody>
      </p:sp>
    </p:spTree>
  </p:cSld>
  <p:clrMapOvr>
    <a:masterClrMapping/>
  </p:clrMapOvr>
</p:sld>
</file>

<file path=ppt/slides/slide2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lIns="0" rIns="0" tIns="0" bIns="0">
            <a:spAutoFit/>
          </a:bodyPr>
          <a:lstStyle/>
          <a:p>
            <a:pPr algn="l">
              <a:spcBef>
                <a:spcPts val="0"/>
              </a:spcBef>
              <a:spcAft>
                <a:spcPts val="400"/>
              </a:spcAft>
            </a:pPr>
            <a:r>
              <a:rPr sz="1800" b="1">
                <a:solidFill>
                  <a:srgbClr val="1F6FEB"/>
                </a:solidFill>
                <a:latin typeface="Arial"/>
              </a:rPr>
              <a:t>TOPIC 3</a:t>
            </a:r>
          </a:p>
        </p:txBody>
      </p:sp>
      <p:sp>
        <p:nvSpPr>
          <p:cNvPr id="6" name="TextBox 5"/>
          <p:cNvSpPr txBox="1"/>
          <p:nvPr/>
        </p:nvSpPr>
        <p:spPr>
          <a:xfrm>
            <a:off x="1143000" y="2743200"/>
            <a:ext cx="10424160" cy="1463040"/>
          </a:xfrm>
          <a:prstGeom prst="rect">
            <a:avLst/>
          </a:prstGeom>
          <a:noFill/>
        </p:spPr>
        <p:txBody>
          <a:bodyPr wrap="square" anchor="t" lIns="0" rIns="0" tIns="0" bIns="0">
            <a:spAutoFit/>
          </a:bodyPr>
          <a:lstStyle/>
          <a:p>
            <a:pPr algn="l">
              <a:spcBef>
                <a:spcPts val="0"/>
              </a:spcBef>
              <a:spcAft>
                <a:spcPts val="400"/>
              </a:spcAft>
            </a:pPr>
            <a:r>
              <a:rPr sz="4000" b="1">
                <a:solidFill>
                  <a:srgbClr val="161B26"/>
                </a:solidFill>
                <a:latin typeface="Arial"/>
              </a:rPr>
              <a:t>RBAC &amp; Scheduling Failures</a:t>
            </a:r>
          </a:p>
        </p:txBody>
      </p:sp>
      <p:sp>
        <p:nvSpPr>
          <p:cNvPr id="7" name="TextBox 6"/>
          <p:cNvSpPr txBox="1"/>
          <p:nvPr/>
        </p:nvSpPr>
        <p:spPr>
          <a:xfrm>
            <a:off x="1161288" y="4114800"/>
            <a:ext cx="10058400" cy="731520"/>
          </a:xfrm>
          <a:prstGeom prst="rect">
            <a:avLst/>
          </a:prstGeom>
          <a:noFill/>
        </p:spPr>
        <p:txBody>
          <a:bodyPr wrap="square" anchor="t" lIns="0" rIns="0" tIns="0" bIns="0">
            <a:spAutoFit/>
          </a:bodyPr>
          <a:lstStyle/>
          <a:p>
            <a:pPr algn="l">
              <a:spcBef>
                <a:spcPts val="0"/>
              </a:spcBef>
              <a:spcAft>
                <a:spcPts val="400"/>
              </a:spcAft>
            </a:pPr>
            <a:r>
              <a:rPr sz="1600" b="0">
                <a:solidFill>
                  <a:srgbClr val="5B6372"/>
                </a:solidFill>
                <a:latin typeface="Arial"/>
              </a:rPr>
              <a:t>Diagnose 403s, pending pods and node issues</a:t>
            </a:r>
          </a:p>
        </p:txBody>
      </p:sp>
      <p:sp>
        <p:nvSpPr>
          <p:cNvPr id="8" name="TextBox 7"/>
          <p:cNvSpPr txBox="1"/>
          <p:nvPr/>
        </p:nvSpPr>
        <p:spPr>
          <a:xfrm>
            <a:off x="9418320" y="640080"/>
            <a:ext cx="2286000" cy="1463040"/>
          </a:xfrm>
          <a:prstGeom prst="rect">
            <a:avLst/>
          </a:prstGeom>
          <a:noFill/>
        </p:spPr>
        <p:txBody>
          <a:bodyPr wrap="square" anchor="t" lIns="0" rIns="0" tIns="0" bIns="0">
            <a:spAutoFit/>
          </a:bodyPr>
          <a:lstStyle/>
          <a:p>
            <a:pPr algn="r">
              <a:spcBef>
                <a:spcPts val="0"/>
              </a:spcBef>
              <a:spcAft>
                <a:spcPts val="400"/>
              </a:spcAft>
            </a:pPr>
            <a:r>
              <a:rPr sz="7200" b="1">
                <a:solidFill>
                  <a:srgbClr val="E2E8F0"/>
                </a:solidFill>
                <a:latin typeface="Arial"/>
              </a:rPr>
              <a:t/>
            </a:r>
          </a:p>
        </p:txBody>
      </p:sp>
      <p:sp>
        <p:nvSpPr>
          <p:cNvPr id="9" name="TextBox 8"/>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0" name="TextBox 9"/>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1" name="TextBox 10"/>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267</a:t>
            </a:r>
          </a:p>
        </p:txBody>
      </p:sp>
    </p:spTree>
  </p:cSld>
  <p:clrMapOvr>
    <a:masterClrMapping/>
  </p:clrMapOvr>
</p:sld>
</file>

<file path=ppt/slides/slide2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ACCESS CONTROL</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RBAC Troubleshooting</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07040" cy="4480560"/>
          </a:xfrm>
          <a:prstGeom prst="rect">
            <a:avLst/>
          </a:prstGeom>
          <a:noFill/>
        </p:spPr>
        <p:txBody>
          <a:bodyPr wrap="square" lIns="0" rIns="0">
            <a:spAutoFit/>
          </a:bodyPr>
          <a:lstStyle/>
          <a:p>
            <a:pPr>
              <a:spcBef>
                <a:spcPts val="0"/>
              </a:spcBef>
              <a:spcAft>
                <a:spcPts val="1000"/>
              </a:spcAft>
            </a:pPr>
            <a:r>
              <a:rPr sz="1900" b="1">
                <a:solidFill>
                  <a:srgbClr val="1F6FEB"/>
                </a:solidFill>
                <a:latin typeface="Arial"/>
              </a:rPr>
              <a:t>•  </a:t>
            </a:r>
            <a:r>
              <a:rPr sz="1900">
                <a:solidFill>
                  <a:srgbClr val="161B26"/>
                </a:solidFill>
                <a:latin typeface="Arial"/>
              </a:rPr>
              <a:t>A 403 Forbidden response means the request was authenticated but not authorised.</a:t>
            </a:r>
          </a:p>
          <a:p>
            <a:pPr>
              <a:spcBef>
                <a:spcPts val="0"/>
              </a:spcBef>
              <a:spcAft>
                <a:spcPts val="1000"/>
              </a:spcAft>
            </a:pPr>
            <a:r>
              <a:rPr sz="1900" b="1">
                <a:solidFill>
                  <a:srgbClr val="1F6FEB"/>
                </a:solidFill>
                <a:latin typeface="Arial"/>
              </a:rPr>
              <a:t>•  </a:t>
            </a:r>
            <a:r>
              <a:rPr sz="1900">
                <a:solidFill>
                  <a:srgbClr val="161B26"/>
                </a:solidFill>
                <a:latin typeface="Arial"/>
              </a:rPr>
              <a:t>kubectl auth can-i &lt;verb&gt; &lt;resource&gt; --as=&lt;identity&gt; tests permissions without impersonating.</a:t>
            </a:r>
          </a:p>
          <a:p>
            <a:pPr>
              <a:spcBef>
                <a:spcPts val="0"/>
              </a:spcBef>
              <a:spcAft>
                <a:spcPts val="1000"/>
              </a:spcAft>
            </a:pPr>
            <a:r>
              <a:rPr sz="1900" b="1">
                <a:solidFill>
                  <a:srgbClr val="1F6FEB"/>
                </a:solidFill>
                <a:latin typeface="Arial"/>
              </a:rPr>
              <a:t>•  </a:t>
            </a:r>
            <a:r>
              <a:rPr sz="1900">
                <a:solidFill>
                  <a:srgbClr val="161B26"/>
                </a:solidFill>
                <a:latin typeface="Arial"/>
              </a:rPr>
              <a:t>Check the ServiceAccount's RoleBinding: kubectl get rolebindings,clusterrolebindings -A -o wide.</a:t>
            </a:r>
          </a:p>
          <a:p>
            <a:pPr>
              <a:spcBef>
                <a:spcPts val="0"/>
              </a:spcBef>
              <a:spcAft>
                <a:spcPts val="1000"/>
              </a:spcAft>
            </a:pPr>
            <a:r>
              <a:rPr sz="1900" b="1">
                <a:solidFill>
                  <a:srgbClr val="1F6FEB"/>
                </a:solidFill>
                <a:latin typeface="Arial"/>
              </a:rPr>
              <a:t>•  </a:t>
            </a:r>
            <a:r>
              <a:rPr sz="1900">
                <a:solidFill>
                  <a:srgbClr val="161B26"/>
                </a:solidFill>
                <a:latin typeface="Arial"/>
              </a:rPr>
              <a:t>Common mistake: Role + ClusterRoleBinding instead of Role + RoleBinding — access is then cluster-wide.</a:t>
            </a:r>
          </a:p>
        </p:txBody>
      </p:sp>
      <p:sp>
        <p:nvSpPr>
          <p:cNvPr id="8" name="TextBox 7"/>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9" name="TextBox 8"/>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268</a:t>
            </a:r>
          </a:p>
        </p:txBody>
      </p:sp>
    </p:spTree>
  </p:cSld>
  <p:clrMapOvr>
    <a:masterClrMapping/>
  </p:clrMapOvr>
</p:sld>
</file>

<file path=ppt/slides/slide2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SCHEDULING DEBUG</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Scheduling Failures</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07040" cy="4480560"/>
          </a:xfrm>
          <a:prstGeom prst="rect">
            <a:avLst/>
          </a:prstGeom>
          <a:noFill/>
        </p:spPr>
        <p:txBody>
          <a:bodyPr wrap="square" lIns="0" rIns="0">
            <a:spAutoFit/>
          </a:bodyPr>
          <a:lstStyle/>
          <a:p>
            <a:pPr>
              <a:spcBef>
                <a:spcPts val="0"/>
              </a:spcBef>
              <a:spcAft>
                <a:spcPts val="1000"/>
              </a:spcAft>
            </a:pPr>
            <a:r>
              <a:rPr sz="1900" b="1">
                <a:solidFill>
                  <a:srgbClr val="1F6FEB"/>
                </a:solidFill>
                <a:latin typeface="Arial"/>
              </a:rPr>
              <a:t>•  </a:t>
            </a:r>
            <a:r>
              <a:rPr sz="1900">
                <a:solidFill>
                  <a:srgbClr val="161B26"/>
                </a:solidFill>
                <a:latin typeface="Arial"/>
              </a:rPr>
              <a:t>Pod stuck in Pending: kubectl describe pod → Events → 'Insufficient cpu/memory' or 'no nodes match'.</a:t>
            </a:r>
          </a:p>
          <a:p>
            <a:pPr>
              <a:spcBef>
                <a:spcPts val="0"/>
              </a:spcBef>
              <a:spcAft>
                <a:spcPts val="1000"/>
              </a:spcAft>
            </a:pPr>
            <a:r>
              <a:rPr sz="1900" b="1">
                <a:solidFill>
                  <a:srgbClr val="1F6FEB"/>
                </a:solidFill>
                <a:latin typeface="Arial"/>
              </a:rPr>
              <a:t>•  </a:t>
            </a:r>
            <a:r>
              <a:rPr sz="1900">
                <a:solidFill>
                  <a:srgbClr val="161B26"/>
                </a:solidFill>
                <a:latin typeface="Arial"/>
              </a:rPr>
              <a:t>Taint check: kubectl describe node &lt;n&gt; | grep Taint — pod needs a matching toleration.</a:t>
            </a:r>
          </a:p>
          <a:p>
            <a:pPr>
              <a:spcBef>
                <a:spcPts val="0"/>
              </a:spcBef>
              <a:spcAft>
                <a:spcPts val="1000"/>
              </a:spcAft>
            </a:pPr>
            <a:r>
              <a:rPr sz="1900" b="1">
                <a:solidFill>
                  <a:srgbClr val="1F6FEB"/>
                </a:solidFill>
                <a:latin typeface="Arial"/>
              </a:rPr>
              <a:t>•  </a:t>
            </a:r>
            <a:r>
              <a:rPr sz="1900">
                <a:solidFill>
                  <a:srgbClr val="161B26"/>
                </a:solidFill>
                <a:latin typeface="Arial"/>
              </a:rPr>
              <a:t>nodeSelector / nodeAffinity mismatch: compare spec.nodeSelector with actual node labels.</a:t>
            </a:r>
          </a:p>
          <a:p>
            <a:pPr>
              <a:spcBef>
                <a:spcPts val="0"/>
              </a:spcBef>
              <a:spcAft>
                <a:spcPts val="1000"/>
              </a:spcAft>
            </a:pPr>
            <a:r>
              <a:rPr sz="1900" b="1">
                <a:solidFill>
                  <a:srgbClr val="1F6FEB"/>
                </a:solidFill>
                <a:latin typeface="Arial"/>
              </a:rPr>
              <a:t>•  </a:t>
            </a:r>
            <a:r>
              <a:rPr sz="1900">
                <a:solidFill>
                  <a:srgbClr val="161B26"/>
                </a:solidFill>
                <a:latin typeface="Arial"/>
              </a:rPr>
              <a:t>Unschedulable node: kubectl get nodes — NotReady or SchedulingDisabled blocks all new pods.</a:t>
            </a:r>
          </a:p>
        </p:txBody>
      </p:sp>
      <p:sp>
        <p:nvSpPr>
          <p:cNvPr id="8" name="TextBox 7"/>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9" name="TextBox 8"/>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269</a:t>
            </a:r>
          </a:p>
        </p:txBody>
      </p:sp>
    </p:spTree>
  </p:cSld>
  <p:clrMapOvr>
    <a:masterClrMapping/>
  </p:clrMapOvr>
</p:sld>
</file>

<file path=ppt/slides/slide2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DAY 4 · RBAC &amp; SCHEDULING</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Troubleshoot RBAC (403 Forbidden) and Scheduling Failures (Pending Pod)</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64208"/>
            <a:ext cx="169164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09928"/>
            <a:ext cx="1691640" cy="365760"/>
          </a:xfrm>
          <a:prstGeom prst="rect">
            <a:avLst/>
          </a:prstGeom>
          <a:noFill/>
        </p:spPr>
        <p:txBody>
          <a:bodyPr wrap="square" anchor="t" lIns="0" rIns="0" tIns="0" bIns="0">
            <a:spAutoFit/>
          </a:bodyPr>
          <a:lstStyle/>
          <a:p>
            <a:pPr algn="ctr">
              <a:spcBef>
                <a:spcPts val="0"/>
              </a:spcBef>
              <a:spcAft>
                <a:spcPts val="400"/>
              </a:spcAft>
            </a:pPr>
            <a:r>
              <a:rPr sz="1600" b="1">
                <a:solidFill>
                  <a:srgbClr val="FFFFFF"/>
                </a:solidFill>
                <a:latin typeface="Arial"/>
              </a:rPr>
              <a:t>LAB 31</a:t>
            </a:r>
          </a:p>
        </p:txBody>
      </p:sp>
      <p:sp>
        <p:nvSpPr>
          <p:cNvPr id="9" name="TextBox 8"/>
          <p:cNvSpPr txBox="1"/>
          <p:nvPr/>
        </p:nvSpPr>
        <p:spPr>
          <a:xfrm>
            <a:off x="2697480" y="1691640"/>
            <a:ext cx="8778240" cy="411480"/>
          </a:xfrm>
          <a:prstGeom prst="rect">
            <a:avLst/>
          </a:prstGeom>
          <a:noFill/>
        </p:spPr>
        <p:txBody>
          <a:bodyPr wrap="square" anchor="ctr" lIns="0" rIns="0" tIns="0" bIns="0">
            <a:spAutoFit/>
          </a:bodyPr>
          <a:lstStyle/>
          <a:p>
            <a:pPr algn="l">
              <a:spcBef>
                <a:spcPts val="0"/>
              </a:spcBef>
              <a:spcAft>
                <a:spcPts val="400"/>
              </a:spcAft>
            </a:pPr>
            <a:r>
              <a:rPr sz="1400" b="1">
                <a:solidFill>
                  <a:srgbClr val="5B6372"/>
                </a:solidFill>
                <a:latin typeface="Arial"/>
              </a:rPr>
              <a:t>RBAC and scheduling troubleshooting</a:t>
            </a:r>
          </a:p>
        </p:txBody>
      </p:sp>
      <p:sp>
        <p:nvSpPr>
          <p:cNvPr id="10" name="TextBox 9"/>
          <p:cNvSpPr txBox="1"/>
          <p:nvPr/>
        </p:nvSpPr>
        <p:spPr>
          <a:xfrm>
            <a:off x="777240" y="2286000"/>
            <a:ext cx="10698480" cy="1554480"/>
          </a:xfrm>
          <a:prstGeom prst="rect">
            <a:avLst/>
          </a:prstGeom>
          <a:noFill/>
        </p:spPr>
        <p:txBody>
          <a:bodyPr wrap="square" anchor="t" lIns="0" rIns="0" tIns="0" bIns="0">
            <a:spAutoFit/>
          </a:bodyPr>
          <a:lstStyle/>
          <a:p>
            <a:pPr algn="l">
              <a:spcBef>
                <a:spcPts val="0"/>
              </a:spcBef>
              <a:spcAft>
                <a:spcPts val="400"/>
              </a:spcAft>
            </a:pPr>
            <a:r>
              <a:rPr sz="1900" b="0">
                <a:solidFill>
                  <a:srgbClr val="161B26"/>
                </a:solidFill>
                <a:latin typeface="Arial"/>
              </a:rPr>
              <a:t>Diagnose and fix two of the most common CKA exam question types: a 403 Forbidden error caused by a missing ClusterRoleBinding, and a pod stuck in Pending due to a scheduling constraint (taint, node selector, or resource exhaustion).</a:t>
            </a:r>
          </a:p>
        </p:txBody>
      </p:sp>
      <p:sp>
        <p:nvSpPr>
          <p:cNvPr id="11" name="Rounded Rectangle 10"/>
          <p:cNvSpPr/>
          <p:nvPr/>
        </p:nvSpPr>
        <p:spPr>
          <a:xfrm>
            <a:off x="777240" y="4069080"/>
            <a:ext cx="10698480" cy="1783080"/>
          </a:xfrm>
          <a:prstGeom prst="roundRect">
            <a:avLst>
              <a:gd name="adj" fmla="val 5000"/>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05840" y="4251960"/>
            <a:ext cx="10058400" cy="365760"/>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You'll build</a:t>
            </a:r>
          </a:p>
        </p:txBody>
      </p:sp>
      <p:sp>
        <p:nvSpPr>
          <p:cNvPr id="13" name="TextBox 12"/>
          <p:cNvSpPr txBox="1"/>
          <p:nvPr/>
        </p:nvSpPr>
        <p:spPr>
          <a:xfrm>
            <a:off x="1005840" y="4617720"/>
            <a:ext cx="10241280" cy="640080"/>
          </a:xfrm>
          <a:prstGeom prst="rect">
            <a:avLst/>
          </a:prstGeom>
          <a:noFill/>
        </p:spPr>
        <p:txBody>
          <a:bodyPr wrap="square" anchor="t" lIns="0" rIns="0" tIns="0" bIns="0">
            <a:spAutoFit/>
          </a:bodyPr>
          <a:lstStyle/>
          <a:p>
            <a:pPr algn="l">
              <a:spcBef>
                <a:spcPts val="0"/>
              </a:spcBef>
              <a:spcAft>
                <a:spcPts val="400"/>
              </a:spcAft>
            </a:pPr>
            <a:r>
              <a:rPr sz="1700" b="1">
                <a:solidFill>
                  <a:srgbClr val="161B26"/>
                </a:solidFill>
                <a:latin typeface="Arial"/>
              </a:rPr>
              <a:t>Create SA + pod that fails with Forbidden, diagnose with auth can-i, add missing binding. Create pod that is Pending, diagnose with kubectl describe, fix constraint.</a:t>
            </a:r>
          </a:p>
        </p:txBody>
      </p:sp>
      <p:sp>
        <p:nvSpPr>
          <p:cNvPr id="14" name="TextBox 13"/>
          <p:cNvSpPr txBox="1"/>
          <p:nvPr/>
        </p:nvSpPr>
        <p:spPr>
          <a:xfrm>
            <a:off x="1005840" y="5349240"/>
            <a:ext cx="10058400" cy="457200"/>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Key commands:  </a:t>
            </a:r>
            <a:r>
              <a:rPr sz="1300" b="0">
                <a:solidFill>
                  <a:srgbClr val="5B6372"/>
                </a:solidFill>
                <a:latin typeface="Arial"/>
              </a:rPr>
              <a:t>kubectl create · kubectl run · kubectl describe · » kubectl</a:t>
            </a:r>
          </a:p>
        </p:txBody>
      </p:sp>
      <p:sp>
        <p:nvSpPr>
          <p:cNvPr id="15" name="TextBox 14"/>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6" name="TextBox 15"/>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7" name="TextBox 16"/>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270</a:t>
            </a:r>
          </a:p>
        </p:txBody>
      </p:sp>
    </p:spTree>
  </p:cSld>
  <p:clrMapOvr>
    <a:masterClrMapping/>
  </p:clrMapOvr>
</p:sld>
</file>

<file path=ppt/slides/slide2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31  ·  COMMANDS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Troubleshoot RBAC (403 Forbidden) and Scheduling Failures (Pending Pod)</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91640"/>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Part A -- RBAC: diagnose 403 Forbidden</a:t>
            </a:r>
          </a:p>
        </p:txBody>
      </p:sp>
      <p:sp>
        <p:nvSpPr>
          <p:cNvPr id="8" name="Rounded Rectangle 7"/>
          <p:cNvSpPr/>
          <p:nvPr/>
        </p:nvSpPr>
        <p:spPr>
          <a:xfrm>
            <a:off x="777240" y="2075688"/>
            <a:ext cx="10652760" cy="1271016"/>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075688"/>
            <a:ext cx="82296" cy="127101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6" y="2139696"/>
            <a:ext cx="10323576" cy="1179576"/>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kubectl create serviceaccount dev-sa</a:t>
            </a:r>
          </a:p>
          <a:p>
            <a:pPr>
              <a:spcBef>
                <a:spcPts val="0"/>
              </a:spcBef>
              <a:spcAft>
                <a:spcPts val="0"/>
              </a:spcAft>
            </a:pPr>
            <a:r>
              <a:rPr sz="1050">
                <a:solidFill>
                  <a:srgbClr val="161B26"/>
                </a:solidFill>
                <a:latin typeface="Consolas"/>
              </a:rPr>
              <a:t># Pod using dev-sa attempts to list pods:</a:t>
            </a:r>
          </a:p>
          <a:p>
            <a:pPr>
              <a:spcBef>
                <a:spcPts val="0"/>
              </a:spcBef>
              <a:spcAft>
                <a:spcPts val="0"/>
              </a:spcAft>
            </a:pPr>
            <a:r>
              <a:rPr sz="1050">
                <a:solidFill>
                  <a:srgbClr val="161B26"/>
                </a:solidFill>
                <a:latin typeface="Consolas"/>
              </a:rPr>
              <a:t>kubectl exec sa-pod -- kubectl get pods</a:t>
            </a:r>
          </a:p>
          <a:p>
            <a:pPr>
              <a:spcBef>
                <a:spcPts val="0"/>
              </a:spcBef>
              <a:spcAft>
                <a:spcPts val="0"/>
              </a:spcAft>
            </a:pPr>
            <a:r>
              <a:rPr sz="1050">
                <a:solidFill>
                  <a:srgbClr val="161B26"/>
                </a:solidFill>
                <a:latin typeface="Consolas"/>
              </a:rPr>
              <a:t># Error from server (Forbidden)</a:t>
            </a:r>
          </a:p>
          <a:p>
            <a:pPr>
              <a:spcBef>
                <a:spcPts val="0"/>
              </a:spcBef>
              <a:spcAft>
                <a:spcPts val="0"/>
              </a:spcAft>
            </a:pPr>
            <a:r>
              <a:rPr sz="1050">
                <a:solidFill>
                  <a:srgbClr val="161B26"/>
                </a:solidFill>
                <a:latin typeface="Consolas"/>
              </a:rPr>
              <a:t>kubectl auth can-i list pods --as=system:serviceaccount:default:dev-sa</a:t>
            </a:r>
          </a:p>
          <a:p>
            <a:pPr>
              <a:spcBef>
                <a:spcPts val="0"/>
              </a:spcBef>
              <a:spcAft>
                <a:spcPts val="0"/>
              </a:spcAft>
            </a:pPr>
            <a:r>
              <a:rPr sz="1050">
                <a:solidFill>
                  <a:srgbClr val="161B26"/>
                </a:solidFill>
                <a:latin typeface="Consolas"/>
              </a:rPr>
              <a:t># no</a:t>
            </a:r>
          </a:p>
        </p:txBody>
      </p:sp>
      <p:sp>
        <p:nvSpPr>
          <p:cNvPr id="11" name="TextBox 10"/>
          <p:cNvSpPr txBox="1"/>
          <p:nvPr/>
        </p:nvSpPr>
        <p:spPr>
          <a:xfrm>
            <a:off x="777240" y="3529584"/>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Part A -- Fix: create RoleBinding</a:t>
            </a:r>
          </a:p>
        </p:txBody>
      </p:sp>
      <p:sp>
        <p:nvSpPr>
          <p:cNvPr id="12" name="Rounded Rectangle 11"/>
          <p:cNvSpPr/>
          <p:nvPr/>
        </p:nvSpPr>
        <p:spPr>
          <a:xfrm>
            <a:off x="777240" y="3913632"/>
            <a:ext cx="10652760" cy="1271016"/>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3913632"/>
            <a:ext cx="82296" cy="127101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3977640"/>
            <a:ext cx="10323576" cy="1179576"/>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kubectl create clusterrolebinding dev-sa-view \</a:t>
            </a:r>
          </a:p>
          <a:p>
            <a:pPr>
              <a:spcBef>
                <a:spcPts val="0"/>
              </a:spcBef>
              <a:spcAft>
                <a:spcPts val="0"/>
              </a:spcAft>
            </a:pPr>
            <a:r>
              <a:rPr sz="1050">
                <a:solidFill>
                  <a:srgbClr val="161B26"/>
                </a:solidFill>
                <a:latin typeface="Consolas"/>
              </a:rPr>
              <a:t>  --clusterrole=view \</a:t>
            </a:r>
          </a:p>
          <a:p>
            <a:pPr>
              <a:spcBef>
                <a:spcPts val="0"/>
              </a:spcBef>
              <a:spcAft>
                <a:spcPts val="0"/>
              </a:spcAft>
            </a:pPr>
            <a:r>
              <a:rPr sz="1050">
                <a:solidFill>
                  <a:srgbClr val="161B26"/>
                </a:solidFill>
                <a:latin typeface="Consolas"/>
              </a:rPr>
              <a:t>  --serviceaccount=default:dev-sa</a:t>
            </a:r>
          </a:p>
          <a:p>
            <a:pPr>
              <a:spcBef>
                <a:spcPts val="0"/>
              </a:spcBef>
              <a:spcAft>
                <a:spcPts val="0"/>
              </a:spcAft>
            </a:pPr>
            <a:r>
              <a:rPr sz="1050">
                <a:solidFill>
                  <a:srgbClr val="161B26"/>
                </a:solidFill>
                <a:latin typeface="Consolas"/>
              </a:rPr>
              <a:t>kubectl auth can-i list pods --as=system:serviceaccount:default:dev-sa</a:t>
            </a:r>
          </a:p>
          <a:p>
            <a:pPr>
              <a:spcBef>
                <a:spcPts val="0"/>
              </a:spcBef>
              <a:spcAft>
                <a:spcPts val="0"/>
              </a:spcAft>
            </a:pPr>
            <a:r>
              <a:rPr sz="1050">
                <a:solidFill>
                  <a:srgbClr val="161B26"/>
                </a:solidFill>
                <a:latin typeface="Consolas"/>
              </a:rPr>
              <a:t># yes</a:t>
            </a:r>
          </a:p>
          <a:p>
            <a:pPr>
              <a:spcBef>
                <a:spcPts val="0"/>
              </a:spcBef>
              <a:spcAft>
                <a:spcPts val="0"/>
              </a:spcAft>
            </a:pPr>
            <a:r>
              <a:rPr sz="1050">
                <a:solidFill>
                  <a:srgbClr val="161B26"/>
                </a:solidFill>
                <a:latin typeface="Consolas"/>
              </a:rPr>
              <a:t>kubectl exec sa-pod -- kubectl get pods</a:t>
            </a:r>
          </a:p>
        </p:txBody>
      </p:sp>
      <p:sp>
        <p:nvSpPr>
          <p:cNvPr id="15" name="TextBox 14"/>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6" name="TextBox 15"/>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7" name="TextBox 16"/>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271</a:t>
            </a:r>
          </a:p>
        </p:txBody>
      </p:sp>
    </p:spTree>
  </p:cSld>
  <p:clrMapOvr>
    <a:masterClrMapping/>
  </p:clrMapOvr>
</p:sld>
</file>

<file path=ppt/slides/slide2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31  ·  COMMANDS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Troubleshoot RBAC (403 Forbidden) and Scheduling Failures (Pending Pod) (cont.)</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91640"/>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Part B -- Scheduling: diagnose Pending pod</a:t>
            </a:r>
          </a:p>
        </p:txBody>
      </p:sp>
      <p:sp>
        <p:nvSpPr>
          <p:cNvPr id="8" name="Rounded Rectangle 7"/>
          <p:cNvSpPr/>
          <p:nvPr/>
        </p:nvSpPr>
        <p:spPr>
          <a:xfrm>
            <a:off x="777240" y="2075688"/>
            <a:ext cx="10652760" cy="1083563"/>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075688"/>
            <a:ext cx="82296" cy="1083563"/>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6" y="2139696"/>
            <a:ext cx="10323576" cy="992123"/>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kubectl run pending-pod --image=nginx</a:t>
            </a:r>
          </a:p>
          <a:p>
            <a:pPr>
              <a:spcBef>
                <a:spcPts val="0"/>
              </a:spcBef>
              <a:spcAft>
                <a:spcPts val="0"/>
              </a:spcAft>
            </a:pPr>
            <a:r>
              <a:rPr sz="1050">
                <a:solidFill>
                  <a:srgbClr val="161B26"/>
                </a:solidFill>
                <a:latin typeface="Consolas"/>
              </a:rPr>
              <a:t>kubectl get pod pending-pod</a:t>
            </a:r>
          </a:p>
          <a:p>
            <a:pPr>
              <a:spcBef>
                <a:spcPts val="0"/>
              </a:spcBef>
              <a:spcAft>
                <a:spcPts val="0"/>
              </a:spcAft>
            </a:pPr>
            <a:r>
              <a:rPr sz="1050">
                <a:solidFill>
                  <a:srgbClr val="161B26"/>
                </a:solidFill>
                <a:latin typeface="Consolas"/>
              </a:rPr>
              <a:t># Pending</a:t>
            </a:r>
          </a:p>
          <a:p>
            <a:pPr>
              <a:spcBef>
                <a:spcPts val="0"/>
              </a:spcBef>
              <a:spcAft>
                <a:spcPts val="0"/>
              </a:spcAft>
            </a:pPr>
            <a:r>
              <a:rPr sz="1050">
                <a:solidFill>
                  <a:srgbClr val="161B26"/>
                </a:solidFill>
                <a:latin typeface="Consolas"/>
              </a:rPr>
              <a:t>kubectl describe pod pending-pod | grep -A20 Events</a:t>
            </a:r>
          </a:p>
          <a:p>
            <a:pPr>
              <a:spcBef>
                <a:spcPts val="0"/>
              </a:spcBef>
              <a:spcAft>
                <a:spcPts val="0"/>
              </a:spcAft>
            </a:pPr>
            <a:r>
              <a:rPr sz="1050">
                <a:solidFill>
                  <a:srgbClr val="161B26"/>
                </a:solidFill>
                <a:latin typeface="Consolas"/>
              </a:rPr>
              <a:t># Look for: Insufficient cpu, node(s) had taint, MatchNodeSelector</a:t>
            </a:r>
          </a:p>
        </p:txBody>
      </p:sp>
      <p:sp>
        <p:nvSpPr>
          <p:cNvPr id="11" name="TextBox 10"/>
          <p:cNvSpPr txBox="1"/>
          <p:nvPr/>
        </p:nvSpPr>
        <p:spPr>
          <a:xfrm>
            <a:off x="777240" y="3342131"/>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Part B -- Fix scheduling constraints</a:t>
            </a:r>
          </a:p>
        </p:txBody>
      </p:sp>
      <p:sp>
        <p:nvSpPr>
          <p:cNvPr id="12" name="Rounded Rectangle 11"/>
          <p:cNvSpPr/>
          <p:nvPr/>
        </p:nvSpPr>
        <p:spPr>
          <a:xfrm>
            <a:off x="777240" y="3726179"/>
            <a:ext cx="10652760" cy="2208276"/>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3726179"/>
            <a:ext cx="82296" cy="220827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3790187"/>
            <a:ext cx="10323576" cy="2116836"/>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 Taint causing failure:</a:t>
            </a:r>
          </a:p>
          <a:p>
            <a:pPr>
              <a:spcBef>
                <a:spcPts val="0"/>
              </a:spcBef>
              <a:spcAft>
                <a:spcPts val="0"/>
              </a:spcAft>
            </a:pPr>
            <a:r>
              <a:rPr sz="1050">
                <a:solidFill>
                  <a:srgbClr val="161B26"/>
                </a:solidFill>
                <a:latin typeface="Consolas"/>
              </a:rPr>
              <a:t>kubectl describe node worker01 | grep Taints</a:t>
            </a:r>
          </a:p>
          <a:p>
            <a:pPr>
              <a:spcBef>
                <a:spcPts val="0"/>
              </a:spcBef>
              <a:spcAft>
                <a:spcPts val="0"/>
              </a:spcAft>
            </a:pPr>
            <a:r>
              <a:rPr sz="1050">
                <a:solidFill>
                  <a:srgbClr val="161B26"/>
                </a:solidFill>
                <a:latin typeface="Consolas"/>
              </a:rPr>
              <a:t>kubectl taint node worker01 &lt;key&gt;-</a:t>
            </a:r>
          </a:p>
          <a:p>
            <a:pPr>
              <a:spcBef>
                <a:spcPts val="0"/>
              </a:spcBef>
              <a:spcAft>
                <a:spcPts val="0"/>
              </a:spcAft>
            </a:pPr>
            <a:r>
              <a:rPr sz="1050">
                <a:solidFill>
                  <a:srgbClr val="161B26"/>
                </a:solidFill>
                <a:latin typeface="Consolas"/>
              </a:rPr>
              <a:t># Remove taint</a:t>
            </a:r>
          </a:p>
          <a:p>
            <a:pPr>
              <a:spcBef>
                <a:spcPts val="0"/>
              </a:spcBef>
              <a:spcAft>
                <a:spcPts val="0"/>
              </a:spcAft>
            </a:pPr>
            <a:r>
              <a:rPr sz="1050">
                <a:solidFill>
                  <a:srgbClr val="161B26"/>
                </a:solidFill>
                <a:latin typeface="Consolas"/>
              </a:rPr>
              <a:t># Or add toleration to pod:</a:t>
            </a:r>
          </a:p>
          <a:p>
            <a:pPr>
              <a:spcBef>
                <a:spcPts val="0"/>
              </a:spcBef>
              <a:spcAft>
                <a:spcPts val="0"/>
              </a:spcAft>
            </a:pPr>
            <a:r>
              <a:rPr sz="1050">
                <a:solidFill>
                  <a:srgbClr val="161B26"/>
                </a:solidFill>
                <a:latin typeface="Consolas"/>
              </a:rPr>
              <a:t>tolerations:</a:t>
            </a:r>
          </a:p>
          <a:p>
            <a:pPr>
              <a:spcBef>
                <a:spcPts val="0"/>
              </a:spcBef>
              <a:spcAft>
                <a:spcPts val="0"/>
              </a:spcAft>
            </a:pPr>
            <a:r>
              <a:rPr sz="1050">
                <a:solidFill>
                  <a:srgbClr val="161B26"/>
                </a:solidFill>
                <a:latin typeface="Consolas"/>
              </a:rPr>
              <a:t>- key: &lt;key&gt;</a:t>
            </a:r>
          </a:p>
          <a:p>
            <a:pPr>
              <a:spcBef>
                <a:spcPts val="0"/>
              </a:spcBef>
              <a:spcAft>
                <a:spcPts val="0"/>
              </a:spcAft>
            </a:pPr>
            <a:r>
              <a:rPr sz="1050">
                <a:solidFill>
                  <a:srgbClr val="161B26"/>
                </a:solidFill>
                <a:latin typeface="Consolas"/>
              </a:rPr>
              <a:t>  operator: Exists</a:t>
            </a:r>
          </a:p>
          <a:p>
            <a:pPr>
              <a:spcBef>
                <a:spcPts val="0"/>
              </a:spcBef>
              <a:spcAft>
                <a:spcPts val="0"/>
              </a:spcAft>
            </a:pPr>
            <a:r>
              <a:rPr sz="1050">
                <a:solidFill>
                  <a:srgbClr val="161B26"/>
                </a:solidFill>
                <a:latin typeface="Consolas"/>
              </a:rPr>
              <a:t>  effect: NoSchedule</a:t>
            </a:r>
          </a:p>
          <a:p>
            <a:pPr>
              <a:spcBef>
                <a:spcPts val="0"/>
              </a:spcBef>
              <a:spcAft>
                <a:spcPts val="0"/>
              </a:spcAft>
            </a:pPr>
            <a:r>
              <a:rPr sz="1050">
                <a:solidFill>
                  <a:srgbClr val="161B26"/>
                </a:solidFill>
                <a:latin typeface="Consolas"/>
              </a:rPr>
              <a:t>kubectl get pod pending-pod -o wide</a:t>
            </a:r>
          </a:p>
          <a:p>
            <a:pPr>
              <a:spcBef>
                <a:spcPts val="0"/>
              </a:spcBef>
              <a:spcAft>
                <a:spcPts val="0"/>
              </a:spcAft>
            </a:pPr>
            <a:r>
              <a:rPr sz="1050">
                <a:solidFill>
                  <a:srgbClr val="161B26"/>
                </a:solidFill>
                <a:latin typeface="Consolas"/>
              </a:rPr>
              <a:t># Now Running</a:t>
            </a:r>
          </a:p>
        </p:txBody>
      </p:sp>
      <p:sp>
        <p:nvSpPr>
          <p:cNvPr id="15" name="TextBox 14"/>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6" name="TextBox 15"/>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7" name="TextBox 16"/>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272</a:t>
            </a:r>
          </a:p>
        </p:txBody>
      </p:sp>
    </p:spTree>
  </p:cSld>
  <p:clrMapOvr>
    <a:masterClrMapping/>
  </p:clrMapOvr>
</p:sld>
</file>

<file path=ppt/slides/slide2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31  ·  COMMANDS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Troubleshoot RBAC (403 Forbidden) and Scheduling Failures (Pending Pod) (cont.)</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91640"/>
            <a:ext cx="10652760" cy="310896"/>
          </a:xfrm>
          <a:prstGeom prst="rect">
            <a:avLst/>
          </a:prstGeom>
          <a:noFill/>
        </p:spPr>
        <p:txBody>
          <a:bodyPr wrap="square" anchor="t" lIns="0" rIns="0" tIns="0" bIns="0">
            <a:spAutoFit/>
          </a:bodyPr>
          <a:lstStyle/>
          <a:p>
            <a:pPr algn="l">
              <a:spcBef>
                <a:spcPts val="0"/>
              </a:spcBef>
              <a:spcAft>
                <a:spcPts val="400"/>
              </a:spcAft>
            </a:pPr>
            <a:r>
              <a:rPr sz="1300" b="1">
                <a:solidFill>
                  <a:srgbClr val="F59E0B"/>
                </a:solidFill>
                <a:latin typeface="Arial"/>
              </a:rPr>
              <a:t>Note   </a:t>
            </a:r>
            <a:r>
              <a:rPr sz="1300" b="0">
                <a:solidFill>
                  <a:srgbClr val="5B6372"/>
                </a:solidFill>
                <a:latin typeface="Arial"/>
              </a:rPr>
              <a:t>kubectl describe pod is ALWAYS the first command for a Pending pod -- Events shows exactly why. kubectl auth can-i --as is the fastest way to test what a ServiceAccount can do.</a:t>
            </a:r>
          </a:p>
        </p:txBody>
      </p:sp>
      <p:sp>
        <p:nvSpPr>
          <p:cNvPr id="8" name="TextBox 7"/>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9" name="TextBox 8"/>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273</a:t>
            </a:r>
          </a:p>
        </p:txBody>
      </p:sp>
    </p:spTree>
  </p:cSld>
  <p:clrMapOvr>
    <a:masterClrMapping/>
  </p:clrMapOvr>
</p:sld>
</file>

<file path=ppt/slides/slide2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31  ·  TEST IT</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Troubleshoot RBAC (403 Forbidden) and Scheduling Failures (Pending Pod)</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03120"/>
            <a:ext cx="10698480" cy="2560320"/>
          </a:xfrm>
          <a:prstGeom prst="roundRect">
            <a:avLst>
              <a:gd name="adj" fmla="val 5000"/>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lIns="0" rIns="0" tIns="0" bIns="0">
            <a:spAutoFit/>
          </a:bodyPr>
          <a:lstStyle/>
          <a:p>
            <a:pPr algn="l">
              <a:spcBef>
                <a:spcPts val="0"/>
              </a:spcBef>
              <a:spcAft>
                <a:spcPts val="400"/>
              </a:spcAft>
            </a:pPr>
            <a:r>
              <a:rPr sz="2200" b="1">
                <a:solidFill>
                  <a:srgbClr val="127A3E"/>
                </a:solidFill>
                <a:latin typeface="Arial"/>
              </a:rPr>
              <a:t>✅  Test it</a:t>
            </a:r>
          </a:p>
        </p:txBody>
      </p:sp>
      <p:sp>
        <p:nvSpPr>
          <p:cNvPr id="9" name="TextBox 8"/>
          <p:cNvSpPr txBox="1"/>
          <p:nvPr/>
        </p:nvSpPr>
        <p:spPr>
          <a:xfrm>
            <a:off x="1097280" y="3017520"/>
            <a:ext cx="10149840" cy="1463040"/>
          </a:xfrm>
          <a:prstGeom prst="rect">
            <a:avLst/>
          </a:prstGeom>
          <a:noFill/>
        </p:spPr>
        <p:txBody>
          <a:bodyPr wrap="square" anchor="t" lIns="0" rIns="0" tIns="0" bIns="0">
            <a:spAutoFit/>
          </a:bodyPr>
          <a:lstStyle/>
          <a:p>
            <a:pPr algn="l">
              <a:spcBef>
                <a:spcPts val="0"/>
              </a:spcBef>
              <a:spcAft>
                <a:spcPts val="400"/>
              </a:spcAft>
            </a:pPr>
            <a:r>
              <a:rPr sz="1800" b="0">
                <a:solidFill>
                  <a:srgbClr val="161B26"/>
                </a:solidFill>
                <a:latin typeface="Arial"/>
              </a:rPr>
              <a:t>After adding ClusterRoleBinding: SA can list pods, no Forbidden error. After fixing taint/selector: pod transitions from Pending to Running.</a:t>
            </a:r>
          </a:p>
        </p:txBody>
      </p:sp>
      <p:sp>
        <p:nvSpPr>
          <p:cNvPr id="10" name="TextBox 9"/>
          <p:cNvSpPr txBox="1"/>
          <p:nvPr/>
        </p:nvSpPr>
        <p:spPr>
          <a:xfrm>
            <a:off x="777240" y="4983480"/>
            <a:ext cx="10698480" cy="365760"/>
          </a:xfrm>
          <a:prstGeom prst="rect">
            <a:avLst/>
          </a:prstGeom>
          <a:noFill/>
        </p:spPr>
        <p:txBody>
          <a:bodyPr wrap="square" anchor="t" lIns="0" rIns="0" tIns="0" bIns="0">
            <a:spAutoFit/>
          </a:bodyPr>
          <a:lstStyle/>
          <a:p>
            <a:pPr algn="l">
              <a:spcBef>
                <a:spcPts val="0"/>
              </a:spcBef>
              <a:spcAft>
                <a:spcPts val="400"/>
              </a:spcAft>
            </a:pPr>
            <a:r>
              <a:rPr sz="1300" b="1">
                <a:solidFill>
                  <a:srgbClr val="10B981"/>
                </a:solidFill>
                <a:latin typeface="Arial"/>
              </a:rPr>
              <a:t>Killercoda:  </a:t>
            </a:r>
            <a:r>
              <a:rPr sz="1300" b="0">
                <a:solidFill>
                  <a:srgbClr val="5B6372"/>
                </a:solidFill>
                <a:latin typeface="Arial"/>
              </a:rPr>
              <a:t>https://killercoda.com/playgrounds/scenario/kubernetes</a:t>
            </a:r>
          </a:p>
        </p:txBody>
      </p:sp>
      <p:sp>
        <p:nvSpPr>
          <p:cNvPr id="11" name="TextBox 10"/>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274</a:t>
            </a:r>
          </a:p>
        </p:txBody>
      </p:sp>
    </p:spTree>
  </p:cSld>
  <p:clrMapOvr>
    <a:masterClrMapping/>
  </p:clrMapOvr>
</p:sld>
</file>

<file path=ppt/slides/slide2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lIns="0" rIns="0" tIns="0" bIns="0">
            <a:spAutoFit/>
          </a:bodyPr>
          <a:lstStyle/>
          <a:p>
            <a:pPr algn="l">
              <a:spcBef>
                <a:spcPts val="0"/>
              </a:spcBef>
              <a:spcAft>
                <a:spcPts val="400"/>
              </a:spcAft>
            </a:pPr>
            <a:r>
              <a:rPr sz="1600" b="1">
                <a:solidFill>
                  <a:srgbClr val="10B981"/>
                </a:solidFill>
                <a:latin typeface="Arial"/>
              </a:rPr>
              <a:t>COURSE COMPLETE</a:t>
            </a:r>
          </a:p>
        </p:txBody>
      </p:sp>
      <p:sp>
        <p:nvSpPr>
          <p:cNvPr id="5" name="TextBox 4"/>
          <p:cNvSpPr txBox="1"/>
          <p:nvPr/>
        </p:nvSpPr>
        <p:spPr>
          <a:xfrm>
            <a:off x="1005840" y="2560320"/>
            <a:ext cx="10332720" cy="2194560"/>
          </a:xfrm>
          <a:prstGeom prst="rect">
            <a:avLst/>
          </a:prstGeom>
          <a:noFill/>
        </p:spPr>
        <p:txBody>
          <a:bodyPr wrap="square" anchor="t" lIns="0" rIns="0" tIns="0" bIns="0">
            <a:spAutoFit/>
          </a:bodyPr>
          <a:lstStyle/>
          <a:p>
            <a:pPr algn="l">
              <a:spcBef>
                <a:spcPts val="0"/>
              </a:spcBef>
              <a:spcAft>
                <a:spcPts val="400"/>
              </a:spcAft>
            </a:pPr>
            <a:r>
              <a:rPr sz="3800" b="1">
                <a:solidFill>
                  <a:srgbClr val="161B26"/>
                </a:solidFill>
                <a:latin typeface="Arial"/>
              </a:rPr>
              <a:t>All five CKA domains complete.</a:t>
            </a:r>
          </a:p>
        </p:txBody>
      </p:sp>
      <p:sp>
        <p:nvSpPr>
          <p:cNvPr id="6" name="TextBox 5"/>
          <p:cNvSpPr txBox="1"/>
          <p:nvPr/>
        </p:nvSpPr>
        <p:spPr>
          <a:xfrm>
            <a:off x="1024128" y="4389120"/>
            <a:ext cx="10058400" cy="1097280"/>
          </a:xfrm>
          <a:prstGeom prst="rect">
            <a:avLst/>
          </a:prstGeom>
          <a:noFill/>
        </p:spPr>
        <p:txBody>
          <a:bodyPr wrap="square" anchor="t" lIns="0" rIns="0" tIns="0" bIns="0">
            <a:spAutoFit/>
          </a:bodyPr>
          <a:lstStyle/>
          <a:p>
            <a:pPr algn="l">
              <a:spcBef>
                <a:spcPts val="0"/>
              </a:spcBef>
              <a:spcAft>
                <a:spcPts val="400"/>
              </a:spcAft>
            </a:pPr>
            <a:r>
              <a:rPr sz="2000" b="0">
                <a:solidFill>
                  <a:srgbClr val="5B6372"/>
                </a:solidFill>
                <a:latin typeface="Arial"/>
              </a:rPr>
              <a:t>Architecture · Workloads · Networking · Storage · Troubleshooting.</a:t>
            </a:r>
          </a:p>
        </p:txBody>
      </p:sp>
      <p:sp>
        <p:nvSpPr>
          <p:cNvPr id="7" name="TextBox 6"/>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8" name="TextBox 7"/>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9" name="TextBox 8"/>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275</a:t>
            </a:r>
          </a:p>
        </p:txBody>
      </p:sp>
    </p:spTree>
  </p:cSld>
  <p:clrMapOvr>
    <a:masterClrMapping/>
  </p:clrMapOvr>
</p:sld>
</file>

<file path=ppt/slides/slide2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56832"/>
            <a:ext cx="12191695" cy="20116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937760" y="2148840"/>
            <a:ext cx="231343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0" y="2514600"/>
            <a:ext cx="12191695" cy="1097280"/>
          </a:xfrm>
          <a:prstGeom prst="rect">
            <a:avLst/>
          </a:prstGeom>
          <a:noFill/>
        </p:spPr>
        <p:txBody>
          <a:bodyPr wrap="square" anchor="t" lIns="0" rIns="0" tIns="0" bIns="0">
            <a:spAutoFit/>
          </a:bodyPr>
          <a:lstStyle/>
          <a:p>
            <a:pPr algn="ctr">
              <a:spcBef>
                <a:spcPts val="0"/>
              </a:spcBef>
              <a:spcAft>
                <a:spcPts val="400"/>
              </a:spcAft>
            </a:pPr>
            <a:r>
              <a:rPr sz="4800" b="1">
                <a:solidFill>
                  <a:srgbClr val="161B26"/>
                </a:solidFill>
                <a:latin typeface="Arial"/>
              </a:rPr>
              <a:t>Lunch Break</a:t>
            </a:r>
          </a:p>
        </p:txBody>
      </p:sp>
      <p:sp>
        <p:nvSpPr>
          <p:cNvPr id="7" name="TextBox 6"/>
          <p:cNvSpPr txBox="1"/>
          <p:nvPr/>
        </p:nvSpPr>
        <p:spPr>
          <a:xfrm>
            <a:off x="0" y="3703320"/>
            <a:ext cx="12191695" cy="731520"/>
          </a:xfrm>
          <a:prstGeom prst="rect">
            <a:avLst/>
          </a:prstGeom>
          <a:noFill/>
        </p:spPr>
        <p:txBody>
          <a:bodyPr wrap="square" anchor="t" lIns="0" rIns="0" tIns="0" bIns="0">
            <a:spAutoFit/>
          </a:bodyPr>
          <a:lstStyle/>
          <a:p>
            <a:pPr algn="ctr">
              <a:spcBef>
                <a:spcPts val="0"/>
              </a:spcBef>
              <a:spcAft>
                <a:spcPts val="400"/>
              </a:spcAft>
            </a:pPr>
            <a:r>
              <a:rPr sz="2200" b="1">
                <a:solidFill>
                  <a:srgbClr val="1F6FEB"/>
                </a:solidFill>
                <a:latin typeface="Arial"/>
              </a:rPr>
              <a:t>1 hour</a:t>
            </a:r>
          </a:p>
        </p:txBody>
      </p:sp>
    </p:spTree>
  </p:cSld>
  <p:clrMapOvr>
    <a:masterClrMapping/>
  </p:clrMapOvr>
</p:sld>
</file>

<file path=ppt/slides/slide2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lIns="0" rIns="0" tIns="0" bIns="0">
            <a:spAutoFit/>
          </a:bodyPr>
          <a:lstStyle/>
          <a:p>
            <a:pPr algn="l">
              <a:spcBef>
                <a:spcPts val="0"/>
              </a:spcBef>
              <a:spcAft>
                <a:spcPts val="400"/>
              </a:spcAft>
            </a:pPr>
            <a:r>
              <a:rPr sz="1800" b="1">
                <a:solidFill>
                  <a:srgbClr val="1F6FEB"/>
                </a:solidFill>
                <a:latin typeface="Arial"/>
              </a:rPr>
              <a:t>MOCK EXAM</a:t>
            </a:r>
          </a:p>
        </p:txBody>
      </p:sp>
      <p:sp>
        <p:nvSpPr>
          <p:cNvPr id="6" name="TextBox 5"/>
          <p:cNvSpPr txBox="1"/>
          <p:nvPr/>
        </p:nvSpPr>
        <p:spPr>
          <a:xfrm>
            <a:off x="1143000" y="2743200"/>
            <a:ext cx="10424160" cy="1463040"/>
          </a:xfrm>
          <a:prstGeom prst="rect">
            <a:avLst/>
          </a:prstGeom>
          <a:noFill/>
        </p:spPr>
        <p:txBody>
          <a:bodyPr wrap="square" anchor="t" lIns="0" rIns="0" tIns="0" bIns="0">
            <a:spAutoFit/>
          </a:bodyPr>
          <a:lstStyle/>
          <a:p>
            <a:pPr algn="l">
              <a:spcBef>
                <a:spcPts val="0"/>
              </a:spcBef>
              <a:spcAft>
                <a:spcPts val="400"/>
              </a:spcAft>
            </a:pPr>
            <a:r>
              <a:rPr sz="4000" b="1">
                <a:solidFill>
                  <a:srgbClr val="161B26"/>
                </a:solidFill>
                <a:latin typeface="Arial"/>
              </a:rPr>
              <a:t>Mock-Exam Practice — from 1:00 PM</a:t>
            </a:r>
          </a:p>
        </p:txBody>
      </p:sp>
      <p:sp>
        <p:nvSpPr>
          <p:cNvPr id="7" name="TextBox 6"/>
          <p:cNvSpPr txBox="1"/>
          <p:nvPr/>
        </p:nvSpPr>
        <p:spPr>
          <a:xfrm>
            <a:off x="1161288" y="4114800"/>
            <a:ext cx="10058400" cy="731520"/>
          </a:xfrm>
          <a:prstGeom prst="rect">
            <a:avLst/>
          </a:prstGeom>
          <a:noFill/>
        </p:spPr>
        <p:txBody>
          <a:bodyPr wrap="square" anchor="t" lIns="0" rIns="0" tIns="0" bIns="0">
            <a:spAutoFit/>
          </a:bodyPr>
          <a:lstStyle/>
          <a:p>
            <a:pPr algn="l">
              <a:spcBef>
                <a:spcPts val="0"/>
              </a:spcBef>
              <a:spcAft>
                <a:spcPts val="400"/>
              </a:spcAft>
            </a:pPr>
            <a:r>
              <a:rPr sz="1600" b="0">
                <a:solidFill>
                  <a:srgbClr val="5B6372"/>
                </a:solidFill>
                <a:latin typeface="Arial"/>
              </a:rPr>
              <a:t>Practise hands-on CKA questions · ask questions freely · killer.sh and Killercoda</a:t>
            </a:r>
          </a:p>
        </p:txBody>
      </p:sp>
      <p:sp>
        <p:nvSpPr>
          <p:cNvPr id="8" name="TextBox 7"/>
          <p:cNvSpPr txBox="1"/>
          <p:nvPr/>
        </p:nvSpPr>
        <p:spPr>
          <a:xfrm>
            <a:off x="9418320" y="640080"/>
            <a:ext cx="2286000" cy="1463040"/>
          </a:xfrm>
          <a:prstGeom prst="rect">
            <a:avLst/>
          </a:prstGeom>
          <a:noFill/>
        </p:spPr>
        <p:txBody>
          <a:bodyPr wrap="square" anchor="t" lIns="0" rIns="0" tIns="0" bIns="0">
            <a:spAutoFit/>
          </a:bodyPr>
          <a:lstStyle/>
          <a:p>
            <a:pPr algn="r">
              <a:spcBef>
                <a:spcPts val="0"/>
              </a:spcBef>
              <a:spcAft>
                <a:spcPts val="400"/>
              </a:spcAft>
            </a:pPr>
            <a:r>
              <a:rPr sz="7200" b="1">
                <a:solidFill>
                  <a:srgbClr val="E2E8F0"/>
                </a:solidFill>
                <a:latin typeface="Arial"/>
              </a:rPr>
              <a:t/>
            </a:r>
          </a:p>
        </p:txBody>
      </p:sp>
      <p:sp>
        <p:nvSpPr>
          <p:cNvPr id="9" name="TextBox 8"/>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0" name="TextBox 9"/>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1" name="TextBox 10"/>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277</a:t>
            </a:r>
          </a:p>
        </p:txBody>
      </p:sp>
    </p:spTree>
  </p:cSld>
  <p:clrMapOvr>
    <a:masterClrMapping/>
  </p:clrMapOvr>
</p:sld>
</file>

<file path=ppt/slides/slide2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WARM-UP</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Mock-Exam Practice (1:00 PM)</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07040" cy="4480560"/>
          </a:xfrm>
          <a:prstGeom prst="rect">
            <a:avLst/>
          </a:prstGeom>
          <a:noFill/>
        </p:spPr>
        <p:txBody>
          <a:bodyPr wrap="square" lIns="0" rIns="0">
            <a:spAutoFit/>
          </a:bodyPr>
          <a:lstStyle/>
          <a:p>
            <a:pPr>
              <a:spcBef>
                <a:spcPts val="0"/>
              </a:spcBef>
              <a:spcAft>
                <a:spcPts val="1000"/>
              </a:spcAft>
            </a:pPr>
            <a:r>
              <a:rPr sz="1900" b="1">
                <a:solidFill>
                  <a:srgbClr val="1F6FEB"/>
                </a:solidFill>
                <a:latin typeface="Arial"/>
              </a:rPr>
              <a:t>•  </a:t>
            </a:r>
            <a:r>
              <a:rPr sz="1900">
                <a:solidFill>
                  <a:srgbClr val="161B26"/>
                </a:solidFill>
                <a:latin typeface="Arial"/>
              </a:rPr>
              <a:t>Warm-up before the graded assessment — work through CKA-style hands-on tasks.</a:t>
            </a:r>
          </a:p>
          <a:p>
            <a:pPr>
              <a:spcBef>
                <a:spcPts val="0"/>
              </a:spcBef>
              <a:spcAft>
                <a:spcPts val="1000"/>
              </a:spcAft>
            </a:pPr>
            <a:r>
              <a:rPr sz="1900" b="1">
                <a:solidFill>
                  <a:srgbClr val="1F6FEB"/>
                </a:solidFill>
                <a:latin typeface="Arial"/>
              </a:rPr>
              <a:t>•  </a:t>
            </a:r>
            <a:r>
              <a:rPr sz="1900">
                <a:solidFill>
                  <a:srgbClr val="161B26"/>
                </a:solidFill>
                <a:latin typeface="Arial"/>
              </a:rPr>
              <a:t>Use killer.sh and Killercoda; rehearse alias k=kubectl and export do='--dry-run=client -o yaml'.</a:t>
            </a:r>
          </a:p>
          <a:p>
            <a:pPr>
              <a:spcBef>
                <a:spcPts val="0"/>
              </a:spcBef>
              <a:spcAft>
                <a:spcPts val="1000"/>
              </a:spcAft>
            </a:pPr>
            <a:r>
              <a:rPr sz="1900" b="1">
                <a:solidFill>
                  <a:srgbClr val="1F6FEB"/>
                </a:solidFill>
                <a:latin typeface="Arial"/>
              </a:rPr>
              <a:t>•  </a:t>
            </a:r>
            <a:r>
              <a:rPr sz="1900">
                <a:solidFill>
                  <a:srgbClr val="161B26"/>
                </a:solidFill>
                <a:latin typeface="Arial"/>
              </a:rPr>
              <a:t>The real CKA exam is 2 hours, 100% hands-on — time yourself on each question.</a:t>
            </a:r>
          </a:p>
          <a:p>
            <a:pPr>
              <a:spcBef>
                <a:spcPts val="0"/>
              </a:spcBef>
              <a:spcAft>
                <a:spcPts val="1000"/>
              </a:spcAft>
            </a:pPr>
            <a:r>
              <a:rPr sz="1900" b="1">
                <a:solidFill>
                  <a:srgbClr val="1F6FEB"/>
                </a:solidFill>
                <a:latin typeface="Arial"/>
              </a:rPr>
              <a:t>•  </a:t>
            </a:r>
            <a:r>
              <a:rPr sz="1900">
                <a:solidFill>
                  <a:srgbClr val="161B26"/>
                </a:solidFill>
                <a:latin typeface="Arial"/>
              </a:rPr>
              <a:t>Trainer is available for questions; the final assessment begins at 3:45 PM.</a:t>
            </a:r>
          </a:p>
        </p:txBody>
      </p:sp>
      <p:sp>
        <p:nvSpPr>
          <p:cNvPr id="8" name="TextBox 7"/>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9" name="TextBox 8"/>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278</a:t>
            </a:r>
          </a:p>
        </p:txBody>
      </p:sp>
    </p:spTree>
  </p:cSld>
  <p:clrMapOvr>
    <a:masterClrMapping/>
  </p:clrMapOvr>
</p:sld>
</file>

<file path=ppt/slides/slide2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56832"/>
            <a:ext cx="12191695" cy="2011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937760" y="2148840"/>
            <a:ext cx="2313432"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0" y="2514600"/>
            <a:ext cx="12191695" cy="1097280"/>
          </a:xfrm>
          <a:prstGeom prst="rect">
            <a:avLst/>
          </a:prstGeom>
          <a:noFill/>
        </p:spPr>
        <p:txBody>
          <a:bodyPr wrap="square" anchor="t" lIns="0" rIns="0" tIns="0" bIns="0">
            <a:spAutoFit/>
          </a:bodyPr>
          <a:lstStyle/>
          <a:p>
            <a:pPr algn="ctr">
              <a:spcBef>
                <a:spcPts val="0"/>
              </a:spcBef>
              <a:spcAft>
                <a:spcPts val="400"/>
              </a:spcAft>
            </a:pPr>
            <a:r>
              <a:rPr sz="4800" b="1">
                <a:solidFill>
                  <a:srgbClr val="161B26"/>
                </a:solidFill>
                <a:latin typeface="Arial"/>
              </a:rPr>
              <a:t>Tea Break</a:t>
            </a:r>
          </a:p>
        </p:txBody>
      </p:sp>
      <p:sp>
        <p:nvSpPr>
          <p:cNvPr id="7" name="TextBox 6"/>
          <p:cNvSpPr txBox="1"/>
          <p:nvPr/>
        </p:nvSpPr>
        <p:spPr>
          <a:xfrm>
            <a:off x="0" y="3703320"/>
            <a:ext cx="12191695" cy="731520"/>
          </a:xfrm>
          <a:prstGeom prst="rect">
            <a:avLst/>
          </a:prstGeom>
          <a:noFill/>
        </p:spPr>
        <p:txBody>
          <a:bodyPr wrap="square" anchor="t" lIns="0" rIns="0" tIns="0" bIns="0">
            <a:spAutoFit/>
          </a:bodyPr>
          <a:lstStyle/>
          <a:p>
            <a:pPr algn="ctr">
              <a:spcBef>
                <a:spcPts val="0"/>
              </a:spcBef>
              <a:spcAft>
                <a:spcPts val="400"/>
              </a:spcAft>
            </a:pPr>
            <a:r>
              <a:rPr sz="2200" b="1">
                <a:solidFill>
                  <a:srgbClr val="10B981"/>
                </a:solidFill>
                <a:latin typeface="Arial"/>
              </a:rPr>
              <a:t>15 minutes</a:t>
            </a:r>
          </a:p>
        </p:txBody>
      </p:sp>
    </p:spTree>
  </p:cSld>
  <p:clrMapOvr>
    <a:masterClrMapping/>
  </p:clrMapOvr>
</p:sld>
</file>

<file path=ppt/slides/slide2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lIns="0" rIns="0" tIns="0" bIns="0">
            <a:spAutoFit/>
          </a:bodyPr>
          <a:lstStyle/>
          <a:p>
            <a:pPr algn="l">
              <a:spcBef>
                <a:spcPts val="0"/>
              </a:spcBef>
              <a:spcAft>
                <a:spcPts val="400"/>
              </a:spcAft>
            </a:pPr>
            <a:r>
              <a:rPr sz="1800" b="1">
                <a:solidFill>
                  <a:srgbClr val="1F6FEB"/>
                </a:solidFill>
                <a:latin typeface="Arial"/>
              </a:rPr>
              <a:t>ASSESSMENT</a:t>
            </a:r>
          </a:p>
        </p:txBody>
      </p:sp>
      <p:sp>
        <p:nvSpPr>
          <p:cNvPr id="6" name="TextBox 5"/>
          <p:cNvSpPr txBox="1"/>
          <p:nvPr/>
        </p:nvSpPr>
        <p:spPr>
          <a:xfrm>
            <a:off x="1143000" y="2743200"/>
            <a:ext cx="10424160" cy="1463040"/>
          </a:xfrm>
          <a:prstGeom prst="rect">
            <a:avLst/>
          </a:prstGeom>
          <a:noFill/>
        </p:spPr>
        <p:txBody>
          <a:bodyPr wrap="square" anchor="t" lIns="0" rIns="0" tIns="0" bIns="0">
            <a:spAutoFit/>
          </a:bodyPr>
          <a:lstStyle/>
          <a:p>
            <a:pPr algn="l">
              <a:spcBef>
                <a:spcPts val="0"/>
              </a:spcBef>
              <a:spcAft>
                <a:spcPts val="400"/>
              </a:spcAft>
            </a:pPr>
            <a:r>
              <a:rPr sz="4000" b="1">
                <a:solidFill>
                  <a:srgbClr val="161B26"/>
                </a:solidFill>
                <a:latin typeface="Arial"/>
              </a:rPr>
              <a:t>Final Assessment — from 3:45 PM</a:t>
            </a:r>
          </a:p>
        </p:txBody>
      </p:sp>
      <p:sp>
        <p:nvSpPr>
          <p:cNvPr id="7" name="TextBox 6"/>
          <p:cNvSpPr txBox="1"/>
          <p:nvPr/>
        </p:nvSpPr>
        <p:spPr>
          <a:xfrm>
            <a:off x="1161288" y="4114800"/>
            <a:ext cx="10058400" cy="731520"/>
          </a:xfrm>
          <a:prstGeom prst="rect">
            <a:avLst/>
          </a:prstGeom>
          <a:noFill/>
        </p:spPr>
        <p:txBody>
          <a:bodyPr wrap="square" anchor="t" lIns="0" rIns="0" tIns="0" bIns="0">
            <a:spAutoFit/>
          </a:bodyPr>
          <a:lstStyle/>
          <a:p>
            <a:pPr algn="l">
              <a:spcBef>
                <a:spcPts val="0"/>
              </a:spcBef>
              <a:spcAft>
                <a:spcPts val="400"/>
              </a:spcAft>
            </a:pPr>
            <a:r>
              <a:rPr sz="1600" b="0">
                <a:solidFill>
                  <a:srgbClr val="5B6372"/>
                </a:solidFill>
                <a:latin typeface="Arial"/>
              </a:rPr>
              <a:t>Written / MCQ on the LMS · open book · covers all five CKA domains</a:t>
            </a:r>
          </a:p>
        </p:txBody>
      </p:sp>
      <p:sp>
        <p:nvSpPr>
          <p:cNvPr id="8" name="TextBox 7"/>
          <p:cNvSpPr txBox="1"/>
          <p:nvPr/>
        </p:nvSpPr>
        <p:spPr>
          <a:xfrm>
            <a:off x="9418320" y="640080"/>
            <a:ext cx="2286000" cy="1463040"/>
          </a:xfrm>
          <a:prstGeom prst="rect">
            <a:avLst/>
          </a:prstGeom>
          <a:noFill/>
        </p:spPr>
        <p:txBody>
          <a:bodyPr wrap="square" anchor="t" lIns="0" rIns="0" tIns="0" bIns="0">
            <a:spAutoFit/>
          </a:bodyPr>
          <a:lstStyle/>
          <a:p>
            <a:pPr algn="r">
              <a:spcBef>
                <a:spcPts val="0"/>
              </a:spcBef>
              <a:spcAft>
                <a:spcPts val="400"/>
              </a:spcAft>
            </a:pPr>
            <a:r>
              <a:rPr sz="7200" b="1">
                <a:solidFill>
                  <a:srgbClr val="E2E8F0"/>
                </a:solidFill>
                <a:latin typeface="Arial"/>
              </a:rPr>
              <a:t/>
            </a:r>
          </a:p>
        </p:txBody>
      </p:sp>
      <p:sp>
        <p:nvSpPr>
          <p:cNvPr id="9" name="TextBox 8"/>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0" name="TextBox 9"/>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1" name="TextBox 10"/>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280</a:t>
            </a:r>
          </a:p>
        </p:txBody>
      </p:sp>
    </p:spTree>
  </p:cSld>
  <p:clrMapOvr>
    <a:masterClrMapping/>
  </p:clrMapOvr>
</p:sld>
</file>

<file path=ppt/slides/slide2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FINAL ASSESSMENT</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Assessment</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1783080"/>
            <a:ext cx="5257800" cy="3657600"/>
          </a:xfrm>
          <a:prstGeom prst="roundRect">
            <a:avLst>
              <a:gd name="adj" fmla="val 5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88136" y="2093976"/>
            <a:ext cx="658368" cy="65836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ic_clip.png"/>
          <p:cNvPicPr>
            <a:picLocks noChangeAspect="1"/>
          </p:cNvPicPr>
          <p:nvPr/>
        </p:nvPicPr>
        <p:blipFill>
          <a:blip r:embed="rId2"/>
          <a:stretch>
            <a:fillRect/>
          </a:stretch>
        </p:blipFill>
        <p:spPr>
          <a:xfrm>
            <a:off x="1265895" y="2271735"/>
            <a:ext cx="302850" cy="302850"/>
          </a:xfrm>
          <a:prstGeom prst="rect">
            <a:avLst/>
          </a:prstGeom>
        </p:spPr>
      </p:pic>
      <p:sp>
        <p:nvSpPr>
          <p:cNvPr id="10" name="TextBox 9"/>
          <p:cNvSpPr txBox="1"/>
          <p:nvPr/>
        </p:nvSpPr>
        <p:spPr>
          <a:xfrm>
            <a:off x="1965960" y="2093976"/>
            <a:ext cx="3977640" cy="658368"/>
          </a:xfrm>
          <a:prstGeom prst="rect">
            <a:avLst/>
          </a:prstGeom>
          <a:noFill/>
        </p:spPr>
        <p:txBody>
          <a:bodyPr wrap="square" anchor="ctr" lIns="0" rIns="0" tIns="0" bIns="0">
            <a:spAutoFit/>
          </a:bodyPr>
          <a:lstStyle/>
          <a:p>
            <a:pPr algn="l">
              <a:spcBef>
                <a:spcPts val="0"/>
              </a:spcBef>
              <a:spcAft>
                <a:spcPts val="400"/>
              </a:spcAft>
            </a:pPr>
            <a:r>
              <a:rPr sz="1800" b="1">
                <a:solidFill>
                  <a:srgbClr val="161B26"/>
                </a:solidFill>
                <a:latin typeface="Arial"/>
              </a:rPr>
              <a:t>Final Assessment</a:t>
            </a:r>
          </a:p>
        </p:txBody>
      </p:sp>
      <p:sp>
        <p:nvSpPr>
          <p:cNvPr id="11" name="TextBox 10"/>
          <p:cNvSpPr txBox="1"/>
          <p:nvPr/>
        </p:nvSpPr>
        <p:spPr>
          <a:xfrm>
            <a:off x="1088136" y="3063240"/>
            <a:ext cx="4636008" cy="2194560"/>
          </a:xfrm>
          <a:prstGeom prst="rect">
            <a:avLst/>
          </a:prstGeom>
          <a:noFill/>
        </p:spPr>
        <p:txBody>
          <a:bodyPr wrap="square" lIns="0" rIns="0">
            <a:spAutoFit/>
          </a:bodyPr>
          <a:lstStyle/>
          <a:p>
            <a:pPr>
              <a:spcBef>
                <a:spcPts val="0"/>
              </a:spcBef>
              <a:spcAft>
                <a:spcPts val="1000"/>
              </a:spcAft>
            </a:pPr>
            <a:r>
              <a:rPr sz="1300" b="1">
                <a:solidFill>
                  <a:srgbClr val="1F6FEB"/>
                </a:solidFill>
                <a:latin typeface="Arial"/>
              </a:rPr>
              <a:t>•  </a:t>
            </a:r>
            <a:r>
              <a:rPr sz="1300">
                <a:solidFill>
                  <a:srgbClr val="161B26"/>
                </a:solidFill>
                <a:latin typeface="Arial"/>
              </a:rPr>
              <a:t>Written / MCQ assessment on the LMS</a:t>
            </a:r>
          </a:p>
          <a:p>
            <a:pPr>
              <a:spcBef>
                <a:spcPts val="0"/>
              </a:spcBef>
              <a:spcAft>
                <a:spcPts val="1000"/>
              </a:spcAft>
            </a:pPr>
            <a:r>
              <a:rPr sz="1300" b="1">
                <a:solidFill>
                  <a:srgbClr val="1F6FEB"/>
                </a:solidFill>
                <a:latin typeface="Arial"/>
              </a:rPr>
              <a:t>•  </a:t>
            </a:r>
            <a:r>
              <a:rPr sz="1300">
                <a:solidFill>
                  <a:srgbClr val="161B26"/>
                </a:solidFill>
                <a:latin typeface="Arial"/>
              </a:rPr>
              <a:t>Mock-exam practice from 1:00 PM; final assessment from 3:45 PM</a:t>
            </a:r>
          </a:p>
          <a:p>
            <a:pPr>
              <a:spcBef>
                <a:spcPts val="0"/>
              </a:spcBef>
              <a:spcAft>
                <a:spcPts val="1000"/>
              </a:spcAft>
            </a:pPr>
            <a:r>
              <a:rPr sz="1300" b="1">
                <a:solidFill>
                  <a:srgbClr val="1F6FEB"/>
                </a:solidFill>
                <a:latin typeface="Arial"/>
              </a:rPr>
              <a:t>•  </a:t>
            </a:r>
            <a:r>
              <a:rPr sz="1300">
                <a:solidFill>
                  <a:srgbClr val="161B26"/>
                </a:solidFill>
                <a:latin typeface="Arial"/>
              </a:rPr>
              <a:t>Covers all five CKA domains and the hands-on labs</a:t>
            </a:r>
          </a:p>
          <a:p>
            <a:pPr>
              <a:spcBef>
                <a:spcPts val="0"/>
              </a:spcBef>
              <a:spcAft>
                <a:spcPts val="1000"/>
              </a:spcAft>
            </a:pPr>
            <a:r>
              <a:rPr sz="1300" b="1">
                <a:solidFill>
                  <a:srgbClr val="1F6FEB"/>
                </a:solidFill>
                <a:latin typeface="Arial"/>
              </a:rPr>
              <a:t>•  </a:t>
            </a:r>
            <a:r>
              <a:rPr sz="1300">
                <a:solidFill>
                  <a:srgbClr val="161B26"/>
                </a:solidFill>
                <a:latin typeface="Arial"/>
              </a:rPr>
              <a:t>Open book — slides, Learner Guide &amp; kubernetes.io</a:t>
            </a:r>
          </a:p>
          <a:p>
            <a:pPr>
              <a:spcBef>
                <a:spcPts val="0"/>
              </a:spcBef>
              <a:spcAft>
                <a:spcPts val="1000"/>
              </a:spcAft>
            </a:pPr>
            <a:r>
              <a:rPr sz="1300" b="1">
                <a:solidFill>
                  <a:srgbClr val="1F6FEB"/>
                </a:solidFill>
                <a:latin typeface="Arial"/>
              </a:rPr>
              <a:t>•  </a:t>
            </a:r>
            <a:r>
              <a:rPr sz="1300">
                <a:solidFill>
                  <a:srgbClr val="161B26"/>
                </a:solidFill>
                <a:latin typeface="Arial"/>
              </a:rPr>
              <a:t>Must be attempted for SSG funding</a:t>
            </a:r>
          </a:p>
        </p:txBody>
      </p:sp>
      <p:sp>
        <p:nvSpPr>
          <p:cNvPr id="12" name="Rounded Rectangle 11"/>
          <p:cNvSpPr/>
          <p:nvPr/>
        </p:nvSpPr>
        <p:spPr>
          <a:xfrm>
            <a:off x="6309360" y="1783080"/>
            <a:ext cx="5257800" cy="3657600"/>
          </a:xfrm>
          <a:prstGeom prst="roundRect">
            <a:avLst>
              <a:gd name="adj" fmla="val 5000"/>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620256" y="2093976"/>
            <a:ext cx="658368" cy="658368"/>
          </a:xfrm>
          <a:prstGeom prst="ellipse">
            <a:avLst/>
          </a:prstGeom>
          <a:solidFill>
            <a:srgbClr val="0B4F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498080" y="2093976"/>
            <a:ext cx="3977640" cy="658368"/>
          </a:xfrm>
          <a:prstGeom prst="rect">
            <a:avLst/>
          </a:prstGeom>
          <a:noFill/>
        </p:spPr>
        <p:txBody>
          <a:bodyPr wrap="square" anchor="ctr" lIns="0" rIns="0" tIns="0" bIns="0">
            <a:spAutoFit/>
          </a:bodyPr>
          <a:lstStyle/>
          <a:p>
            <a:pPr algn="l">
              <a:spcBef>
                <a:spcPts val="0"/>
              </a:spcBef>
              <a:spcAft>
                <a:spcPts val="400"/>
              </a:spcAft>
            </a:pPr>
            <a:r>
              <a:rPr sz="1800" b="1">
                <a:solidFill>
                  <a:srgbClr val="FFFFFF"/>
                </a:solidFill>
                <a:latin typeface="Arial"/>
              </a:rPr>
              <a:t>Funding &amp; Competency</a:t>
            </a:r>
          </a:p>
        </p:txBody>
      </p:sp>
      <p:sp>
        <p:nvSpPr>
          <p:cNvPr id="15" name="TextBox 14"/>
          <p:cNvSpPr txBox="1"/>
          <p:nvPr/>
        </p:nvSpPr>
        <p:spPr>
          <a:xfrm>
            <a:off x="6620256" y="3108960"/>
            <a:ext cx="4636008" cy="1188720"/>
          </a:xfrm>
          <a:prstGeom prst="rect">
            <a:avLst/>
          </a:prstGeom>
          <a:noFill/>
        </p:spPr>
        <p:txBody>
          <a:bodyPr wrap="square" anchor="t" lIns="0" rIns="0" tIns="0" bIns="0">
            <a:spAutoFit/>
          </a:bodyPr>
          <a:lstStyle/>
          <a:p>
            <a:pPr algn="l">
              <a:spcBef>
                <a:spcPts val="0"/>
              </a:spcBef>
              <a:spcAft>
                <a:spcPts val="600"/>
              </a:spcAft>
            </a:pPr>
            <a:r>
              <a:rPr sz="1500" b="1">
                <a:solidFill>
                  <a:srgbClr val="FFFFFF"/>
                </a:solidFill>
                <a:latin typeface="Arial"/>
              </a:rPr>
              <a:t>Minimum 75% attendance</a:t>
            </a:r>
          </a:p>
          <a:p>
            <a:pPr algn="l">
              <a:spcBef>
                <a:spcPts val="0"/>
              </a:spcBef>
              <a:spcAft>
                <a:spcPts val="600"/>
              </a:spcAft>
            </a:pPr>
            <a:r>
              <a:rPr sz="1300" b="0">
                <a:solidFill>
                  <a:srgbClr val="CFE0FB"/>
                </a:solidFill>
                <a:latin typeface="Arial"/>
              </a:rPr>
              <a:t>Based on SSG digital attendance records.</a:t>
            </a:r>
          </a:p>
        </p:txBody>
      </p:sp>
      <p:sp>
        <p:nvSpPr>
          <p:cNvPr id="16" name="TextBox 15"/>
          <p:cNvSpPr txBox="1"/>
          <p:nvPr/>
        </p:nvSpPr>
        <p:spPr>
          <a:xfrm>
            <a:off x="6620256" y="4297680"/>
            <a:ext cx="4636008" cy="1188720"/>
          </a:xfrm>
          <a:prstGeom prst="rect">
            <a:avLst/>
          </a:prstGeom>
          <a:noFill/>
        </p:spPr>
        <p:txBody>
          <a:bodyPr wrap="square" anchor="t" lIns="0" rIns="0" tIns="0" bIns="0">
            <a:spAutoFit/>
          </a:bodyPr>
          <a:lstStyle/>
          <a:p>
            <a:pPr algn="l">
              <a:spcBef>
                <a:spcPts val="0"/>
              </a:spcBef>
              <a:spcAft>
                <a:spcPts val="600"/>
              </a:spcAft>
            </a:pPr>
            <a:r>
              <a:rPr sz="1500" b="1">
                <a:solidFill>
                  <a:srgbClr val="FFFFFF"/>
                </a:solidFill>
                <a:latin typeface="Arial"/>
              </a:rPr>
              <a:t>Assessed as Competent</a:t>
            </a:r>
          </a:p>
          <a:p>
            <a:pPr algn="l">
              <a:spcBef>
                <a:spcPts val="0"/>
              </a:spcBef>
              <a:spcAft>
                <a:spcPts val="600"/>
              </a:spcAft>
            </a:pPr>
            <a:r>
              <a:rPr sz="1300" b="0">
                <a:solidFill>
                  <a:srgbClr val="CFE0FB"/>
                </a:solidFill>
                <a:latin typeface="Arial"/>
              </a:rPr>
              <a:t>Pass the written / MCQ assessment.</a:t>
            </a:r>
          </a:p>
        </p:txBody>
      </p:sp>
      <p:sp>
        <p:nvSpPr>
          <p:cNvPr id="17" name="TextBox 16"/>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8" name="TextBox 17"/>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9" name="TextBox 18"/>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281</a:t>
            </a:r>
          </a:p>
        </p:txBody>
      </p:sp>
    </p:spTree>
  </p:cSld>
  <p:clrMapOvr>
    <a:masterClrMapping/>
  </p:clrMapOvr>
</p:sld>
</file>

<file path=ppt/slides/slide2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ASSESSMENT RULES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Briefing for Assessment</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1737360"/>
            <a:ext cx="3368040" cy="1783080"/>
          </a:xfrm>
          <a:prstGeom prst="roundRect">
            <a:avLst>
              <a:gd name="adj" fmla="val 5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24128" y="1984248"/>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ic_br1.png"/>
          <p:cNvPicPr>
            <a:picLocks noChangeAspect="1"/>
          </p:cNvPicPr>
          <p:nvPr/>
        </p:nvPicPr>
        <p:blipFill>
          <a:blip r:embed="rId2"/>
          <a:stretch>
            <a:fillRect/>
          </a:stretch>
        </p:blipFill>
        <p:spPr>
          <a:xfrm>
            <a:off x="1177198" y="2137318"/>
            <a:ext cx="260788" cy="260788"/>
          </a:xfrm>
          <a:prstGeom prst="rect">
            <a:avLst/>
          </a:prstGeom>
        </p:spPr>
      </p:pic>
      <p:sp>
        <p:nvSpPr>
          <p:cNvPr id="10" name="TextBox 9"/>
          <p:cNvSpPr txBox="1"/>
          <p:nvPr/>
        </p:nvSpPr>
        <p:spPr>
          <a:xfrm>
            <a:off x="1755648" y="1984248"/>
            <a:ext cx="2545080" cy="566928"/>
          </a:xfrm>
          <a:prstGeom prst="rect">
            <a:avLst/>
          </a:prstGeom>
          <a:noFill/>
        </p:spPr>
        <p:txBody>
          <a:bodyPr wrap="square" anchor="ctr" lIns="0" rIns="0" tIns="0" bIns="0">
            <a:spAutoFit/>
          </a:bodyPr>
          <a:lstStyle/>
          <a:p>
            <a:pPr algn="l">
              <a:spcBef>
                <a:spcPts val="0"/>
              </a:spcBef>
              <a:spcAft>
                <a:spcPts val="400"/>
              </a:spcAft>
            </a:pPr>
            <a:r>
              <a:rPr sz="1500" b="1">
                <a:solidFill>
                  <a:srgbClr val="161B26"/>
                </a:solidFill>
                <a:latin typeface="Arial"/>
              </a:rPr>
              <a:t>Clear your space</a:t>
            </a:r>
          </a:p>
        </p:txBody>
      </p:sp>
      <p:sp>
        <p:nvSpPr>
          <p:cNvPr id="11" name="TextBox 10"/>
          <p:cNvSpPr txBox="1"/>
          <p:nvPr/>
        </p:nvSpPr>
        <p:spPr>
          <a:xfrm>
            <a:off x="1024128" y="2697480"/>
            <a:ext cx="2874264" cy="731520"/>
          </a:xfrm>
          <a:prstGeom prst="rect">
            <a:avLst/>
          </a:prstGeom>
          <a:noFill/>
        </p:spPr>
        <p:txBody>
          <a:bodyPr wrap="square" anchor="t" lIns="0" rIns="0" tIns="0" bIns="0">
            <a:spAutoFit/>
          </a:bodyPr>
          <a:lstStyle/>
          <a:p>
            <a:pPr algn="l">
              <a:spcBef>
                <a:spcPts val="0"/>
              </a:spcBef>
              <a:spcAft>
                <a:spcPts val="400"/>
              </a:spcAft>
            </a:pPr>
            <a:r>
              <a:rPr sz="1200" b="0">
                <a:solidFill>
                  <a:srgbClr val="5B6372"/>
                </a:solidFill>
                <a:latin typeface="Arial"/>
              </a:rPr>
              <a:t>Keep only approved materials on the table.</a:t>
            </a:r>
          </a:p>
        </p:txBody>
      </p:sp>
      <p:sp>
        <p:nvSpPr>
          <p:cNvPr id="12" name="Rounded Rectangle 11"/>
          <p:cNvSpPr/>
          <p:nvPr/>
        </p:nvSpPr>
        <p:spPr>
          <a:xfrm>
            <a:off x="4419600" y="1737360"/>
            <a:ext cx="3368040" cy="1783080"/>
          </a:xfrm>
          <a:prstGeom prst="roundRect">
            <a:avLst>
              <a:gd name="adj" fmla="val 5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666488" y="1984248"/>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ic_br2.png"/>
          <p:cNvPicPr>
            <a:picLocks noChangeAspect="1"/>
          </p:cNvPicPr>
          <p:nvPr/>
        </p:nvPicPr>
        <p:blipFill>
          <a:blip r:embed="rId3"/>
          <a:stretch>
            <a:fillRect/>
          </a:stretch>
        </p:blipFill>
        <p:spPr>
          <a:xfrm>
            <a:off x="4819558" y="2137318"/>
            <a:ext cx="260788" cy="260788"/>
          </a:xfrm>
          <a:prstGeom prst="rect">
            <a:avLst/>
          </a:prstGeom>
        </p:spPr>
      </p:pic>
      <p:sp>
        <p:nvSpPr>
          <p:cNvPr id="15" name="TextBox 14"/>
          <p:cNvSpPr txBox="1"/>
          <p:nvPr/>
        </p:nvSpPr>
        <p:spPr>
          <a:xfrm>
            <a:off x="5398008" y="1984248"/>
            <a:ext cx="2545080" cy="566928"/>
          </a:xfrm>
          <a:prstGeom prst="rect">
            <a:avLst/>
          </a:prstGeom>
          <a:noFill/>
        </p:spPr>
        <p:txBody>
          <a:bodyPr wrap="square" anchor="ctr" lIns="0" rIns="0" tIns="0" bIns="0">
            <a:spAutoFit/>
          </a:bodyPr>
          <a:lstStyle/>
          <a:p>
            <a:pPr algn="l">
              <a:spcBef>
                <a:spcPts val="0"/>
              </a:spcBef>
              <a:spcAft>
                <a:spcPts val="400"/>
              </a:spcAft>
            </a:pPr>
            <a:r>
              <a:rPr sz="1500" b="1">
                <a:solidFill>
                  <a:srgbClr val="161B26"/>
                </a:solidFill>
                <a:latin typeface="Arial"/>
              </a:rPr>
              <a:t>No recording</a:t>
            </a:r>
          </a:p>
        </p:txBody>
      </p:sp>
      <p:sp>
        <p:nvSpPr>
          <p:cNvPr id="16" name="TextBox 15"/>
          <p:cNvSpPr txBox="1"/>
          <p:nvPr/>
        </p:nvSpPr>
        <p:spPr>
          <a:xfrm>
            <a:off x="4666488" y="2697480"/>
            <a:ext cx="2874264" cy="731520"/>
          </a:xfrm>
          <a:prstGeom prst="rect">
            <a:avLst/>
          </a:prstGeom>
          <a:noFill/>
        </p:spPr>
        <p:txBody>
          <a:bodyPr wrap="square" anchor="t" lIns="0" rIns="0" tIns="0" bIns="0">
            <a:spAutoFit/>
          </a:bodyPr>
          <a:lstStyle/>
          <a:p>
            <a:pPr algn="l">
              <a:spcBef>
                <a:spcPts val="0"/>
              </a:spcBef>
              <a:spcAft>
                <a:spcPts val="400"/>
              </a:spcAft>
            </a:pPr>
            <a:r>
              <a:rPr sz="1200" b="0">
                <a:solidFill>
                  <a:srgbClr val="5B6372"/>
                </a:solidFill>
                <a:latin typeface="Arial"/>
              </a:rPr>
              <a:t>No photos of the assessment.</a:t>
            </a:r>
          </a:p>
        </p:txBody>
      </p:sp>
      <p:sp>
        <p:nvSpPr>
          <p:cNvPr id="17" name="Rounded Rectangle 16"/>
          <p:cNvSpPr/>
          <p:nvPr/>
        </p:nvSpPr>
        <p:spPr>
          <a:xfrm>
            <a:off x="8061960" y="1737360"/>
            <a:ext cx="3368040" cy="1783080"/>
          </a:xfrm>
          <a:prstGeom prst="roundRect">
            <a:avLst>
              <a:gd name="adj" fmla="val 5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8308848" y="1984248"/>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ic_br3.png"/>
          <p:cNvPicPr>
            <a:picLocks noChangeAspect="1"/>
          </p:cNvPicPr>
          <p:nvPr/>
        </p:nvPicPr>
        <p:blipFill>
          <a:blip r:embed="rId4"/>
          <a:stretch>
            <a:fillRect/>
          </a:stretch>
        </p:blipFill>
        <p:spPr>
          <a:xfrm>
            <a:off x="8461918" y="2137318"/>
            <a:ext cx="260788" cy="260788"/>
          </a:xfrm>
          <a:prstGeom prst="rect">
            <a:avLst/>
          </a:prstGeom>
        </p:spPr>
      </p:pic>
      <p:sp>
        <p:nvSpPr>
          <p:cNvPr id="20" name="TextBox 19"/>
          <p:cNvSpPr txBox="1"/>
          <p:nvPr/>
        </p:nvSpPr>
        <p:spPr>
          <a:xfrm>
            <a:off x="9040368" y="1984248"/>
            <a:ext cx="2545080" cy="566928"/>
          </a:xfrm>
          <a:prstGeom prst="rect">
            <a:avLst/>
          </a:prstGeom>
          <a:noFill/>
        </p:spPr>
        <p:txBody>
          <a:bodyPr wrap="square" anchor="ctr" lIns="0" rIns="0" tIns="0" bIns="0">
            <a:spAutoFit/>
          </a:bodyPr>
          <a:lstStyle/>
          <a:p>
            <a:pPr algn="l">
              <a:spcBef>
                <a:spcPts val="0"/>
              </a:spcBef>
              <a:spcAft>
                <a:spcPts val="400"/>
              </a:spcAft>
            </a:pPr>
            <a:r>
              <a:rPr sz="1500" b="1">
                <a:solidFill>
                  <a:srgbClr val="161B26"/>
                </a:solidFill>
                <a:latin typeface="Arial"/>
              </a:rPr>
              <a:t>Work individually</a:t>
            </a:r>
          </a:p>
        </p:txBody>
      </p:sp>
      <p:sp>
        <p:nvSpPr>
          <p:cNvPr id="21" name="TextBox 20"/>
          <p:cNvSpPr txBox="1"/>
          <p:nvPr/>
        </p:nvSpPr>
        <p:spPr>
          <a:xfrm>
            <a:off x="8308848" y="2697480"/>
            <a:ext cx="2874264" cy="731520"/>
          </a:xfrm>
          <a:prstGeom prst="rect">
            <a:avLst/>
          </a:prstGeom>
          <a:noFill/>
        </p:spPr>
        <p:txBody>
          <a:bodyPr wrap="square" anchor="t" lIns="0" rIns="0" tIns="0" bIns="0">
            <a:spAutoFit/>
          </a:bodyPr>
          <a:lstStyle/>
          <a:p>
            <a:pPr algn="l">
              <a:spcBef>
                <a:spcPts val="0"/>
              </a:spcBef>
              <a:spcAft>
                <a:spcPts val="400"/>
              </a:spcAft>
            </a:pPr>
            <a:r>
              <a:rPr sz="1200" b="0">
                <a:solidFill>
                  <a:srgbClr val="5B6372"/>
                </a:solidFill>
                <a:latin typeface="Arial"/>
              </a:rPr>
              <a:t>No discussion during the assessment.</a:t>
            </a:r>
          </a:p>
        </p:txBody>
      </p:sp>
      <p:sp>
        <p:nvSpPr>
          <p:cNvPr id="22" name="Rounded Rectangle 21"/>
          <p:cNvSpPr/>
          <p:nvPr/>
        </p:nvSpPr>
        <p:spPr>
          <a:xfrm>
            <a:off x="777240" y="3767328"/>
            <a:ext cx="3368040" cy="1783080"/>
          </a:xfrm>
          <a:prstGeom prst="roundRect">
            <a:avLst>
              <a:gd name="adj" fmla="val 5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1024128" y="401421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4" name="Picture 23" descr="ic_br4.png"/>
          <p:cNvPicPr>
            <a:picLocks noChangeAspect="1"/>
          </p:cNvPicPr>
          <p:nvPr/>
        </p:nvPicPr>
        <p:blipFill>
          <a:blip r:embed="rId5"/>
          <a:stretch>
            <a:fillRect/>
          </a:stretch>
        </p:blipFill>
        <p:spPr>
          <a:xfrm>
            <a:off x="1177198" y="4167286"/>
            <a:ext cx="260788" cy="260788"/>
          </a:xfrm>
          <a:prstGeom prst="rect">
            <a:avLst/>
          </a:prstGeom>
        </p:spPr>
      </p:pic>
      <p:sp>
        <p:nvSpPr>
          <p:cNvPr id="25" name="TextBox 24"/>
          <p:cNvSpPr txBox="1"/>
          <p:nvPr/>
        </p:nvSpPr>
        <p:spPr>
          <a:xfrm>
            <a:off x="1755648" y="4014216"/>
            <a:ext cx="2545080" cy="566928"/>
          </a:xfrm>
          <a:prstGeom prst="rect">
            <a:avLst/>
          </a:prstGeom>
          <a:noFill/>
        </p:spPr>
        <p:txBody>
          <a:bodyPr wrap="square" anchor="ctr" lIns="0" rIns="0" tIns="0" bIns="0">
            <a:spAutoFit/>
          </a:bodyPr>
          <a:lstStyle/>
          <a:p>
            <a:pPr algn="l">
              <a:spcBef>
                <a:spcPts val="0"/>
              </a:spcBef>
              <a:spcAft>
                <a:spcPts val="400"/>
              </a:spcAft>
            </a:pPr>
            <a:r>
              <a:rPr sz="1500" b="1">
                <a:solidFill>
                  <a:srgbClr val="161B26"/>
                </a:solidFill>
                <a:latin typeface="Arial"/>
              </a:rPr>
              <a:t>Use the LMS</a:t>
            </a:r>
          </a:p>
        </p:txBody>
      </p:sp>
      <p:sp>
        <p:nvSpPr>
          <p:cNvPr id="26" name="TextBox 25"/>
          <p:cNvSpPr txBox="1"/>
          <p:nvPr/>
        </p:nvSpPr>
        <p:spPr>
          <a:xfrm>
            <a:off x="1024128" y="4727448"/>
            <a:ext cx="2874264" cy="731520"/>
          </a:xfrm>
          <a:prstGeom prst="rect">
            <a:avLst/>
          </a:prstGeom>
          <a:noFill/>
        </p:spPr>
        <p:txBody>
          <a:bodyPr wrap="square" anchor="t" lIns="0" rIns="0" tIns="0" bIns="0">
            <a:spAutoFit/>
          </a:bodyPr>
          <a:lstStyle/>
          <a:p>
            <a:pPr algn="l">
              <a:spcBef>
                <a:spcPts val="0"/>
              </a:spcBef>
              <a:spcAft>
                <a:spcPts val="400"/>
              </a:spcAft>
            </a:pPr>
            <a:r>
              <a:rPr sz="1200" b="0">
                <a:solidFill>
                  <a:srgbClr val="5B6372"/>
                </a:solidFill>
                <a:latin typeface="Arial"/>
              </a:rPr>
              <a:t>The assessment is delivered online.</a:t>
            </a:r>
          </a:p>
        </p:txBody>
      </p:sp>
      <p:sp>
        <p:nvSpPr>
          <p:cNvPr id="27" name="Rounded Rectangle 26"/>
          <p:cNvSpPr/>
          <p:nvPr/>
        </p:nvSpPr>
        <p:spPr>
          <a:xfrm>
            <a:off x="4419600" y="3767328"/>
            <a:ext cx="3368040" cy="1783080"/>
          </a:xfrm>
          <a:prstGeom prst="roundRect">
            <a:avLst>
              <a:gd name="adj" fmla="val 5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4666488" y="401421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9" name="Picture 28" descr="ic_gr4.png"/>
          <p:cNvPicPr>
            <a:picLocks noChangeAspect="1"/>
          </p:cNvPicPr>
          <p:nvPr/>
        </p:nvPicPr>
        <p:blipFill>
          <a:blip r:embed="rId6"/>
          <a:stretch>
            <a:fillRect/>
          </a:stretch>
        </p:blipFill>
        <p:spPr>
          <a:xfrm>
            <a:off x="4819558" y="4167286"/>
            <a:ext cx="260788" cy="260788"/>
          </a:xfrm>
          <a:prstGeom prst="rect">
            <a:avLst/>
          </a:prstGeom>
        </p:spPr>
      </p:pic>
      <p:sp>
        <p:nvSpPr>
          <p:cNvPr id="30" name="TextBox 29"/>
          <p:cNvSpPr txBox="1"/>
          <p:nvPr/>
        </p:nvSpPr>
        <p:spPr>
          <a:xfrm>
            <a:off x="5398008" y="4014216"/>
            <a:ext cx="2545080" cy="566928"/>
          </a:xfrm>
          <a:prstGeom prst="rect">
            <a:avLst/>
          </a:prstGeom>
          <a:noFill/>
        </p:spPr>
        <p:txBody>
          <a:bodyPr wrap="square" anchor="ctr" lIns="0" rIns="0" tIns="0" bIns="0">
            <a:spAutoFit/>
          </a:bodyPr>
          <a:lstStyle/>
          <a:p>
            <a:pPr algn="l">
              <a:spcBef>
                <a:spcPts val="0"/>
              </a:spcBef>
              <a:spcAft>
                <a:spcPts val="400"/>
              </a:spcAft>
            </a:pPr>
            <a:r>
              <a:rPr sz="1500" b="1">
                <a:solidFill>
                  <a:srgbClr val="161B26"/>
                </a:solidFill>
                <a:latin typeface="Arial"/>
              </a:rPr>
              <a:t>Open book</a:t>
            </a:r>
          </a:p>
        </p:txBody>
      </p:sp>
      <p:sp>
        <p:nvSpPr>
          <p:cNvPr id="31" name="TextBox 30"/>
          <p:cNvSpPr txBox="1"/>
          <p:nvPr/>
        </p:nvSpPr>
        <p:spPr>
          <a:xfrm>
            <a:off x="4666488" y="4727448"/>
            <a:ext cx="2874264" cy="731520"/>
          </a:xfrm>
          <a:prstGeom prst="rect">
            <a:avLst/>
          </a:prstGeom>
          <a:noFill/>
        </p:spPr>
        <p:txBody>
          <a:bodyPr wrap="square" anchor="t" lIns="0" rIns="0" tIns="0" bIns="0">
            <a:spAutoFit/>
          </a:bodyPr>
          <a:lstStyle/>
          <a:p>
            <a:pPr algn="l">
              <a:spcBef>
                <a:spcPts val="0"/>
              </a:spcBef>
              <a:spcAft>
                <a:spcPts val="400"/>
              </a:spcAft>
            </a:pPr>
            <a:r>
              <a:rPr sz="1200" b="0">
                <a:solidFill>
                  <a:srgbClr val="5B6372"/>
                </a:solidFill>
                <a:latin typeface="Arial"/>
              </a:rPr>
              <a:t>Slides, Learner Guide &amp; kubernetes.io are allowed.</a:t>
            </a:r>
          </a:p>
        </p:txBody>
      </p:sp>
      <p:sp>
        <p:nvSpPr>
          <p:cNvPr id="32" name="Rounded Rectangle 31"/>
          <p:cNvSpPr/>
          <p:nvPr/>
        </p:nvSpPr>
        <p:spPr>
          <a:xfrm>
            <a:off x="8061960" y="3767328"/>
            <a:ext cx="3368040" cy="1783080"/>
          </a:xfrm>
          <a:prstGeom prst="roundRect">
            <a:avLst>
              <a:gd name="adj" fmla="val 5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8308848" y="401421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4" name="Picture 33" descr="ic_br6.png"/>
          <p:cNvPicPr>
            <a:picLocks noChangeAspect="1"/>
          </p:cNvPicPr>
          <p:nvPr/>
        </p:nvPicPr>
        <p:blipFill>
          <a:blip r:embed="rId7"/>
          <a:stretch>
            <a:fillRect/>
          </a:stretch>
        </p:blipFill>
        <p:spPr>
          <a:xfrm>
            <a:off x="8461918" y="4167286"/>
            <a:ext cx="260788" cy="260788"/>
          </a:xfrm>
          <a:prstGeom prst="rect">
            <a:avLst/>
          </a:prstGeom>
        </p:spPr>
      </p:pic>
      <p:sp>
        <p:nvSpPr>
          <p:cNvPr id="35" name="TextBox 34"/>
          <p:cNvSpPr txBox="1"/>
          <p:nvPr/>
        </p:nvSpPr>
        <p:spPr>
          <a:xfrm>
            <a:off x="9040368" y="4014216"/>
            <a:ext cx="2545080" cy="566928"/>
          </a:xfrm>
          <a:prstGeom prst="rect">
            <a:avLst/>
          </a:prstGeom>
          <a:noFill/>
        </p:spPr>
        <p:txBody>
          <a:bodyPr wrap="square" anchor="ctr" lIns="0" rIns="0" tIns="0" bIns="0">
            <a:spAutoFit/>
          </a:bodyPr>
          <a:lstStyle/>
          <a:p>
            <a:pPr algn="l">
              <a:spcBef>
                <a:spcPts val="0"/>
              </a:spcBef>
              <a:spcAft>
                <a:spcPts val="400"/>
              </a:spcAft>
            </a:pPr>
            <a:r>
              <a:rPr sz="1500" b="1">
                <a:solidFill>
                  <a:srgbClr val="161B26"/>
                </a:solidFill>
                <a:latin typeface="Arial"/>
              </a:rPr>
              <a:t>Time's up</a:t>
            </a:r>
          </a:p>
        </p:txBody>
      </p:sp>
      <p:sp>
        <p:nvSpPr>
          <p:cNvPr id="36" name="TextBox 35"/>
          <p:cNvSpPr txBox="1"/>
          <p:nvPr/>
        </p:nvSpPr>
        <p:spPr>
          <a:xfrm>
            <a:off x="8308848" y="4727448"/>
            <a:ext cx="2874264" cy="731520"/>
          </a:xfrm>
          <a:prstGeom prst="rect">
            <a:avLst/>
          </a:prstGeom>
          <a:noFill/>
        </p:spPr>
        <p:txBody>
          <a:bodyPr wrap="square" anchor="t" lIns="0" rIns="0" tIns="0" bIns="0">
            <a:spAutoFit/>
          </a:bodyPr>
          <a:lstStyle/>
          <a:p>
            <a:pPr algn="l">
              <a:spcBef>
                <a:spcPts val="0"/>
              </a:spcBef>
              <a:spcAft>
                <a:spcPts val="400"/>
              </a:spcAft>
            </a:pPr>
            <a:r>
              <a:rPr sz="1200" b="0">
                <a:solidFill>
                  <a:srgbClr val="5B6372"/>
                </a:solidFill>
                <a:latin typeface="Arial"/>
              </a:rPr>
              <a:t>Submit when time is up.</a:t>
            </a:r>
          </a:p>
        </p:txBody>
      </p:sp>
      <p:sp>
        <p:nvSpPr>
          <p:cNvPr id="37" name="TextBox 36"/>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38" name="TextBox 37"/>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39" name="TextBox 38"/>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282</a:t>
            </a:r>
          </a:p>
        </p:txBody>
      </p:sp>
    </p:spTree>
  </p:cSld>
  <p:clrMapOvr>
    <a:masterClrMapping/>
  </p:clrMapOvr>
</p:sld>
</file>

<file path=ppt/slides/slide2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lIns="0" rIns="0" tIns="0" bIns="0">
            <a:spAutoFit/>
          </a:bodyPr>
          <a:lstStyle/>
          <a:p>
            <a:pPr algn="l">
              <a:spcBef>
                <a:spcPts val="0"/>
              </a:spcBef>
              <a:spcAft>
                <a:spcPts val="400"/>
              </a:spcAft>
            </a:pPr>
            <a:r>
              <a:rPr sz="1600" b="1">
                <a:solidFill>
                  <a:srgbClr val="1F6FEB"/>
                </a:solidFill>
                <a:latin typeface="Arial"/>
              </a:rPr>
              <a:t>THANK YOU</a:t>
            </a:r>
          </a:p>
        </p:txBody>
      </p:sp>
      <p:sp>
        <p:nvSpPr>
          <p:cNvPr id="5" name="TextBox 4"/>
          <p:cNvSpPr txBox="1"/>
          <p:nvPr/>
        </p:nvSpPr>
        <p:spPr>
          <a:xfrm>
            <a:off x="1005840" y="2560320"/>
            <a:ext cx="10332720" cy="2194560"/>
          </a:xfrm>
          <a:prstGeom prst="rect">
            <a:avLst/>
          </a:prstGeom>
          <a:noFill/>
        </p:spPr>
        <p:txBody>
          <a:bodyPr wrap="square" anchor="t" lIns="0" rIns="0" tIns="0" bIns="0">
            <a:spAutoFit/>
          </a:bodyPr>
          <a:lstStyle/>
          <a:p>
            <a:pPr algn="l">
              <a:spcBef>
                <a:spcPts val="0"/>
              </a:spcBef>
              <a:spcAft>
                <a:spcPts val="400"/>
              </a:spcAft>
            </a:pPr>
            <a:r>
              <a:rPr sz="3800" b="1">
                <a:solidFill>
                  <a:srgbClr val="161B26"/>
                </a:solidFill>
                <a:latin typeface="Arial"/>
              </a:rPr>
              <a:t>Thank you — and good luck with the CKA exam!</a:t>
            </a:r>
          </a:p>
        </p:txBody>
      </p:sp>
      <p:sp>
        <p:nvSpPr>
          <p:cNvPr id="6" name="TextBox 5"/>
          <p:cNvSpPr txBox="1"/>
          <p:nvPr/>
        </p:nvSpPr>
        <p:spPr>
          <a:xfrm>
            <a:off x="1024128" y="4389120"/>
            <a:ext cx="10058400" cy="1097280"/>
          </a:xfrm>
          <a:prstGeom prst="rect">
            <a:avLst/>
          </a:prstGeom>
          <a:noFill/>
        </p:spPr>
        <p:txBody>
          <a:bodyPr wrap="square" anchor="t" lIns="0" rIns="0" tIns="0" bIns="0">
            <a:spAutoFit/>
          </a:bodyPr>
          <a:lstStyle/>
          <a:p>
            <a:pPr algn="l">
              <a:spcBef>
                <a:spcPts val="0"/>
              </a:spcBef>
              <a:spcAft>
                <a:spcPts val="400"/>
              </a:spcAft>
            </a:pPr>
            <a:r>
              <a:rPr sz="2000" b="0">
                <a:solidFill>
                  <a:srgbClr val="5B6372"/>
                </a:solidFill>
                <a:latin typeface="Arial"/>
              </a:rPr>
              <a:t>Keep practising on killer.sh and Killercoda; the CKA exam is 2 hours, 100% hands-on.</a:t>
            </a:r>
          </a:p>
        </p:txBody>
      </p:sp>
      <p:sp>
        <p:nvSpPr>
          <p:cNvPr id="7" name="TextBox 6"/>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8" name="TextBox 7"/>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9" name="TextBox 8"/>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283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