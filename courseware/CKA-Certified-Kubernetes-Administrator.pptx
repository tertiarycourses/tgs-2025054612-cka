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(c)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 Trainer Name ]</a:t>
            </a:r>
          </a:p>
        </p:txBody>
      </p:sp>
      <p:sp>
        <p:nvSpPr>
          <p:cNvPr id="10" name="TextBox 9"/>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 Title / Role ]</a:t>
            </a:r>
          </a:p>
        </p:txBody>
      </p:sp>
      <p:sp>
        <p:nvSpPr>
          <p:cNvPr id="11" name="Rounded Rectangle 10"/>
          <p:cNvSpPr/>
          <p:nvPr/>
        </p:nvSpPr>
        <p:spPr>
          <a:xfrm>
            <a:off x="4434840" y="1828800"/>
            <a:ext cx="685800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828800"/>
            <a:ext cx="649224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Experience   </a:t>
            </a:r>
            <a:r>
              <a:rPr sz="1300" b="0">
                <a:solidFill>
                  <a:srgbClr val="5B6372"/>
                </a:solidFill>
                <a:latin typeface="Arial"/>
              </a:rPr>
              <a:t>10+ years in Linux, cloud, and Kubernetes administration</a:t>
            </a:r>
          </a:p>
        </p:txBody>
      </p:sp>
      <p:sp>
        <p:nvSpPr>
          <p:cNvPr id="13" name="Rounded Rectangle 12"/>
          <p:cNvSpPr/>
          <p:nvPr/>
        </p:nvSpPr>
        <p:spPr>
          <a:xfrm>
            <a:off x="4434840" y="2578608"/>
            <a:ext cx="685800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578608"/>
            <a:ext cx="649224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Certifications   </a:t>
            </a:r>
            <a:r>
              <a:rPr sz="1300" b="0">
                <a:solidFill>
                  <a:srgbClr val="5B6372"/>
                </a:solidFill>
                <a:latin typeface="Arial"/>
              </a:rPr>
              <a:t>CKA, CKS, CKAD, AWS/GCP/Azure practitioner</a:t>
            </a:r>
          </a:p>
        </p:txBody>
      </p:sp>
      <p:sp>
        <p:nvSpPr>
          <p:cNvPr id="15" name="Rounded Rectangle 14"/>
          <p:cNvSpPr/>
          <p:nvPr/>
        </p:nvSpPr>
        <p:spPr>
          <a:xfrm>
            <a:off x="4434840" y="3328416"/>
            <a:ext cx="685800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3328416"/>
            <a:ext cx="649224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Teaching   </a:t>
            </a:r>
            <a:r>
              <a:rPr sz="1300" b="0">
                <a:solidFill>
                  <a:srgbClr val="5B6372"/>
                </a:solidFill>
                <a:latin typeface="Arial"/>
              </a:rPr>
              <a:t>WSQ Docker, Kubernetes and DevOps courses</a:t>
            </a:r>
          </a:p>
        </p:txBody>
      </p:sp>
      <p:sp>
        <p:nvSpPr>
          <p:cNvPr id="17" name="Rounded Rectangle 16"/>
          <p:cNvSpPr/>
          <p:nvPr/>
        </p:nvSpPr>
        <p:spPr>
          <a:xfrm>
            <a:off x="4434840" y="4078224"/>
            <a:ext cx="685800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078224"/>
            <a:ext cx="649224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Industry   </a:t>
            </a:r>
            <a:r>
              <a:rPr sz="1300" b="0">
                <a:solidFill>
                  <a:srgbClr val="5B6372"/>
                </a:solidFill>
                <a:latin typeface="Arial"/>
              </a:rPr>
              <a:t>Production cluster design, kubeadm, Helm, GitOps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78040" y="237744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0" name="TextBox 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1" name="TextBox 1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2" name="TextBox 1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69164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8" name="TextBox 7"/>
          <p:cNvSpPr txBox="1"/>
          <p:nvPr/>
        </p:nvSpPr>
        <p:spPr>
          <a:xfrm>
            <a:off x="1581912" y="169164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LO1   </a:t>
            </a:r>
            <a:r>
              <a:rPr sz="1500" b="0">
                <a:solidFill>
                  <a:srgbClr val="161B26"/>
                </a:solidFill>
                <a:latin typeface="Arial"/>
              </a:rPr>
              <a:t>Bootstrap and upgrade a Kubernetes cluster with kubeadm and containerd (CRI).</a:t>
            </a:r>
          </a:p>
        </p:txBody>
      </p:sp>
      <p:sp>
        <p:nvSpPr>
          <p:cNvPr id="9" name="Oval 8"/>
          <p:cNvSpPr/>
          <p:nvPr/>
        </p:nvSpPr>
        <p:spPr>
          <a:xfrm>
            <a:off x="777240" y="24048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10" name="TextBox 9"/>
          <p:cNvSpPr txBox="1"/>
          <p:nvPr/>
        </p:nvSpPr>
        <p:spPr>
          <a:xfrm>
            <a:off x="1581912" y="2404872"/>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LO2   </a:t>
            </a:r>
            <a:r>
              <a:rPr sz="1500" b="0">
                <a:solidFill>
                  <a:srgbClr val="161B26"/>
                </a:solidFill>
                <a:latin typeface="Arial"/>
              </a:rPr>
              <a:t>Configure RBAC, Helm, Kustomize, CRDs, and the CNI/CSI/CRI extension interfaces.</a:t>
            </a:r>
          </a:p>
        </p:txBody>
      </p:sp>
      <p:sp>
        <p:nvSpPr>
          <p:cNvPr id="11" name="Oval 10"/>
          <p:cNvSpPr/>
          <p:nvPr/>
        </p:nvSpPr>
        <p:spPr>
          <a:xfrm>
            <a:off x="777240" y="3118104"/>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2" name="TextBox 11"/>
          <p:cNvSpPr txBox="1"/>
          <p:nvPr/>
        </p:nvSpPr>
        <p:spPr>
          <a:xfrm>
            <a:off x="1581912" y="3118104"/>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LO3   </a:t>
            </a:r>
            <a:r>
              <a:rPr sz="1500" b="0">
                <a:solidFill>
                  <a:srgbClr val="161B26"/>
                </a:solidFill>
                <a:latin typeface="Arial"/>
              </a:rPr>
              <a:t>Deploy, scale, schedule, and self-heal workloads; configure HPA and autoscaling.</a:t>
            </a:r>
          </a:p>
        </p:txBody>
      </p:sp>
      <p:sp>
        <p:nvSpPr>
          <p:cNvPr id="13" name="Oval 12"/>
          <p:cNvSpPr/>
          <p:nvPr/>
        </p:nvSpPr>
        <p:spPr>
          <a:xfrm>
            <a:off x="777240" y="38313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4</a:t>
            </a:r>
          </a:p>
        </p:txBody>
      </p:sp>
      <p:sp>
        <p:nvSpPr>
          <p:cNvPr id="14" name="TextBox 13"/>
          <p:cNvSpPr txBox="1"/>
          <p:nvPr/>
        </p:nvSpPr>
        <p:spPr>
          <a:xfrm>
            <a:off x="1581912" y="3831336"/>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LO4   </a:t>
            </a:r>
            <a:r>
              <a:rPr sz="1500" b="0">
                <a:solidFill>
                  <a:srgbClr val="161B26"/>
                </a:solidFill>
                <a:latin typeface="Arial"/>
              </a:rPr>
              <a:t>Expose services with ClusterIP, NodePort, Ingress, Gateway API; write NetworkPolicy.</a:t>
            </a:r>
          </a:p>
        </p:txBody>
      </p:sp>
      <p:sp>
        <p:nvSpPr>
          <p:cNvPr id="15" name="Oval 14"/>
          <p:cNvSpPr/>
          <p:nvPr/>
        </p:nvSpPr>
        <p:spPr>
          <a:xfrm>
            <a:off x="777240" y="454456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5</a:t>
            </a:r>
          </a:p>
        </p:txBody>
      </p:sp>
      <p:sp>
        <p:nvSpPr>
          <p:cNvPr id="16" name="TextBox 15"/>
          <p:cNvSpPr txBox="1"/>
          <p:nvPr/>
        </p:nvSpPr>
        <p:spPr>
          <a:xfrm>
            <a:off x="1581912" y="4544568"/>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LO5   </a:t>
            </a:r>
            <a:r>
              <a:rPr sz="1500" b="0">
                <a:solidFill>
                  <a:srgbClr val="161B26"/>
                </a:solidFill>
                <a:latin typeface="Arial"/>
              </a:rPr>
              <a:t>Provision storage with PV/PVC, StorageClass, and dynamic provisioning.</a:t>
            </a:r>
          </a:p>
        </p:txBody>
      </p:sp>
      <p:sp>
        <p:nvSpPr>
          <p:cNvPr id="17" name="Oval 16"/>
          <p:cNvSpPr/>
          <p:nvPr/>
        </p:nvSpPr>
        <p:spPr>
          <a:xfrm>
            <a:off x="777240" y="525780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6</a:t>
            </a:r>
          </a:p>
        </p:txBody>
      </p:sp>
      <p:sp>
        <p:nvSpPr>
          <p:cNvPr id="18" name="TextBox 17"/>
          <p:cNvSpPr txBox="1"/>
          <p:nvPr/>
        </p:nvSpPr>
        <p:spPr>
          <a:xfrm>
            <a:off x="1581912" y="525780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LO6   </a:t>
            </a:r>
            <a:r>
              <a:rPr sz="1500" b="0">
                <a:solidFill>
                  <a:srgbClr val="161B26"/>
                </a:solidFill>
                <a:latin typeface="Arial"/>
              </a:rPr>
              <a:t>Troubleshoot cluster components, nodes, applications, services, and RBAC failures.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Lesson Plan -- 3 Days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07080" cy="22860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93392"/>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1</a:t>
            </a:r>
          </a:p>
        </p:txBody>
      </p:sp>
      <p:sp>
        <p:nvSpPr>
          <p:cNvPr id="9" name="TextBox 8"/>
          <p:cNvSpPr txBox="1"/>
          <p:nvPr/>
        </p:nvSpPr>
        <p:spPr>
          <a:xfrm>
            <a:off x="1801368" y="1993392"/>
            <a:ext cx="211836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1</a:t>
            </a:r>
          </a:p>
        </p:txBody>
      </p:sp>
      <p:sp>
        <p:nvSpPr>
          <p:cNvPr id="10" name="TextBox 9"/>
          <p:cNvSpPr txBox="1"/>
          <p:nvPr/>
        </p:nvSpPr>
        <p:spPr>
          <a:xfrm>
            <a:off x="1051560" y="2724912"/>
            <a:ext cx="2758440" cy="118872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Domain 1: Cluster Architecture, Installation &amp; Configuration</a:t>
            </a:r>
          </a:p>
          <a:p>
            <a:pPr algn="l">
              <a:spcBef>
                <a:spcPts val="0"/>
              </a:spcBef>
              <a:spcAft>
                <a:spcPts val="500"/>
              </a:spcAft>
            </a:pPr>
            <a:r>
              <a:rPr sz="1200" b="0">
                <a:solidFill>
                  <a:srgbClr val="5B6372"/>
                </a:solidFill>
                <a:latin typeface="Arial"/>
              </a:rPr>
              <a:t>Labs 1-10: kubeadm, CNI, upgrades, HA, Helm, Kustomize, RBAC, CRDs</a:t>
            </a:r>
          </a:p>
        </p:txBody>
      </p:sp>
      <p:sp>
        <p:nvSpPr>
          <p:cNvPr id="11" name="Rounded Rectangle 10"/>
          <p:cNvSpPr/>
          <p:nvPr/>
        </p:nvSpPr>
        <p:spPr>
          <a:xfrm>
            <a:off x="4450080" y="1737360"/>
            <a:ext cx="3307080" cy="22860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706112" y="1993392"/>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2</a:t>
            </a:r>
          </a:p>
        </p:txBody>
      </p:sp>
      <p:sp>
        <p:nvSpPr>
          <p:cNvPr id="13" name="TextBox 12"/>
          <p:cNvSpPr txBox="1"/>
          <p:nvPr/>
        </p:nvSpPr>
        <p:spPr>
          <a:xfrm>
            <a:off x="5474208" y="1993392"/>
            <a:ext cx="211836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2</a:t>
            </a:r>
          </a:p>
        </p:txBody>
      </p:sp>
      <p:sp>
        <p:nvSpPr>
          <p:cNvPr id="14" name="TextBox 13"/>
          <p:cNvSpPr txBox="1"/>
          <p:nvPr/>
        </p:nvSpPr>
        <p:spPr>
          <a:xfrm>
            <a:off x="4724400" y="2724912"/>
            <a:ext cx="2758440" cy="118872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Domains 2 &amp; 3: Workloads &amp; Scheduling + Services &amp; Networking</a:t>
            </a:r>
          </a:p>
          <a:p>
            <a:pPr algn="l">
              <a:spcBef>
                <a:spcPts val="0"/>
              </a:spcBef>
              <a:spcAft>
                <a:spcPts val="500"/>
              </a:spcAft>
            </a:pPr>
            <a:r>
              <a:rPr sz="1200" b="0">
                <a:solidFill>
                  <a:srgbClr val="5B6372"/>
                </a:solidFill>
                <a:latin typeface="Arial"/>
              </a:rPr>
              <a:t>Labs 11-22: Deployments, HPA, scheduling, Ingress, Gateway API, NetworkPolicy</a:t>
            </a:r>
          </a:p>
        </p:txBody>
      </p:sp>
      <p:sp>
        <p:nvSpPr>
          <p:cNvPr id="15" name="Rounded Rectangle 14"/>
          <p:cNvSpPr/>
          <p:nvPr/>
        </p:nvSpPr>
        <p:spPr>
          <a:xfrm>
            <a:off x="8122920" y="1737360"/>
            <a:ext cx="3307080" cy="22860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78952" y="1993392"/>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3</a:t>
            </a:r>
          </a:p>
        </p:txBody>
      </p:sp>
      <p:sp>
        <p:nvSpPr>
          <p:cNvPr id="17" name="TextBox 16"/>
          <p:cNvSpPr txBox="1"/>
          <p:nvPr/>
        </p:nvSpPr>
        <p:spPr>
          <a:xfrm>
            <a:off x="9147048" y="1993392"/>
            <a:ext cx="211836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3</a:t>
            </a:r>
          </a:p>
        </p:txBody>
      </p:sp>
      <p:sp>
        <p:nvSpPr>
          <p:cNvPr id="18" name="TextBox 17"/>
          <p:cNvSpPr txBox="1"/>
          <p:nvPr/>
        </p:nvSpPr>
        <p:spPr>
          <a:xfrm>
            <a:off x="8397240" y="2724912"/>
            <a:ext cx="2758440" cy="118872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Domains 4 &amp; 5: Storage + Troubleshooting</a:t>
            </a:r>
          </a:p>
          <a:p>
            <a:pPr algn="l">
              <a:spcBef>
                <a:spcPts val="0"/>
              </a:spcBef>
              <a:spcAft>
                <a:spcPts val="500"/>
              </a:spcAft>
            </a:pPr>
            <a:r>
              <a:rPr sz="1200" b="0">
                <a:solidFill>
                  <a:srgbClr val="5B6372"/>
                </a:solidFill>
                <a:latin typeface="Arial"/>
              </a:rPr>
              <a:t>Labs 23-31: PV/PVC, StorageClass; cluster/node/app troubleshooting</a:t>
            </a:r>
          </a:p>
          <a:p>
            <a:pPr algn="l">
              <a:spcBef>
                <a:spcPts val="0"/>
              </a:spcBef>
              <a:spcAft>
                <a:spcPts val="500"/>
              </a:spcAft>
            </a:pPr>
            <a:r>
              <a:rPr sz="1200" b="0">
                <a:solidFill>
                  <a:srgbClr val="5B6372"/>
                </a:solidFill>
                <a:latin typeface="Arial"/>
              </a:rPr>
              <a:t>Afternoon: Mock exam practice + Final Assessment from 3:45 PM</a:t>
            </a:r>
          </a:p>
        </p:txBody>
      </p:sp>
      <p:sp>
        <p:nvSpPr>
          <p:cNvPr id="19" name="Rounded Rectangle 18"/>
          <p:cNvSpPr/>
          <p:nvPr/>
        </p:nvSpPr>
        <p:spPr>
          <a:xfrm>
            <a:off x="777240" y="6089904"/>
            <a:ext cx="10652760" cy="384048"/>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6089904"/>
            <a:ext cx="1005840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Daily timing:   </a:t>
            </a:r>
            <a:r>
              <a:rPr sz="1200" b="0">
                <a:solidFill>
                  <a:srgbClr val="161B26"/>
                </a:solidFill>
                <a:latin typeface="Arial"/>
              </a:rPr>
              <a:t>Days 1-2: 9:00 AM-6:00 PM  |  Day 3: 9:00 AM-1:00 PM training + afternoon assessment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Architecture,
Installation &amp; Configuration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Labs 1-10  |  CKA 25%</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DOMAIN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Architecture,
Installation &amp; Configuration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kubeadm  |  CNI  |  upgrades  |  HA  |  Helm  |  Kustomize  |  RBAC  |  CRDs  |  extension interfaces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1</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5303520" cy="34747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3035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Control Plane</a:t>
            </a:r>
          </a:p>
        </p:txBody>
      </p:sp>
      <p:sp>
        <p:nvSpPr>
          <p:cNvPr id="9" name="Rounded Rectangle 8"/>
          <p:cNvSpPr/>
          <p:nvPr/>
        </p:nvSpPr>
        <p:spPr>
          <a:xfrm>
            <a:off x="1005840" y="2148840"/>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2148840"/>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kube-apiserver</a:t>
            </a:r>
          </a:p>
          <a:p>
            <a:pPr algn="ctr">
              <a:spcBef>
                <a:spcPts val="0"/>
              </a:spcBef>
              <a:spcAft>
                <a:spcPts val="300"/>
              </a:spcAft>
            </a:pPr>
            <a:r>
              <a:rPr sz="1000" b="0">
                <a:solidFill>
                  <a:srgbClr val="5B6372"/>
                </a:solidFill>
                <a:latin typeface="Arial"/>
              </a:rPr>
              <a:t>REST gateway, auth, admission</a:t>
            </a:r>
          </a:p>
        </p:txBody>
      </p:sp>
      <p:sp>
        <p:nvSpPr>
          <p:cNvPr id="11" name="Rounded Rectangle 10"/>
          <p:cNvSpPr/>
          <p:nvPr/>
        </p:nvSpPr>
        <p:spPr>
          <a:xfrm>
            <a:off x="1005840" y="2843784"/>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843784"/>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kube-scheduler</a:t>
            </a:r>
          </a:p>
          <a:p>
            <a:pPr algn="ctr">
              <a:spcBef>
                <a:spcPts val="0"/>
              </a:spcBef>
              <a:spcAft>
                <a:spcPts val="300"/>
              </a:spcAft>
            </a:pPr>
            <a:r>
              <a:rPr sz="1000" b="0">
                <a:solidFill>
                  <a:srgbClr val="5B6372"/>
                </a:solidFill>
                <a:latin typeface="Arial"/>
              </a:rPr>
              <a:t>chooses which node for each pod</a:t>
            </a:r>
          </a:p>
        </p:txBody>
      </p:sp>
      <p:sp>
        <p:nvSpPr>
          <p:cNvPr id="13" name="Rounded Rectangle 12"/>
          <p:cNvSpPr/>
          <p:nvPr/>
        </p:nvSpPr>
        <p:spPr>
          <a:xfrm>
            <a:off x="1005840" y="3538728"/>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538728"/>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kube-controller-manager</a:t>
            </a:r>
          </a:p>
          <a:p>
            <a:pPr algn="ctr">
              <a:spcBef>
                <a:spcPts val="0"/>
              </a:spcBef>
              <a:spcAft>
                <a:spcPts val="300"/>
              </a:spcAft>
            </a:pPr>
            <a:r>
              <a:rPr sz="1000" b="0">
                <a:solidFill>
                  <a:srgbClr val="5B6372"/>
                </a:solidFill>
                <a:latin typeface="Arial"/>
              </a:rPr>
              <a:t>reconciliation loops</a:t>
            </a:r>
          </a:p>
        </p:txBody>
      </p:sp>
      <p:sp>
        <p:nvSpPr>
          <p:cNvPr id="15" name="Rounded Rectangle 14"/>
          <p:cNvSpPr/>
          <p:nvPr/>
        </p:nvSpPr>
        <p:spPr>
          <a:xfrm>
            <a:off x="1005840" y="4233672"/>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4233672"/>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etcd</a:t>
            </a:r>
          </a:p>
          <a:p>
            <a:pPr algn="ctr">
              <a:spcBef>
                <a:spcPts val="0"/>
              </a:spcBef>
              <a:spcAft>
                <a:spcPts val="300"/>
              </a:spcAft>
            </a:pPr>
            <a:r>
              <a:rPr sz="1000" b="0">
                <a:solidFill>
                  <a:srgbClr val="5B6372"/>
                </a:solidFill>
                <a:latin typeface="Arial"/>
              </a:rPr>
              <a:t>key-value store -- cluster state</a:t>
            </a:r>
          </a:p>
        </p:txBody>
      </p:sp>
      <p:sp>
        <p:nvSpPr>
          <p:cNvPr id="17" name="Rounded Rectangle 16"/>
          <p:cNvSpPr/>
          <p:nvPr/>
        </p:nvSpPr>
        <p:spPr>
          <a:xfrm>
            <a:off x="6492240" y="1691640"/>
            <a:ext cx="49377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1691640"/>
            <a:ext cx="49377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Worker Node</a:t>
            </a:r>
          </a:p>
        </p:txBody>
      </p:sp>
      <p:sp>
        <p:nvSpPr>
          <p:cNvPr id="19" name="Rounded Rectangle 18"/>
          <p:cNvSpPr/>
          <p:nvPr/>
        </p:nvSpPr>
        <p:spPr>
          <a:xfrm>
            <a:off x="6720840" y="2148840"/>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0568" y="2148840"/>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kubelet</a:t>
            </a:r>
          </a:p>
          <a:p>
            <a:pPr algn="ctr">
              <a:spcBef>
                <a:spcPts val="0"/>
              </a:spcBef>
              <a:spcAft>
                <a:spcPts val="300"/>
              </a:spcAft>
            </a:pPr>
            <a:r>
              <a:rPr sz="1000" b="0">
                <a:solidFill>
                  <a:srgbClr val="5B6372"/>
                </a:solidFill>
                <a:latin typeface="Arial"/>
              </a:rPr>
              <a:t>manages pods on this node</a:t>
            </a:r>
          </a:p>
        </p:txBody>
      </p:sp>
      <p:sp>
        <p:nvSpPr>
          <p:cNvPr id="21" name="Rounded Rectangle 20"/>
          <p:cNvSpPr/>
          <p:nvPr/>
        </p:nvSpPr>
        <p:spPr>
          <a:xfrm>
            <a:off x="6720840" y="2843784"/>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0568" y="2843784"/>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kube-proxy</a:t>
            </a:r>
          </a:p>
          <a:p>
            <a:pPr algn="ctr">
              <a:spcBef>
                <a:spcPts val="0"/>
              </a:spcBef>
              <a:spcAft>
                <a:spcPts val="300"/>
              </a:spcAft>
            </a:pPr>
            <a:r>
              <a:rPr sz="1000" b="0">
                <a:solidFill>
                  <a:srgbClr val="5B6372"/>
                </a:solidFill>
                <a:latin typeface="Arial"/>
              </a:rPr>
              <a:t>iptables / IPVS service routing</a:t>
            </a:r>
          </a:p>
        </p:txBody>
      </p:sp>
      <p:sp>
        <p:nvSpPr>
          <p:cNvPr id="23" name="Rounded Rectangle 22"/>
          <p:cNvSpPr/>
          <p:nvPr/>
        </p:nvSpPr>
        <p:spPr>
          <a:xfrm>
            <a:off x="6720840" y="3538728"/>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538728"/>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container runtime</a:t>
            </a:r>
          </a:p>
          <a:p>
            <a:pPr algn="ctr">
              <a:spcBef>
                <a:spcPts val="0"/>
              </a:spcBef>
              <a:spcAft>
                <a:spcPts val="300"/>
              </a:spcAft>
            </a:pPr>
            <a:r>
              <a:rPr sz="1000" b="0">
                <a:solidFill>
                  <a:srgbClr val="5B6372"/>
                </a:solidFill>
                <a:latin typeface="Arial"/>
              </a:rPr>
              <a:t>containerd / CRI-O</a:t>
            </a:r>
          </a:p>
        </p:txBody>
      </p:sp>
      <p:sp>
        <p:nvSpPr>
          <p:cNvPr id="25" name="Rounded Rectangle 24"/>
          <p:cNvSpPr/>
          <p:nvPr/>
        </p:nvSpPr>
        <p:spPr>
          <a:xfrm>
            <a:off x="6720840" y="4233672"/>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0568" y="4233672"/>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CNI plugin</a:t>
            </a:r>
          </a:p>
          <a:p>
            <a:pPr algn="ctr">
              <a:spcBef>
                <a:spcPts val="0"/>
              </a:spcBef>
              <a:spcAft>
                <a:spcPts val="300"/>
              </a:spcAft>
            </a:pPr>
            <a:r>
              <a:rPr sz="1000" b="0">
                <a:solidFill>
                  <a:srgbClr val="5B6372"/>
                </a:solidFill>
                <a:latin typeface="Arial"/>
              </a:rPr>
              <a:t>pod networking (Calico, Cilium)</a:t>
            </a:r>
          </a:p>
        </p:txBody>
      </p:sp>
      <p:sp>
        <p:nvSpPr>
          <p:cNvPr id="27" name="Right Arrow 26"/>
          <p:cNvSpPr/>
          <p:nvPr/>
        </p:nvSpPr>
        <p:spPr>
          <a:xfrm>
            <a:off x="2880360" y="5440680"/>
            <a:ext cx="1371600" cy="384048"/>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0" y="5166360"/>
            <a:ext cx="164592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F6FEB"/>
                </a:solidFill>
                <a:latin typeface="Arial"/>
              </a:rPr>
              <a:t>kubectl</a:t>
            </a:r>
          </a:p>
        </p:txBody>
      </p:sp>
      <p:sp>
        <p:nvSpPr>
          <p:cNvPr id="29" name="TextBox 28"/>
          <p:cNvSpPr txBox="1"/>
          <p:nvPr/>
        </p:nvSpPr>
        <p:spPr>
          <a:xfrm>
            <a:off x="777240" y="5349240"/>
            <a:ext cx="2011680" cy="457200"/>
          </a:xfrm>
          <a:prstGeom prst="rect">
            <a:avLst/>
          </a:prstGeom>
          <a:noFill/>
        </p:spPr>
        <p:txBody>
          <a:bodyPr wrap="square" anchor="t" lIns="0" rIns="0" tIns="0" bIns="0">
            <a:spAutoFit/>
          </a:bodyPr>
          <a:lstStyle/>
          <a:p>
            <a:pPr algn="ctr">
              <a:spcBef>
                <a:spcPts val="0"/>
              </a:spcBef>
              <a:spcAft>
                <a:spcPts val="400"/>
              </a:spcAft>
            </a:pPr>
            <a:r>
              <a:rPr sz="1400" b="1">
                <a:solidFill>
                  <a:srgbClr val="161B26"/>
                </a:solidFill>
                <a:latin typeface="Arial"/>
              </a:rPr>
              <a:t>client</a:t>
            </a:r>
          </a:p>
        </p:txBody>
      </p:sp>
      <p:sp>
        <p:nvSpPr>
          <p:cNvPr id="30" name="TextBox 2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1" name="TextBox 3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32" name="TextBox 3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KUBEADM INIT THEN JOIN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6459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init</a:t>
            </a:r>
          </a:p>
          <a:p>
            <a:pPr algn="ctr">
              <a:spcBef>
                <a:spcPts val="0"/>
              </a:spcBef>
              <a:spcAft>
                <a:spcPts val="300"/>
              </a:spcAft>
            </a:pPr>
            <a:r>
              <a:rPr sz="1100" b="0">
                <a:solidFill>
                  <a:srgbClr val="5B6372"/>
                </a:solidFill>
                <a:latin typeface="Arial"/>
              </a:rPr>
              <a:t>generates PKI (pki/)</a:t>
            </a:r>
          </a:p>
          <a:p>
            <a:pPr algn="ctr">
              <a:spcBef>
                <a:spcPts val="0"/>
              </a:spcBef>
              <a:spcAft>
                <a:spcPts val="300"/>
              </a:spcAft>
            </a:pPr>
            <a:r>
              <a:rPr sz="1100" b="0">
                <a:solidFill>
                  <a:srgbClr val="5B6372"/>
                </a:solidFill>
                <a:latin typeface="Arial"/>
              </a:rPr>
              <a:t>writes static pod manifests</a:t>
            </a:r>
          </a:p>
          <a:p>
            <a:pPr algn="ctr">
              <a:spcBef>
                <a:spcPts val="0"/>
              </a:spcBef>
              <a:spcAft>
                <a:spcPts val="300"/>
              </a:spcAft>
            </a:pPr>
            <a:r>
              <a:rPr sz="1100" b="0">
                <a:solidFill>
                  <a:srgbClr val="5B6372"/>
                </a:solidFill>
                <a:latin typeface="Arial"/>
              </a:rPr>
              <a:t>prints bootstrap token</a:t>
            </a:r>
          </a:p>
        </p:txBody>
      </p:sp>
      <p:sp>
        <p:nvSpPr>
          <p:cNvPr id="10" name="Right Arrow 9"/>
          <p:cNvSpPr/>
          <p:nvPr/>
        </p:nvSpPr>
        <p:spPr>
          <a:xfrm>
            <a:off x="384048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control plane ready</a:t>
            </a:r>
          </a:p>
        </p:txBody>
      </p:sp>
      <p:sp>
        <p:nvSpPr>
          <p:cNvPr id="12" name="Rounded Rectangle 11"/>
          <p:cNvSpPr/>
          <p:nvPr/>
        </p:nvSpPr>
        <p:spPr>
          <a:xfrm>
            <a:off x="4572000" y="2468880"/>
            <a:ext cx="3063240" cy="164592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68880"/>
            <a:ext cx="2843784" cy="164592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kubectl apply CNI</a:t>
            </a:r>
          </a:p>
          <a:p>
            <a:pPr algn="ctr">
              <a:spcBef>
                <a:spcPts val="0"/>
              </a:spcBef>
              <a:spcAft>
                <a:spcPts val="300"/>
              </a:spcAft>
            </a:pPr>
            <a:r>
              <a:rPr sz="1100" b="0">
                <a:solidFill>
                  <a:srgbClr val="5B6372"/>
                </a:solidFill>
                <a:latin typeface="Arial"/>
              </a:rPr>
              <a:t>e.g. Calico</a:t>
            </a:r>
          </a:p>
          <a:p>
            <a:pPr algn="ctr">
              <a:spcBef>
                <a:spcPts val="0"/>
              </a:spcBef>
              <a:spcAft>
                <a:spcPts val="300"/>
              </a:spcAft>
            </a:pPr>
            <a:r>
              <a:rPr sz="1100" b="0">
                <a:solidFill>
                  <a:srgbClr val="5B6372"/>
                </a:solidFill>
                <a:latin typeface="Arial"/>
              </a:rPr>
              <a:t>nodes go Ready</a:t>
            </a:r>
          </a:p>
        </p:txBody>
      </p:sp>
      <p:sp>
        <p:nvSpPr>
          <p:cNvPr id="14" name="Right Arrow 13"/>
          <p:cNvSpPr/>
          <p:nvPr/>
        </p:nvSpPr>
        <p:spPr>
          <a:xfrm>
            <a:off x="763524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cluster usable</a:t>
            </a:r>
          </a:p>
        </p:txBody>
      </p:sp>
      <p:sp>
        <p:nvSpPr>
          <p:cNvPr id="16" name="Rounded Rectangle 15"/>
          <p:cNvSpPr/>
          <p:nvPr/>
        </p:nvSpPr>
        <p:spPr>
          <a:xfrm>
            <a:off x="8366760" y="2468880"/>
            <a:ext cx="3063240" cy="16459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join</a:t>
            </a:r>
          </a:p>
          <a:p>
            <a:pPr algn="ctr">
              <a:spcBef>
                <a:spcPts val="0"/>
              </a:spcBef>
              <a:spcAft>
                <a:spcPts val="300"/>
              </a:spcAft>
            </a:pPr>
            <a:r>
              <a:rPr sz="1100" b="0">
                <a:solidFill>
                  <a:srgbClr val="5B6372"/>
                </a:solidFill>
                <a:latin typeface="Arial"/>
              </a:rPr>
              <a:t>worker uses token + CA hash</a:t>
            </a:r>
          </a:p>
          <a:p>
            <a:pPr algn="ctr">
              <a:spcBef>
                <a:spcPts val="0"/>
              </a:spcBef>
              <a:spcAft>
                <a:spcPts val="300"/>
              </a:spcAft>
            </a:pPr>
            <a:r>
              <a:rPr sz="1100" b="0">
                <a:solidFill>
                  <a:srgbClr val="5B6372"/>
                </a:solidFill>
                <a:latin typeface="Arial"/>
              </a:rPr>
              <a:t>kubelet registers node</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Manifests: </a:t>
            </a:r>
            <a:r>
              <a:rPr sz="1300" b="1">
                <a:solidFill>
                  <a:srgbClr val="161B26"/>
                </a:solidFill>
                <a:latin typeface="Arial"/>
              </a:rPr>
              <a:t>/etc/kubernetes/manifests/</a:t>
            </a:r>
            <a:r>
              <a:rPr sz="1300" b="0">
                <a:solidFill>
                  <a:srgbClr val="5B6372"/>
                </a:solidFill>
                <a:latin typeface="Arial"/>
              </a:rPr>
              <a:t>  |  PKI: </a:t>
            </a:r>
            <a:r>
              <a:rPr sz="1300" b="1">
                <a:solidFill>
                  <a:srgbClr val="161B26"/>
                </a:solidFill>
                <a:latin typeface="Arial"/>
              </a:rPr>
              <a:t>/etc/kubernetes/pki/</a:t>
            </a:r>
            <a:r>
              <a:rPr sz="1300" b="0">
                <a:solidFill>
                  <a:srgbClr val="5B6372"/>
                </a:solidFill>
                <a:latin typeface="Arial"/>
              </a:rPr>
              <a:t>  |  kubeconfig: ~/.kube/config</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CLUSTER SETUP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Prepare two clean Ubuntu nodes for a Kubernetes cluster install: load kernel modules, configure sysctls, install containerd as the CRI, and install kubeadm/kubelet/kubectl from the official pkgs.k8s.io repository. CKA tests this sequence in troubleshooting questions where a node is NotReady due to a misconfigured runtime.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kernel modules, sysctls, containerd (SystemdCgroup=true), and install pinned Kubernetes packages on both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sudo swapoff | sudo apt | &gt; SystemdCgroup | kubeadm version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Load kernel modules</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/etc/modules-load.d/k8s.conf</a:t>
            </a:r>
          </a:p>
          <a:p>
            <a:pPr>
              <a:spcBef>
                <a:spcPts val="0"/>
              </a:spcBef>
              <a:spcAft>
                <a:spcPts val="0"/>
              </a:spcAft>
            </a:pPr>
            <a:r>
              <a:rPr sz="1050">
                <a:solidFill>
                  <a:srgbClr val="161B26"/>
                </a:solidFill>
                <a:latin typeface="Consolas"/>
              </a:rPr>
              <a:t>overlay</a:t>
            </a:r>
          </a:p>
          <a:p>
            <a:pPr>
              <a:spcBef>
                <a:spcPts val="0"/>
              </a:spcBef>
              <a:spcAft>
                <a:spcPts val="0"/>
              </a:spcAft>
            </a:pPr>
            <a:r>
              <a:rPr sz="1050">
                <a:solidFill>
                  <a:srgbClr val="161B26"/>
                </a:solidFill>
                <a:latin typeface="Consolas"/>
              </a:rPr>
              <a:t>br_netfilter</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modprobe overlay</a:t>
            </a:r>
          </a:p>
          <a:p>
            <a:pPr>
              <a:spcBef>
                <a:spcPts val="0"/>
              </a:spcBef>
              <a:spcAft>
                <a:spcPts val="0"/>
              </a:spcAft>
            </a:pPr>
            <a:r>
              <a:rPr sz="1050">
                <a:solidFill>
                  <a:srgbClr val="161B26"/>
                </a:solidFill>
                <a:latin typeface="Consolas"/>
              </a:rPr>
              <a:t>sudo modprobe br_netfilter</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Set required sysctls</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/etc/sysctl.d/k8s.conf</a:t>
            </a:r>
          </a:p>
          <a:p>
            <a:pPr>
              <a:spcBef>
                <a:spcPts val="0"/>
              </a:spcBef>
              <a:spcAft>
                <a:spcPts val="0"/>
              </a:spcAft>
            </a:pPr>
            <a:r>
              <a:rPr sz="1050">
                <a:solidFill>
                  <a:srgbClr val="161B26"/>
                </a:solidFill>
                <a:latin typeface="Consolas"/>
              </a:rPr>
              <a:t>net.bridge.bridge-nf-call-iptables  = 1</a:t>
            </a:r>
          </a:p>
          <a:p>
            <a:pPr>
              <a:spcBef>
                <a:spcPts val="0"/>
              </a:spcBef>
              <a:spcAft>
                <a:spcPts val="0"/>
              </a:spcAft>
            </a:pPr>
            <a:r>
              <a:rPr sz="1050">
                <a:solidFill>
                  <a:srgbClr val="161B26"/>
                </a:solidFill>
                <a:latin typeface="Consolas"/>
              </a:rPr>
              <a:t>net.bridge.bridge-nf-call-ip6tables = 1</a:t>
            </a:r>
          </a:p>
          <a:p>
            <a:pPr>
              <a:spcBef>
                <a:spcPts val="0"/>
              </a:spcBef>
              <a:spcAft>
                <a:spcPts val="0"/>
              </a:spcAft>
            </a:pPr>
            <a:r>
              <a:rPr sz="1050">
                <a:solidFill>
                  <a:srgbClr val="161B26"/>
                </a:solidFill>
                <a:latin typeface="Consolas"/>
              </a:rPr>
              <a:t>net.ipv4.ip_forward                 = 1</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sysctl --system</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Disable swap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swapoff -a</a:t>
            </a:r>
          </a:p>
          <a:p>
            <a:pPr>
              <a:spcBef>
                <a:spcPts val="0"/>
              </a:spcBef>
              <a:spcAft>
                <a:spcPts val="0"/>
              </a:spcAft>
            </a:pPr>
            <a:r>
              <a:rPr sz="1050">
                <a:solidFill>
                  <a:srgbClr val="161B26"/>
                </a:solidFill>
                <a:latin typeface="Consolas"/>
              </a:rPr>
              <a:t>sudo sed -i '/ swap / s/^(.*)$/#\1/g' /etc/fstab</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Install containerd</a:t>
            </a:r>
          </a:p>
        </p:txBody>
      </p:sp>
      <p:sp>
        <p:nvSpPr>
          <p:cNvPr id="12" name="Rounded Rectangle 11"/>
          <p:cNvSpPr/>
          <p:nvPr/>
        </p:nvSpPr>
        <p:spPr>
          <a:xfrm>
            <a:off x="777240" y="3163823"/>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update &amp;&amp; sudo apt install -y containerd</a:t>
            </a:r>
          </a:p>
          <a:p>
            <a:pPr>
              <a:spcBef>
                <a:spcPts val="0"/>
              </a:spcBef>
              <a:spcAft>
                <a:spcPts val="0"/>
              </a:spcAft>
            </a:pPr>
            <a:r>
              <a:rPr sz="1050">
                <a:solidFill>
                  <a:srgbClr val="161B26"/>
                </a:solidFill>
                <a:latin typeface="Consolas"/>
              </a:rPr>
              <a:t>sudo mkdir -p /etc/containerd</a:t>
            </a:r>
          </a:p>
          <a:p>
            <a:pPr>
              <a:spcBef>
                <a:spcPts val="0"/>
              </a:spcBef>
              <a:spcAft>
                <a:spcPts val="0"/>
              </a:spcAft>
            </a:pPr>
            <a:r>
              <a:rPr sz="1050">
                <a:solidFill>
                  <a:srgbClr val="161B26"/>
                </a:solidFill>
                <a:latin typeface="Consolas"/>
              </a:rPr>
              <a:t>containerd config default | sudo tee /etc/containerd/config.toml</a:t>
            </a:r>
          </a:p>
          <a:p>
            <a:pPr>
              <a:spcBef>
                <a:spcPts val="0"/>
              </a:spcBef>
              <a:spcAft>
                <a:spcPts val="0"/>
              </a:spcAft>
            </a:pPr>
            <a:r>
              <a:rPr sz="1050">
                <a:solidFill>
                  <a:srgbClr val="161B26"/>
                </a:solidFill>
                <a:latin typeface="Consolas"/>
              </a:rPr>
              <a:t>sudo sed -i 's/SystemdCgroup = false/SystemdCgroup = true/' /etc/containerd/config.toml</a:t>
            </a:r>
          </a:p>
          <a:p>
            <a:pPr>
              <a:spcBef>
                <a:spcPts val="0"/>
              </a:spcBef>
              <a:spcAft>
                <a:spcPts val="0"/>
              </a:spcAft>
            </a:pPr>
            <a:r>
              <a:rPr sz="1050">
                <a:solidFill>
                  <a:srgbClr val="161B26"/>
                </a:solidFill>
                <a:latin typeface="Consolas"/>
              </a:rPr>
              <a:t>sudo systemctl restart containerd &amp;&amp; sudo systemctl enable containerd</a:t>
            </a:r>
          </a:p>
        </p:txBody>
      </p:sp>
      <p:sp>
        <p:nvSpPr>
          <p:cNvPr id="15" name="TextBox 14"/>
          <p:cNvSpPr txBox="1"/>
          <p:nvPr/>
        </p:nvSpPr>
        <p:spPr>
          <a:xfrm>
            <a:off x="777240" y="4430266"/>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SystemdCgroup = true aligns containerd's cgroup driver with kubelet. A mismatch is the #1 cause of 'node NotReady' in fresh clusters.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Install kubeadm, kubelet, kubectl</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install -y apt-transport-https ca-certificates curl gpg</a:t>
            </a:r>
          </a:p>
          <a:p>
            <a:pPr>
              <a:spcBef>
                <a:spcPts val="0"/>
              </a:spcBef>
              <a:spcAft>
                <a:spcPts val="0"/>
              </a:spcAft>
            </a:pPr>
            <a:r>
              <a:rPr sz="1050">
                <a:solidFill>
                  <a:srgbClr val="161B26"/>
                </a:solidFill>
                <a:latin typeface="Consolas"/>
              </a:rPr>
              <a:t>sudo mkdir -p /etc/apt/keyrings</a:t>
            </a:r>
          </a:p>
          <a:p>
            <a:pPr>
              <a:spcBef>
                <a:spcPts val="0"/>
              </a:spcBef>
              <a:spcAft>
                <a:spcPts val="0"/>
              </a:spcAft>
            </a:pPr>
            <a:r>
              <a:rPr sz="1050">
                <a:solidFill>
                  <a:srgbClr val="161B26"/>
                </a:solidFill>
                <a:latin typeface="Consolas"/>
              </a:rPr>
              <a:t>curl -fsSL https://pkgs.k8s.io/core:/stable:/v1.31/deb/Release.key | \</a:t>
            </a:r>
          </a:p>
          <a:p>
            <a:pPr>
              <a:spcBef>
                <a:spcPts val="0"/>
              </a:spcBef>
              <a:spcAft>
                <a:spcPts val="0"/>
              </a:spcAft>
            </a:pPr>
            <a:r>
              <a:rPr sz="1050">
                <a:solidFill>
                  <a:srgbClr val="161B26"/>
                </a:solidFill>
                <a:latin typeface="Consolas"/>
              </a:rPr>
              <a:t>  sudo gpg --dearmor -o /etc/apt/keyrings/kubernetes-apt-keyring.gpg</a:t>
            </a:r>
          </a:p>
          <a:p>
            <a:pPr>
              <a:spcBef>
                <a:spcPts val="0"/>
              </a:spcBef>
              <a:spcAft>
                <a:spcPts val="0"/>
              </a:spcAft>
            </a:pPr>
            <a:r>
              <a:rPr sz="1050">
                <a:solidFill>
                  <a:srgbClr val="161B26"/>
                </a:solidFill>
                <a:latin typeface="Consolas"/>
              </a:rPr>
              <a:t>echo 'deb [signed-by=/etc/apt/keyrings/kubernetes-apt-keyring.gpg] https://pkgs.k8s.io/core:/stable:/v1.31/deb/ /' | \</a:t>
            </a:r>
          </a:p>
          <a:p>
            <a:pPr>
              <a:spcBef>
                <a:spcPts val="0"/>
              </a:spcBef>
              <a:spcAft>
                <a:spcPts val="0"/>
              </a:spcAft>
            </a:pPr>
            <a:r>
              <a:rPr sz="1050">
                <a:solidFill>
                  <a:srgbClr val="161B26"/>
                </a:solidFill>
                <a:latin typeface="Consolas"/>
              </a:rPr>
              <a:t>  sudo tee /etc/apt/sources.list.d/kubernetes.list</a:t>
            </a:r>
          </a:p>
          <a:p>
            <a:pPr>
              <a:spcBef>
                <a:spcPts val="0"/>
              </a:spcBef>
              <a:spcAft>
                <a:spcPts val="0"/>
              </a:spcAft>
            </a:pPr>
            <a:r>
              <a:rPr sz="1050">
                <a:solidFill>
                  <a:srgbClr val="161B26"/>
                </a:solidFill>
                <a:latin typeface="Consolas"/>
              </a:rPr>
              <a:t>sudo apt update &amp;&amp; sudo apt install -y kubelet kubeadm kubectl</a:t>
            </a:r>
          </a:p>
          <a:p>
            <a:pPr>
              <a:spcBef>
                <a:spcPts val="0"/>
              </a:spcBef>
              <a:spcAft>
                <a:spcPts val="0"/>
              </a:spcAft>
            </a:pPr>
            <a:r>
              <a:rPr sz="1050">
                <a:solidFill>
                  <a:srgbClr val="161B26"/>
                </a:solidFill>
                <a:latin typeface="Consolas"/>
              </a:rPr>
              <a:t>sudo apt-mark hold kubelet kubeadm kubectl</a:t>
            </a:r>
          </a:p>
        </p:txBody>
      </p:sp>
      <p:sp>
        <p:nvSpPr>
          <p:cNvPr id="11" name="TextBox 10"/>
          <p:cNvSpPr txBox="1"/>
          <p:nvPr/>
        </p:nvSpPr>
        <p:spPr>
          <a:xfrm>
            <a:off x="777240" y="3904487"/>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Verify</a:t>
            </a:r>
          </a:p>
        </p:txBody>
      </p:sp>
      <p:sp>
        <p:nvSpPr>
          <p:cNvPr id="12" name="Rounded Rectangle 11"/>
          <p:cNvSpPr/>
          <p:nvPr/>
        </p:nvSpPr>
        <p:spPr>
          <a:xfrm>
            <a:off x="777240" y="4288535"/>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88535"/>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352543"/>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version</a:t>
            </a:r>
          </a:p>
          <a:p>
            <a:pPr>
              <a:spcBef>
                <a:spcPts val="0"/>
              </a:spcBef>
              <a:spcAft>
                <a:spcPts val="0"/>
              </a:spcAft>
            </a:pPr>
            <a:r>
              <a:rPr sz="1050">
                <a:solidFill>
                  <a:srgbClr val="161B26"/>
                </a:solidFill>
                <a:latin typeface="Consolas"/>
              </a:rPr>
              <a:t>kubectl version --client</a:t>
            </a:r>
          </a:p>
          <a:p>
            <a:pPr>
              <a:spcBef>
                <a:spcPts val="0"/>
              </a:spcBef>
              <a:spcAft>
                <a:spcPts val="0"/>
              </a:spcAft>
            </a:pPr>
            <a:r>
              <a:rPr sz="1050">
                <a:solidFill>
                  <a:srgbClr val="161B26"/>
                </a:solidFill>
                <a:latin typeface="Consolas"/>
              </a:rPr>
              <a:t>sudo systemctl status containerd --no-pager | head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kubeadm version shows v1.31.x, containerd is active, and crictl reports the runtime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CLUSTER SETUP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Run kubeadm init to create the control plane, configure kubectl access via kubeconfig, join a worker node using the bootstrap token, explore the PKI certificates under /etc/kubernetes/pki/, take an etcd snapshot, and inspect static pod manifests. The CKA exam always includes an etcd backup/restore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kubeadm init, copy admin.conf, join worker, explore PKI, take etcd snapshot with etcdctl.</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kubeadm init | mkdir -p | ls /etc/kubernetes/manifests/ | ls /etc/kubernetes/pki/ | export ETCDCTL_API=3 | &gt; Always | kubeadm toke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Initialize the control plane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--service-cidr=10.96.0.0/12 \</a:t>
            </a:r>
          </a:p>
          <a:p>
            <a:pPr>
              <a:spcBef>
                <a:spcPts val="0"/>
              </a:spcBef>
              <a:spcAft>
                <a:spcPts val="0"/>
              </a:spcAft>
            </a:pPr>
            <a:r>
              <a:rPr sz="1050">
                <a:solidFill>
                  <a:srgbClr val="161B26"/>
                </a:solidFill>
                <a:latin typeface="Consolas"/>
              </a:rPr>
              <a:t>  --apiserver-advertise-address=$(hostname -I | awk '{print $1}')</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kubectl</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$HOME/.kube</a:t>
            </a:r>
          </a:p>
          <a:p>
            <a:pPr>
              <a:spcBef>
                <a:spcPts val="0"/>
              </a:spcBef>
              <a:spcAft>
                <a:spcPts val="0"/>
              </a:spcAft>
            </a:pPr>
            <a:r>
              <a:rPr sz="1050">
                <a:solidFill>
                  <a:srgbClr val="161B26"/>
                </a:solidFill>
                <a:latin typeface="Consolas"/>
              </a:rPr>
              <a:t>cp -i /etc/kubernetes/admin.conf $HOME/.kube/config</a:t>
            </a:r>
          </a:p>
          <a:p>
            <a:pPr>
              <a:spcBef>
                <a:spcPts val="0"/>
              </a:spcBef>
              <a:spcAft>
                <a:spcPts val="0"/>
              </a:spcAft>
            </a:pPr>
            <a:r>
              <a:rPr sz="1050">
                <a:solidFill>
                  <a:srgbClr val="161B26"/>
                </a:solidFill>
                <a:latin typeface="Consolas"/>
              </a:rPr>
              <a:t>chown $(id -u):$(id -g) $HOME/.kube/config</a:t>
            </a:r>
          </a:p>
          <a:p>
            <a:pPr>
              <a:spcBef>
                <a:spcPts val="0"/>
              </a:spcBef>
              <a:spcAft>
                <a:spcPts val="0"/>
              </a:spcAft>
            </a:pPr>
            <a:r>
              <a:rPr sz="1050">
                <a:solidFill>
                  <a:srgbClr val="161B26"/>
                </a:solidFill>
                <a:latin typeface="Consolas"/>
              </a:rPr>
              <a:t>kubectl get nodes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Explore static pod manifests</a:t>
            </a:r>
          </a:p>
        </p:txBody>
      </p:sp>
      <p:sp>
        <p:nvSpPr>
          <p:cNvPr id="16" name="Rounded Rectangle 15"/>
          <p:cNvSpPr/>
          <p:nvPr/>
        </p:nvSpPr>
        <p:spPr>
          <a:xfrm>
            <a:off x="777240" y="5189219"/>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grep 'image:' /etc/kubernetes/manifests/kube-apiserver.yaml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Explore cluster PKI</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/etc/kubernetes/pki/</a:t>
            </a:r>
          </a:p>
          <a:p>
            <a:pPr>
              <a:spcBef>
                <a:spcPts val="0"/>
              </a:spcBef>
              <a:spcAft>
                <a:spcPts val="0"/>
              </a:spcAft>
            </a:pPr>
            <a:r>
              <a:rPr sz="1050">
                <a:solidFill>
                  <a:srgbClr val="161B26"/>
                </a:solidFill>
                <a:latin typeface="Consolas"/>
              </a:rPr>
              <a:t>kubeadm certs check-expiration</a:t>
            </a:r>
          </a:p>
          <a:p>
            <a:pPr>
              <a:spcBef>
                <a:spcPts val="0"/>
              </a:spcBef>
              <a:spcAft>
                <a:spcPts val="0"/>
              </a:spcAft>
            </a:pPr>
            <a:r>
              <a:rPr sz="1050">
                <a:solidFill>
                  <a:srgbClr val="161B26"/>
                </a:solidFill>
                <a:latin typeface="Consolas"/>
              </a:rPr>
              <a:t>openssl x509 -in /etc/kubernetes/pki/ca.crt -noout -dates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Take an etcd snapshot</a:t>
            </a:r>
          </a:p>
        </p:txBody>
      </p:sp>
      <p:sp>
        <p:nvSpPr>
          <p:cNvPr id="12" name="Rounded Rectangle 11"/>
          <p:cNvSpPr/>
          <p:nvPr/>
        </p:nvSpPr>
        <p:spPr>
          <a:xfrm>
            <a:off x="777240" y="3351276"/>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export ETCDCTL_API=3</a:t>
            </a:r>
          </a:p>
          <a:p>
            <a:pPr>
              <a:spcBef>
                <a:spcPts val="0"/>
              </a:spcBef>
              <a:spcAft>
                <a:spcPts val="0"/>
              </a:spcAft>
            </a:pPr>
            <a:r>
              <a:rPr sz="1050">
                <a:solidFill>
                  <a:srgbClr val="161B26"/>
                </a:solidFill>
                <a:latin typeface="Consolas"/>
              </a:rPr>
              <a:t>export ETCDCTL_ENDPOINTS=https://127.0.0.1:2379</a:t>
            </a:r>
          </a:p>
          <a:p>
            <a:pPr>
              <a:spcBef>
                <a:spcPts val="0"/>
              </a:spcBef>
              <a:spcAft>
                <a:spcPts val="0"/>
              </a:spcAft>
            </a:pPr>
            <a:r>
              <a:rPr sz="1050">
                <a:solidFill>
                  <a:srgbClr val="161B26"/>
                </a:solidFill>
                <a:latin typeface="Consolas"/>
              </a:rPr>
              <a:t>export ETCDCTL_CACERT=/etc/kubernetes/pki/etcd/ca.crt</a:t>
            </a:r>
          </a:p>
          <a:p>
            <a:pPr>
              <a:spcBef>
                <a:spcPts val="0"/>
              </a:spcBef>
              <a:spcAft>
                <a:spcPts val="0"/>
              </a:spcAft>
            </a:pPr>
            <a:r>
              <a:rPr sz="1050">
                <a:solidFill>
                  <a:srgbClr val="161B26"/>
                </a:solidFill>
                <a:latin typeface="Consolas"/>
              </a:rPr>
              <a:t>export ETCDCTL_CERT=/etc/kubernetes/pki/etcd/server.crt</a:t>
            </a:r>
          </a:p>
          <a:p>
            <a:pPr>
              <a:spcBef>
                <a:spcPts val="0"/>
              </a:spcBef>
              <a:spcAft>
                <a:spcPts val="0"/>
              </a:spcAft>
            </a:pPr>
            <a:r>
              <a:rPr sz="1050">
                <a:solidFill>
                  <a:srgbClr val="161B26"/>
                </a:solidFill>
                <a:latin typeface="Consolas"/>
              </a:rPr>
              <a:t>export ETCDCTL_KEY=/etc/kubernetes/pki/etcd/server.key</a:t>
            </a:r>
          </a:p>
          <a:p>
            <a:pPr>
              <a:spcBef>
                <a:spcPts val="0"/>
              </a:spcBef>
              <a:spcAft>
                <a:spcPts val="0"/>
              </a:spcAft>
            </a:pPr>
            <a:r>
              <a:rPr sz="1050">
                <a:solidFill>
                  <a:srgbClr val="161B26"/>
                </a:solidFill>
                <a:latin typeface="Consolas"/>
              </a:rPr>
              <a:t>etcdctl snapshot save /opt/etcd-backup-$(date +%Y%m%d).db</a:t>
            </a:r>
          </a:p>
          <a:p>
            <a:pPr>
              <a:spcBef>
                <a:spcPts val="0"/>
              </a:spcBef>
              <a:spcAft>
                <a:spcPts val="0"/>
              </a:spcAft>
            </a:pPr>
            <a:r>
              <a:rPr sz="1050">
                <a:solidFill>
                  <a:srgbClr val="161B26"/>
                </a:solidFill>
                <a:latin typeface="Consolas"/>
              </a:rPr>
              <a:t>etcdctl snapshot status /opt/etcd-backup-$(date +%Y%m%d).db --write-out=table</a:t>
            </a:r>
          </a:p>
        </p:txBody>
      </p:sp>
      <p:sp>
        <p:nvSpPr>
          <p:cNvPr id="15" name="TextBox 14"/>
          <p:cNvSpPr txBox="1"/>
          <p:nvPr/>
        </p:nvSpPr>
        <p:spPr>
          <a:xfrm>
            <a:off x="777240" y="4992623"/>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set ETCDCTL_API=3. etcd backup/restore is guaranteed to appear on the CKA exam.</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Join worker node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control plane -- generate join command</a:t>
            </a:r>
          </a:p>
          <a:p>
            <a:pPr>
              <a:spcBef>
                <a:spcPts val="0"/>
              </a:spcBef>
              <a:spcAft>
                <a:spcPts val="0"/>
              </a:spcAft>
            </a:pPr>
            <a:r>
              <a:rPr sz="1050">
                <a:solidFill>
                  <a:srgbClr val="161B26"/>
                </a:solidFill>
                <a:latin typeface="Consolas"/>
              </a:rPr>
              <a:t>kubeadm token create --print-join-command</a:t>
            </a:r>
          </a:p>
          <a:p>
            <a:pPr>
              <a:spcBef>
                <a:spcPts val="0"/>
              </a:spcBef>
              <a:spcAft>
                <a:spcPts val="0"/>
              </a:spcAft>
            </a:pPr>
            <a:r>
              <a:rPr sz="1050">
                <a:solidFill>
                  <a:srgbClr val="161B26"/>
                </a:solidFill>
                <a:latin typeface="Consolas"/>
              </a:rPr>
              <a:t># Run the output on WORKER NODE</a:t>
            </a:r>
          </a:p>
          <a:p>
            <a:pPr>
              <a:spcBef>
                <a:spcPts val="0"/>
              </a:spcBef>
              <a:spcAft>
                <a:spcPts val="0"/>
              </a:spcAft>
            </a:pPr>
            <a:r>
              <a:rPr sz="1050">
                <a:solidFill>
                  <a:srgbClr val="161B26"/>
                </a:solidFill>
                <a:latin typeface="Consolas"/>
              </a:rPr>
              <a:t># Back on control plane:</a:t>
            </a:r>
          </a:p>
          <a:p>
            <a:pPr>
              <a:spcBef>
                <a:spcPts val="0"/>
              </a:spcBef>
              <a:spcAft>
                <a:spcPts val="0"/>
              </a:spcAft>
            </a:pPr>
            <a:r>
              <a:rPr sz="1050">
                <a:solidFill>
                  <a:srgbClr val="161B26"/>
                </a:solidFill>
                <a:latin typeface="Consolas"/>
              </a:rPr>
              <a:t>kubectl get nodes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(NotReady until CNI installed). etcd snapshot file exists at /opt/.</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UPGRADES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Strategy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Order: kubeadm -- upgrade plan/apply -- drain -- kubelet -- uncordon</a:t>
            </a:r>
          </a:p>
          <a:p>
            <a:pPr>
              <a:spcBef>
                <a:spcPts val="0"/>
              </a:spcBef>
              <a:spcAft>
                <a:spcPts val="1000"/>
              </a:spcAft>
            </a:pPr>
            <a:r>
              <a:rPr sz="1900" b="1">
                <a:solidFill>
                  <a:srgbClr val="1F6FEB"/>
                </a:solidFill>
                <a:latin typeface="Arial"/>
              </a:rPr>
              <a:t>•  </a:t>
            </a:r>
            <a:r>
              <a:rPr sz="1900">
                <a:solidFill>
                  <a:srgbClr val="161B26"/>
                </a:solidFill>
                <a:latin typeface="Arial"/>
              </a:rPr>
              <a:t>Control plane FIRST, then each worker node individually</a:t>
            </a:r>
          </a:p>
          <a:p>
            <a:pPr>
              <a:spcBef>
                <a:spcPts val="0"/>
              </a:spcBef>
              <a:spcAft>
                <a:spcPts val="1000"/>
              </a:spcAft>
            </a:pPr>
            <a:r>
              <a:rPr sz="1900" b="1">
                <a:solidFill>
                  <a:srgbClr val="1F6FEB"/>
                </a:solidFill>
                <a:latin typeface="Arial"/>
              </a:rPr>
              <a:t>•  </a:t>
            </a:r>
            <a:r>
              <a:rPr sz="1900">
                <a:solidFill>
                  <a:srgbClr val="161B26"/>
                </a:solidFill>
                <a:latin typeface="Arial"/>
              </a:rPr>
              <a:t>apt-mark unhold / hold around each install step</a:t>
            </a:r>
          </a:p>
          <a:p>
            <a:pPr>
              <a:spcBef>
                <a:spcPts val="0"/>
              </a:spcBef>
              <a:spcAft>
                <a:spcPts val="1000"/>
              </a:spcAft>
            </a:pPr>
            <a:r>
              <a:rPr sz="1900" b="1">
                <a:solidFill>
                  <a:srgbClr val="1F6FEB"/>
                </a:solidFill>
                <a:latin typeface="Arial"/>
              </a:rPr>
              <a:t>•  </a:t>
            </a:r>
            <a:r>
              <a:rPr sz="1900">
                <a:solidFill>
                  <a:srgbClr val="161B26"/>
                </a:solidFill>
                <a:latin typeface="Arial"/>
              </a:rPr>
              <a:t>kubeadm upgrade apply v1.31.0 (control plane only)</a:t>
            </a:r>
          </a:p>
          <a:p>
            <a:pPr>
              <a:spcBef>
                <a:spcPts val="0"/>
              </a:spcBef>
              <a:spcAft>
                <a:spcPts val="1000"/>
              </a:spcAft>
            </a:pPr>
            <a:r>
              <a:rPr sz="1900" b="1">
                <a:solidFill>
                  <a:srgbClr val="1F6FEB"/>
                </a:solidFill>
                <a:latin typeface="Arial"/>
              </a:rPr>
              <a:t>•  </a:t>
            </a:r>
            <a:r>
              <a:rPr sz="1900">
                <a:solidFill>
                  <a:srgbClr val="161B26"/>
                </a:solidFill>
                <a:latin typeface="Arial"/>
              </a:rPr>
              <a:t>kubeadm upgrade node (each worker, not apply)</a:t>
            </a:r>
          </a:p>
          <a:p>
            <a:pPr>
              <a:spcBef>
                <a:spcPts val="0"/>
              </a:spcBef>
              <a:spcAft>
                <a:spcPts val="1000"/>
              </a:spcAft>
            </a:pPr>
            <a:r>
              <a:rPr sz="1900" b="1">
                <a:solidFill>
                  <a:srgbClr val="1F6FEB"/>
                </a:solidFill>
                <a:latin typeface="Arial"/>
              </a:rPr>
              <a:t>•  </a:t>
            </a:r>
            <a:r>
              <a:rPr sz="1900">
                <a:solidFill>
                  <a:srgbClr val="161B26"/>
                </a:solidFill>
                <a:latin typeface="Arial"/>
              </a:rPr>
              <a:t>Node stays serving during upgrade; drain first for workers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CNI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Calico as the CNI plugin using the Tigera Operator pattern, watch nodes transition to Ready, deploy test pods on different nodes, and validate cross-node pod-to-pod communication. The pod CIDR in Calico must match the --pod-network-cidr from kubeadm init.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Apply tigera-operator.yaml + custom-resources.yaml, watch nodes go Ready, ping across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curl -O | kubectl run | &gt; Kubernetes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Confirm nodes are NotReady before CNI</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get pods -n kube-system</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Calico Operator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-O https://raw.githubusercontent.com/projectcalico/calico/v3.29.0/manifests/tigera-operator.yaml</a:t>
            </a:r>
          </a:p>
          <a:p>
            <a:pPr>
              <a:spcBef>
                <a:spcPts val="0"/>
              </a:spcBef>
              <a:spcAft>
                <a:spcPts val="0"/>
              </a:spcAft>
            </a:pPr>
            <a:r>
              <a:rPr sz="1050">
                <a:solidFill>
                  <a:srgbClr val="161B26"/>
                </a:solidFill>
                <a:latin typeface="Consolas"/>
              </a:rPr>
              <a:t>curl -O https://raw.githubusercontent.com/projectcalico/calico/v3.29.0/manifests/custom-resources.yaml</a:t>
            </a:r>
          </a:p>
          <a:p>
            <a:pPr>
              <a:spcBef>
                <a:spcPts val="0"/>
              </a:spcBef>
              <a:spcAft>
                <a:spcPts val="0"/>
              </a:spcAft>
            </a:pPr>
            <a:r>
              <a:rPr sz="1050">
                <a:solidFill>
                  <a:srgbClr val="161B26"/>
                </a:solidFill>
                <a:latin typeface="Consolas"/>
              </a:rPr>
              <a:t>kubectl apply -f tigera-operator.yaml</a:t>
            </a:r>
          </a:p>
          <a:p>
            <a:pPr>
              <a:spcBef>
                <a:spcPts val="0"/>
              </a:spcBef>
              <a:spcAft>
                <a:spcPts val="0"/>
              </a:spcAft>
            </a:pPr>
            <a:r>
              <a:rPr sz="1050">
                <a:solidFill>
                  <a:srgbClr val="161B26"/>
                </a:solidFill>
                <a:latin typeface="Consolas"/>
              </a:rPr>
              <a:t>kubectl apply -f custom-resources.yaml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Watch nodes transition to Ready</a:t>
            </a:r>
          </a:p>
        </p:txBody>
      </p:sp>
      <p:sp>
        <p:nvSpPr>
          <p:cNvPr id="16" name="Rounded Rectangle 15"/>
          <p:cNvSpPr/>
          <p:nvPr/>
        </p:nvSpPr>
        <p:spPr>
          <a:xfrm>
            <a:off x="777240" y="462686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-w</a:t>
            </a:r>
          </a:p>
          <a:p>
            <a:pPr>
              <a:spcBef>
                <a:spcPts val="0"/>
              </a:spcBef>
              <a:spcAft>
                <a:spcPts val="0"/>
              </a:spcAft>
            </a:pPr>
            <a:r>
              <a:rPr sz="1050">
                <a:solidFill>
                  <a:srgbClr val="161B26"/>
                </a:solidFill>
                <a:latin typeface="Consolas"/>
              </a:rPr>
              <a:t>kubectl get pods -n calico-system</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cross-node pod ping</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pod-cp --image=nicolaka/netshoot -- sleep infinity</a:t>
            </a:r>
          </a:p>
          <a:p>
            <a:pPr>
              <a:spcBef>
                <a:spcPts val="0"/>
              </a:spcBef>
              <a:spcAft>
                <a:spcPts val="0"/>
              </a:spcAft>
            </a:pPr>
            <a:r>
              <a:rPr sz="1050">
                <a:solidFill>
                  <a:srgbClr val="161B26"/>
                </a:solidFill>
                <a:latin typeface="Consolas"/>
              </a:rPr>
              <a:t>kubectl run pod-worker --image=nicolaka/netshoot -- sleep infinity</a:t>
            </a:r>
          </a:p>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POD_WORKER_IP=$(kubectl get pod pod-worker -o jsonpath='{.status.podIP}')</a:t>
            </a:r>
          </a:p>
          <a:p>
            <a:pPr>
              <a:spcBef>
                <a:spcPts val="0"/>
              </a:spcBef>
              <a:spcAft>
                <a:spcPts val="0"/>
              </a:spcAft>
            </a:pPr>
            <a:r>
              <a:rPr sz="1050">
                <a:solidFill>
                  <a:srgbClr val="161B26"/>
                </a:solidFill>
                <a:latin typeface="Consolas"/>
              </a:rPr>
              <a:t>kubectl exec pod-cp -- ping -c 4 $POD_WORKER_IP</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Kubernetes requires a flat pod network -- cross-node pod-to-pod communication without NAT. A failed ping indicates CNI misconfiguration.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Both nodes are Ready. Cross-node ping returns 0% packet loss. coredns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upgrade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Upgrade a two-node cluster from v1.34 to v1.35 following the official kubeadm upgrade procedure. The exact sequence: unhold, install kubeadm, upgrade plan, upgrade apply, drain, upgrade kubelet/kubectl, uncordon. Missing any step is a common exam mistake.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Upgrade control plane with kubeadm upgrade apply, drain node, upgrade kubelet, uncordon. Repeat for worker.</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-fsSL | apt-mark unhold | kubeadm upgrade | kubectl drain | &gt; The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Add v1.35 apt repository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-fsSL https://pkgs.k8s.io/core:/stable:/v1.35/deb/Release.key | \</a:t>
            </a:r>
          </a:p>
          <a:p>
            <a:pPr>
              <a:spcBef>
                <a:spcPts val="0"/>
              </a:spcBef>
              <a:spcAft>
                <a:spcPts val="0"/>
              </a:spcAft>
            </a:pPr>
            <a:r>
              <a:rPr sz="1050">
                <a:solidFill>
                  <a:srgbClr val="161B26"/>
                </a:solidFill>
                <a:latin typeface="Consolas"/>
              </a:rPr>
              <a:t>  gpg --dearmor -o /etc/apt/keyrings/kubernetes-apt-keyring.gpg</a:t>
            </a:r>
          </a:p>
          <a:p>
            <a:pPr>
              <a:spcBef>
                <a:spcPts val="0"/>
              </a:spcBef>
              <a:spcAft>
                <a:spcPts val="0"/>
              </a:spcAft>
            </a:pPr>
            <a:r>
              <a:rPr sz="1050">
                <a:solidFill>
                  <a:srgbClr val="161B26"/>
                </a:solidFill>
                <a:latin typeface="Consolas"/>
              </a:rPr>
              <a:t>apt-get update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Upgrade kubeadm on control plane</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apt-mark unhold kubeadm</a:t>
            </a:r>
          </a:p>
          <a:p>
            <a:pPr>
              <a:spcBef>
                <a:spcPts val="0"/>
              </a:spcBef>
              <a:spcAft>
                <a:spcPts val="0"/>
              </a:spcAft>
            </a:pPr>
            <a:r>
              <a:rPr sz="1050">
                <a:solidFill>
                  <a:srgbClr val="161B26"/>
                </a:solidFill>
                <a:latin typeface="Consolas"/>
              </a:rPr>
              <a:t>apt-get install -y kubeadm=1.35.0-*</a:t>
            </a:r>
          </a:p>
          <a:p>
            <a:pPr>
              <a:spcBef>
                <a:spcPts val="0"/>
              </a:spcBef>
              <a:spcAft>
                <a:spcPts val="0"/>
              </a:spcAft>
            </a:pPr>
            <a:r>
              <a:rPr sz="1050">
                <a:solidFill>
                  <a:srgbClr val="161B26"/>
                </a:solidFill>
                <a:latin typeface="Consolas"/>
              </a:rPr>
              <a:t>apt-mark hold kubeadm</a:t>
            </a:r>
          </a:p>
          <a:p>
            <a:pPr>
              <a:spcBef>
                <a:spcPts val="0"/>
              </a:spcBef>
              <a:spcAft>
                <a:spcPts val="0"/>
              </a:spcAft>
            </a:pPr>
            <a:r>
              <a:rPr sz="1050">
                <a:solidFill>
                  <a:srgbClr val="161B26"/>
                </a:solidFill>
                <a:latin typeface="Consolas"/>
              </a:rPr>
              <a:t>kubeadm version</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Run upgrade plan and apply</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upgrade plan</a:t>
            </a:r>
          </a:p>
          <a:p>
            <a:pPr>
              <a:spcBef>
                <a:spcPts val="0"/>
              </a:spcBef>
              <a:spcAft>
                <a:spcPts val="0"/>
              </a:spcAft>
            </a:pPr>
            <a:r>
              <a:rPr sz="1050">
                <a:solidFill>
                  <a:srgbClr val="161B26"/>
                </a:solidFill>
                <a:latin typeface="Consolas"/>
              </a:rPr>
              <a:t>kubeadm upgrade apply v1.35.0</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upgrade kubelet, uncordon control plane</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controlplane --ignore-daemonsets --delete-emptydir-data</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apt-mark hold kubelet kubectl</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kubectl uncordon controlplane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Upgrade worker node</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WORKER NODE:</a:t>
            </a:r>
          </a:p>
          <a:p>
            <a:pPr>
              <a:spcBef>
                <a:spcPts val="0"/>
              </a:spcBef>
              <a:spcAft>
                <a:spcPts val="0"/>
              </a:spcAft>
            </a:pPr>
            <a:r>
              <a:rPr sz="1050">
                <a:solidFill>
                  <a:srgbClr val="161B26"/>
                </a:solidFill>
                <a:latin typeface="Consolas"/>
              </a:rPr>
              <a:t>apt-mark unhold kubeadm &amp;&amp; apt-get install -y kubeadm=1.35.0-*</a:t>
            </a:r>
          </a:p>
          <a:p>
            <a:pPr>
              <a:spcBef>
                <a:spcPts val="0"/>
              </a:spcBef>
              <a:spcAft>
                <a:spcPts val="0"/>
              </a:spcAft>
            </a:pPr>
            <a:r>
              <a:rPr sz="1050">
                <a:solidFill>
                  <a:srgbClr val="161B26"/>
                </a:solidFill>
                <a:latin typeface="Consolas"/>
              </a:rPr>
              <a:t>kubeadm upgrade node</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drain worker01 --ignore-daemonsets --delete-emptydir-data</a:t>
            </a:r>
          </a:p>
          <a:p>
            <a:pPr>
              <a:spcBef>
                <a:spcPts val="0"/>
              </a:spcBef>
              <a:spcAft>
                <a:spcPts val="0"/>
              </a:spcAft>
            </a:pPr>
            <a:r>
              <a:rPr sz="1050">
                <a:solidFill>
                  <a:srgbClr val="161B26"/>
                </a:solidFill>
                <a:latin typeface="Consolas"/>
              </a:rPr>
              <a:t># Back on WORKER:</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uncordon worker01 &amp;&amp; kubectl get nodes</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The VERSION column in 'kubectl get nodes' shows kubelet version, not API server version. systemctl daemon-reload is required after binary update before restarting kubelet.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as Ready at v1.35.0. kubectl version shows Server v1.35.0.</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10 minutes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High availability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Set up a highly available control plane topology using HAProxy as a TCP load balancer and Keepalived to provide a floating VIP. Initialize the first control plane with --control-plane-endpoint pointing to the VIP and --upload-certs to share certs. CKA tests etcd quorum and cluster resilience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HAProxy and Keepalived, run kubeadm init with --control-plane-endpoint and --upload-certs, join additional control plane nodes, verify etcd member list.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apt-get install | kubeadm init | &gt; --control-plane-endpoint | kubeadm join | kubectl -n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and configure HAProxy</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haproxy</a:t>
            </a:r>
          </a:p>
          <a:p>
            <a:pPr>
              <a:spcBef>
                <a:spcPts val="0"/>
              </a:spcBef>
              <a:spcAft>
                <a:spcPts val="0"/>
              </a:spcAft>
            </a:pPr>
            <a:r>
              <a:rPr sz="1050">
                <a:solidFill>
                  <a:srgbClr val="161B26"/>
                </a:solidFill>
                <a:latin typeface="Consolas"/>
              </a:rPr>
              <a:t>systemctl restart haproxy &amp;&amp; systemctl enable haproxy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Keepalived with VIP</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keepalived</a:t>
            </a:r>
          </a:p>
          <a:p>
            <a:pPr>
              <a:spcBef>
                <a:spcPts val="0"/>
              </a:spcBef>
              <a:spcAft>
                <a:spcPts val="0"/>
              </a:spcAft>
            </a:pPr>
            <a:r>
              <a:rPr sz="1050">
                <a:solidFill>
                  <a:srgbClr val="161B26"/>
                </a:solidFill>
                <a:latin typeface="Consolas"/>
              </a:rPr>
              <a:t># MASTER: state MASTER, priority 101</a:t>
            </a:r>
          </a:p>
          <a:p>
            <a:pPr>
              <a:spcBef>
                <a:spcPts val="0"/>
              </a:spcBef>
              <a:spcAft>
                <a:spcPts val="0"/>
              </a:spcAft>
            </a:pPr>
            <a:r>
              <a:rPr sz="1050">
                <a:solidFill>
                  <a:srgbClr val="161B26"/>
                </a:solidFill>
                <a:latin typeface="Consolas"/>
              </a:rPr>
              <a:t># BACKUP: state BACKUP, priority 100</a:t>
            </a:r>
          </a:p>
          <a:p>
            <a:pPr>
              <a:spcBef>
                <a:spcPts val="0"/>
              </a:spcBef>
              <a:spcAft>
                <a:spcPts val="0"/>
              </a:spcAft>
            </a:pPr>
            <a:r>
              <a:rPr sz="1050">
                <a:solidFill>
                  <a:srgbClr val="161B26"/>
                </a:solidFill>
                <a:latin typeface="Consolas"/>
              </a:rPr>
              <a:t>systemctl restart keepalived &amp;&amp; systemctl enable keepalived</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Initialize first control plane with VIP</a:t>
            </a:r>
          </a:p>
        </p:txBody>
      </p:sp>
      <p:sp>
        <p:nvSpPr>
          <p:cNvPr id="16" name="Rounded Rectangle 15"/>
          <p:cNvSpPr/>
          <p:nvPr/>
        </p:nvSpPr>
        <p:spPr>
          <a:xfrm>
            <a:off x="777240" y="4626863"/>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--control-plane-endpoint='192.168.1.100:6443'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--upload-certs</a:t>
            </a:r>
          </a:p>
          <a:p>
            <a:pPr>
              <a:spcBef>
                <a:spcPts val="0"/>
              </a:spcBef>
              <a:spcAft>
                <a:spcPts val="0"/>
              </a:spcAft>
            </a:pPr>
            <a:r>
              <a:rPr sz="1050">
                <a:solidFill>
                  <a:srgbClr val="161B26"/>
                </a:solidFill>
                <a:latin typeface="Consolas"/>
              </a:rPr>
              <a:t>mkdir -p $HOME/.kube &amp;&amp; cp /etc/kubernetes/admin.conf $HOME/.kube/config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--control-plane-endpoint must point to the VIP address and is baked into all certs/kubeconfigs. --upload-certs stores encrypted certs in a Secret. The --certificate-key expires after 2 hours.</a:t>
            </a:r>
          </a:p>
        </p:txBody>
      </p:sp>
      <p:sp>
        <p:nvSpPr>
          <p:cNvPr id="8" name="TextBox 7"/>
          <p:cNvSpPr txBox="1"/>
          <p:nvPr/>
        </p:nvSpPr>
        <p:spPr>
          <a:xfrm>
            <a:off x="777240" y="289864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Join additional control plane nodes</a:t>
            </a:r>
          </a:p>
        </p:txBody>
      </p:sp>
      <p:sp>
        <p:nvSpPr>
          <p:cNvPr id="9" name="Rounded Rectangle 8"/>
          <p:cNvSpPr/>
          <p:nvPr/>
        </p:nvSpPr>
        <p:spPr>
          <a:xfrm>
            <a:off x="777240" y="328269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8269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334670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join 192.168.1.100:6443 \</a:t>
            </a:r>
          </a:p>
          <a:p>
            <a:pPr>
              <a:spcBef>
                <a:spcPts val="0"/>
              </a:spcBef>
              <a:spcAft>
                <a:spcPts val="0"/>
              </a:spcAft>
            </a:pPr>
            <a:r>
              <a:rPr sz="1050">
                <a:solidFill>
                  <a:srgbClr val="161B26"/>
                </a:solidFill>
                <a:latin typeface="Consolas"/>
              </a:rPr>
              <a:t>  --token &lt;token&gt; \</a:t>
            </a:r>
          </a:p>
          <a:p>
            <a:pPr>
              <a:spcBef>
                <a:spcPts val="0"/>
              </a:spcBef>
              <a:spcAft>
                <a:spcPts val="0"/>
              </a:spcAft>
            </a:pPr>
            <a:r>
              <a:rPr sz="1050">
                <a:solidFill>
                  <a:srgbClr val="161B26"/>
                </a:solidFill>
                <a:latin typeface="Consolas"/>
              </a:rPr>
              <a:t>  --discovery-token-ca-cert-hash sha256:&lt;hash&gt; \</a:t>
            </a:r>
          </a:p>
          <a:p>
            <a:pPr>
              <a:spcBef>
                <a:spcPts val="0"/>
              </a:spcBef>
              <a:spcAft>
                <a:spcPts val="0"/>
              </a:spcAft>
            </a:pPr>
            <a:r>
              <a:rPr sz="1050">
                <a:solidFill>
                  <a:srgbClr val="161B26"/>
                </a:solidFill>
                <a:latin typeface="Consolas"/>
              </a:rPr>
              <a:t>  --control-plane \</a:t>
            </a:r>
          </a:p>
          <a:p>
            <a:pPr>
              <a:spcBef>
                <a:spcPts val="0"/>
              </a:spcBef>
              <a:spcAft>
                <a:spcPts val="0"/>
              </a:spcAft>
            </a:pPr>
            <a:r>
              <a:rPr sz="1050">
                <a:solidFill>
                  <a:srgbClr val="161B26"/>
                </a:solidFill>
                <a:latin typeface="Consolas"/>
              </a:rPr>
              <a:t>  --certificate-key &lt;cert-key&gt;</a:t>
            </a:r>
          </a:p>
        </p:txBody>
      </p:sp>
      <p:sp>
        <p:nvSpPr>
          <p:cNvPr id="12" name="TextBox 11"/>
          <p:cNvSpPr txBox="1"/>
          <p:nvPr/>
        </p:nvSpPr>
        <p:spPr>
          <a:xfrm>
            <a:off x="777240" y="4549139"/>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Verify etcd HA cluster</a:t>
            </a:r>
          </a:p>
        </p:txBody>
      </p:sp>
      <p:sp>
        <p:nvSpPr>
          <p:cNvPr id="13" name="Rounded Rectangle 12"/>
          <p:cNvSpPr/>
          <p:nvPr/>
        </p:nvSpPr>
        <p:spPr>
          <a:xfrm>
            <a:off x="777240" y="4933187"/>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933187"/>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4997195"/>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exec -it etcd-control-plane-01 -- \</a:t>
            </a:r>
          </a:p>
          <a:p>
            <a:pPr>
              <a:spcBef>
                <a:spcPts val="0"/>
              </a:spcBef>
              <a:spcAft>
                <a:spcPts val="0"/>
              </a:spcAft>
            </a:pPr>
            <a:r>
              <a:rPr sz="1050">
                <a:solidFill>
                  <a:srgbClr val="161B26"/>
                </a:solidFill>
                <a:latin typeface="Consolas"/>
              </a:rPr>
              <a:t>  etcdctl --endpoints=https://127.0.0.1:2379 \</a:t>
            </a:r>
          </a:p>
          <a:p>
            <a:pPr>
              <a:spcBef>
                <a:spcPts val="0"/>
              </a:spcBef>
              <a:spcAft>
                <a:spcPts val="0"/>
              </a:spcAft>
            </a:pPr>
            <a:r>
              <a:rPr sz="1050">
                <a:solidFill>
                  <a:srgbClr val="161B26"/>
                </a:solidFill>
                <a:latin typeface="Consolas"/>
              </a:rPr>
              <a:t>  --cacert=/etc/kubernetes/pki/etcd/ca.crt \</a:t>
            </a:r>
          </a:p>
          <a:p>
            <a:pPr>
              <a:spcBef>
                <a:spcPts val="0"/>
              </a:spcBef>
              <a:spcAft>
                <a:spcPts val="0"/>
              </a:spcAft>
            </a:pPr>
            <a:r>
              <a:rPr sz="1050">
                <a:solidFill>
                  <a:srgbClr val="161B26"/>
                </a:solidFill>
                <a:latin typeface="Consolas"/>
              </a:rPr>
              <a:t>  --cert=/etc/kubernetes/pki/etcd/server.crt \</a:t>
            </a:r>
          </a:p>
          <a:p>
            <a:pPr>
              <a:spcBef>
                <a:spcPts val="0"/>
              </a:spcBef>
              <a:spcAft>
                <a:spcPts val="0"/>
              </a:spcAft>
            </a:pPr>
            <a:r>
              <a:rPr sz="1050">
                <a:solidFill>
                  <a:srgbClr val="161B26"/>
                </a:solidFill>
                <a:latin typeface="Consolas"/>
              </a:rPr>
              <a:t>  --key=/etc/kubernetes/pki/etcd/server.key member list</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etcdctl member list shows all control plane nodes as healthy. kubectl get nodes shows 3+ nodes. VIP migrates to secondary when primary API server is stopped.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ROLE-BASED 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Role, Binding, Subject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 / ClusterRole</a:t>
            </a:r>
          </a:p>
          <a:p>
            <a:pPr algn="ctr">
              <a:spcBef>
                <a:spcPts val="0"/>
              </a:spcBef>
              <a:spcAft>
                <a:spcPts val="300"/>
              </a:spcAft>
            </a:pPr>
            <a:r>
              <a:rPr sz="1200" b="0">
                <a:solidFill>
                  <a:srgbClr val="5B6372"/>
                </a:solidFill>
                <a:latin typeface="Arial"/>
              </a:rPr>
              <a:t>verbs: get, list, create</a:t>
            </a:r>
          </a:p>
          <a:p>
            <a:pPr algn="ctr">
              <a:spcBef>
                <a:spcPts val="0"/>
              </a:spcBef>
              <a:spcAft>
                <a:spcPts val="300"/>
              </a:spcAft>
            </a:pPr>
            <a:r>
              <a:rPr sz="1200" b="0">
                <a:solidFill>
                  <a:srgbClr val="5B6372"/>
                </a:solidFill>
                <a:latin typeface="Arial"/>
              </a:rPr>
              <a:t>resources: pods, deployments</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RoleBinding / ClusterRoleBinding</a:t>
            </a:r>
          </a:p>
          <a:p>
            <a:pPr algn="ctr">
              <a:spcBef>
                <a:spcPts val="0"/>
              </a:spcBef>
              <a:spcAft>
                <a:spcPts val="300"/>
              </a:spcAft>
            </a:pPr>
            <a:r>
              <a:rPr sz="1200" b="0">
                <a:solidFill>
                  <a:srgbClr val="5B6372"/>
                </a:solidFill>
                <a:latin typeface="Arial"/>
              </a:rPr>
              <a:t>binds role to subject</a:t>
            </a:r>
          </a:p>
          <a:p>
            <a:pPr algn="ctr">
              <a:spcBef>
                <a:spcPts val="0"/>
              </a:spcBef>
              <a:spcAft>
                <a:spcPts val="300"/>
              </a:spcAft>
            </a:pPr>
            <a:r>
              <a:rPr sz="1200" b="0">
                <a:solidFill>
                  <a:srgbClr val="5B6372"/>
                </a:solidFill>
                <a:latin typeface="Arial"/>
              </a:rPr>
              <a:t>ns or cluster scope</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6" y="2286000"/>
            <a:ext cx="2980944" cy="182880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Subject</a:t>
            </a:r>
          </a:p>
          <a:p>
            <a:pPr algn="ctr">
              <a:spcBef>
                <a:spcPts val="0"/>
              </a:spcBef>
              <a:spcAft>
                <a:spcPts val="300"/>
              </a:spcAft>
            </a:pPr>
            <a:r>
              <a:rPr sz="1200" b="0">
                <a:solidFill>
                  <a:srgbClr val="5B6372"/>
                </a:solidFill>
                <a:latin typeface="Arial"/>
              </a:rPr>
              <a:t>ServiceAccount</a:t>
            </a:r>
          </a:p>
          <a:p>
            <a:pPr algn="ctr">
              <a:spcBef>
                <a:spcPts val="0"/>
              </a:spcBef>
              <a:spcAft>
                <a:spcPts val="300"/>
              </a:spcAft>
            </a:pPr>
            <a:r>
              <a:rPr sz="1200" b="0">
                <a:solidFill>
                  <a:srgbClr val="5B6372"/>
                </a:solidFill>
                <a:latin typeface="Arial"/>
              </a:rPr>
              <a:t>User / Group</a:t>
            </a:r>
          </a:p>
        </p:txBody>
      </p:sp>
      <p:sp>
        <p:nvSpPr>
          <p:cNvPr id="17" name="Rounded Rectangle 16"/>
          <p:cNvSpPr/>
          <p:nvPr/>
        </p:nvSpPr>
        <p:spPr>
          <a:xfrm>
            <a:off x="777240" y="4617720"/>
            <a:ext cx="10652760" cy="71323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17720"/>
            <a:ext cx="10058400" cy="71323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auth can-i list pods --as=system:serviceaccount:ns:sa</a:t>
            </a:r>
          </a:p>
          <a:p>
            <a:pPr algn="l">
              <a:spcBef>
                <a:spcPts val="0"/>
              </a:spcBef>
              <a:spcAft>
                <a:spcPts val="400"/>
              </a:spcAft>
            </a:pPr>
            <a:r>
              <a:rPr sz="1400" b="1">
                <a:solidFill>
                  <a:srgbClr val="10B981"/>
                </a:solidFill>
                <a:latin typeface="Arial"/>
              </a:rPr>
              <a:t>-&gt; yes | no</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Helm package manager</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Master the complete Helm workflow: adding repos, installing charts, overriding values with --set and -f, upgrading releases, rollbacks, and using helm template to render manifests. Helm is explicitly allowed as a reference during the CKA exam at helm.sh/docs.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Add bitnami repo, install nginx chart with custom values, upgrade, rollback, use helm template for GitOps-style rendering.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https://raw.githubusercontent.com/helm/helm/main/scripts/get-helm-3 | helm install | cat &lt;&lt;'EOF' | helm rollback | helm templ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Helm and add repos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https://raw.githubusercontent.com/helm/helm/main/scripts/get-helm-3 | bash</a:t>
            </a:r>
          </a:p>
          <a:p>
            <a:pPr>
              <a:spcBef>
                <a:spcPts val="0"/>
              </a:spcBef>
              <a:spcAft>
                <a:spcPts val="0"/>
              </a:spcAft>
            </a:pPr>
            <a:r>
              <a:rPr sz="1050">
                <a:solidFill>
                  <a:srgbClr val="161B26"/>
                </a:solidFill>
                <a:latin typeface="Consolas"/>
              </a:rPr>
              <a:t>helm version</a:t>
            </a:r>
          </a:p>
          <a:p>
            <a:pPr>
              <a:spcBef>
                <a:spcPts val="0"/>
              </a:spcBef>
              <a:spcAft>
                <a:spcPts val="0"/>
              </a:spcAft>
            </a:pPr>
            <a:r>
              <a:rPr sz="1050">
                <a:solidFill>
                  <a:srgbClr val="161B26"/>
                </a:solidFill>
                <a:latin typeface="Consolas"/>
              </a:rPr>
              <a:t>helm repo add bitnami https://charts.bitnami.com/bitnami</a:t>
            </a:r>
          </a:p>
          <a:p>
            <a:pPr>
              <a:spcBef>
                <a:spcPts val="0"/>
              </a:spcBef>
              <a:spcAft>
                <a:spcPts val="0"/>
              </a:spcAft>
            </a:pPr>
            <a:r>
              <a:rPr sz="1050">
                <a:solidFill>
                  <a:srgbClr val="161B26"/>
                </a:solidFill>
                <a:latin typeface="Consolas"/>
              </a:rPr>
              <a:t>helm repo update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a chart with value overrides</a:t>
            </a:r>
          </a:p>
        </p:txBody>
      </p:sp>
      <p:sp>
        <p:nvSpPr>
          <p:cNvPr id="12" name="Rounded Rectangle 11"/>
          <p:cNvSpPr/>
          <p:nvPr/>
        </p:nvSpPr>
        <p:spPr>
          <a:xfrm>
            <a:off x="777240" y="353872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install my-nginx bitnami/nginx \</a:t>
            </a:r>
          </a:p>
          <a:p>
            <a:pPr>
              <a:spcBef>
                <a:spcPts val="0"/>
              </a:spcBef>
              <a:spcAft>
                <a:spcPts val="0"/>
              </a:spcAft>
            </a:pPr>
            <a:r>
              <a:rPr sz="1050">
                <a:solidFill>
                  <a:srgbClr val="161B26"/>
                </a:solidFill>
                <a:latin typeface="Consolas"/>
              </a:rPr>
              <a:t>  --namespace web --create-namespace \</a:t>
            </a:r>
          </a:p>
          <a:p>
            <a:pPr>
              <a:spcBef>
                <a:spcPts val="0"/>
              </a:spcBef>
              <a:spcAft>
                <a:spcPts val="0"/>
              </a:spcAft>
            </a:pPr>
            <a:r>
              <a:rPr sz="1050">
                <a:solidFill>
                  <a:srgbClr val="161B26"/>
                </a:solidFill>
                <a:latin typeface="Consolas"/>
              </a:rPr>
              <a:t>  --set service.type=NodePort \</a:t>
            </a:r>
          </a:p>
          <a:p>
            <a:pPr>
              <a:spcBef>
                <a:spcPts val="0"/>
              </a:spcBef>
              <a:spcAft>
                <a:spcPts val="0"/>
              </a:spcAft>
            </a:pPr>
            <a:r>
              <a:rPr sz="1050">
                <a:solidFill>
                  <a:srgbClr val="161B26"/>
                </a:solidFill>
                <a:latin typeface="Consolas"/>
              </a:rPr>
              <a:t>  --set replicaCount=2</a:t>
            </a:r>
          </a:p>
          <a:p>
            <a:pPr>
              <a:spcBef>
                <a:spcPts val="0"/>
              </a:spcBef>
              <a:spcAft>
                <a:spcPts val="0"/>
              </a:spcAft>
            </a:pPr>
            <a:r>
              <a:rPr sz="1050">
                <a:solidFill>
                  <a:srgbClr val="161B26"/>
                </a:solidFill>
                <a:latin typeface="Consolas"/>
              </a:rPr>
              <a:t>helm list -n web</a:t>
            </a:r>
          </a:p>
          <a:p>
            <a:pPr>
              <a:spcBef>
                <a:spcPts val="0"/>
              </a:spcBef>
              <a:spcAft>
                <a:spcPts val="0"/>
              </a:spcAft>
            </a:pPr>
            <a:r>
              <a:rPr sz="1050">
                <a:solidFill>
                  <a:srgbClr val="161B26"/>
                </a:solidFill>
                <a:latin typeface="Consolas"/>
              </a:rPr>
              <a:t>helm status my-nginx -n web</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Upgrade with -f values.yaml</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my-values.yaml</a:t>
            </a:r>
          </a:p>
          <a:p>
            <a:pPr>
              <a:spcBef>
                <a:spcPts val="0"/>
              </a:spcBef>
              <a:spcAft>
                <a:spcPts val="0"/>
              </a:spcAft>
            </a:pPr>
            <a:r>
              <a:rPr sz="1050">
                <a:solidFill>
                  <a:srgbClr val="161B26"/>
                </a:solidFill>
                <a:latin typeface="Consolas"/>
              </a:rPr>
              <a:t>replicaCount: 3</a:t>
            </a:r>
          </a:p>
          <a:p>
            <a:pPr>
              <a:spcBef>
                <a:spcPts val="0"/>
              </a:spcBef>
              <a:spcAft>
                <a:spcPts val="0"/>
              </a:spcAft>
            </a:pPr>
            <a:r>
              <a:rPr sz="1050">
                <a:solidFill>
                  <a:srgbClr val="161B26"/>
                </a:solidFill>
                <a:latin typeface="Consolas"/>
              </a:rPr>
              <a:t>service:</a:t>
            </a:r>
          </a:p>
          <a:p>
            <a:pPr>
              <a:spcBef>
                <a:spcPts val="0"/>
              </a:spcBef>
              <a:spcAft>
                <a:spcPts val="0"/>
              </a:spcAft>
            </a:pPr>
            <a:r>
              <a:rPr sz="1050">
                <a:solidFill>
                  <a:srgbClr val="161B26"/>
                </a:solidFill>
                <a:latin typeface="Consolas"/>
              </a:rPr>
              <a:t>  type: ClusterIP</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helm upgrade my-nginx bitnami/nginx -n web -f my-values.yaml</a:t>
            </a:r>
          </a:p>
          <a:p>
            <a:pPr>
              <a:spcBef>
                <a:spcPts val="0"/>
              </a:spcBef>
              <a:spcAft>
                <a:spcPts val="0"/>
              </a:spcAft>
            </a:pPr>
            <a:r>
              <a:rPr sz="1050">
                <a:solidFill>
                  <a:srgbClr val="161B26"/>
                </a:solidFill>
                <a:latin typeface="Consolas"/>
              </a:rPr>
              <a:t>helm history my-nginx -n web</a:t>
            </a:r>
          </a:p>
        </p:txBody>
      </p:sp>
      <p:sp>
        <p:nvSpPr>
          <p:cNvPr id="11" name="TextBox 10"/>
          <p:cNvSpPr txBox="1"/>
          <p:nvPr/>
        </p:nvSpPr>
        <p:spPr>
          <a:xfrm>
            <a:off x="777240" y="371703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 a release</a:t>
            </a:r>
          </a:p>
        </p:txBody>
      </p:sp>
      <p:sp>
        <p:nvSpPr>
          <p:cNvPr id="12" name="Rounded Rectangle 11"/>
          <p:cNvSpPr/>
          <p:nvPr/>
        </p:nvSpPr>
        <p:spPr>
          <a:xfrm>
            <a:off x="777240" y="410108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10108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16509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rollback my-nginx -n web</a:t>
            </a:r>
          </a:p>
          <a:p>
            <a:pPr>
              <a:spcBef>
                <a:spcPts val="0"/>
              </a:spcBef>
              <a:spcAft>
                <a:spcPts val="0"/>
              </a:spcAft>
            </a:pPr>
            <a:r>
              <a:rPr sz="1050">
                <a:solidFill>
                  <a:srgbClr val="161B26"/>
                </a:solidFill>
                <a:latin typeface="Consolas"/>
              </a:rPr>
              <a:t>helm history my-nginx -n web</a:t>
            </a:r>
          </a:p>
        </p:txBody>
      </p:sp>
      <p:sp>
        <p:nvSpPr>
          <p:cNvPr id="15" name="TextBox 14"/>
          <p:cNvSpPr txBox="1"/>
          <p:nvPr/>
        </p:nvSpPr>
        <p:spPr>
          <a:xfrm>
            <a:off x="777240" y="480517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Render manifests without installing</a:t>
            </a:r>
          </a:p>
        </p:txBody>
      </p:sp>
      <p:sp>
        <p:nvSpPr>
          <p:cNvPr id="16" name="Rounded Rectangle 15"/>
          <p:cNvSpPr/>
          <p:nvPr/>
        </p:nvSpPr>
        <p:spPr>
          <a:xfrm>
            <a:off x="777240" y="518921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template my-nginx bitnami/nginx --set replicaCount=2</a:t>
            </a:r>
          </a:p>
          <a:p>
            <a:pPr>
              <a:spcBef>
                <a:spcPts val="0"/>
              </a:spcBef>
              <a:spcAft>
                <a:spcPts val="0"/>
              </a:spcAft>
            </a:pPr>
            <a:r>
              <a:rPr sz="1050">
                <a:solidFill>
                  <a:srgbClr val="161B26"/>
                </a:solidFill>
                <a:latin typeface="Consolas"/>
              </a:rPr>
              <a:t>helm template my-nginx bitnami/nginx -f my-values.yaml &gt; rendered.yaml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helm template is used in GitOps workflows. -f values override defaults; --set overrides -f when both are specified.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helm list -n web shows my-nginx deployed. helm history shows at least 2 revisions. helm rollback reverts to the previous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Kustomize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Kustomize (built into kubectl) to manage base manifests and environment-specific overlays without file duplication. CKA tests kubectl apply -k, namePrefix, image overrides, and strategic merge patches.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base (deployment + service + kustomization.yaml), dev overlay with namePrefix and image override, production overlay with replica patch. Apply with kubectl apply -k.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kustomize | mkdir -p | cat &lt;&lt;'EOF' | kubectl create | kubectl diff | &gt; namePrefix</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Verify kustomize is built into kubectl</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kustomize --help</a:t>
            </a:r>
          </a:p>
          <a:p>
            <a:pPr>
              <a:spcBef>
                <a:spcPts val="0"/>
              </a:spcBef>
              <a:spcAft>
                <a:spcPts val="0"/>
              </a:spcAft>
            </a:pPr>
            <a:r>
              <a:rPr sz="1050">
                <a:solidFill>
                  <a:srgbClr val="161B26"/>
                </a:solidFill>
                <a:latin typeface="Consolas"/>
              </a:rPr>
              <a:t>kubectl version --client -o yaml | grep -i kustomize</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base layer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~/kustomize-lab/base ~/kustomize-lab/overlays/dev</a:t>
            </a:r>
          </a:p>
          <a:p>
            <a:pPr>
              <a:spcBef>
                <a:spcPts val="0"/>
              </a:spcBef>
              <a:spcAft>
                <a:spcPts val="0"/>
              </a:spcAft>
            </a:pPr>
            <a:r>
              <a:rPr sz="1050">
                <a:solidFill>
                  <a:srgbClr val="161B26"/>
                </a:solidFill>
                <a:latin typeface="Consolas"/>
              </a:rPr>
              <a:t># Create base/deployment.yaml, base/service.yaml</a:t>
            </a:r>
          </a:p>
          <a:p>
            <a:pPr>
              <a:spcBef>
                <a:spcPts val="0"/>
              </a:spcBef>
              <a:spcAft>
                <a:spcPts val="0"/>
              </a:spcAft>
            </a:pPr>
            <a:r>
              <a:rPr sz="1050">
                <a:solidFill>
                  <a:srgbClr val="161B26"/>
                </a:solidFill>
                <a:latin typeface="Consolas"/>
              </a:rPr>
              <a:t># Create base/kustomization.yaml with resources list</a:t>
            </a:r>
          </a:p>
          <a:p>
            <a:pPr>
              <a:spcBef>
                <a:spcPts val="0"/>
              </a:spcBef>
              <a:spcAft>
                <a:spcPts val="0"/>
              </a:spcAft>
            </a:pPr>
            <a:r>
              <a:rPr sz="1050">
                <a:solidFill>
                  <a:srgbClr val="161B26"/>
                </a:solidFill>
                <a:latin typeface="Consolas"/>
              </a:rPr>
              <a:t>kubectl kustomize ~/kustomize-lab/base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Dev overlay with namePrefix</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~/kustomize-lab/overlays/dev/kustomization.yaml</a:t>
            </a:r>
          </a:p>
          <a:p>
            <a:pPr>
              <a:spcBef>
                <a:spcPts val="0"/>
              </a:spcBef>
              <a:spcAft>
                <a:spcPts val="0"/>
              </a:spcAft>
            </a:pPr>
            <a:r>
              <a:rPr sz="1050">
                <a:solidFill>
                  <a:srgbClr val="161B26"/>
                </a:solidFill>
                <a:latin typeface="Consolas"/>
              </a:rPr>
              <a:t>bases:</a:t>
            </a:r>
          </a:p>
          <a:p>
            <a:pPr>
              <a:spcBef>
                <a:spcPts val="0"/>
              </a:spcBef>
              <a:spcAft>
                <a:spcPts val="0"/>
              </a:spcAft>
            </a:pPr>
            <a:r>
              <a:rPr sz="1050">
                <a:solidFill>
                  <a:srgbClr val="161B26"/>
                </a:solidFill>
                <a:latin typeface="Consolas"/>
              </a:rPr>
              <a:t>  - ../../base</a:t>
            </a:r>
          </a:p>
          <a:p>
            <a:pPr>
              <a:spcBef>
                <a:spcPts val="0"/>
              </a:spcBef>
              <a:spcAft>
                <a:spcPts val="0"/>
              </a:spcAft>
            </a:pPr>
            <a:r>
              <a:rPr sz="1050">
                <a:solidFill>
                  <a:srgbClr val="161B26"/>
                </a:solidFill>
                <a:latin typeface="Consolas"/>
              </a:rPr>
              <a:t>namePrefix: dev-</a:t>
            </a:r>
          </a:p>
          <a:p>
            <a:pPr>
              <a:spcBef>
                <a:spcPts val="0"/>
              </a:spcBef>
              <a:spcAft>
                <a:spcPts val="0"/>
              </a:spcAft>
            </a:pPr>
            <a:r>
              <a:rPr sz="1050">
                <a:solidFill>
                  <a:srgbClr val="161B26"/>
                </a:solidFill>
                <a:latin typeface="Consolas"/>
              </a:rPr>
              <a:t>namespace: dev</a:t>
            </a:r>
          </a:p>
          <a:p>
            <a:pPr>
              <a:spcBef>
                <a:spcPts val="0"/>
              </a:spcBef>
              <a:spcAft>
                <a:spcPts val="0"/>
              </a:spcAft>
            </a:pPr>
            <a:r>
              <a:rPr sz="1050">
                <a:solidFill>
                  <a:srgbClr val="161B26"/>
                </a:solidFill>
                <a:latin typeface="Consolas"/>
              </a:rPr>
              <a:t>images: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newTag: '1.25-alpine'</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kustomize ~/kustomize-lab/overlays/dev</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Apply overlays</a:t>
            </a:r>
          </a:p>
        </p:txBody>
      </p:sp>
      <p:sp>
        <p:nvSpPr>
          <p:cNvPr id="12" name="Rounded Rectangle 11"/>
          <p:cNvSpPr/>
          <p:nvPr/>
        </p:nvSpPr>
        <p:spPr>
          <a:xfrm>
            <a:off x="777240" y="4663440"/>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namespace dev</a:t>
            </a:r>
          </a:p>
          <a:p>
            <a:pPr>
              <a:spcBef>
                <a:spcPts val="0"/>
              </a:spcBef>
              <a:spcAft>
                <a:spcPts val="0"/>
              </a:spcAft>
            </a:pPr>
            <a:r>
              <a:rPr sz="1050">
                <a:solidFill>
                  <a:srgbClr val="161B26"/>
                </a:solidFill>
                <a:latin typeface="Consolas"/>
              </a:rPr>
              <a:t>kubectl apply -k ~/kustomize-lab/overlays/dev</a:t>
            </a:r>
          </a:p>
          <a:p>
            <a:pPr>
              <a:spcBef>
                <a:spcPts val="0"/>
              </a:spcBef>
              <a:spcAft>
                <a:spcPts val="0"/>
              </a:spcAft>
            </a:pPr>
            <a:r>
              <a:rPr sz="1050">
                <a:solidFill>
                  <a:srgbClr val="161B26"/>
                </a:solidFill>
                <a:latin typeface="Consolas"/>
              </a:rPr>
              <a:t>kubectl get deployment -n dev</a:t>
            </a:r>
          </a:p>
          <a:p>
            <a:pPr>
              <a:spcBef>
                <a:spcPts val="0"/>
              </a:spcBef>
              <a:spcAft>
                <a:spcPts val="0"/>
              </a:spcAft>
            </a:pPr>
            <a:r>
              <a:rPr sz="1050">
                <a:solidFill>
                  <a:srgbClr val="161B26"/>
                </a:solidFill>
                <a:latin typeface="Consolas"/>
              </a:rPr>
              <a:t># NAME: dev-webapp</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Preview changes before applying</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diff -k ~/kustomize-lab/overlays/dev</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namePrefix automatically updates all cross-references (selectors, labels). kubectl diff -k previews changes before applying -- essential for safe production.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deployment -n dev shows dev-webapp (namePrefix applied). kubectl diff -k shows planned changes without modifying the cluster.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 hour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RBAC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ServiceAccount for a read-only viewer persona, define a namespaced Role that allows only get/list/watch on Pods, bind the role to the SA, and prove that the SA can read but cannot write. Then extend to ClusterRole for cluster-scoped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Role + RoleBinding in rbac-demo namespace, test with kubectl auth can-i --as, verify from inside a pod, add ClusterRole for node access.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-n | &gt; Identity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namespace and ServiceAccount</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rbac-demo</a:t>
            </a:r>
          </a:p>
          <a:p>
            <a:pPr>
              <a:spcBef>
                <a:spcPts val="0"/>
              </a:spcBef>
              <a:spcAft>
                <a:spcPts val="0"/>
              </a:spcAft>
            </a:pPr>
            <a:r>
              <a:rPr sz="1050">
                <a:solidFill>
                  <a:srgbClr val="161B26"/>
                </a:solidFill>
                <a:latin typeface="Consolas"/>
              </a:rPr>
              <a:t>kubectl -n rbac-demo create serviceaccount viewer</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namespaced Role</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 pod-viewer \</a:t>
            </a:r>
          </a:p>
          <a:p>
            <a:pPr>
              <a:spcBef>
                <a:spcPts val="0"/>
              </a:spcBef>
              <a:spcAft>
                <a:spcPts val="0"/>
              </a:spcAft>
            </a:pPr>
            <a:r>
              <a:rPr sz="1050">
                <a:solidFill>
                  <a:srgbClr val="161B26"/>
                </a:solidFill>
                <a:latin typeface="Consolas"/>
              </a:rPr>
              <a:t>  --verb=get,list,watch \</a:t>
            </a:r>
          </a:p>
          <a:p>
            <a:pPr>
              <a:spcBef>
                <a:spcPts val="0"/>
              </a:spcBef>
              <a:spcAft>
                <a:spcPts val="0"/>
              </a:spcAft>
            </a:pPr>
            <a:r>
              <a:rPr sz="1050">
                <a:solidFill>
                  <a:srgbClr val="161B26"/>
                </a:solidFill>
                <a:latin typeface="Consolas"/>
              </a:rPr>
              <a:t>  --resource=pods</a:t>
            </a:r>
          </a:p>
          <a:p>
            <a:pPr>
              <a:spcBef>
                <a:spcPts val="0"/>
              </a:spcBef>
              <a:spcAft>
                <a:spcPts val="0"/>
              </a:spcAft>
            </a:pPr>
            <a:r>
              <a:rPr sz="1050">
                <a:solidFill>
                  <a:srgbClr val="161B26"/>
                </a:solidFill>
                <a:latin typeface="Consolas"/>
              </a:rPr>
              <a:t>kubectl -n rbac-demo get role pod-viewer -o 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Bind Role to ServiceAccount</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rolebinding viewer-binding \</a:t>
            </a:r>
          </a:p>
          <a:p>
            <a:pPr>
              <a:spcBef>
                <a:spcPts val="0"/>
              </a:spcBef>
              <a:spcAft>
                <a:spcPts val="0"/>
              </a:spcAft>
            </a:pPr>
            <a:r>
              <a:rPr sz="1050">
                <a:solidFill>
                  <a:srgbClr val="161B26"/>
                </a:solidFill>
                <a:latin typeface="Consolas"/>
              </a:rPr>
              <a:t>  --role=pod-viewer \</a:t>
            </a:r>
          </a:p>
          <a:p>
            <a:pPr>
              <a:spcBef>
                <a:spcPts val="0"/>
              </a:spcBef>
              <a:spcAft>
                <a:spcPts val="0"/>
              </a:spcAft>
            </a:pPr>
            <a:r>
              <a:rPr sz="1050">
                <a:solidFill>
                  <a:srgbClr val="161B26"/>
                </a:solidFill>
                <a:latin typeface="Consolas"/>
              </a:rPr>
              <a:t>  --serviceaccount=rbac-demo:viewer</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with kubectl auth can-i</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auth can-i list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kubectl -n rbac-demo auth can-i create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 Expected: yes, no</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ClusterRole for cluster-scoped resources</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 node-reader --verb=get,list,watch --resource=nodes</a:t>
            </a:r>
          </a:p>
          <a:p>
            <a:pPr>
              <a:spcBef>
                <a:spcPts val="0"/>
              </a:spcBef>
              <a:spcAft>
                <a:spcPts val="0"/>
              </a:spcAft>
            </a:pPr>
            <a:r>
              <a:rPr sz="1050">
                <a:solidFill>
                  <a:srgbClr val="161B26"/>
                </a:solidFill>
                <a:latin typeface="Consolas"/>
              </a:rPr>
              <a:t>kubectl create clusterrolebinding viewer-nodes \</a:t>
            </a:r>
          </a:p>
          <a:p>
            <a:pPr>
              <a:spcBef>
                <a:spcPts val="0"/>
              </a:spcBef>
              <a:spcAft>
                <a:spcPts val="0"/>
              </a:spcAft>
            </a:pPr>
            <a:r>
              <a:rPr sz="1050">
                <a:solidFill>
                  <a:srgbClr val="161B26"/>
                </a:solidFill>
                <a:latin typeface="Consolas"/>
              </a:rPr>
              <a:t>  --clusterrole=node-reader \</a:t>
            </a:r>
          </a:p>
          <a:p>
            <a:pPr>
              <a:spcBef>
                <a:spcPts val="0"/>
              </a:spcBef>
              <a:spcAft>
                <a:spcPts val="0"/>
              </a:spcAft>
            </a:pPr>
            <a:r>
              <a:rPr sz="1050">
                <a:solidFill>
                  <a:srgbClr val="161B26"/>
                </a:solidFill>
                <a:latin typeface="Consolas"/>
              </a:rPr>
              <a:t>  --serviceaccount=rbac-demo:viewer</a:t>
            </a:r>
          </a:p>
        </p:txBody>
      </p:sp>
      <p:sp>
        <p:nvSpPr>
          <p:cNvPr id="15" name="TextBox 14"/>
          <p:cNvSpPr txBox="1"/>
          <p:nvPr/>
        </p:nvSpPr>
        <p:spPr>
          <a:xfrm>
            <a:off x="777240" y="480517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Identity format for SA: system:serviceaccount:&lt;namespace&gt;:&lt;name&gt;. ClusterRole is for cluster-scoped resources (nodes, PVs); Role is namespace-scoped.</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auth can-i list pods --as=SA returns yes; create pods returns no. ClusterRole allows viewer SA to list nodes across all namespaces.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EXTENSIBILITY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CustomResourceDefinition (CRD) extends the Kubernetes API with new object kinds</a:t>
            </a:r>
          </a:p>
          <a:p>
            <a:pPr>
              <a:spcBef>
                <a:spcPts val="0"/>
              </a:spcBef>
              <a:spcAft>
                <a:spcPts val="1000"/>
              </a:spcAft>
            </a:pPr>
            <a:r>
              <a:rPr sz="1900" b="1">
                <a:solidFill>
                  <a:srgbClr val="1F6FEB"/>
                </a:solidFill>
                <a:latin typeface="Arial"/>
              </a:rPr>
              <a:t>•  </a:t>
            </a:r>
            <a:r>
              <a:rPr sz="1900">
                <a:solidFill>
                  <a:srgbClr val="161B26"/>
                </a:solidFill>
                <a:latin typeface="Arial"/>
              </a:rPr>
              <a:t>openAPIV3Schema validates the custom resource spec at admission time</a:t>
            </a:r>
          </a:p>
          <a:p>
            <a:pPr>
              <a:spcBef>
                <a:spcPts val="0"/>
              </a:spcBef>
              <a:spcAft>
                <a:spcPts val="1000"/>
              </a:spcAft>
            </a:pPr>
            <a:r>
              <a:rPr sz="1900" b="1">
                <a:solidFill>
                  <a:srgbClr val="1F6FEB"/>
                </a:solidFill>
                <a:latin typeface="Arial"/>
              </a:rPr>
              <a:t>•  </a:t>
            </a:r>
            <a:r>
              <a:rPr sz="1900">
                <a:solidFill>
                  <a:srgbClr val="161B26"/>
                </a:solidFill>
                <a:latin typeface="Arial"/>
              </a:rPr>
              <a:t>kubectl api-resources -- lists all resources including custom ones</a:t>
            </a:r>
          </a:p>
          <a:p>
            <a:pPr>
              <a:spcBef>
                <a:spcPts val="0"/>
              </a:spcBef>
              <a:spcAft>
                <a:spcPts val="1000"/>
              </a:spcAft>
            </a:pPr>
            <a:r>
              <a:rPr sz="1900" b="1">
                <a:solidFill>
                  <a:srgbClr val="1F6FEB"/>
                </a:solidFill>
                <a:latin typeface="Arial"/>
              </a:rPr>
              <a:t>•  </a:t>
            </a:r>
            <a:r>
              <a:rPr sz="1900">
                <a:solidFill>
                  <a:srgbClr val="161B26"/>
                </a:solidFill>
                <a:latin typeface="Arial"/>
              </a:rPr>
              <a:t>Operator = controller watching a CRD + reconciliation loop</a:t>
            </a:r>
          </a:p>
          <a:p>
            <a:pPr>
              <a:spcBef>
                <a:spcPts val="0"/>
              </a:spcBef>
              <a:spcAft>
                <a:spcPts val="1000"/>
              </a:spcAft>
            </a:pPr>
            <a:r>
              <a:rPr sz="1900" b="1">
                <a:solidFill>
                  <a:srgbClr val="1F6FEB"/>
                </a:solidFill>
                <a:latin typeface="Arial"/>
              </a:rPr>
              <a:t>•  </a:t>
            </a:r>
            <a:r>
              <a:rPr sz="1900">
                <a:solidFill>
                  <a:srgbClr val="161B26"/>
                </a:solidFill>
                <a:latin typeface="Arial"/>
              </a:rPr>
              <a:t>cert-manager, prometheus-operator are production operator examples</a:t>
            </a:r>
          </a:p>
          <a:p>
            <a:pPr>
              <a:spcBef>
                <a:spcPts val="0"/>
              </a:spcBef>
              <a:spcAft>
                <a:spcPts val="1000"/>
              </a:spcAft>
            </a:pPr>
            <a:r>
              <a:rPr sz="1900" b="1">
                <a:solidFill>
                  <a:srgbClr val="1F6FEB"/>
                </a:solidFill>
                <a:latin typeface="Arial"/>
              </a:rPr>
              <a:t>•  </a:t>
            </a:r>
            <a:r>
              <a:rPr sz="1900">
                <a:solidFill>
                  <a:srgbClr val="161B26"/>
                </a:solidFill>
                <a:latin typeface="Arial"/>
              </a:rPr>
              <a:t>CRD gives storage and validation; Operator gives behaviour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CRDS AND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CRDs and Operators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Define a CRD with OpenAPI schema validation, create custom resources, install the cert-manager operator via Helm, and walk through the TLS certificate lifecycle. CKA tests working with CRDs and operator-managed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AppDatabase CRD with enum/pattern/required validation, install cert-manager, create self-signed ClusterIssuer, request TLS Certificate, inspect resulting Secret.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apply | helm repo | &gt; CRDs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Define a CRD with schema validation</a:t>
            </a:r>
          </a:p>
        </p:txBody>
      </p:sp>
      <p:sp>
        <p:nvSpPr>
          <p:cNvPr id="8" name="Rounded Rectangle 7"/>
          <p:cNvSpPr/>
          <p:nvPr/>
        </p:nvSpPr>
        <p:spPr>
          <a:xfrm>
            <a:off x="777240" y="2075688"/>
            <a:ext cx="10652760" cy="539495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39495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530351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apiextensions.k8s.io/v1</a:t>
            </a:r>
          </a:p>
          <a:p>
            <a:pPr>
              <a:spcBef>
                <a:spcPts val="0"/>
              </a:spcBef>
              <a:spcAft>
                <a:spcPts val="0"/>
              </a:spcAft>
            </a:pPr>
            <a:r>
              <a:rPr sz="1050">
                <a:solidFill>
                  <a:srgbClr val="161B26"/>
                </a:solidFill>
                <a:latin typeface="Consolas"/>
              </a:rPr>
              <a:t>kind: CustomResourceDefinition</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appdatabases.storage.example.com</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group: storage.example.com</a:t>
            </a:r>
          </a:p>
          <a:p>
            <a:pPr>
              <a:spcBef>
                <a:spcPts val="0"/>
              </a:spcBef>
              <a:spcAft>
                <a:spcPts val="0"/>
              </a:spcAft>
            </a:pPr>
            <a:r>
              <a:rPr sz="1050">
                <a:solidFill>
                  <a:srgbClr val="161B26"/>
                </a:solidFill>
                <a:latin typeface="Consolas"/>
              </a:rPr>
              <a:t>  versions:</a:t>
            </a:r>
          </a:p>
          <a:p>
            <a:pPr>
              <a:spcBef>
                <a:spcPts val="0"/>
              </a:spcBef>
              <a:spcAft>
                <a:spcPts val="0"/>
              </a:spcAft>
            </a:pPr>
            <a:r>
              <a:rPr sz="1050">
                <a:solidFill>
                  <a:srgbClr val="161B26"/>
                </a:solidFill>
                <a:latin typeface="Consolas"/>
              </a:rPr>
              <a:t>  - name: v1</a:t>
            </a:r>
          </a:p>
          <a:p>
            <a:pPr>
              <a:spcBef>
                <a:spcPts val="0"/>
              </a:spcBef>
              <a:spcAft>
                <a:spcPts val="0"/>
              </a:spcAft>
            </a:pPr>
            <a:r>
              <a:rPr sz="1050">
                <a:solidFill>
                  <a:srgbClr val="161B26"/>
                </a:solidFill>
                <a:latin typeface="Consolas"/>
              </a:rPr>
              <a:t>    served: true</a:t>
            </a:r>
          </a:p>
          <a:p>
            <a:pPr>
              <a:spcBef>
                <a:spcPts val="0"/>
              </a:spcBef>
              <a:spcAft>
                <a:spcPts val="0"/>
              </a:spcAft>
            </a:pPr>
            <a:r>
              <a:rPr sz="1050">
                <a:solidFill>
                  <a:srgbClr val="161B26"/>
                </a:solidFill>
                <a:latin typeface="Consolas"/>
              </a:rPr>
              <a:t>    storage: true</a:t>
            </a:r>
          </a:p>
          <a:p>
            <a:pPr>
              <a:spcBef>
                <a:spcPts val="0"/>
              </a:spcBef>
              <a:spcAft>
                <a:spcPts val="0"/>
              </a:spcAft>
            </a:pPr>
            <a:r>
              <a:rPr sz="1050">
                <a:solidFill>
                  <a:srgbClr val="161B26"/>
                </a:solidFill>
                <a:latin typeface="Consolas"/>
              </a:rPr>
              <a:t>    schema:</a:t>
            </a:r>
          </a:p>
          <a:p>
            <a:pPr>
              <a:spcBef>
                <a:spcPts val="0"/>
              </a:spcBef>
              <a:spcAft>
                <a:spcPts val="0"/>
              </a:spcAft>
            </a:pPr>
            <a:r>
              <a:rPr sz="1050">
                <a:solidFill>
                  <a:srgbClr val="161B26"/>
                </a:solidFill>
                <a:latin typeface="Consolas"/>
              </a:rPr>
              <a:t>      openAPIV3Schema:</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required: ['engine', 'storage']</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engine:</a:t>
            </a:r>
          </a:p>
          <a:p>
            <a:pPr>
              <a:spcBef>
                <a:spcPts val="0"/>
              </a:spcBef>
              <a:spcAft>
                <a:spcPts val="0"/>
              </a:spcAft>
            </a:pPr>
            <a:r>
              <a:rPr sz="1050">
                <a:solidFill>
                  <a:srgbClr val="161B26"/>
                </a:solidFill>
                <a:latin typeface="Consolas"/>
              </a:rPr>
              <a:t>                type: string</a:t>
            </a:r>
          </a:p>
          <a:p>
            <a:pPr>
              <a:spcBef>
                <a:spcPts val="0"/>
              </a:spcBef>
              <a:spcAft>
                <a:spcPts val="0"/>
              </a:spcAft>
            </a:pPr>
            <a:r>
              <a:rPr sz="1050">
                <a:solidFill>
                  <a:srgbClr val="161B26"/>
                </a:solidFill>
                <a:latin typeface="Consolas"/>
              </a:rPr>
              <a:t>                enum: ['postgresql', 'mysql', 'redis']</a:t>
            </a:r>
          </a:p>
          <a:p>
            <a:pPr>
              <a:spcBef>
                <a:spcPts val="0"/>
              </a:spcBef>
              <a:spcAft>
                <a:spcPts val="0"/>
              </a:spcAft>
            </a:pPr>
            <a:r>
              <a:rPr sz="1050">
                <a:solidFill>
                  <a:srgbClr val="161B26"/>
                </a:solidFill>
                <a:latin typeface="Consolas"/>
              </a:rPr>
              <a:t>  scope: Namespaced</a:t>
            </a:r>
          </a:p>
          <a:p>
            <a:pPr>
              <a:spcBef>
                <a:spcPts val="0"/>
              </a:spcBef>
              <a:spcAft>
                <a:spcPts val="0"/>
              </a:spcAft>
            </a:pPr>
            <a:r>
              <a:rPr sz="1050">
                <a:solidFill>
                  <a:srgbClr val="161B26"/>
                </a:solidFill>
                <a:latin typeface="Consolas"/>
              </a:rPr>
              <a:t>  names:</a:t>
            </a:r>
          </a:p>
          <a:p>
            <a:pPr>
              <a:spcBef>
                <a:spcPts val="0"/>
              </a:spcBef>
              <a:spcAft>
                <a:spcPts val="0"/>
              </a:spcAft>
            </a:pPr>
            <a:r>
              <a:rPr sz="1050">
                <a:solidFill>
                  <a:srgbClr val="161B26"/>
                </a:solidFill>
                <a:latin typeface="Consolas"/>
              </a:rPr>
              <a:t>    plural: appdatabases</a:t>
            </a:r>
          </a:p>
          <a:p>
            <a:pPr>
              <a:spcBef>
                <a:spcPts val="0"/>
              </a:spcBef>
              <a:spcAft>
                <a:spcPts val="0"/>
              </a:spcAft>
            </a:pPr>
            <a:r>
              <a:rPr sz="1050">
                <a:solidFill>
                  <a:srgbClr val="161B26"/>
                </a:solidFill>
                <a:latin typeface="Consolas"/>
              </a:rPr>
              <a:t>    singular: appdatabase</a:t>
            </a:r>
          </a:p>
          <a:p>
            <a:pPr>
              <a:spcBef>
                <a:spcPts val="0"/>
              </a:spcBef>
              <a:spcAft>
                <a:spcPts val="0"/>
              </a:spcAft>
            </a:pPr>
            <a:r>
              <a:rPr sz="1050">
                <a:solidFill>
                  <a:srgbClr val="161B26"/>
                </a:solidFill>
                <a:latin typeface="Consolas"/>
              </a:rPr>
              <a:t>    kind: AppDatabase</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and query custom resources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storage.example.com/v1</a:t>
            </a:r>
          </a:p>
          <a:p>
            <a:pPr>
              <a:spcBef>
                <a:spcPts val="0"/>
              </a:spcBef>
              <a:spcAft>
                <a:spcPts val="0"/>
              </a:spcAft>
            </a:pPr>
            <a:r>
              <a:rPr sz="1050">
                <a:solidFill>
                  <a:srgbClr val="161B26"/>
                </a:solidFill>
                <a:latin typeface="Consolas"/>
              </a:rPr>
              <a:t>kind: AppDatabase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my-postgres</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engine: postgresql</a:t>
            </a:r>
          </a:p>
          <a:p>
            <a:pPr>
              <a:spcBef>
                <a:spcPts val="0"/>
              </a:spcBef>
              <a:spcAft>
                <a:spcPts val="0"/>
              </a:spcAft>
            </a:pPr>
            <a:r>
              <a:rPr sz="1050">
                <a:solidFill>
                  <a:srgbClr val="161B26"/>
                </a:solidFill>
                <a:latin typeface="Consolas"/>
              </a:rPr>
              <a:t>  storage: 20Gi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appdatabases</a:t>
            </a:r>
          </a:p>
          <a:p>
            <a:pPr>
              <a:spcBef>
                <a:spcPts val="0"/>
              </a:spcBef>
              <a:spcAft>
                <a:spcPts val="0"/>
              </a:spcAft>
            </a:pPr>
            <a:r>
              <a:rPr sz="1050">
                <a:solidFill>
                  <a:srgbClr val="161B26"/>
                </a:solidFill>
                <a:latin typeface="Consolas"/>
              </a:rPr>
              <a:t>kubectl describe adb my-postgres</a:t>
            </a:r>
          </a:p>
        </p:txBody>
      </p:sp>
      <p:sp>
        <p:nvSpPr>
          <p:cNvPr id="11" name="TextBox 10"/>
          <p:cNvSpPr txBox="1"/>
          <p:nvPr/>
        </p:nvSpPr>
        <p:spPr>
          <a:xfrm>
            <a:off x="777240" y="446684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Install cert-manager via Helm</a:t>
            </a:r>
          </a:p>
        </p:txBody>
      </p:sp>
      <p:sp>
        <p:nvSpPr>
          <p:cNvPr id="12" name="Rounded Rectangle 11"/>
          <p:cNvSpPr/>
          <p:nvPr/>
        </p:nvSpPr>
        <p:spPr>
          <a:xfrm>
            <a:off x="777240" y="485089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85089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91490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repo add jetstack https://charts.jetstack.io &amp;&amp; helm repo update</a:t>
            </a:r>
          </a:p>
          <a:p>
            <a:pPr>
              <a:spcBef>
                <a:spcPts val="0"/>
              </a:spcBef>
              <a:spcAft>
                <a:spcPts val="0"/>
              </a:spcAft>
            </a:pPr>
            <a:r>
              <a:rPr sz="1050">
                <a:solidFill>
                  <a:srgbClr val="161B26"/>
                </a:solidFill>
                <a:latin typeface="Consolas"/>
              </a:rPr>
              <a:t>helm install cert-manager jetstack/cert-manager \</a:t>
            </a:r>
          </a:p>
          <a:p>
            <a:pPr>
              <a:spcBef>
                <a:spcPts val="0"/>
              </a:spcBef>
              <a:spcAft>
                <a:spcPts val="0"/>
              </a:spcAft>
            </a:pPr>
            <a:r>
              <a:rPr sz="1050">
                <a:solidFill>
                  <a:srgbClr val="161B26"/>
                </a:solidFill>
                <a:latin typeface="Consolas"/>
              </a:rPr>
              <a:t>  --namespace cert-manager --create-namespace \</a:t>
            </a:r>
          </a:p>
          <a:p>
            <a:pPr>
              <a:spcBef>
                <a:spcPts val="0"/>
              </a:spcBef>
              <a:spcAft>
                <a:spcPts val="0"/>
              </a:spcAft>
            </a:pPr>
            <a:r>
              <a:rPr sz="1050">
                <a:solidFill>
                  <a:srgbClr val="161B26"/>
                </a:solidFill>
                <a:latin typeface="Consolas"/>
              </a:rPr>
              <a:t>  --version v1.15.0 --set installCRDs=true</a:t>
            </a:r>
          </a:p>
          <a:p>
            <a:pPr>
              <a:spcBef>
                <a:spcPts val="0"/>
              </a:spcBef>
              <a:spcAft>
                <a:spcPts val="0"/>
              </a:spcAft>
            </a:pPr>
            <a:r>
              <a:rPr sz="1050">
                <a:solidFill>
                  <a:srgbClr val="161B26"/>
                </a:solidFill>
                <a:latin typeface="Consolas"/>
              </a:rPr>
              <a:t>kubectl get pods -n cert-manager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ClusterIssuer and request certificate</a:t>
            </a:r>
          </a:p>
        </p:txBody>
      </p:sp>
      <p:sp>
        <p:nvSpPr>
          <p:cNvPr id="8" name="Rounded Rectangle 7"/>
          <p:cNvSpPr/>
          <p:nvPr/>
        </p:nvSpPr>
        <p:spPr>
          <a:xfrm>
            <a:off x="777240" y="2075688"/>
            <a:ext cx="10652760" cy="183337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8333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74193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cert-manager.io/v1</a:t>
            </a:r>
          </a:p>
          <a:p>
            <a:pPr>
              <a:spcBef>
                <a:spcPts val="0"/>
              </a:spcBef>
              <a:spcAft>
                <a:spcPts val="0"/>
              </a:spcAft>
            </a:pPr>
            <a:r>
              <a:rPr sz="1050">
                <a:solidFill>
                  <a:srgbClr val="161B26"/>
                </a:solidFill>
                <a:latin typeface="Consolas"/>
              </a:rPr>
              <a:t>kind: ClusterIssuer</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selfsigned-issuer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selfSigned: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wait --for=condition=Ready clusterissuer/selfsigned-issuer</a:t>
            </a:r>
          </a:p>
        </p:txBody>
      </p:sp>
      <p:sp>
        <p:nvSpPr>
          <p:cNvPr id="11" name="TextBox 10"/>
          <p:cNvSpPr txBox="1"/>
          <p:nvPr/>
        </p:nvSpPr>
        <p:spPr>
          <a:xfrm>
            <a:off x="777240" y="40919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CRDs extend the Kubernetes API with custom resource types. OpenAPI schema validation rejects invalid resources at the API server before they reach etcd.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appdatabases shows my-postgres. cert-manager pods are Running. ClusterIssuer is Ready. Invalid engine value (e.g. 'oracle') is rejected by the API server.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EXTENSION INTERFACES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CNI, CSI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CRI (Container Runtime Interface): kubelet talks to containerd / CRI-O via gRPC</a:t>
            </a:r>
          </a:p>
          <a:p>
            <a:pPr>
              <a:spcBef>
                <a:spcPts val="0"/>
              </a:spcBef>
              <a:spcAft>
                <a:spcPts val="1000"/>
              </a:spcAft>
            </a:pPr>
            <a:r>
              <a:rPr sz="1900" b="1">
                <a:solidFill>
                  <a:srgbClr val="1F6FEB"/>
                </a:solidFill>
                <a:latin typeface="Arial"/>
              </a:rPr>
              <a:t>•  </a:t>
            </a:r>
            <a:r>
              <a:rPr sz="1900">
                <a:solidFill>
                  <a:srgbClr val="161B26"/>
                </a:solidFill>
                <a:latin typeface="Arial"/>
              </a:rPr>
              <a:t>crictl: low-level CRI client -- use when kubectl is unavailable</a:t>
            </a:r>
          </a:p>
          <a:p>
            <a:pPr>
              <a:spcBef>
                <a:spcPts val="0"/>
              </a:spcBef>
              <a:spcAft>
                <a:spcPts val="1000"/>
              </a:spcAft>
            </a:pPr>
            <a:r>
              <a:rPr sz="1900" b="1">
                <a:solidFill>
                  <a:srgbClr val="1F6FEB"/>
                </a:solidFill>
                <a:latin typeface="Arial"/>
              </a:rPr>
              <a:t>•  </a:t>
            </a:r>
            <a:r>
              <a:rPr sz="1900">
                <a:solidFill>
                  <a:srgbClr val="161B26"/>
                </a:solidFill>
                <a:latin typeface="Arial"/>
              </a:rPr>
              <a:t>CNI (Container Network Interface): /etc/cni/net.d/ + /opt/cni/bin/</a:t>
            </a:r>
          </a:p>
          <a:p>
            <a:pPr>
              <a:spcBef>
                <a:spcPts val="0"/>
              </a:spcBef>
              <a:spcAft>
                <a:spcPts val="1000"/>
              </a:spcAft>
            </a:pPr>
            <a:r>
              <a:rPr sz="1900" b="1">
                <a:solidFill>
                  <a:srgbClr val="1F6FEB"/>
                </a:solidFill>
                <a:latin typeface="Arial"/>
              </a:rPr>
              <a:t>•  </a:t>
            </a:r>
            <a:r>
              <a:rPr sz="1900">
                <a:solidFill>
                  <a:srgbClr val="161B26"/>
                </a:solidFill>
                <a:latin typeface="Arial"/>
              </a:rPr>
              <a:t>Every pod creation or deletion calls the CNI binary on the node</a:t>
            </a:r>
          </a:p>
          <a:p>
            <a:pPr>
              <a:spcBef>
                <a:spcPts val="0"/>
              </a:spcBef>
              <a:spcAft>
                <a:spcPts val="1000"/>
              </a:spcAft>
            </a:pPr>
            <a:r>
              <a:rPr sz="1900" b="1">
                <a:solidFill>
                  <a:srgbClr val="1F6FEB"/>
                </a:solidFill>
                <a:latin typeface="Arial"/>
              </a:rPr>
              <a:t>•  </a:t>
            </a:r>
            <a:r>
              <a:rPr sz="1900">
                <a:solidFill>
                  <a:srgbClr val="161B26"/>
                </a:solidFill>
                <a:latin typeface="Arial"/>
              </a:rPr>
              <a:t>CSI (Container Storage Interface): kubectl get csidrivers / csinodes</a:t>
            </a:r>
          </a:p>
          <a:p>
            <a:pPr>
              <a:spcBef>
                <a:spcPts val="0"/>
              </a:spcBef>
              <a:spcAft>
                <a:spcPts val="1000"/>
              </a:spcAft>
            </a:pPr>
            <a:r>
              <a:rPr sz="1900" b="1">
                <a:solidFill>
                  <a:srgbClr val="1F6FEB"/>
                </a:solidFill>
                <a:latin typeface="Arial"/>
              </a:rPr>
              <a:t>•  </a:t>
            </a:r>
            <a:r>
              <a:rPr sz="1900">
                <a:solidFill>
                  <a:srgbClr val="161B26"/>
                </a:solidFill>
                <a:latin typeface="Arial"/>
              </a:rPr>
              <a:t>StorageClass references a CSI driver; PVCs trigger dynamic provisioning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1  |  CRI CNI CSI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CRI/CNI/CSI extension interfaces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the three Kubernetes extension interfaces using native debugging tools: crictl for CRI, config file inspection for CNI, and kubectl for CSI drivers. Critical for troubleshooting pods stuck in ContainerCreating or volume mount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crictl.yaml, list containers/images with crictl, inspect CNI config, list CSI drivers, trace a pod network setup with veth pairs.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POD_ID=$(crictl pods | ls -la | kubectl get | &gt; crictl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Configure and use crictl</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/etc/crictl.yaml</a:t>
            </a:r>
          </a:p>
          <a:p>
            <a:pPr>
              <a:spcBef>
                <a:spcPts val="0"/>
              </a:spcBef>
              <a:spcAft>
                <a:spcPts val="0"/>
              </a:spcAft>
            </a:pPr>
            <a:r>
              <a:rPr sz="1050">
                <a:solidFill>
                  <a:srgbClr val="161B26"/>
                </a:solidFill>
                <a:latin typeface="Consolas"/>
              </a:rPr>
              <a:t>runtime-endpoint: unix:///run/containerd/containerd.sock</a:t>
            </a:r>
          </a:p>
          <a:p>
            <a:pPr>
              <a:spcBef>
                <a:spcPts val="0"/>
              </a:spcBef>
              <a:spcAft>
                <a:spcPts val="0"/>
              </a:spcAft>
            </a:pPr>
            <a:r>
              <a:rPr sz="1050">
                <a:solidFill>
                  <a:srgbClr val="161B26"/>
                </a:solidFill>
                <a:latin typeface="Consolas"/>
              </a:rPr>
              <a:t>image-endpoint: unix:///run/containerd/containerd.sock</a:t>
            </a:r>
          </a:p>
          <a:p>
            <a:pPr>
              <a:spcBef>
                <a:spcPts val="0"/>
              </a:spcBef>
              <a:spcAft>
                <a:spcPts val="0"/>
              </a:spcAft>
            </a:pPr>
            <a:r>
              <a:rPr sz="1050">
                <a:solidFill>
                  <a:srgbClr val="161B26"/>
                </a:solidFill>
                <a:latin typeface="Consolas"/>
              </a:rPr>
              <a:t>timeout: 10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crictl info &amp;&amp; crictl pods &amp;&amp; crictl ps &amp;&amp; crictl images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container logs with crictl</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POD_ID=$(crictl pods --name coredns -q | head -1)</a:t>
            </a:r>
          </a:p>
          <a:p>
            <a:pPr>
              <a:spcBef>
                <a:spcPts val="0"/>
              </a:spcBef>
              <a:spcAft>
                <a:spcPts val="0"/>
              </a:spcAft>
            </a:pPr>
            <a:r>
              <a:rPr sz="1050">
                <a:solidFill>
                  <a:srgbClr val="161B26"/>
                </a:solidFill>
                <a:latin typeface="Consolas"/>
              </a:rPr>
              <a:t>CONTAINER_ID=$(crictl ps --pod $POD_ID -q | head -1)</a:t>
            </a:r>
          </a:p>
          <a:p>
            <a:pPr>
              <a:spcBef>
                <a:spcPts val="0"/>
              </a:spcBef>
              <a:spcAft>
                <a:spcPts val="0"/>
              </a:spcAft>
            </a:pPr>
            <a:r>
              <a:rPr sz="1050">
                <a:solidFill>
                  <a:srgbClr val="161B26"/>
                </a:solidFill>
                <a:latin typeface="Consolas"/>
              </a:rPr>
              <a:t>crictl logs --tail=20 $CONTAINER_ID</a:t>
            </a:r>
          </a:p>
        </p:txBody>
      </p:sp>
      <p:sp>
        <p:nvSpPr>
          <p:cNvPr id="15" name="TextBox 14"/>
          <p:cNvSpPr txBox="1"/>
          <p:nvPr/>
        </p:nvSpPr>
        <p:spPr>
          <a:xfrm>
            <a:off x="777240" y="480517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Inspect CNI configuration</a:t>
            </a:r>
          </a:p>
        </p:txBody>
      </p:sp>
      <p:sp>
        <p:nvSpPr>
          <p:cNvPr id="16" name="Rounded Rectangle 15"/>
          <p:cNvSpPr/>
          <p:nvPr/>
        </p:nvSpPr>
        <p:spPr>
          <a:xfrm>
            <a:off x="777240" y="5189220"/>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20"/>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8"/>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-la /etc/cni/net.d/</a:t>
            </a:r>
          </a:p>
          <a:p>
            <a:pPr>
              <a:spcBef>
                <a:spcPts val="0"/>
              </a:spcBef>
              <a:spcAft>
                <a:spcPts val="0"/>
              </a:spcAft>
            </a:pPr>
            <a:r>
              <a:rPr sz="1050">
                <a:solidFill>
                  <a:srgbClr val="161B26"/>
                </a:solidFill>
                <a:latin typeface="Consolas"/>
              </a:rPr>
              <a:t>cat /etc/cni/net.d/10-calico.conflist</a:t>
            </a:r>
          </a:p>
          <a:p>
            <a:pPr>
              <a:spcBef>
                <a:spcPts val="0"/>
              </a:spcBef>
              <a:spcAft>
                <a:spcPts val="0"/>
              </a:spcAft>
            </a:pPr>
            <a:r>
              <a:rPr sz="1050">
                <a:solidFill>
                  <a:srgbClr val="161B26"/>
                </a:solidFill>
                <a:latin typeface="Consolas"/>
              </a:rPr>
              <a:t>ls /opt/cni/bin/</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Inspect CSI drivers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csidrivers</a:t>
            </a:r>
          </a:p>
          <a:p>
            <a:pPr>
              <a:spcBef>
                <a:spcPts val="0"/>
              </a:spcBef>
              <a:spcAft>
                <a:spcPts val="0"/>
              </a:spcAft>
            </a:pPr>
            <a:r>
              <a:rPr sz="1050">
                <a:solidFill>
                  <a:srgbClr val="161B26"/>
                </a:solidFill>
                <a:latin typeface="Consolas"/>
              </a:rPr>
              <a:t>kubectl get csinodes</a:t>
            </a:r>
          </a:p>
          <a:p>
            <a:pPr>
              <a:spcBef>
                <a:spcPts val="0"/>
              </a:spcBef>
              <a:spcAft>
                <a:spcPts val="0"/>
              </a:spcAft>
            </a:pPr>
            <a:r>
              <a:rPr sz="1050">
                <a:solidFill>
                  <a:srgbClr val="161B26"/>
                </a:solidFill>
                <a:latin typeface="Consolas"/>
              </a:rPr>
              <a:t>kubectl get volumeattachments</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crictl logs works even when kubectl is unavailable (API server down). CNI config: lowest-numbered file in /etc/cni/net.d/ is used. Missing CNI binary in /opt/cni/bin/ causes ContainerCreating to hang indefinitely.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crictl pods lists all running pods. CNI config file exists in /etc/cni/net.d/. kubectl get csidrivers returns available storage drivers.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Workloads &amp; Scheduling
+ Services &amp; Networking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Labs 11-22  |  CKA 15% + 20%</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DOMAIN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Workloads &amp; Scheduling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Deployments  |  ConfigMaps  |  Secrets  |  HPA  |  self-healing  |  scheduling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2</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DEPLOYMENTS AND ROLLOUTS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 Old RS to New 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4663440" cy="21945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46634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v1 (old)</a:t>
            </a:r>
          </a:p>
          <a:p>
            <a:pPr algn="ctr">
              <a:spcBef>
                <a:spcPts val="0"/>
              </a:spcBef>
              <a:spcAft>
                <a:spcPts val="300"/>
              </a:spcAft>
            </a:pPr>
            <a:r>
              <a:rPr sz="1100" b="0">
                <a:solidFill>
                  <a:srgbClr val="5B6372"/>
                </a:solidFill>
                <a:latin typeface="Arial"/>
              </a:rPr>
              <a:t>nginx:1.24</a:t>
            </a:r>
          </a:p>
          <a:p>
            <a:pPr algn="ctr">
              <a:spcBef>
                <a:spcPts val="0"/>
              </a:spcBef>
              <a:spcAft>
                <a:spcPts val="300"/>
              </a:spcAft>
            </a:pPr>
            <a:r>
              <a:rPr sz="1100" b="0">
                <a:solidFill>
                  <a:srgbClr val="5B6372"/>
                </a:solidFill>
                <a:latin typeface="Arial"/>
              </a:rPr>
              <a:t>scales 3 to 0 gradually</a:t>
            </a:r>
          </a:p>
          <a:p>
            <a:pPr algn="ctr">
              <a:spcBef>
                <a:spcPts val="0"/>
              </a:spcBef>
              <a:spcAft>
                <a:spcPts val="300"/>
              </a:spcAft>
            </a:pPr>
            <a:r>
              <a:rPr sz="1100" b="0">
                <a:solidFill>
                  <a:srgbClr val="5B6372"/>
                </a:solidFill>
                <a:latin typeface="Arial"/>
              </a:rPr>
              <a:t>old pods terminate</a:t>
            </a:r>
          </a:p>
        </p:txBody>
      </p:sp>
      <p:sp>
        <p:nvSpPr>
          <p:cNvPr id="10" name="Rounded Rectangle 9"/>
          <p:cNvSpPr/>
          <p:nvPr/>
        </p:nvSpPr>
        <p:spPr>
          <a:xfrm>
            <a:off x="6766560" y="2194560"/>
            <a:ext cx="4663440" cy="21945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66560" y="2194560"/>
            <a:ext cx="46634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v2 (new)</a:t>
            </a:r>
          </a:p>
          <a:p>
            <a:pPr algn="ctr">
              <a:spcBef>
                <a:spcPts val="0"/>
              </a:spcBef>
              <a:spcAft>
                <a:spcPts val="300"/>
              </a:spcAft>
            </a:pPr>
            <a:r>
              <a:rPr sz="1100" b="0">
                <a:solidFill>
                  <a:srgbClr val="5B6372"/>
                </a:solidFill>
                <a:latin typeface="Arial"/>
              </a:rPr>
              <a:t>nginx:1.25</a:t>
            </a:r>
          </a:p>
          <a:p>
            <a:pPr algn="ctr">
              <a:spcBef>
                <a:spcPts val="0"/>
              </a:spcBef>
              <a:spcAft>
                <a:spcPts val="300"/>
              </a:spcAft>
            </a:pPr>
            <a:r>
              <a:rPr sz="1100" b="0">
                <a:solidFill>
                  <a:srgbClr val="5B6372"/>
                </a:solidFill>
                <a:latin typeface="Arial"/>
              </a:rPr>
              <a:t>scales 0 to 3 gradually</a:t>
            </a:r>
          </a:p>
          <a:p>
            <a:pPr algn="ctr">
              <a:spcBef>
                <a:spcPts val="0"/>
              </a:spcBef>
              <a:spcAft>
                <a:spcPts val="300"/>
              </a:spcAft>
            </a:pPr>
            <a:r>
              <a:rPr sz="1100" b="0">
                <a:solidFill>
                  <a:srgbClr val="5B6372"/>
                </a:solidFill>
                <a:latin typeface="Arial"/>
              </a:rPr>
              <a:t>takes over traffic</a:t>
            </a:r>
          </a:p>
        </p:txBody>
      </p:sp>
      <p:sp>
        <p:nvSpPr>
          <p:cNvPr id="13" name="Right Arrow 12"/>
          <p:cNvSpPr/>
          <p:nvPr/>
        </p:nvSpPr>
        <p:spPr>
          <a:xfrm>
            <a:off x="5577840" y="3108960"/>
            <a:ext cx="1097280" cy="36576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2103120"/>
            <a:ext cx="1645920"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kubectl set image</a:t>
            </a:r>
          </a:p>
        </p:txBody>
      </p:sp>
      <p:sp>
        <p:nvSpPr>
          <p:cNvPr id="15" name="Rounded Rectangle 14"/>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Old ReplicaSet scales down as the new one scales up -- </a:t>
            </a:r>
            <a:r>
              <a:rPr sz="1300" b="1">
                <a:solidFill>
                  <a:srgbClr val="161B26"/>
                </a:solidFill>
                <a:latin typeface="Arial"/>
              </a:rPr>
              <a:t>maxSurge</a:t>
            </a:r>
            <a:r>
              <a:rPr sz="1300" b="0">
                <a:solidFill>
                  <a:srgbClr val="5B6372"/>
                </a:solidFill>
                <a:latin typeface="Arial"/>
              </a:rPr>
              <a:t> / </a:t>
            </a:r>
            <a:r>
              <a:rPr sz="1300" b="1">
                <a:solidFill>
                  <a:srgbClr val="161B26"/>
                </a:solidFill>
                <a:latin typeface="Arial"/>
              </a:rPr>
              <a:t>maxUnavailable</a:t>
            </a:r>
            <a:r>
              <a:rPr sz="1300" b="0">
                <a:solidFill>
                  <a:srgbClr val="5B6372"/>
                </a:solidFill>
                <a:latin typeface="Arial"/>
              </a:rPr>
              <a:t> control speed. rollout undo reverts in one step.</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2  |  DEPLOYMENTS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Deployments and rollouts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Deployment, perform a rolling update, deliberately introduce a broken image to trigger a failed rollout, roll back using kubectl rollout undo, and use pause/resume to batch multiple changes. Mastering kubectl rollout subcommands is essential for the 15% Workloads &amp; Scheduling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4-replica nginx Deployment, update to new image, break it with invalid tag, rollback, roll back to specific revision, pause/resume.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set | kubectl rollout | &gt; Rolling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expose Deployment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--image=nginx:1.25 --replicas=4 --port=80</a:t>
            </a:r>
          </a:p>
          <a:p>
            <a:pPr>
              <a:spcBef>
                <a:spcPts val="0"/>
              </a:spcBef>
              <a:spcAft>
                <a:spcPts val="0"/>
              </a:spcAft>
            </a:pPr>
            <a:r>
              <a:rPr sz="1050">
                <a:solidFill>
                  <a:srgbClr val="161B26"/>
                </a:solidFill>
                <a:latin typeface="Consolas"/>
              </a:rPr>
              <a:t>kubectl expose deployment webapp --port=80</a:t>
            </a:r>
          </a:p>
          <a:p>
            <a:pPr>
              <a:spcBef>
                <a:spcPts val="0"/>
              </a:spcBef>
              <a:spcAft>
                <a:spcPts val="0"/>
              </a:spcAft>
            </a:pPr>
            <a:r>
              <a:rPr sz="1050">
                <a:solidFill>
                  <a:srgbClr val="161B26"/>
                </a:solidFill>
                <a:latin typeface="Consolas"/>
              </a:rPr>
              <a:t>kubectl rollout history deployment webapp</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Perform a rolling update</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annotate deployment webapp kubernetes.io/change-cause='upgrade to nginx:1.27'</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242816"/>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Simulate a broken rollout</a:t>
            </a:r>
          </a:p>
        </p:txBody>
      </p:sp>
      <p:sp>
        <p:nvSpPr>
          <p:cNvPr id="16" name="Rounded Rectangle 15"/>
          <p:cNvSpPr/>
          <p:nvPr/>
        </p:nvSpPr>
        <p:spPr>
          <a:xfrm>
            <a:off x="777240" y="4626864"/>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4"/>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2"/>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webapp=nginx:does-not-exist-999</a:t>
            </a:r>
          </a:p>
          <a:p>
            <a:pPr>
              <a:spcBef>
                <a:spcPts val="0"/>
              </a:spcBef>
              <a:spcAft>
                <a:spcPts val="0"/>
              </a:spcAft>
            </a:pPr>
            <a:r>
              <a:rPr sz="1050">
                <a:solidFill>
                  <a:srgbClr val="161B26"/>
                </a:solidFill>
                <a:latin typeface="Consolas"/>
              </a:rPr>
              <a:t>kubectl get pods -l app=webapp</a:t>
            </a:r>
          </a:p>
          <a:p>
            <a:pPr>
              <a:spcBef>
                <a:spcPts val="0"/>
              </a:spcBef>
              <a:spcAft>
                <a:spcPts val="0"/>
              </a:spcAft>
            </a:pPr>
            <a:r>
              <a:rPr sz="1050">
                <a:solidFill>
                  <a:srgbClr val="161B26"/>
                </a:solidFill>
                <a:latin typeface="Consolas"/>
              </a:rPr>
              <a:t># Old pods Running; new pod ImagePullBackOff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rollout undo deployment webapp</a:t>
            </a:r>
          </a:p>
          <a:p>
            <a:pPr>
              <a:spcBef>
                <a:spcPts val="0"/>
              </a:spcBef>
              <a:spcAft>
                <a:spcPts val="0"/>
              </a:spcAft>
            </a:pPr>
            <a:r>
              <a:rPr sz="1050">
                <a:solidFill>
                  <a:srgbClr val="161B26"/>
                </a:solidFill>
                <a:latin typeface="Consolas"/>
              </a:rPr>
              <a:t>kubectl rollout status deployment webapp</a:t>
            </a:r>
          </a:p>
          <a:p>
            <a:pPr>
              <a:spcBef>
                <a:spcPts val="0"/>
              </a:spcBef>
              <a:spcAft>
                <a:spcPts val="0"/>
              </a:spcAft>
            </a:pPr>
            <a:r>
              <a:rPr sz="1050">
                <a:solidFill>
                  <a:srgbClr val="161B26"/>
                </a:solidFill>
                <a:latin typeface="Consolas"/>
              </a:rPr>
              <a:t>kubectl rollout undo deployment webapp --to-revision=1</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Pause and resume a rollout</a:t>
            </a:r>
          </a:p>
        </p:txBody>
      </p:sp>
      <p:sp>
        <p:nvSpPr>
          <p:cNvPr id="12" name="Rounded Rectangle 11"/>
          <p:cNvSpPr/>
          <p:nvPr/>
        </p:nvSpPr>
        <p:spPr>
          <a:xfrm>
            <a:off x="777240" y="335127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rollout pause deployment webapp</a:t>
            </a:r>
          </a:p>
          <a:p>
            <a:pPr>
              <a:spcBef>
                <a:spcPts val="0"/>
              </a:spcBef>
              <a:spcAft>
                <a:spcPts val="0"/>
              </a:spcAft>
            </a:pPr>
            <a:r>
              <a:rPr sz="1050">
                <a:solidFill>
                  <a:srgbClr val="161B26"/>
                </a:solidFill>
                <a:latin typeface="Consolas"/>
              </a:rPr>
              <a:t>kubectl set resources deployment webapp --containers=webapp --requests=cpu=100m</a:t>
            </a:r>
          </a:p>
          <a:p>
            <a:pPr>
              <a:spcBef>
                <a:spcPts val="0"/>
              </a:spcBef>
              <a:spcAft>
                <a:spcPts val="0"/>
              </a:spcAft>
            </a:pPr>
            <a:r>
              <a:rPr sz="1050">
                <a:solidFill>
                  <a:srgbClr val="161B26"/>
                </a:solidFill>
                <a:latin typeface="Consolas"/>
              </a:rPr>
              <a:t>kubectl rollout resume deployment webapp</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617719"/>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Rolling updates are safe: broken image stalls rollout without taking down healthy pods. kubectl rollout undo creates a NEW revision -- the counter always grows.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rollout history shows multiple revisions. After rollback all pods run previous image. Service continues responding during the bad image period.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2  |  CONFIGMAPS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ConfigMaps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ConfigMaps using three methods (literal, file, YAML manifest), inject via envFrom and env.valueFrom, mount as volumes with custom filenames and permissions, and demonstrate the live-update behavior difference. Understanding live vs static updates is a tested CKA concept.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app-config from literals, file-config from files, manifest-config from YAML. Test envFrom with prefix, selective keys, volume mount, subPath, and live update.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envFrom: | volumeMounts: | kubectl patch | &gt; CRITICAL: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ConfigMap three ways</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configmap app-config \</a:t>
            </a:r>
          </a:p>
          <a:p>
            <a:pPr>
              <a:spcBef>
                <a:spcPts val="0"/>
              </a:spcBef>
              <a:spcAft>
                <a:spcPts val="0"/>
              </a:spcAft>
            </a:pPr>
            <a:r>
              <a:rPr sz="1050">
                <a:solidFill>
                  <a:srgbClr val="161B26"/>
                </a:solidFill>
                <a:latin typeface="Consolas"/>
              </a:rPr>
              <a:t>  --from-literal=APP_ENV=production \</a:t>
            </a:r>
          </a:p>
          <a:p>
            <a:pPr>
              <a:spcBef>
                <a:spcPts val="0"/>
              </a:spcBef>
              <a:spcAft>
                <a:spcPts val="0"/>
              </a:spcAft>
            </a:pPr>
            <a:r>
              <a:rPr sz="1050">
                <a:solidFill>
                  <a:srgbClr val="161B26"/>
                </a:solidFill>
                <a:latin typeface="Consolas"/>
              </a:rPr>
              <a:t>  --from-literal=LOG_LEVEL=info</a:t>
            </a:r>
          </a:p>
          <a:p>
            <a:pPr>
              <a:spcBef>
                <a:spcPts val="0"/>
              </a:spcBef>
              <a:spcAft>
                <a:spcPts val="0"/>
              </a:spcAft>
            </a:pPr>
            <a:r>
              <a:rPr sz="1050">
                <a:solidFill>
                  <a:srgbClr val="161B26"/>
                </a:solidFill>
                <a:latin typeface="Consolas"/>
              </a:rPr>
              <a:t>kubectl create configmap file-config --from-file=/tmp/nginx.conf</a:t>
            </a:r>
          </a:p>
          <a:p>
            <a:pPr>
              <a:spcBef>
                <a:spcPts val="0"/>
              </a:spcBef>
              <a:spcAft>
                <a:spcPts val="0"/>
              </a:spcAft>
            </a:pPr>
            <a:r>
              <a:rPr sz="1050">
                <a:solidFill>
                  <a:srgbClr val="161B26"/>
                </a:solidFill>
                <a:latin typeface="Consolas"/>
              </a:rPr>
              <a:t>kubectl get configmap app-config -o yaml</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Inject with envFrom</a:t>
            </a:r>
          </a:p>
        </p:txBody>
      </p:sp>
      <p:sp>
        <p:nvSpPr>
          <p:cNvPr id="12" name="Rounded Rectangle 11"/>
          <p:cNvSpPr/>
          <p:nvPr/>
        </p:nvSpPr>
        <p:spPr>
          <a:xfrm>
            <a:off x="777240" y="3726179"/>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envFrom:</a:t>
            </a:r>
          </a:p>
          <a:p>
            <a:pPr>
              <a:spcBef>
                <a:spcPts val="0"/>
              </a:spcBef>
              <a:spcAft>
                <a:spcPts val="0"/>
              </a:spcAft>
            </a:pPr>
            <a:r>
              <a:rPr sz="1050">
                <a:solidFill>
                  <a:srgbClr val="161B26"/>
                </a:solidFill>
                <a:latin typeface="Consolas"/>
              </a:rPr>
              <a:t>- configMapRef:</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prefix: 'CONFIG_'</a:t>
            </a:r>
          </a:p>
          <a:p>
            <a:pPr>
              <a:spcBef>
                <a:spcPts val="0"/>
              </a:spcBef>
              <a:spcAft>
                <a:spcPts val="0"/>
              </a:spcAft>
            </a:pPr>
            <a:r>
              <a:rPr sz="1050">
                <a:solidFill>
                  <a:srgbClr val="161B26"/>
                </a:solidFill>
                <a:latin typeface="Consolas"/>
              </a:rPr>
              <a:t>kubectl exec envfrom-pod -- env | grep CONFIG_</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volume</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volumeMounts: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mountPath: /config</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kubectl exec volume-mount-pod -- ls /config</a:t>
            </a:r>
          </a:p>
          <a:p>
            <a:pPr>
              <a:spcBef>
                <a:spcPts val="0"/>
              </a:spcBef>
              <a:spcAft>
                <a:spcPts val="0"/>
              </a:spcAft>
            </a:pPr>
            <a:r>
              <a:rPr sz="1050">
                <a:solidFill>
                  <a:srgbClr val="161B26"/>
                </a:solidFill>
                <a:latin typeface="Consolas"/>
              </a:rPr>
              <a:t>kubectl exec volume-mount-pod -- cat /config/LOG_LEVEL</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Live update semantics</a:t>
            </a:r>
          </a:p>
        </p:txBody>
      </p:sp>
      <p:sp>
        <p:nvSpPr>
          <p:cNvPr id="12" name="Rounded Rectangle 11"/>
          <p:cNvSpPr/>
          <p:nvPr/>
        </p:nvSpPr>
        <p:spPr>
          <a:xfrm>
            <a:off x="777240" y="4663440"/>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configmap app-config --type=merge -p '{"data":{"LOG_LEVEL":"debug"}}'</a:t>
            </a:r>
          </a:p>
          <a:p>
            <a:pPr>
              <a:spcBef>
                <a:spcPts val="0"/>
              </a:spcBef>
              <a:spcAft>
                <a:spcPts val="0"/>
              </a:spcAft>
            </a:pPr>
            <a:r>
              <a:rPr sz="1050">
                <a:solidFill>
                  <a:srgbClr val="161B26"/>
                </a:solidFill>
                <a:latin typeface="Consolas"/>
              </a:rPr>
              <a:t>sleep 90</a:t>
            </a:r>
          </a:p>
          <a:p>
            <a:pPr>
              <a:spcBef>
                <a:spcPts val="0"/>
              </a:spcBef>
              <a:spcAft>
                <a:spcPts val="0"/>
              </a:spcAft>
            </a:pPr>
            <a:r>
              <a:rPr sz="1050">
                <a:solidFill>
                  <a:srgbClr val="161B26"/>
                </a:solidFill>
                <a:latin typeface="Consolas"/>
              </a:rPr>
              <a:t>kubectl exec volume-mount-pod -- cat /config/LOG_LEVEL</a:t>
            </a:r>
          </a:p>
          <a:p>
            <a:pPr>
              <a:spcBef>
                <a:spcPts val="0"/>
              </a:spcBef>
              <a:spcAft>
                <a:spcPts val="0"/>
              </a:spcAft>
            </a:pPr>
            <a:r>
              <a:rPr sz="1050">
                <a:solidFill>
                  <a:srgbClr val="161B26"/>
                </a:solidFill>
                <a:latin typeface="Consolas"/>
              </a:rPr>
              <a:t># debug -- updated live!</a:t>
            </a:r>
          </a:p>
          <a:p>
            <a:pPr>
              <a:spcBef>
                <a:spcPts val="0"/>
              </a:spcBef>
              <a:spcAft>
                <a:spcPts val="0"/>
              </a:spcAft>
            </a:pPr>
            <a:r>
              <a:rPr sz="1050">
                <a:solidFill>
                  <a:srgbClr val="161B26"/>
                </a:solidFill>
                <a:latin typeface="Consolas"/>
              </a:rPr>
              <a:t>kubectl exec envfrom-pod -- env | grep LOG_LEVEL</a:t>
            </a:r>
          </a:p>
          <a:p>
            <a:pPr>
              <a:spcBef>
                <a:spcPts val="0"/>
              </a:spcBef>
              <a:spcAft>
                <a:spcPts val="0"/>
              </a:spcAft>
            </a:pPr>
            <a:r>
              <a:rPr sz="1050">
                <a:solidFill>
                  <a:srgbClr val="161B26"/>
                </a:solidFill>
                <a:latin typeface="Consolas"/>
              </a:rPr>
              <a:t># info -- NOT updated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CRITICAL: Volume-mounted ConfigMaps update automatically (1-2 min delay). Env vars and subPath mounts require pod restart to pick up changes.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volume-mount-pod shows updated LOG_LEVEL=debug after ConfigMap patch. envfrom-pod still shows LOG_LEVEL=info (not live-updated).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2  |  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Secrets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secrets of three types (generic, TLS, docker-registry), inject via environment variables and volume mounts backed by tmpfs, and apply restrictive permissions with defaultMode 0400. Understand that Secrets are base64-encoded but NOT encrypted by default.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db-credentials (generic), webapp-tls (TLS with openssl), registry secret. Mount with defaultMode 0400, verify tmpfs, decode with base64 -d.</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openssl req | volumes: | &gt; Secrets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decode generic secret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generic db-credentials \</a:t>
            </a:r>
          </a:p>
          <a:p>
            <a:pPr>
              <a:spcBef>
                <a:spcPts val="0"/>
              </a:spcBef>
              <a:spcAft>
                <a:spcPts val="0"/>
              </a:spcAft>
            </a:pPr>
            <a:r>
              <a:rPr sz="1050">
                <a:solidFill>
                  <a:srgbClr val="161B26"/>
                </a:solidFill>
                <a:latin typeface="Consolas"/>
              </a:rPr>
              <a:t>  --from-literal=DB_USER=admin \</a:t>
            </a:r>
          </a:p>
          <a:p>
            <a:pPr>
              <a:spcBef>
                <a:spcPts val="0"/>
              </a:spcBef>
              <a:spcAft>
                <a:spcPts val="0"/>
              </a:spcAft>
            </a:pPr>
            <a:r>
              <a:rPr sz="1050">
                <a:solidFill>
                  <a:srgbClr val="161B26"/>
                </a:solidFill>
                <a:latin typeface="Consolas"/>
              </a:rPr>
              <a:t>  --from-literal=DB_PASSWORD=SuperSecret123!</a:t>
            </a:r>
          </a:p>
          <a:p>
            <a:pPr>
              <a:spcBef>
                <a:spcPts val="0"/>
              </a:spcBef>
              <a:spcAft>
                <a:spcPts val="0"/>
              </a:spcAft>
            </a:pPr>
            <a:r>
              <a:rPr sz="1050">
                <a:solidFill>
                  <a:srgbClr val="161B26"/>
                </a:solidFill>
                <a:latin typeface="Consolas"/>
              </a:rPr>
              <a:t>kubectl get secret db-credentials -o yaml</a:t>
            </a:r>
          </a:p>
          <a:p>
            <a:pPr>
              <a:spcBef>
                <a:spcPts val="0"/>
              </a:spcBef>
              <a:spcAft>
                <a:spcPts val="0"/>
              </a:spcAft>
            </a:pPr>
            <a:r>
              <a:rPr sz="1050">
                <a:solidFill>
                  <a:srgbClr val="161B26"/>
                </a:solidFill>
                <a:latin typeface="Consolas"/>
              </a:rPr>
              <a:t>kubectl get secret db-credentials \</a:t>
            </a:r>
          </a:p>
          <a:p>
            <a:pPr>
              <a:spcBef>
                <a:spcPts val="0"/>
              </a:spcBef>
              <a:spcAft>
                <a:spcPts val="0"/>
              </a:spcAft>
            </a:pPr>
            <a:r>
              <a:rPr sz="1050">
                <a:solidFill>
                  <a:srgbClr val="161B26"/>
                </a:solidFill>
                <a:latin typeface="Consolas"/>
              </a:rPr>
              <a:t>  -o jsonpath='{.data.DB_PASSWORD}' | base64 -d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TLS secret</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openssl req -x509 -nodes -newkey rsa:2048 \</a:t>
            </a:r>
          </a:p>
          <a:p>
            <a:pPr>
              <a:spcBef>
                <a:spcPts val="0"/>
              </a:spcBef>
              <a:spcAft>
                <a:spcPts val="0"/>
              </a:spcAft>
            </a:pPr>
            <a:r>
              <a:rPr sz="1050">
                <a:solidFill>
                  <a:srgbClr val="161B26"/>
                </a:solidFill>
                <a:latin typeface="Consolas"/>
              </a:rPr>
              <a:t>  -keyout /tmp/tls.key -out /tmp/tls.crt -days 365 \</a:t>
            </a:r>
          </a:p>
          <a:p>
            <a:pPr>
              <a:spcBef>
                <a:spcPts val="0"/>
              </a:spcBef>
              <a:spcAft>
                <a:spcPts val="0"/>
              </a:spcAft>
            </a:pPr>
            <a:r>
              <a:rPr sz="1050">
                <a:solidFill>
                  <a:srgbClr val="161B26"/>
                </a:solidFill>
                <a:latin typeface="Consolas"/>
              </a:rPr>
              <a:t>  -subj '/CN=webapp.example.com'</a:t>
            </a:r>
          </a:p>
          <a:p>
            <a:pPr>
              <a:spcBef>
                <a:spcPts val="0"/>
              </a:spcBef>
              <a:spcAft>
                <a:spcPts val="0"/>
              </a:spcAft>
            </a:pPr>
            <a:r>
              <a:rPr sz="1050">
                <a:solidFill>
                  <a:srgbClr val="161B26"/>
                </a:solidFill>
                <a:latin typeface="Consolas"/>
              </a:rPr>
              <a:t>kubectl create secret tls webapp-tls --cert=/tmp/tls.crt --key=/tmp/tls.key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tmpfs with defaultMode 0400</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 volumes:</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secret-vol</a:t>
            </a:r>
          </a:p>
          <a:p>
            <a:pPr>
              <a:spcBef>
                <a:spcPts val="0"/>
              </a:spcBef>
              <a:spcAft>
                <a:spcPts val="0"/>
              </a:spcAft>
            </a:pPr>
            <a:r>
              <a:rPr sz="1050">
                <a:solidFill>
                  <a:srgbClr val="161B26"/>
                </a:solidFill>
                <a:latin typeface="Consolas"/>
              </a:rPr>
              <a:t>  secret:</a:t>
            </a:r>
          </a:p>
          <a:p>
            <a:pPr>
              <a:spcBef>
                <a:spcPts val="0"/>
              </a:spcBef>
              <a:spcAft>
                <a:spcPts val="0"/>
              </a:spcAft>
            </a:pPr>
            <a:r>
              <a:rPr sz="1050">
                <a:solidFill>
                  <a:srgbClr val="161B26"/>
                </a:solidFill>
                <a:latin typeface="Consolas"/>
              </a:rPr>
              <a:t>    secretName: db-credentials</a:t>
            </a:r>
          </a:p>
          <a:p>
            <a:pPr>
              <a:spcBef>
                <a:spcPts val="0"/>
              </a:spcBef>
              <a:spcAft>
                <a:spcPts val="0"/>
              </a:spcAft>
            </a:pPr>
            <a:r>
              <a:rPr sz="1050">
                <a:solidFill>
                  <a:srgbClr val="161B26"/>
                </a:solidFill>
                <a:latin typeface="Consolas"/>
              </a:rPr>
              <a:t>    defaultMode: 0400</a:t>
            </a:r>
          </a:p>
          <a:p>
            <a:pPr>
              <a:spcBef>
                <a:spcPts val="0"/>
              </a:spcBef>
              <a:spcAft>
                <a:spcPts val="0"/>
              </a:spcAft>
            </a:pPr>
            <a:r>
              <a:rPr sz="1050">
                <a:solidFill>
                  <a:srgbClr val="161B26"/>
                </a:solidFill>
                <a:latin typeface="Consolas"/>
              </a:rPr>
              <a:t>kubectl exec secret-volume-pod -- ls -la /secrets</a:t>
            </a:r>
          </a:p>
          <a:p>
            <a:pPr>
              <a:spcBef>
                <a:spcPts val="0"/>
              </a:spcBef>
              <a:spcAft>
                <a:spcPts val="0"/>
              </a:spcAft>
            </a:pPr>
            <a:r>
              <a:rPr sz="1050">
                <a:solidFill>
                  <a:srgbClr val="161B26"/>
                </a:solidFill>
                <a:latin typeface="Consolas"/>
              </a:rPr>
              <a:t># -r-------- files</a:t>
            </a:r>
          </a:p>
          <a:p>
            <a:pPr>
              <a:spcBef>
                <a:spcPts val="0"/>
              </a:spcBef>
              <a:spcAft>
                <a:spcPts val="0"/>
              </a:spcAft>
            </a:pPr>
            <a:r>
              <a:rPr sz="1050">
                <a:solidFill>
                  <a:srgbClr val="161B26"/>
                </a:solidFill>
                <a:latin typeface="Consolas"/>
              </a:rPr>
              <a:t>kubectl exec secret-volume-pod -- df -h /secrets</a:t>
            </a:r>
          </a:p>
          <a:p>
            <a:pPr>
              <a:spcBef>
                <a:spcPts val="0"/>
              </a:spcBef>
              <a:spcAft>
                <a:spcPts val="0"/>
              </a:spcAft>
            </a:pPr>
            <a:r>
              <a:rPr sz="1050">
                <a:solidFill>
                  <a:srgbClr val="161B26"/>
                </a:solidFill>
                <a:latin typeface="Consolas"/>
              </a:rPr>
              <a:t># tmpfs</a:t>
            </a:r>
          </a:p>
        </p:txBody>
      </p:sp>
      <p:sp>
        <p:nvSpPr>
          <p:cNvPr id="11" name="TextBox 10"/>
          <p:cNvSpPr txBox="1"/>
          <p:nvPr/>
        </p:nvSpPr>
        <p:spPr>
          <a:xfrm>
            <a:off x="777240" y="427939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Secrets are base64-encoded (NOT encrypted). Enable etcd encryption at rest for actual security. tmpfs means secrets are never written to node disk. echo -n is critical -- without -n, trailing newline corrupts the base64 value.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Secret files have permissions -r-------- (0400). df -h /secrets shows tmpfs. base64 -d decodes the password correctly. TLS secret type is kubernetes.io/tls.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HPA AND METRICS-SERVER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metrics-server</a:t>
            </a:r>
          </a:p>
          <a:p>
            <a:pPr algn="ctr">
              <a:spcBef>
                <a:spcPts val="0"/>
              </a:spcBef>
              <a:spcAft>
                <a:spcPts val="300"/>
              </a:spcAft>
            </a:pPr>
            <a:r>
              <a:rPr sz="1100" b="0">
                <a:solidFill>
                  <a:srgbClr val="5B6372"/>
                </a:solidFill>
                <a:latin typeface="Arial"/>
              </a:rPr>
              <a:t>scrapes kubelet cAdvisor</a:t>
            </a:r>
          </a:p>
          <a:p>
            <a:pPr algn="ctr">
              <a:spcBef>
                <a:spcPts val="0"/>
              </a:spcBef>
              <a:spcAft>
                <a:spcPts val="300"/>
              </a:spcAft>
            </a:pPr>
            <a:r>
              <a:rPr sz="1100" b="0">
                <a:solidFill>
                  <a:srgbClr val="5B6372"/>
                </a:solidFill>
                <a:latin typeface="Arial"/>
              </a:rPr>
              <a:t>serves metrics.k8s.io</a:t>
            </a:r>
          </a:p>
        </p:txBody>
      </p:sp>
      <p:sp>
        <p:nvSpPr>
          <p:cNvPr id="10" name="Right Arrow 9"/>
          <p:cNvSpPr/>
          <p:nvPr/>
        </p:nvSpPr>
        <p:spPr>
          <a:xfrm>
            <a:off x="384048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observed usage</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HPA controller</a:t>
            </a:r>
          </a:p>
          <a:p>
            <a:pPr algn="ctr">
              <a:spcBef>
                <a:spcPts val="0"/>
              </a:spcBef>
              <a:spcAft>
                <a:spcPts val="300"/>
              </a:spcAft>
            </a:pPr>
            <a:r>
              <a:rPr sz="1100" b="0">
                <a:solidFill>
                  <a:srgbClr val="5B6372"/>
                </a:solidFill>
                <a:latin typeface="Arial"/>
              </a:rPr>
              <a:t>reads current CPU/mem</a:t>
            </a:r>
          </a:p>
          <a:p>
            <a:pPr algn="ctr">
              <a:spcBef>
                <a:spcPts val="0"/>
              </a:spcBef>
              <a:spcAft>
                <a:spcPts val="300"/>
              </a:spcAft>
            </a:pPr>
            <a:r>
              <a:rPr sz="1100" b="0">
                <a:solidFill>
                  <a:srgbClr val="5B6372"/>
                </a:solidFill>
                <a:latin typeface="Arial"/>
              </a:rPr>
              <a:t>computes desired replicas</a:t>
            </a:r>
          </a:p>
        </p:txBody>
      </p:sp>
      <p:sp>
        <p:nvSpPr>
          <p:cNvPr id="15" name="Right Arrow 14"/>
          <p:cNvSpPr/>
          <p:nvPr/>
        </p:nvSpPr>
        <p:spPr>
          <a:xfrm>
            <a:off x="763524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scales</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Deployment</a:t>
            </a:r>
          </a:p>
          <a:p>
            <a:pPr algn="ctr">
              <a:spcBef>
                <a:spcPts val="0"/>
              </a:spcBef>
              <a:spcAft>
                <a:spcPts val="300"/>
              </a:spcAft>
            </a:pPr>
            <a:r>
              <a:rPr sz="1100" b="0">
                <a:solidFill>
                  <a:srgbClr val="5B6372"/>
                </a:solidFill>
                <a:latin typeface="Arial"/>
              </a:rPr>
              <a:t>replicas adjusted</a:t>
            </a:r>
          </a:p>
          <a:p>
            <a:pPr algn="ctr">
              <a:spcBef>
                <a:spcPts val="0"/>
              </a:spcBef>
              <a:spcAft>
                <a:spcPts val="300"/>
              </a:spcAft>
            </a:pPr>
            <a:r>
              <a:rPr sz="1100" b="0">
                <a:solidFill>
                  <a:srgbClr val="5B6372"/>
                </a:solidFill>
                <a:latin typeface="Arial"/>
              </a:rPr>
              <a:t>scale-out and scale-in</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HPA requires </a:t>
            </a:r>
            <a:r>
              <a:rPr sz="1300" b="1">
                <a:solidFill>
                  <a:srgbClr val="161B26"/>
                </a:solidFill>
                <a:latin typeface="Arial"/>
              </a:rPr>
              <a:t>resources.requests</a:t>
            </a:r>
            <a:r>
              <a:rPr sz="1300" b="0">
                <a:solidFill>
                  <a:srgbClr val="5B6372"/>
                </a:solidFill>
                <a:latin typeface="Arial"/>
              </a:rPr>
              <a:t> on the Deployment. Scale-in waits ~5 min (stabilization window).</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2  |  HPA</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Horizontal Pod Autoscaling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metrics-server to provide CPU metrics, create an HPA using autoscaling/v2 API, generate CPU load, and watch the HPA scale up then back down. HPA requires resource requests on containers; without them, utilization cannot be calculated.</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(with --kubelet-insecure-tls patch), create HPA targeting 50% CPU, run stress test, watch scale-up, wait for scale-down.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create | kubectl autoscale | kubectl run | &gt; HPA</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patch deployment metrics-server -n kube-system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Deployment with resource requests</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cpu-app --image=nginx --replicas=1</a:t>
            </a:r>
          </a:p>
          <a:p>
            <a:pPr>
              <a:spcBef>
                <a:spcPts val="0"/>
              </a:spcBef>
              <a:spcAft>
                <a:spcPts val="0"/>
              </a:spcAft>
            </a:pPr>
            <a:r>
              <a:rPr sz="1050">
                <a:solidFill>
                  <a:srgbClr val="161B26"/>
                </a:solidFill>
                <a:latin typeface="Consolas"/>
              </a:rPr>
              <a:t>kubectl set resources deployment cpu-app --containers=nginx \</a:t>
            </a:r>
          </a:p>
          <a:p>
            <a:pPr>
              <a:spcBef>
                <a:spcPts val="0"/>
              </a:spcBef>
              <a:spcAft>
                <a:spcPts val="0"/>
              </a:spcAft>
            </a:pPr>
            <a:r>
              <a:rPr sz="1050">
                <a:solidFill>
                  <a:srgbClr val="161B26"/>
                </a:solidFill>
                <a:latin typeface="Consolas"/>
              </a:rPr>
              <a:t>  --requests=cpu=100m --limits=cpu=500m</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HPA</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autoscale deployment cpu-app --min=1 --max=10 --cpu-percent=50</a:t>
            </a:r>
          </a:p>
          <a:p>
            <a:pPr>
              <a:spcBef>
                <a:spcPts val="0"/>
              </a:spcBef>
              <a:spcAft>
                <a:spcPts val="0"/>
              </a:spcAft>
            </a:pPr>
            <a:r>
              <a:rPr sz="1050">
                <a:solidFill>
                  <a:srgbClr val="161B26"/>
                </a:solidFill>
                <a:latin typeface="Consolas"/>
              </a:rPr>
              <a:t>kubectl get hpa &amp;&amp; kubectl describe hpa cpu-app</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Generate load and watch scaling</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load-gen --image=busybox --restart=Never \</a:t>
            </a:r>
          </a:p>
          <a:p>
            <a:pPr>
              <a:spcBef>
                <a:spcPts val="0"/>
              </a:spcBef>
              <a:spcAft>
                <a:spcPts val="0"/>
              </a:spcAft>
            </a:pPr>
            <a:r>
              <a:rPr sz="1050">
                <a:solidFill>
                  <a:srgbClr val="161B26"/>
                </a:solidFill>
                <a:latin typeface="Consolas"/>
              </a:rPr>
              <a:t>  -- sh -c 'while true; do wget -q -O- http://cpu-app; done'</a:t>
            </a:r>
          </a:p>
          <a:p>
            <a:pPr>
              <a:spcBef>
                <a:spcPts val="0"/>
              </a:spcBef>
              <a:spcAft>
                <a:spcPts val="0"/>
              </a:spcAft>
            </a:pPr>
            <a:r>
              <a:rPr sz="1050">
                <a:solidFill>
                  <a:srgbClr val="161B26"/>
                </a:solidFill>
                <a:latin typeface="Consolas"/>
              </a:rPr>
              <a:t>kubectl get hpa cpu-app -w</a:t>
            </a:r>
          </a:p>
          <a:p>
            <a:pPr>
              <a:spcBef>
                <a:spcPts val="0"/>
              </a:spcBef>
              <a:spcAft>
                <a:spcPts val="0"/>
              </a:spcAft>
            </a:pPr>
            <a:r>
              <a:rPr sz="1050">
                <a:solidFill>
                  <a:srgbClr val="161B26"/>
                </a:solidFill>
                <a:latin typeface="Consolas"/>
              </a:rPr>
              <a:t>kubectl get pods -w</a:t>
            </a:r>
          </a:p>
        </p:txBody>
      </p:sp>
      <p:sp>
        <p:nvSpPr>
          <p:cNvPr id="11" name="TextBox 10"/>
          <p:cNvSpPr txBox="1"/>
          <p:nvPr/>
        </p:nvSpPr>
        <p:spPr>
          <a:xfrm>
            <a:off x="777240" y="315468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HPA requires resource requests -- without them metrics-server cannot calculate % utilization. Scale-down has a 5-minute cooldown by default.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hpa shows non-zero CPU% and increasing replicas under load. After removing load-gen, replicas scale back to 1 within 5-10 minutes.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SELF-HEALING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Primitives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Liveness probe: exec / httpGet / tcpSocket -- restart on failure</a:t>
            </a:r>
          </a:p>
          <a:p>
            <a:pPr>
              <a:spcBef>
                <a:spcPts val="0"/>
              </a:spcBef>
              <a:spcAft>
                <a:spcPts val="1000"/>
              </a:spcAft>
            </a:pPr>
            <a:r>
              <a:rPr sz="1900" b="1">
                <a:solidFill>
                  <a:srgbClr val="1F6FEB"/>
                </a:solidFill>
                <a:latin typeface="Arial"/>
              </a:rPr>
              <a:t>•  </a:t>
            </a:r>
            <a:r>
              <a:rPr sz="1900">
                <a:solidFill>
                  <a:srgbClr val="161B26"/>
                </a:solidFill>
                <a:latin typeface="Arial"/>
              </a:rPr>
              <a:t>Readiness probe: removes pod from endpoints on failure (no restart)</a:t>
            </a:r>
          </a:p>
          <a:p>
            <a:pPr>
              <a:spcBef>
                <a:spcPts val="0"/>
              </a:spcBef>
              <a:spcAft>
                <a:spcPts val="1000"/>
              </a:spcAft>
            </a:pPr>
            <a:r>
              <a:rPr sz="1900" b="1">
                <a:solidFill>
                  <a:srgbClr val="1F6FEB"/>
                </a:solidFill>
                <a:latin typeface="Arial"/>
              </a:rPr>
              <a:t>•  </a:t>
            </a:r>
            <a:r>
              <a:rPr sz="1900">
                <a:solidFill>
                  <a:srgbClr val="161B26"/>
                </a:solidFill>
                <a:latin typeface="Arial"/>
              </a:rPr>
              <a:t>DaemonSet: one pod per matching node; tolerations needed for control-plane</a:t>
            </a:r>
          </a:p>
          <a:p>
            <a:pPr>
              <a:spcBef>
                <a:spcPts val="0"/>
              </a:spcBef>
              <a:spcAft>
                <a:spcPts val="1000"/>
              </a:spcAft>
            </a:pPr>
            <a:r>
              <a:rPr sz="1900" b="1">
                <a:solidFill>
                  <a:srgbClr val="1F6FEB"/>
                </a:solidFill>
                <a:latin typeface="Arial"/>
              </a:rPr>
              <a:t>•  </a:t>
            </a:r>
            <a:r>
              <a:rPr sz="1900">
                <a:solidFill>
                  <a:srgbClr val="161B26"/>
                </a:solidFill>
                <a:latin typeface="Arial"/>
              </a:rPr>
              <a:t>StatefulSet: stable names (web-0, web-1), ordered start/stop, volumeClaimTemplates</a:t>
            </a:r>
          </a:p>
          <a:p>
            <a:pPr>
              <a:spcBef>
                <a:spcPts val="0"/>
              </a:spcBef>
              <a:spcAft>
                <a:spcPts val="1000"/>
              </a:spcAft>
            </a:pPr>
            <a:r>
              <a:rPr sz="1900" b="1">
                <a:solidFill>
                  <a:srgbClr val="1F6FEB"/>
                </a:solidFill>
                <a:latin typeface="Arial"/>
              </a:rPr>
              <a:t>•  </a:t>
            </a:r>
            <a:r>
              <a:rPr sz="1900">
                <a:solidFill>
                  <a:srgbClr val="161B26"/>
                </a:solidFill>
                <a:latin typeface="Arial"/>
              </a:rPr>
              <a:t>Headless Service (clusterIP: None) gives each StatefulSet pod a DNS A record</a:t>
            </a:r>
          </a:p>
          <a:p>
            <a:pPr>
              <a:spcBef>
                <a:spcPts val="0"/>
              </a:spcBef>
              <a:spcAft>
                <a:spcPts val="1000"/>
              </a:spcAft>
            </a:pPr>
            <a:r>
              <a:rPr sz="1900" b="1">
                <a:solidFill>
                  <a:srgbClr val="1F6FEB"/>
                </a:solidFill>
                <a:latin typeface="Arial"/>
              </a:rPr>
              <a:t>•  </a:t>
            </a:r>
            <a:r>
              <a:rPr sz="1900">
                <a:solidFill>
                  <a:srgbClr val="161B26"/>
                </a:solidFill>
                <a:latin typeface="Arial"/>
              </a:rPr>
              <a:t>ReplicaSet reconciles: delete a pod and it is recreated immediately</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2  |  SELF-HEALING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Self-healing workloads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Configure liveness and readiness probes to control container health, demonstrate ReplicaSet self-healing when pods are manually deleted, deploy a DaemonSet that runs one pod per node, and create a StatefulSet with stable network identity.</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pod with httpGet liveness probe, show ReplicaSet maintains desired count, deploy nginx DaemonSet,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readinessProbe: | kubectl create | &gt; Liveness: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Liveness probe: httpGet</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liveness-http</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webapp</a:t>
            </a:r>
          </a:p>
          <a:p>
            <a:pPr>
              <a:spcBef>
                <a:spcPts val="0"/>
              </a:spcBef>
              <a:spcAft>
                <a:spcPts val="0"/>
              </a:spcAft>
            </a:pPr>
            <a:r>
              <a:rPr sz="1050">
                <a:solidFill>
                  <a:srgbClr val="161B26"/>
                </a:solidFill>
                <a:latin typeface="Consolas"/>
              </a:rPr>
              <a:t>    image: nginx:alpine</a:t>
            </a:r>
          </a:p>
          <a:p>
            <a:pPr>
              <a:spcBef>
                <a:spcPts val="0"/>
              </a:spcBef>
              <a:spcAft>
                <a:spcPts val="0"/>
              </a:spcAft>
            </a:pPr>
            <a:r>
              <a:rPr sz="1050">
                <a:solidFill>
                  <a:srgbClr val="161B26"/>
                </a:solidFill>
                <a:latin typeface="Consolas"/>
              </a:rPr>
              <a:t>    livenessProbe: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initialDelaySeconds: 5</a:t>
            </a:r>
          </a:p>
          <a:p>
            <a:pPr>
              <a:spcBef>
                <a:spcPts val="0"/>
              </a:spcBef>
              <a:spcAft>
                <a:spcPts val="0"/>
              </a:spcAft>
            </a:pPr>
            <a:r>
              <a:rPr sz="1050">
                <a:solidFill>
                  <a:srgbClr val="161B26"/>
                </a:solidFill>
                <a:latin typeface="Consolas"/>
              </a:rPr>
              <a:t>      periodSeconds: 10</a:t>
            </a:r>
          </a:p>
          <a:p>
            <a:pPr>
              <a:spcBef>
                <a:spcPts val="0"/>
              </a:spcBef>
              <a:spcAft>
                <a:spcPts val="0"/>
              </a:spcAft>
            </a:pPr>
            <a:r>
              <a:rPr sz="1050">
                <a:solidFill>
                  <a:srgbClr val="161B26"/>
                </a:solidFill>
                <a:latin typeface="Consolas"/>
              </a:rPr>
              <a:t>      failureThreshold: 3</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liveness-http -w</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Readiness probe blocks traffic</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Readiness probe -- pod not added to Service endpoints until probe passes</a:t>
            </a:r>
          </a:p>
          <a:p>
            <a:pPr>
              <a:spcBef>
                <a:spcPts val="0"/>
              </a:spcBef>
              <a:spcAft>
                <a:spcPts val="0"/>
              </a:spcAft>
            </a:pPr>
            <a:r>
              <a:rPr sz="1050">
                <a:solidFill>
                  <a:srgbClr val="161B26"/>
                </a:solidFill>
                <a:latin typeface="Consolas"/>
              </a:rPr>
              <a:t>readinessProbe: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/ready</a:t>
            </a:r>
          </a:p>
          <a:p>
            <a:pPr>
              <a:spcBef>
                <a:spcPts val="0"/>
              </a:spcBef>
              <a:spcAft>
                <a:spcPts val="0"/>
              </a:spcAft>
            </a:pPr>
            <a:r>
              <a:rPr sz="1050">
                <a:solidFill>
                  <a:srgbClr val="161B26"/>
                </a:solidFill>
                <a:latin typeface="Consolas"/>
              </a:rPr>
              <a:t>    port: 8080</a:t>
            </a:r>
          </a:p>
          <a:p>
            <a:pPr>
              <a:spcBef>
                <a:spcPts val="0"/>
              </a:spcBef>
              <a:spcAft>
                <a:spcPts val="0"/>
              </a:spcAft>
            </a:pPr>
            <a:r>
              <a:rPr sz="1050">
                <a:solidFill>
                  <a:srgbClr val="161B26"/>
                </a:solidFill>
                <a:latin typeface="Consolas"/>
              </a:rPr>
              <a:t>  initialDelaySeconds: 10</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ReplicaSet self-healing</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selfheal --image=nginx --replicas=3</a:t>
            </a:r>
          </a:p>
          <a:p>
            <a:pPr>
              <a:spcBef>
                <a:spcPts val="0"/>
              </a:spcBef>
              <a:spcAft>
                <a:spcPts val="0"/>
              </a:spcAft>
            </a:pPr>
            <a:r>
              <a:rPr sz="1050">
                <a:solidFill>
                  <a:srgbClr val="161B26"/>
                </a:solidFill>
                <a:latin typeface="Consolas"/>
              </a:rPr>
              <a:t>kubectl delete pod -l app=selfheal --force</a:t>
            </a:r>
          </a:p>
          <a:p>
            <a:pPr>
              <a:spcBef>
                <a:spcPts val="0"/>
              </a:spcBef>
              <a:spcAft>
                <a:spcPts val="0"/>
              </a:spcAft>
            </a:pPr>
            <a:r>
              <a:rPr sz="1050">
                <a:solidFill>
                  <a:srgbClr val="161B26"/>
                </a:solidFill>
                <a:latin typeface="Consolas"/>
              </a:rPr>
              <a:t>kubectl get pods -l app=selfheal -w</a:t>
            </a:r>
          </a:p>
          <a:p>
            <a:pPr>
              <a:spcBef>
                <a:spcPts val="0"/>
              </a:spcBef>
              <a:spcAft>
                <a:spcPts val="0"/>
              </a:spcAft>
            </a:pPr>
            <a:r>
              <a:rPr sz="1050">
                <a:solidFill>
                  <a:srgbClr val="161B26"/>
                </a:solidFill>
                <a:latin typeface="Consolas"/>
              </a:rPr>
              <a:t># New pods created immediately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DaemonSet: one pod per node</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DaemonSet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node-monitor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monitor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['sleep', '3600']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daemonset</a:t>
            </a:r>
          </a:p>
          <a:p>
            <a:pPr>
              <a:spcBef>
                <a:spcPts val="0"/>
              </a:spcBef>
              <a:spcAft>
                <a:spcPts val="0"/>
              </a:spcAft>
            </a:pPr>
            <a:r>
              <a:rPr sz="1050">
                <a:solidFill>
                  <a:srgbClr val="161B26"/>
                </a:solidFill>
                <a:latin typeface="Consolas"/>
              </a:rPr>
              <a:t>kubectl get pods -l app=node-monitor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Liveness: fail -&gt; container restart. Readiness: fail -&gt; removed from Service endpoints. DaemonSet automatically places one pod per node, including newly joined nodes.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Pod restarts when liveness probe fails. kubectl delete pod does not reduce ReplicaSet count. DaemonSet has exactly one pod per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10 minutes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Controls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nodeSelector: simple key=value label match on the node</a:t>
            </a:r>
          </a:p>
          <a:p>
            <a:pPr>
              <a:spcBef>
                <a:spcPts val="0"/>
              </a:spcBef>
              <a:spcAft>
                <a:spcPts val="1000"/>
              </a:spcAft>
            </a:pPr>
            <a:r>
              <a:rPr sz="1900" b="1">
                <a:solidFill>
                  <a:srgbClr val="1F6FEB"/>
                </a:solidFill>
                <a:latin typeface="Arial"/>
              </a:rPr>
              <a:t>•  </a:t>
            </a:r>
            <a:r>
              <a:rPr sz="1900">
                <a:solidFill>
                  <a:srgbClr val="161B26"/>
                </a:solidFill>
                <a:latin typeface="Arial"/>
              </a:rPr>
              <a:t>nodeAffinity: required (hard) vs preferred (soft) -- In, NotIn, Exists operators</a:t>
            </a:r>
          </a:p>
          <a:p>
            <a:pPr>
              <a:spcBef>
                <a:spcPts val="0"/>
              </a:spcBef>
              <a:spcAft>
                <a:spcPts val="1000"/>
              </a:spcAft>
            </a:pPr>
            <a:r>
              <a:rPr sz="1900" b="1">
                <a:solidFill>
                  <a:srgbClr val="1F6FEB"/>
                </a:solidFill>
                <a:latin typeface="Arial"/>
              </a:rPr>
              <a:t>•  </a:t>
            </a:r>
            <a:r>
              <a:rPr sz="1900">
                <a:solidFill>
                  <a:srgbClr val="161B26"/>
                </a:solidFill>
                <a:latin typeface="Arial"/>
              </a:rPr>
              <a:t>podAntiAffinity: spread pods across nodes for high availability</a:t>
            </a:r>
          </a:p>
          <a:p>
            <a:pPr>
              <a:spcBef>
                <a:spcPts val="0"/>
              </a:spcBef>
              <a:spcAft>
                <a:spcPts val="1000"/>
              </a:spcAft>
            </a:pPr>
            <a:r>
              <a:rPr sz="1900" b="1">
                <a:solidFill>
                  <a:srgbClr val="1F6FEB"/>
                </a:solidFill>
                <a:latin typeface="Arial"/>
              </a:rPr>
              <a:t>•  </a:t>
            </a:r>
            <a:r>
              <a:rPr sz="1900">
                <a:solidFill>
                  <a:srgbClr val="161B26"/>
                </a:solidFill>
                <a:latin typeface="Arial"/>
              </a:rPr>
              <a:t>Taint: node repels pods without a matching toleration</a:t>
            </a:r>
          </a:p>
          <a:p>
            <a:pPr>
              <a:spcBef>
                <a:spcPts val="0"/>
              </a:spcBef>
              <a:spcAft>
                <a:spcPts val="1000"/>
              </a:spcAft>
            </a:pPr>
            <a:r>
              <a:rPr sz="1900" b="1">
                <a:solidFill>
                  <a:srgbClr val="1F6FEB"/>
                </a:solidFill>
                <a:latin typeface="Arial"/>
              </a:rPr>
              <a:t>•  </a:t>
            </a:r>
            <a:r>
              <a:rPr sz="1900">
                <a:solidFill>
                  <a:srgbClr val="161B26"/>
                </a:solidFill>
                <a:latin typeface="Arial"/>
              </a:rPr>
              <a:t>Effects: NoSchedule, PreferNoSchedule, NoExecute (also evicts running pods)</a:t>
            </a:r>
          </a:p>
          <a:p>
            <a:pPr>
              <a:spcBef>
                <a:spcPts val="0"/>
              </a:spcBef>
              <a:spcAft>
                <a:spcPts val="1000"/>
              </a:spcAft>
            </a:pPr>
            <a:r>
              <a:rPr sz="1900" b="1">
                <a:solidFill>
                  <a:srgbClr val="1F6FEB"/>
                </a:solidFill>
                <a:latin typeface="Arial"/>
              </a:rPr>
              <a:t>•  </a:t>
            </a:r>
            <a:r>
              <a:rPr sz="1900">
                <a:solidFill>
                  <a:srgbClr val="161B26"/>
                </a:solidFill>
                <a:latin typeface="Arial"/>
              </a:rPr>
              <a:t>resources.requests drive scheduling; resources.limits cap CPU/memory at runtime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Scheduling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Control pod placement using nodeSelector for simple label matching, node affinity for flexible required/preferred placement rules, taints to repel pods from nodes, and tolerations to allow specific pods through taints.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Label nodes, create pod with nodeSelector, add required/preferred node affinity, taint a node (NoSchedule), add toleration, demonstrate resource-based scheduling.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label | kubectl taint | &gt; Taint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nodeSelector: simple label matching</a:t>
            </a:r>
          </a:p>
        </p:txBody>
      </p:sp>
      <p:sp>
        <p:nvSpPr>
          <p:cNvPr id="8" name="Rounded Rectangle 7"/>
          <p:cNvSpPr/>
          <p:nvPr/>
        </p:nvSpPr>
        <p:spPr>
          <a:xfrm>
            <a:off x="777240" y="2075688"/>
            <a:ext cx="10652760" cy="277063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7706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67919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label node worker01 disk=ssd</a:t>
            </a:r>
          </a:p>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ssd-pod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nodeSelector:</a:t>
            </a:r>
          </a:p>
          <a:p>
            <a:pPr>
              <a:spcBef>
                <a:spcPts val="0"/>
              </a:spcBef>
              <a:spcAft>
                <a:spcPts val="0"/>
              </a:spcAft>
            </a:pPr>
            <a:r>
              <a:rPr sz="1050">
                <a:solidFill>
                  <a:srgbClr val="161B26"/>
                </a:solidFill>
                <a:latin typeface="Consolas"/>
              </a:rPr>
              <a:t>    disk: ssd</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app</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ssd-pod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 Affinity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requiredDuringSchedulingIgnoredDuringExecution: hard constraint</a:t>
            </a:r>
          </a:p>
          <a:p>
            <a:pPr>
              <a:spcBef>
                <a:spcPts val="0"/>
              </a:spcBef>
              <a:spcAft>
                <a:spcPts val="0"/>
              </a:spcAft>
            </a:pPr>
            <a:r>
              <a:rPr sz="1050">
                <a:solidFill>
                  <a:srgbClr val="161B26"/>
                </a:solidFill>
                <a:latin typeface="Consolas"/>
              </a:rPr>
              <a:t># preferredDuringSchedulingIgnoredDuringExecution: soft preference</a:t>
            </a:r>
          </a:p>
          <a:p>
            <a:pPr>
              <a:spcBef>
                <a:spcPts val="0"/>
              </a:spcBef>
              <a:spcAft>
                <a:spcPts val="0"/>
              </a:spcAft>
            </a:pPr>
            <a:r>
              <a:rPr sz="1050">
                <a:solidFill>
                  <a:srgbClr val="161B26"/>
                </a:solidFill>
                <a:latin typeface="Consolas"/>
              </a:rPr>
              <a:t># Check: kubectl get pod affinity-pod -o wide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Taints and Tolerations</a:t>
            </a:r>
          </a:p>
        </p:txBody>
      </p:sp>
      <p:sp>
        <p:nvSpPr>
          <p:cNvPr id="12" name="Rounded Rectangle 11"/>
          <p:cNvSpPr/>
          <p:nvPr/>
        </p:nvSpPr>
        <p:spPr>
          <a:xfrm>
            <a:off x="777240" y="3351276"/>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run blocked --image=nginx</a:t>
            </a:r>
          </a:p>
          <a:p>
            <a:pPr>
              <a:spcBef>
                <a:spcPts val="0"/>
              </a:spcBef>
              <a:spcAft>
                <a:spcPts val="0"/>
              </a:spcAft>
            </a:pPr>
            <a:r>
              <a:rPr sz="1050">
                <a:solidFill>
                  <a:srgbClr val="161B26"/>
                </a:solidFill>
                <a:latin typeface="Consolas"/>
              </a:rPr>
              <a:t>kubectl get pod blocked -o wide</a:t>
            </a:r>
          </a:p>
          <a:p>
            <a:pPr>
              <a:spcBef>
                <a:spcPts val="0"/>
              </a:spcBef>
              <a:spcAft>
                <a:spcPts val="0"/>
              </a:spcAft>
            </a:pPr>
            <a:r>
              <a:rPr sz="1050">
                <a:solidFill>
                  <a:srgbClr val="161B26"/>
                </a:solidFill>
                <a:latin typeface="Consolas"/>
              </a:rPr>
              <a:t># Stays Pending -- no toleration</a:t>
            </a:r>
          </a:p>
          <a:p>
            <a:pPr>
              <a:spcBef>
                <a:spcPts val="0"/>
              </a:spcBef>
              <a:spcAft>
                <a:spcPts val="0"/>
              </a:spcAft>
            </a:pPr>
            <a:r>
              <a:rPr sz="1050">
                <a:solidFill>
                  <a:srgbClr val="161B26"/>
                </a:solidFill>
                <a:latin typeface="Consolas"/>
              </a:rPr>
              <a:t># Add toleration:</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special</a:t>
            </a:r>
          </a:p>
          <a:p>
            <a:pPr>
              <a:spcBef>
                <a:spcPts val="0"/>
              </a:spcBef>
              <a:spcAft>
                <a:spcPts val="0"/>
              </a:spcAft>
            </a:pPr>
            <a:r>
              <a:rPr sz="1050">
                <a:solidFill>
                  <a:srgbClr val="161B26"/>
                </a:solidFill>
                <a:latin typeface="Consolas"/>
              </a:rPr>
              <a:t>  operator: Equal</a:t>
            </a:r>
          </a:p>
          <a:p>
            <a:pPr>
              <a:spcBef>
                <a:spcPts val="0"/>
              </a:spcBef>
              <a:spcAft>
                <a:spcPts val="0"/>
              </a:spcAft>
            </a:pPr>
            <a:r>
              <a:rPr sz="1050">
                <a:solidFill>
                  <a:srgbClr val="161B26"/>
                </a:solidFill>
                <a:latin typeface="Consolas"/>
              </a:rPr>
              <a:t>  value: gpu</a:t>
            </a:r>
          </a:p>
          <a:p>
            <a:pPr>
              <a:spcBef>
                <a:spcPts val="0"/>
              </a:spcBef>
              <a:spcAft>
                <a:spcPts val="0"/>
              </a:spcAft>
            </a:pPr>
            <a:r>
              <a:rPr sz="1050">
                <a:solidFill>
                  <a:srgbClr val="161B26"/>
                </a:solidFill>
                <a:latin typeface="Consolas"/>
              </a:rPr>
              <a:t>  effect: NoSchedule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Remove taint and clean up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get pods</a:t>
            </a:r>
          </a:p>
        </p:txBody>
      </p:sp>
      <p:sp>
        <p:nvSpPr>
          <p:cNvPr id="11" name="TextBox 10"/>
          <p:cNvSpPr txBox="1"/>
          <p:nvPr/>
        </p:nvSpPr>
        <p:spPr>
          <a:xfrm>
            <a:off x="777240" y="27797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Taint effects: NoSchedule (hard reject), PreferNoSchedule (soft reject), NoExecute (evict existing pods). Tolerations do NOT guarantee placement on the tainted node.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nodeSelector pod lands on worker01 (disk=ssd). Tainted node rejects pods without toleration. Pod with matching toleration schedules on the tainted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DOMAIN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Services &amp; Networking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 connectivity  |  Services  |  Ingress  |  Gateway API  |  NetworkPolicy  |  CoreDNS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3</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3  |  POD CONNECTIVITY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Verify pod-to-pod communication using ping and curl, test DNS-based service discovery, trace network paths with traceroute, and use nicolaka/netshoot as a network debugging toolkit. Pod networking fundamentals are the foundation for the 20% Services &amp; Networking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server-pod and client-pod, ping by Pod IP, curl by Service DNS name, nslookup kubernetes.default, traceroute between pods.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SERVER_IP=$(kubectl get | kubectl exec | &gt; DNS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test pods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server-pod --image=nginx --labels='role=server'</a:t>
            </a:r>
          </a:p>
          <a:p>
            <a:pPr>
              <a:spcBef>
                <a:spcPts val="0"/>
              </a:spcBef>
              <a:spcAft>
                <a:spcPts val="0"/>
              </a:spcAft>
            </a:pPr>
            <a:r>
              <a:rPr sz="1050">
                <a:solidFill>
                  <a:srgbClr val="161B26"/>
                </a:solidFill>
                <a:latin typeface="Consolas"/>
              </a:rPr>
              <a:t>kubectl expose pod server-pod --port=80 --name=server-svc</a:t>
            </a:r>
          </a:p>
          <a:p>
            <a:pPr>
              <a:spcBef>
                <a:spcPts val="0"/>
              </a:spcBef>
              <a:spcAft>
                <a:spcPts val="0"/>
              </a:spcAft>
            </a:pPr>
            <a:r>
              <a:rPr sz="1050">
                <a:solidFill>
                  <a:srgbClr val="161B26"/>
                </a:solidFill>
                <a:latin typeface="Consolas"/>
              </a:rPr>
              <a:t>kubectl run client-pod --image=nicolaka/netshoot --command -- sleep 3600</a:t>
            </a:r>
          </a:p>
          <a:p>
            <a:pPr>
              <a:spcBef>
                <a:spcPts val="0"/>
              </a:spcBef>
              <a:spcAft>
                <a:spcPts val="0"/>
              </a:spcAft>
            </a:pPr>
            <a:r>
              <a:rPr sz="1050">
                <a:solidFill>
                  <a:srgbClr val="161B26"/>
                </a:solidFill>
                <a:latin typeface="Consolas"/>
              </a:rPr>
              <a:t>kubectl get pods -o wide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Ping by Pod IP</a:t>
            </a:r>
          </a:p>
        </p:txBody>
      </p:sp>
      <p:sp>
        <p:nvSpPr>
          <p:cNvPr id="12" name="Rounded Rectangle 11"/>
          <p:cNvSpPr/>
          <p:nvPr/>
        </p:nvSpPr>
        <p:spPr>
          <a:xfrm>
            <a:off x="777240" y="353872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SERVER_IP=$(kubectl get pod server-pod -o jsonpath='{.status.podIP}')</a:t>
            </a:r>
          </a:p>
          <a:p>
            <a:pPr>
              <a:spcBef>
                <a:spcPts val="0"/>
              </a:spcBef>
              <a:spcAft>
                <a:spcPts val="0"/>
              </a:spcAft>
            </a:pPr>
            <a:r>
              <a:rPr sz="1050">
                <a:solidFill>
                  <a:srgbClr val="161B26"/>
                </a:solidFill>
                <a:latin typeface="Consolas"/>
              </a:rPr>
              <a:t>kubectl exec client-pod -- ping -c 4 $SERVER_IP</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DNS-based service discovery</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curl -s http://server-svc.default.svc.cluster.local</a:t>
            </a:r>
          </a:p>
          <a:p>
            <a:pPr>
              <a:spcBef>
                <a:spcPts val="0"/>
              </a:spcBef>
              <a:spcAft>
                <a:spcPts val="0"/>
              </a:spcAft>
            </a:pPr>
            <a:r>
              <a:rPr sz="1050">
                <a:solidFill>
                  <a:srgbClr val="161B26"/>
                </a:solidFill>
                <a:latin typeface="Consolas"/>
              </a:rPr>
              <a:t>kubectl exec client-pod -- nslookup kubernetes.default.svc.cluster.local</a:t>
            </a:r>
          </a:p>
          <a:p>
            <a:pPr>
              <a:spcBef>
                <a:spcPts val="0"/>
              </a:spcBef>
              <a:spcAft>
                <a:spcPts val="0"/>
              </a:spcAft>
            </a:pPr>
            <a:r>
              <a:rPr sz="1050">
                <a:solidFill>
                  <a:srgbClr val="161B26"/>
                </a:solidFill>
                <a:latin typeface="Consolas"/>
              </a:rPr>
              <a:t>kubectl exec client-pod -- cat /etc/resolv.conf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Network debugging with netshoot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traceroute $SERVER_IP</a:t>
            </a:r>
          </a:p>
          <a:p>
            <a:pPr>
              <a:spcBef>
                <a:spcPts val="0"/>
              </a:spcBef>
              <a:spcAft>
                <a:spcPts val="0"/>
              </a:spcAft>
            </a:pPr>
            <a:r>
              <a:rPr sz="1050">
                <a:solidFill>
                  <a:srgbClr val="161B26"/>
                </a:solidFill>
                <a:latin typeface="Consolas"/>
              </a:rPr>
              <a:t>kubectl exec client-pod -- dig server-svc.default.svc.cluster.local</a:t>
            </a:r>
          </a:p>
          <a:p>
            <a:pPr>
              <a:spcBef>
                <a:spcPts val="0"/>
              </a:spcBef>
              <a:spcAft>
                <a:spcPts val="0"/>
              </a:spcAft>
            </a:pPr>
            <a:r>
              <a:rPr sz="1050">
                <a:solidFill>
                  <a:srgbClr val="161B26"/>
                </a:solidFill>
                <a:latin typeface="Consolas"/>
              </a:rPr>
              <a:t>kubectl exec client-pod -- ss -tulpn</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DNS pattern: &lt;service&gt;.&lt;namespace&gt;.svc.cluster.local. nicolaka/netshoot includes ping, curl, dig, traceroute, nmap, tshark, tcpdump.</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Ping to server-pod IP returns 0% loss. curl to service DNS returns nginx HTML. nslookup kubernetes.default resolves to the ClusterIP of the kubernetes service.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CLUSTERIP  NODEPORT  LOADBALANCER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ClusterIP</a:t>
            </a:r>
          </a:p>
          <a:p>
            <a:pPr algn="l">
              <a:spcBef>
                <a:spcPts val="0"/>
              </a:spcBef>
              <a:spcAft>
                <a:spcPts val="300"/>
              </a:spcAft>
            </a:pPr>
            <a:r>
              <a:rPr sz="1200" b="0">
                <a:solidFill>
                  <a:srgbClr val="5B6372"/>
                </a:solidFill>
                <a:latin typeface="Arial"/>
              </a:rPr>
              <a:t>default -- virtual IP only inside cluster</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stable DNS + VIP for pod-to-pod; not reachable from outside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NodePort</a:t>
            </a:r>
          </a:p>
          <a:p>
            <a:pPr algn="l">
              <a:spcBef>
                <a:spcPts val="0"/>
              </a:spcBef>
              <a:spcAft>
                <a:spcPts val="300"/>
              </a:spcAft>
            </a:pPr>
            <a:r>
              <a:rPr sz="1200" b="0">
                <a:solidFill>
                  <a:srgbClr val="5B6372"/>
                </a:solidFill>
                <a:latin typeface="Arial"/>
              </a:rPr>
              <a:t>exposes port 30000-32767 on every node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external access without a cloud LB; good for bare-metal</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LoadBalancer</a:t>
            </a:r>
          </a:p>
          <a:p>
            <a:pPr algn="l">
              <a:spcBef>
                <a:spcPts val="0"/>
              </a:spcBef>
              <a:spcAft>
                <a:spcPts val="300"/>
              </a:spcAft>
            </a:pPr>
            <a:r>
              <a:rPr sz="1200" b="0">
                <a:solidFill>
                  <a:srgbClr val="5B6372"/>
                </a:solidFill>
                <a:latin typeface="Arial"/>
              </a:rPr>
              <a:t>provisions cloud/MetalLB external IP</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production external access; builds on NodePort</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kubectl get endpoints &lt;svc&gt;</a:t>
            </a:r>
            <a:r>
              <a:rPr sz="1300" b="0">
                <a:solidFill>
                  <a:srgbClr val="5B6372"/>
                </a:solidFill>
                <a:latin typeface="Arial"/>
              </a:rPr>
              <a:t> -- verify the Service is selecting the right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3  |  SERVICE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Service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and test all three primary service types -- ClusterIP, NodePort, and LoadBalancer with MetalLB -- inspect EndpointSlice objects, and debug selector mismatches that cause services to have no endpoints. Service types are heavily tested (20% CKA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ClusterIP, NodePort with custom port, inspect EndpointSlices, create service with wrong selector and debug/fix it.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expose | &gt; EndpointSlices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ClusterIP service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 --replicas=3</a:t>
            </a:r>
          </a:p>
          <a:p>
            <a:pPr>
              <a:spcBef>
                <a:spcPts val="0"/>
              </a:spcBef>
              <a:spcAft>
                <a:spcPts val="0"/>
              </a:spcAft>
            </a:pPr>
            <a:r>
              <a:rPr sz="1050">
                <a:solidFill>
                  <a:srgbClr val="161B26"/>
                </a:solidFill>
                <a:latin typeface="Consolas"/>
              </a:rPr>
              <a:t>kubectl expose deployment webapp --port=80 --type=ClusterIP</a:t>
            </a:r>
          </a:p>
          <a:p>
            <a:pPr>
              <a:spcBef>
                <a:spcPts val="0"/>
              </a:spcBef>
              <a:spcAft>
                <a:spcPts val="0"/>
              </a:spcAft>
            </a:pPr>
            <a:r>
              <a:rPr sz="1050">
                <a:solidFill>
                  <a:srgbClr val="161B26"/>
                </a:solidFill>
                <a:latin typeface="Consolas"/>
              </a:rPr>
              <a:t>kubectl get svc webapp</a:t>
            </a:r>
          </a:p>
          <a:p>
            <a:pPr>
              <a:spcBef>
                <a:spcPts val="0"/>
              </a:spcBef>
              <a:spcAft>
                <a:spcPts val="0"/>
              </a:spcAft>
            </a:pPr>
            <a:r>
              <a:rPr sz="1050">
                <a:solidFill>
                  <a:srgbClr val="161B26"/>
                </a:solidFill>
                <a:latin typeface="Consolas"/>
              </a:rPr>
              <a:t>kubectl get endpointslices -l kubernetes.io/service-name=webapp</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NodePort service</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--port=80 --type=NodePort --name=webapp-np</a:t>
            </a:r>
          </a:p>
          <a:p>
            <a:pPr>
              <a:spcBef>
                <a:spcPts val="0"/>
              </a:spcBef>
              <a:spcAft>
                <a:spcPts val="0"/>
              </a:spcAft>
            </a:pPr>
            <a:r>
              <a:rPr sz="1050">
                <a:solidFill>
                  <a:srgbClr val="161B26"/>
                </a:solidFill>
                <a:latin typeface="Consolas"/>
              </a:rPr>
              <a:t>NODE_PORT=$(kubectl get svc webapp-np -o jsonpath='{.spec.ports[0].nodePort}')</a:t>
            </a:r>
          </a:p>
          <a:p>
            <a:pPr>
              <a:spcBef>
                <a:spcPts val="0"/>
              </a:spcBef>
              <a:spcAft>
                <a:spcPts val="0"/>
              </a:spcAft>
            </a:pPr>
            <a:r>
              <a:rPr sz="1050">
                <a:solidFill>
                  <a:srgbClr val="161B26"/>
                </a:solidFill>
                <a:latin typeface="Consolas"/>
              </a:rPr>
              <a:t>echo "NodePort: $NODE_PORT"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Debug: selector mismatch causing no endpoints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Create service with wrong selector</a:t>
            </a:r>
          </a:p>
          <a:p>
            <a:pPr>
              <a:spcBef>
                <a:spcPts val="0"/>
              </a:spcBef>
              <a:spcAft>
                <a:spcPts val="0"/>
              </a:spcAft>
            </a:pPr>
            <a:r>
              <a:rPr sz="1050">
                <a:solidFill>
                  <a:srgbClr val="161B26"/>
                </a:solidFill>
                <a:latin typeface="Consolas"/>
              </a:rPr>
              <a:t>kubectl expose deployment webapp --port=80 --name=broken-svc</a:t>
            </a:r>
          </a:p>
          <a:p>
            <a:pPr>
              <a:spcBef>
                <a:spcPts val="0"/>
              </a:spcBef>
              <a:spcAft>
                <a:spcPts val="0"/>
              </a:spcAft>
            </a:pPr>
            <a:r>
              <a:rPr sz="1050">
                <a:solidFill>
                  <a:srgbClr val="161B26"/>
                </a:solidFill>
                <a:latin typeface="Consolas"/>
              </a:rPr>
              <a:t>kubectl patch svc broken-svc -p '{"spec":{"selector":{"app":"wrong"}}}'</a:t>
            </a:r>
          </a:p>
          <a:p>
            <a:pPr>
              <a:spcBef>
                <a:spcPts val="0"/>
              </a:spcBef>
              <a:spcAft>
                <a:spcPts val="0"/>
              </a:spcAft>
            </a:pPr>
            <a:r>
              <a:rPr sz="1050">
                <a:solidFill>
                  <a:srgbClr val="161B26"/>
                </a:solidFill>
                <a:latin typeface="Consolas"/>
              </a:rPr>
              <a:t>kubectl get endpoints broken-svc</a:t>
            </a:r>
          </a:p>
          <a:p>
            <a:pPr>
              <a:spcBef>
                <a:spcPts val="0"/>
              </a:spcBef>
              <a:spcAft>
                <a:spcPts val="0"/>
              </a:spcAft>
            </a:pPr>
            <a:r>
              <a:rPr sz="1050">
                <a:solidFill>
                  <a:srgbClr val="161B26"/>
                </a:solidFill>
                <a:latin typeface="Consolas"/>
              </a:rPr>
              <a:t># &lt;none&gt; -- no matching pods</a:t>
            </a:r>
          </a:p>
          <a:p>
            <a:pPr>
              <a:spcBef>
                <a:spcPts val="0"/>
              </a:spcBef>
              <a:spcAft>
                <a:spcPts val="0"/>
              </a:spcAft>
            </a:pPr>
            <a:r>
              <a:rPr sz="1050">
                <a:solidFill>
                  <a:srgbClr val="161B26"/>
                </a:solidFill>
                <a:latin typeface="Consolas"/>
              </a:rPr>
              <a:t># Fix: correct the selector</a:t>
            </a:r>
          </a:p>
          <a:p>
            <a:pPr>
              <a:spcBef>
                <a:spcPts val="0"/>
              </a:spcBef>
              <a:spcAft>
                <a:spcPts val="0"/>
              </a:spcAft>
            </a:pPr>
            <a:r>
              <a:rPr sz="1050">
                <a:solidFill>
                  <a:srgbClr val="161B26"/>
                </a:solidFill>
                <a:latin typeface="Consolas"/>
              </a:rPr>
              <a:t>kubectl patch svc broken-svc -p '{"spec":{"selector":{"app":"webapp"}}}'</a:t>
            </a:r>
          </a:p>
        </p:txBody>
      </p:sp>
      <p:sp>
        <p:nvSpPr>
          <p:cNvPr id="11" name="TextBox 10"/>
          <p:cNvSpPr txBox="1"/>
          <p:nvPr/>
        </p:nvSpPr>
        <p:spPr>
          <a:xfrm>
            <a:off x="777240" y="371703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EndpointSlices replace Endpoints in Kubernetes v1.21+. A service with no endpoints usually means a selector label mismatch. Compare: kubectl describe svc vs kubectl get pods --show-labels.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ClusterIP routes traffic to all 3 pods. NodePort is accessible from node IP. broken-svc has no endpoints; fixing selector restores them immediately.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L7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vs Gateway 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Ingress: networking.k8s.io/v1 -- host + path rules -&gt; backend service</a:t>
            </a:r>
          </a:p>
          <a:p>
            <a:pPr>
              <a:spcBef>
                <a:spcPts val="0"/>
              </a:spcBef>
              <a:spcAft>
                <a:spcPts val="1000"/>
              </a:spcAft>
            </a:pPr>
            <a:r>
              <a:rPr sz="1900" b="1">
                <a:solidFill>
                  <a:srgbClr val="1F6FEB"/>
                </a:solidFill>
                <a:latin typeface="Arial"/>
              </a:rPr>
              <a:t>•  </a:t>
            </a:r>
            <a:r>
              <a:rPr sz="1900">
                <a:solidFill>
                  <a:srgbClr val="161B26"/>
                </a:solidFill>
                <a:latin typeface="Arial"/>
              </a:rPr>
              <a:t>ingressClassName selects the controller (nginx, traefik, etc.)</a:t>
            </a:r>
          </a:p>
          <a:p>
            <a:pPr>
              <a:spcBef>
                <a:spcPts val="0"/>
              </a:spcBef>
              <a:spcAft>
                <a:spcPts val="1000"/>
              </a:spcAft>
            </a:pPr>
            <a:r>
              <a:rPr sz="1900" b="1">
                <a:solidFill>
                  <a:srgbClr val="1F6FEB"/>
                </a:solidFill>
                <a:latin typeface="Arial"/>
              </a:rPr>
              <a:t>•  </a:t>
            </a:r>
            <a:r>
              <a:rPr sz="1900">
                <a:solidFill>
                  <a:srgbClr val="161B26"/>
                </a:solidFill>
                <a:latin typeface="Arial"/>
              </a:rPr>
              <a:t>pathType: Prefix | Exact | ImplementationSpecific</a:t>
            </a:r>
          </a:p>
          <a:p>
            <a:pPr>
              <a:spcBef>
                <a:spcPts val="0"/>
              </a:spcBef>
              <a:spcAft>
                <a:spcPts val="1000"/>
              </a:spcAft>
            </a:pPr>
            <a:r>
              <a:rPr sz="1900" b="1">
                <a:solidFill>
                  <a:srgbClr val="1F6FEB"/>
                </a:solidFill>
                <a:latin typeface="Arial"/>
              </a:rPr>
              <a:t>•  </a:t>
            </a:r>
            <a:r>
              <a:rPr sz="1900">
                <a:solidFill>
                  <a:srgbClr val="161B26"/>
                </a:solidFill>
                <a:latin typeface="Arial"/>
              </a:rPr>
              <a:t>TLS: kubernetes.io/tls Secret -&gt; controller terminates HTTPS</a:t>
            </a:r>
          </a:p>
          <a:p>
            <a:pPr>
              <a:spcBef>
                <a:spcPts val="0"/>
              </a:spcBef>
              <a:spcAft>
                <a:spcPts val="1000"/>
              </a:spcAft>
            </a:pPr>
            <a:r>
              <a:rPr sz="1900" b="1">
                <a:solidFill>
                  <a:srgbClr val="1F6FEB"/>
                </a:solidFill>
                <a:latin typeface="Arial"/>
              </a:rPr>
              <a:t>•  </a:t>
            </a:r>
            <a:r>
              <a:rPr sz="1900">
                <a:solidFill>
                  <a:srgbClr val="161B26"/>
                </a:solidFill>
                <a:latin typeface="Arial"/>
              </a:rPr>
              <a:t>Gateway API: GatewayClass + Gateway + HTTPRoute (role-oriented model)</a:t>
            </a:r>
          </a:p>
          <a:p>
            <a:pPr>
              <a:spcBef>
                <a:spcPts val="0"/>
              </a:spcBef>
              <a:spcAft>
                <a:spcPts val="1000"/>
              </a:spcAft>
            </a:pPr>
            <a:r>
              <a:rPr sz="1900" b="1">
                <a:solidFill>
                  <a:srgbClr val="1F6FEB"/>
                </a:solidFill>
                <a:latin typeface="Arial"/>
              </a:rPr>
              <a:t>•  </a:t>
            </a:r>
            <a:r>
              <a:rPr sz="1900">
                <a:solidFill>
                  <a:srgbClr val="161B26"/>
                </a:solidFill>
                <a:latin typeface="Arial"/>
              </a:rPr>
              <a:t>Supports HTTP, HTTPS, TCP, TLS, gRPC, UDP -- broader than Ingress</a:t>
            </a:r>
          </a:p>
          <a:p>
            <a:pPr>
              <a:spcBef>
                <a:spcPts val="0"/>
              </a:spcBef>
              <a:spcAft>
                <a:spcPts val="1000"/>
              </a:spcAft>
            </a:pPr>
            <a:r>
              <a:rPr sz="1900" b="1">
                <a:solidFill>
                  <a:srgbClr val="1F6FEB"/>
                </a:solidFill>
                <a:latin typeface="Arial"/>
              </a:rPr>
              <a:t>•  </a:t>
            </a:r>
            <a:r>
              <a:rPr sz="1900">
                <a:solidFill>
                  <a:srgbClr val="161B26"/>
                </a:solidFill>
                <a:latin typeface="Arial"/>
              </a:rPr>
              <a:t>HTTPRoute cross-namespace routing via allowedRoutes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3  |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Ingress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ingress-nginx controller, configure host-based routing to multiple backends, terminate TLS using a Kubernetes Secret, and debug misconfigured Ingress resources. CKA 2026 tests installing ingress-nginx, host routing, and TLS termination.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ingress-nginx via bare-metal manifest, create Ingress for two apps with host rules, add TLS block with secret, debug 404 by checking ingressClassName.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HTTP_PORT=$(kubectl -n | cat &lt;&lt;'EOF' | kubectl create | &gt; ingressClassName: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ingress-nginx</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https://raw.githubusercontent.com/kubernetes/ingress-nginx/main/deploy/static/provider/baremetal/deploy.yaml</a:t>
            </a:r>
          </a:p>
          <a:p>
            <a:pPr>
              <a:spcBef>
                <a:spcPts val="0"/>
              </a:spcBef>
              <a:spcAft>
                <a:spcPts val="0"/>
              </a:spcAft>
            </a:pPr>
            <a:r>
              <a:rPr sz="1050">
                <a:solidFill>
                  <a:srgbClr val="161B26"/>
                </a:solidFill>
                <a:latin typeface="Consolas"/>
              </a:rPr>
              <a:t>kubectl -n ingress-nginx wait --for=condition=Ready pod \</a:t>
            </a:r>
          </a:p>
          <a:p>
            <a:pPr>
              <a:spcBef>
                <a:spcPts val="0"/>
              </a:spcBef>
              <a:spcAft>
                <a:spcPts val="0"/>
              </a:spcAft>
            </a:pPr>
            <a:r>
              <a:rPr sz="1050">
                <a:solidFill>
                  <a:srgbClr val="161B26"/>
                </a:solidFill>
                <a:latin typeface="Consolas"/>
              </a:rPr>
              <a:t>  -l app.kubernetes.io/component=controller --timeout=180s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NodePort for testing</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HTTP_PORT=$(kubectl -n ingress-nginx get svc ingress-nginx-controller \</a:t>
            </a:r>
          </a:p>
          <a:p>
            <a:pPr>
              <a:spcBef>
                <a:spcPts val="0"/>
              </a:spcBef>
              <a:spcAft>
                <a:spcPts val="0"/>
              </a:spcAft>
            </a:pPr>
            <a:r>
              <a:rPr sz="1050">
                <a:solidFill>
                  <a:srgbClr val="161B26"/>
                </a:solidFill>
                <a:latin typeface="Consolas"/>
              </a:rPr>
              <a:t>  -o jsonpath='{.spec.ports[?(@.name=="http")].nodePort}')</a:t>
            </a:r>
          </a:p>
          <a:p>
            <a:pPr>
              <a:spcBef>
                <a:spcPts val="0"/>
              </a:spcBef>
              <a:spcAft>
                <a:spcPts val="0"/>
              </a:spcAft>
            </a:pPr>
            <a:r>
              <a:rPr sz="1050">
                <a:solidFill>
                  <a:srgbClr val="161B26"/>
                </a:solidFill>
                <a:latin typeface="Consolas"/>
              </a:rPr>
              <a:t>echo "HTTP NodePort: $HTTP_PORT"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Ingress with host-based routing</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Ingress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multi-host</a:t>
            </a:r>
          </a:p>
          <a:p>
            <a:pPr>
              <a:spcBef>
                <a:spcPts val="0"/>
              </a:spcBef>
              <a:spcAft>
                <a:spcPts val="0"/>
              </a:spcAft>
            </a:pPr>
            <a:r>
              <a:rPr sz="1050">
                <a:solidFill>
                  <a:srgbClr val="161B26"/>
                </a:solidFill>
                <a:latin typeface="Consolas"/>
              </a:rPr>
              <a:t>  annotations:</a:t>
            </a:r>
          </a:p>
          <a:p>
            <a:pPr>
              <a:spcBef>
                <a:spcPts val="0"/>
              </a:spcBef>
              <a:spcAft>
                <a:spcPts val="0"/>
              </a:spcAft>
            </a:pPr>
            <a:r>
              <a:rPr sz="1050">
                <a:solidFill>
                  <a:srgbClr val="161B26"/>
                </a:solidFill>
                <a:latin typeface="Consolas"/>
              </a:rPr>
              <a:t>    nginx.ingress.kubernetes.io/rewrite-target: /</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ingressClassName: nginx</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host: app1.example.com</a:t>
            </a:r>
          </a:p>
          <a:p>
            <a:pPr>
              <a:spcBef>
                <a:spcPts val="0"/>
              </a:spcBef>
              <a:spcAft>
                <a:spcPts val="0"/>
              </a:spcAft>
            </a:pPr>
            <a:r>
              <a:rPr sz="1050">
                <a:solidFill>
                  <a:srgbClr val="161B26"/>
                </a:solidFill>
                <a:latin typeface="Consolas"/>
              </a:rPr>
              <a:t>    http:</a:t>
            </a:r>
          </a:p>
          <a:p>
            <a:pPr>
              <a:spcBef>
                <a:spcPts val="0"/>
              </a:spcBef>
              <a:spcAft>
                <a:spcPts val="0"/>
              </a:spcAft>
            </a:pPr>
            <a:r>
              <a:rPr sz="1050">
                <a:solidFill>
                  <a:srgbClr val="161B26"/>
                </a:solidFill>
                <a:latin typeface="Consolas"/>
              </a:rPr>
              <a:t>      paths:</a:t>
            </a:r>
          </a:p>
          <a:p>
            <a:pPr>
              <a:spcBef>
                <a:spcPts val="0"/>
              </a:spcBef>
              <a:spcAft>
                <a:spcPts val="0"/>
              </a:spcAft>
            </a:pPr>
            <a:r>
              <a:rPr sz="1050">
                <a:solidFill>
                  <a:srgbClr val="161B26"/>
                </a:solidFill>
                <a:latin typeface="Consolas"/>
              </a:rPr>
              <a:t>      - path: /</a:t>
            </a:r>
          </a:p>
          <a:p>
            <a:pPr>
              <a:spcBef>
                <a:spcPts val="0"/>
              </a:spcBef>
              <a:spcAft>
                <a:spcPts val="0"/>
              </a:spcAft>
            </a:pPr>
            <a:r>
              <a:rPr sz="1050">
                <a:solidFill>
                  <a:srgbClr val="161B26"/>
                </a:solidFill>
                <a:latin typeface="Consolas"/>
              </a:rPr>
              <a:t>        pathType: Prefix</a:t>
            </a:r>
          </a:p>
          <a:p>
            <a:pPr>
              <a:spcBef>
                <a:spcPts val="0"/>
              </a:spcBef>
              <a:spcAft>
                <a:spcPts val="0"/>
              </a:spcAft>
            </a:pPr>
            <a:r>
              <a:rPr sz="1050">
                <a:solidFill>
                  <a:srgbClr val="161B26"/>
                </a:solidFill>
                <a:latin typeface="Consolas"/>
              </a:rPr>
              <a:t>        backend:</a:t>
            </a:r>
          </a:p>
          <a:p>
            <a:pPr>
              <a:spcBef>
                <a:spcPts val="0"/>
              </a:spcBef>
              <a:spcAft>
                <a:spcPts val="0"/>
              </a:spcAft>
            </a:pPr>
            <a:r>
              <a:rPr sz="1050">
                <a:solidFill>
                  <a:srgbClr val="161B26"/>
                </a:solidFill>
                <a:latin typeface="Consolas"/>
              </a:rPr>
              <a:t>          service:</a:t>
            </a:r>
          </a:p>
          <a:p>
            <a:pPr>
              <a:spcBef>
                <a:spcPts val="0"/>
              </a:spcBef>
              <a:spcAft>
                <a:spcPts val="0"/>
              </a:spcAft>
            </a:pPr>
            <a:r>
              <a:rPr sz="1050">
                <a:solidFill>
                  <a:srgbClr val="161B26"/>
                </a:solidFill>
                <a:latin typeface="Consolas"/>
              </a:rPr>
              <a:t>            name: app1-svc</a:t>
            </a:r>
          </a:p>
          <a:p>
            <a:pPr>
              <a:spcBef>
                <a:spcPts val="0"/>
              </a:spcBef>
              <a:spcAft>
                <a:spcPts val="0"/>
              </a:spcAft>
            </a:pPr>
            <a:r>
              <a:rPr sz="1050">
                <a:solidFill>
                  <a:srgbClr val="161B26"/>
                </a:solidFill>
                <a:latin typeface="Consolas"/>
              </a:rPr>
              <a:t>            port:</a:t>
            </a:r>
          </a:p>
          <a:p>
            <a:pPr>
              <a:spcBef>
                <a:spcPts val="0"/>
              </a:spcBef>
              <a:spcAft>
                <a:spcPts val="0"/>
              </a:spcAft>
            </a:pPr>
            <a:r>
              <a:rPr sz="1050">
                <a:solidFill>
                  <a:srgbClr val="161B26"/>
                </a:solidFill>
                <a:latin typeface="Consolas"/>
              </a:rPr>
              <a:t>              number: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TLS termination</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tls tls-secret --cert=tls.crt --key=tls.key</a:t>
            </a:r>
          </a:p>
          <a:p>
            <a:pPr>
              <a:spcBef>
                <a:spcPts val="0"/>
              </a:spcBef>
              <a:spcAft>
                <a:spcPts val="0"/>
              </a:spcAft>
            </a:pPr>
            <a:r>
              <a:rPr sz="1050">
                <a:solidFill>
                  <a:srgbClr val="161B26"/>
                </a:solidFill>
                <a:latin typeface="Consolas"/>
              </a:rPr>
              <a:t># Add to Ingress spec:</a:t>
            </a:r>
          </a:p>
          <a:p>
            <a:pPr>
              <a:spcBef>
                <a:spcPts val="0"/>
              </a:spcBef>
              <a:spcAft>
                <a:spcPts val="0"/>
              </a:spcAft>
            </a:pPr>
            <a:r>
              <a:rPr sz="1050">
                <a:solidFill>
                  <a:srgbClr val="161B26"/>
                </a:solidFill>
                <a:latin typeface="Consolas"/>
              </a:rPr>
              <a:t># tls:</a:t>
            </a:r>
          </a:p>
          <a:p>
            <a:pPr>
              <a:spcBef>
                <a:spcPts val="0"/>
              </a:spcBef>
              <a:spcAft>
                <a:spcPts val="0"/>
              </a:spcAft>
            </a:pPr>
            <a:r>
              <a:rPr sz="1050">
                <a:solidFill>
                  <a:srgbClr val="161B26"/>
                </a:solidFill>
                <a:latin typeface="Consolas"/>
              </a:rPr>
              <a:t># - hosts: [app1.example.com]</a:t>
            </a:r>
          </a:p>
          <a:p>
            <a:pPr>
              <a:spcBef>
                <a:spcPts val="0"/>
              </a:spcBef>
              <a:spcAft>
                <a:spcPts val="0"/>
              </a:spcAft>
            </a:pPr>
            <a:r>
              <a:rPr sz="1050">
                <a:solidFill>
                  <a:srgbClr val="161B26"/>
                </a:solidFill>
                <a:latin typeface="Consolas"/>
              </a:rPr>
              <a:t>#   secretName: tls-secret</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ingressClassName: nginx is required in Kubernetes 1.18+. Without it, the Ingress is ignored. Check ingress-nginx logs: kubectl logs -n ingress-nginx -l app.kubernetes.io/component=controller</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curl -H 'Host: app1.example.com' http://NODE:PORT returns app1 content. Wrong ingressClassName causes 404. TLS ingress terminates HTTPS correctly.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 hour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3  |  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Gateway API</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the Kubernetes Gateway API (GA as of v1.28, tested in CKA 2026) to route traffic using GatewayClass, Gateway, and HTTPRoute objects. Gateway API is role-oriented: infrastructure providers manage GatewayClass/Gateway; developers manage HTTPRoutes.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Gateway API CRDs and NGINX Gateway Fabric, create GatewayClass and Gateway, define HTTPRoutes with path-based routing.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cat &lt;&lt;'EOF' | &gt; Three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Gateway API CRDs</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https://github.com/kubernetes-sigs/gateway-api/releases/download/v1.1.0/standard-install.yaml</a:t>
            </a:r>
          </a:p>
          <a:p>
            <a:pPr>
              <a:spcBef>
                <a:spcPts val="0"/>
              </a:spcBef>
              <a:spcAft>
                <a:spcPts val="0"/>
              </a:spcAft>
            </a:pPr>
            <a:r>
              <a:rPr sz="1050">
                <a:solidFill>
                  <a:srgbClr val="161B26"/>
                </a:solidFill>
                <a:latin typeface="Consolas"/>
              </a:rPr>
              <a:t>kubectl get crds | grep gateway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NGINX Gateway Fabric</a:t>
            </a:r>
          </a:p>
        </p:txBody>
      </p:sp>
      <p:sp>
        <p:nvSpPr>
          <p:cNvPr id="12" name="Rounded Rectangle 11"/>
          <p:cNvSpPr/>
          <p:nvPr/>
        </p:nvSpPr>
        <p:spPr>
          <a:xfrm>
            <a:off x="777240" y="316382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https://raw.githubusercontent.com/nginxinc/nginx-gateway-fabric/v1.4.0/deploy/crds.yaml</a:t>
            </a:r>
          </a:p>
          <a:p>
            <a:pPr>
              <a:spcBef>
                <a:spcPts val="0"/>
              </a:spcBef>
              <a:spcAft>
                <a:spcPts val="0"/>
              </a:spcAft>
            </a:pPr>
            <a:r>
              <a:rPr sz="1050">
                <a:solidFill>
                  <a:srgbClr val="161B26"/>
                </a:solidFill>
                <a:latin typeface="Consolas"/>
              </a:rPr>
              <a:t>kubectl apply -f https://raw.githubusercontent.com/nginxinc/nginx-gateway-fabric/v1.4.0/deploy/manifests/nginx-gateway.yaml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GatewayClass and Gateway</a:t>
            </a:r>
          </a:p>
        </p:txBody>
      </p:sp>
      <p:sp>
        <p:nvSpPr>
          <p:cNvPr id="8" name="Rounded Rectangle 7"/>
          <p:cNvSpPr/>
          <p:nvPr/>
        </p:nvSpPr>
        <p:spPr>
          <a:xfrm>
            <a:off x="777240" y="2075688"/>
            <a:ext cx="10652760" cy="3707891"/>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7078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616451"/>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GatewayClass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nginx</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controllerName: gateway.nginx.org/nginx-gateway-controller</a:t>
            </a:r>
          </a:p>
          <a:p>
            <a:pPr>
              <a:spcBef>
                <a:spcPts val="0"/>
              </a:spcBef>
              <a:spcAft>
                <a:spcPts val="0"/>
              </a:spcAft>
            </a:pPr>
            <a:r>
              <a:rPr sz="1050">
                <a:solidFill>
                  <a:srgbClr val="161B26"/>
                </a:solidFill>
                <a:latin typeface="Consolas"/>
              </a:rPr>
              <a:t>---</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main-gateway</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gatewayClassName: nginx</a:t>
            </a:r>
          </a:p>
          <a:p>
            <a:pPr>
              <a:spcBef>
                <a:spcPts val="0"/>
              </a:spcBef>
              <a:spcAft>
                <a:spcPts val="0"/>
              </a:spcAft>
            </a:pPr>
            <a:r>
              <a:rPr sz="1050">
                <a:solidFill>
                  <a:srgbClr val="161B26"/>
                </a:solidFill>
                <a:latin typeface="Consolas"/>
              </a:rPr>
              <a:t>  listeners:</a:t>
            </a:r>
          </a:p>
          <a:p>
            <a:pPr>
              <a:spcBef>
                <a:spcPts val="0"/>
              </a:spcBef>
              <a:spcAft>
                <a:spcPts val="0"/>
              </a:spcAft>
            </a:pPr>
            <a:r>
              <a:rPr sz="1050">
                <a:solidFill>
                  <a:srgbClr val="161B26"/>
                </a:solidFill>
                <a:latin typeface="Consolas"/>
              </a:rPr>
              <a:t>  - name: http</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protocol: HTTP</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HTTPRoute</a:t>
            </a:r>
          </a:p>
        </p:txBody>
      </p:sp>
      <p:sp>
        <p:nvSpPr>
          <p:cNvPr id="8" name="Rounded Rectangle 7"/>
          <p:cNvSpPr/>
          <p:nvPr/>
        </p:nvSpPr>
        <p:spPr>
          <a:xfrm>
            <a:off x="777240" y="2075688"/>
            <a:ext cx="10652760" cy="333298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29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24154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HTTPRoute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app-route</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parentRefs:</a:t>
            </a:r>
          </a:p>
          <a:p>
            <a:pPr>
              <a:spcBef>
                <a:spcPts val="0"/>
              </a:spcBef>
              <a:spcAft>
                <a:spcPts val="0"/>
              </a:spcAft>
            </a:pPr>
            <a:r>
              <a:rPr sz="1050">
                <a:solidFill>
                  <a:srgbClr val="161B26"/>
                </a:solidFill>
                <a:latin typeface="Consolas"/>
              </a:rPr>
              <a:t>  - name: main-gateway</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matches:</a:t>
            </a:r>
          </a:p>
          <a:p>
            <a:pPr>
              <a:spcBef>
                <a:spcPts val="0"/>
              </a:spcBef>
              <a:spcAft>
                <a:spcPts val="0"/>
              </a:spcAft>
            </a:pPr>
            <a:r>
              <a:rPr sz="1050">
                <a:solidFill>
                  <a:srgbClr val="161B26"/>
                </a:solidFill>
                <a:latin typeface="Consolas"/>
              </a:rPr>
              <a:t>    - path:</a:t>
            </a:r>
          </a:p>
          <a:p>
            <a:pPr>
              <a:spcBef>
                <a:spcPts val="0"/>
              </a:spcBef>
              <a:spcAft>
                <a:spcPts val="0"/>
              </a:spcAft>
            </a:pPr>
            <a:r>
              <a:rPr sz="1050">
                <a:solidFill>
                  <a:srgbClr val="161B26"/>
                </a:solidFill>
                <a:latin typeface="Consolas"/>
              </a:rPr>
              <a:t>        type: PathPrefix</a:t>
            </a:r>
          </a:p>
          <a:p>
            <a:pPr>
              <a:spcBef>
                <a:spcPts val="0"/>
              </a:spcBef>
              <a:spcAft>
                <a:spcPts val="0"/>
              </a:spcAft>
            </a:pPr>
            <a:r>
              <a:rPr sz="1050">
                <a:solidFill>
                  <a:srgbClr val="161B26"/>
                </a:solidFill>
                <a:latin typeface="Consolas"/>
              </a:rPr>
              <a:t>        value: /api</a:t>
            </a:r>
          </a:p>
          <a:p>
            <a:pPr>
              <a:spcBef>
                <a:spcPts val="0"/>
              </a:spcBef>
              <a:spcAft>
                <a:spcPts val="0"/>
              </a:spcAft>
            </a:pPr>
            <a:r>
              <a:rPr sz="1050">
                <a:solidFill>
                  <a:srgbClr val="161B26"/>
                </a:solidFill>
                <a:latin typeface="Consolas"/>
              </a:rPr>
              <a:t>    backendRefs:</a:t>
            </a:r>
          </a:p>
          <a:p>
            <a:pPr>
              <a:spcBef>
                <a:spcPts val="0"/>
              </a:spcBef>
              <a:spcAft>
                <a:spcPts val="0"/>
              </a:spcAft>
            </a:pPr>
            <a:r>
              <a:rPr sz="1050">
                <a:solidFill>
                  <a:srgbClr val="161B26"/>
                </a:solidFill>
                <a:latin typeface="Consolas"/>
              </a:rPr>
              <a:t>    - name: api-svc</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Three core Gateway API objects: GatewayClass (infra tier), Gateway (cluster operator tier), HTTPRoute (developer tier). Role separation enables multi-tenant traffic management.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gatewayclass shows nginx as Accepted. kubectl get gateway shows Programmed=True. HTTP request to /api path routes to api-svc backend.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POD FIREWALL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Default Deny + Allow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4572000" cy="3474720"/>
          </a:xfrm>
          <a:prstGeom prst="roundRect">
            <a:avLst>
              <a:gd name="adj" fmla="val 5000"/>
            </a:avLst>
          </a:prstGeom>
          <a:solidFill>
            <a:srgbClr val="FC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4572000" cy="292608"/>
          </a:xfrm>
          <a:prstGeom prst="rect">
            <a:avLst/>
          </a:prstGeom>
          <a:noFill/>
        </p:spPr>
        <p:txBody>
          <a:bodyPr wrap="square" anchor="ctr" lIns="0" rIns="0" tIns="0" bIns="0">
            <a:spAutoFit/>
          </a:bodyPr>
          <a:lstStyle/>
          <a:p>
            <a:pPr algn="ctr">
              <a:spcBef>
                <a:spcPts val="0"/>
              </a:spcBef>
              <a:spcAft>
                <a:spcPts val="400"/>
              </a:spcAft>
            </a:pPr>
            <a:r>
              <a:rPr sz="1400" b="1">
                <a:solidFill>
                  <a:srgbClr val="DC2626"/>
                </a:solidFill>
                <a:latin typeface="Arial"/>
              </a:rPr>
              <a:t>Default Deny (all pods)</a:t>
            </a:r>
          </a:p>
        </p:txBody>
      </p:sp>
      <p:sp>
        <p:nvSpPr>
          <p:cNvPr id="9" name="TextBox 8"/>
          <p:cNvSpPr txBox="1"/>
          <p:nvPr/>
        </p:nvSpPr>
        <p:spPr>
          <a:xfrm>
            <a:off x="1051560" y="2468880"/>
            <a:ext cx="4023360" cy="548640"/>
          </a:xfrm>
          <a:prstGeom prst="rect">
            <a:avLst/>
          </a:prstGeom>
          <a:noFill/>
        </p:spPr>
        <p:txBody>
          <a:bodyPr wrap="square" anchor="t" lIns="0" rIns="0" tIns="0" bIns="0">
            <a:spAutoFit/>
          </a:bodyPr>
          <a:lstStyle/>
          <a:p>
            <a:pPr algn="l">
              <a:spcBef>
                <a:spcPts val="0"/>
              </a:spcBef>
              <a:spcAft>
                <a:spcPts val="400"/>
              </a:spcAft>
            </a:pPr>
            <a:r>
              <a:rPr sz="1200" b="0">
                <a:solidFill>
                  <a:srgbClr val="161B26"/>
                </a:solidFill>
                <a:latin typeface="Arial"/>
              </a:rPr>
              <a:t>podSelector: {} + policyTypes: [Ingress]</a:t>
            </a:r>
          </a:p>
        </p:txBody>
      </p:sp>
      <p:sp>
        <p:nvSpPr>
          <p:cNvPr id="10" name="TextBox 9"/>
          <p:cNvSpPr txBox="1"/>
          <p:nvPr/>
        </p:nvSpPr>
        <p:spPr>
          <a:xfrm>
            <a:off x="1051560" y="3017520"/>
            <a:ext cx="4023360" cy="548640"/>
          </a:xfrm>
          <a:prstGeom prst="rect">
            <a:avLst/>
          </a:prstGeom>
          <a:noFill/>
        </p:spPr>
        <p:txBody>
          <a:bodyPr wrap="square" anchor="t" lIns="0" rIns="0" tIns="0" bIns="0">
            <a:spAutoFit/>
          </a:bodyPr>
          <a:lstStyle/>
          <a:p>
            <a:pPr algn="l">
              <a:spcBef>
                <a:spcPts val="0"/>
              </a:spcBef>
              <a:spcAft>
                <a:spcPts val="400"/>
              </a:spcAft>
            </a:pPr>
            <a:r>
              <a:rPr sz="1300" b="1">
                <a:solidFill>
                  <a:srgbClr val="DC2626"/>
                </a:solidFill>
                <a:latin typeface="Arial"/>
              </a:rPr>
              <a:t>-&gt; nothing reaches any pod</a:t>
            </a:r>
          </a:p>
        </p:txBody>
      </p:sp>
      <p:sp>
        <p:nvSpPr>
          <p:cNvPr id="11" name="Rounded Rectangle 10"/>
          <p:cNvSpPr/>
          <p:nvPr/>
        </p:nvSpPr>
        <p:spPr>
          <a:xfrm>
            <a:off x="6675120" y="1828800"/>
            <a:ext cx="47091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75104"/>
            <a:ext cx="47091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Selective Allow (podSelector)</a:t>
            </a:r>
          </a:p>
        </p:txBody>
      </p:sp>
      <p:sp>
        <p:nvSpPr>
          <p:cNvPr id="13" name="TextBox 12"/>
          <p:cNvSpPr txBox="1"/>
          <p:nvPr/>
        </p:nvSpPr>
        <p:spPr>
          <a:xfrm>
            <a:off x="6949440" y="2468880"/>
            <a:ext cx="4160520" cy="2560320"/>
          </a:xfrm>
          <a:prstGeom prst="rect">
            <a:avLst/>
          </a:prstGeom>
          <a:noFill/>
        </p:spPr>
        <p:txBody>
          <a:bodyPr wrap="square" anchor="t" lIns="0" rIns="0" tIns="0" bIns="0">
            <a:spAutoFit/>
          </a:bodyPr>
          <a:lstStyle/>
          <a:p>
            <a:pPr algn="l">
              <a:spcBef>
                <a:spcPts val="0"/>
              </a:spcBef>
              <a:spcAft>
                <a:spcPts val="300"/>
              </a:spcAft>
            </a:pPr>
            <a:r>
              <a:rPr sz="1200" b="1">
                <a:solidFill>
                  <a:srgbClr val="10B981"/>
                </a:solidFill>
                <a:latin typeface="Arial"/>
              </a:rPr>
              <a:t>ingress:</a:t>
            </a:r>
          </a:p>
          <a:p>
            <a:pPr algn="l">
              <a:spcBef>
                <a:spcPts val="0"/>
              </a:spcBef>
              <a:spcAft>
                <a:spcPts val="300"/>
              </a:spcAft>
            </a:pPr>
            <a:r>
              <a:rPr sz="1200" b="0">
                <a:solidFill>
                  <a:srgbClr val="161B26"/>
                </a:solidFill>
                <a:latin typeface="Arial"/>
              </a:rPr>
              <a:t>  from:</a:t>
            </a:r>
          </a:p>
          <a:p>
            <a:pPr algn="l">
              <a:spcBef>
                <a:spcPts val="0"/>
              </a:spcBef>
              <a:spcAft>
                <a:spcPts val="300"/>
              </a:spcAft>
            </a:pPr>
            <a:r>
              <a:rPr sz="1200" b="0">
                <a:solidFill>
                  <a:srgbClr val="161B26"/>
                </a:solidFill>
                <a:latin typeface="Arial"/>
              </a:rPr>
              <a:t>    - podSelector: {role: allowed}</a:t>
            </a:r>
          </a:p>
          <a:p>
            <a:pPr algn="l">
              <a:spcBef>
                <a:spcPts val="0"/>
              </a:spcBef>
              <a:spcAft>
                <a:spcPts val="300"/>
              </a:spcAft>
            </a:pPr>
            <a:r>
              <a:rPr sz="1200" b="0">
                <a:solidFill>
                  <a:srgbClr val="161B26"/>
                </a:solidFill>
                <a:latin typeface="Arial"/>
              </a:rPr>
              <a:t>  ports: [{port: 80}]</a:t>
            </a:r>
          </a:p>
          <a:p>
            <a:pPr algn="l">
              <a:spcBef>
                <a:spcPts val="0"/>
              </a:spcBef>
              <a:spcAft>
                <a:spcPts val="300"/>
              </a:spcAft>
            </a:pPr>
            <a:r>
              <a:rPr sz="1200" b="0">
                <a:solidFill>
                  <a:srgbClr val="161B26"/>
                </a:solidFill>
                <a:latin typeface="Arial"/>
              </a:rPr>
              <a:t/>
            </a:r>
          </a:p>
          <a:p>
            <a:pPr algn="l">
              <a:spcBef>
                <a:spcPts val="0"/>
              </a:spcBef>
              <a:spcAft>
                <a:spcPts val="300"/>
              </a:spcAft>
            </a:pPr>
            <a:r>
              <a:rPr sz="1200" b="0">
                <a:solidFill>
                  <a:srgbClr val="5B6372"/>
                </a:solidFill>
                <a:latin typeface="Arial"/>
              </a:rPr>
              <a:t>Policies are additive (OR). Combined</a:t>
            </a:r>
          </a:p>
          <a:p>
            <a:pPr algn="l">
              <a:spcBef>
                <a:spcPts val="0"/>
              </a:spcBef>
              <a:spcAft>
                <a:spcPts val="300"/>
              </a:spcAft>
            </a:pPr>
            <a:r>
              <a:rPr sz="1200" b="0">
                <a:solidFill>
                  <a:srgbClr val="5B6372"/>
                </a:solidFill>
                <a:latin typeface="Arial"/>
              </a:rPr>
              <a:t>default-deny + allow = allow-list model.</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3  |  NETWORK POLICY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Policies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Implement Pod-level firewall rules using NetworkPolicies. Kubernetes uses allow-lists: once any NetworkPolicy selects a pod, all traffic not explicitly allowed is blocked. CKA 2026 tests default-deny, pod/namespace selectors, and egress lockdown.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server and client pods, apply default-deny-ingress policy, verify blocking, add allow rule for specific pod selector, test egress lockdown.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cat &lt;&lt;'EOF' | &gt; Empty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test workloads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netpol</a:t>
            </a:r>
          </a:p>
          <a:p>
            <a:pPr>
              <a:spcBef>
                <a:spcPts val="0"/>
              </a:spcBef>
              <a:spcAft>
                <a:spcPts val="0"/>
              </a:spcAft>
            </a:pPr>
            <a:r>
              <a:rPr sz="1050">
                <a:solidFill>
                  <a:srgbClr val="161B26"/>
                </a:solidFill>
                <a:latin typeface="Consolas"/>
              </a:rPr>
              <a:t>kubectl -n netpol run server --image=nginx --labels='app=server'</a:t>
            </a:r>
          </a:p>
          <a:p>
            <a:pPr>
              <a:spcBef>
                <a:spcPts val="0"/>
              </a:spcBef>
              <a:spcAft>
                <a:spcPts val="0"/>
              </a:spcAft>
            </a:pPr>
            <a:r>
              <a:rPr sz="1050">
                <a:solidFill>
                  <a:srgbClr val="161B26"/>
                </a:solidFill>
                <a:latin typeface="Consolas"/>
              </a:rPr>
              <a:t>kubectl -n netpol run client-ok --image=nicolaka/netshoot \</a:t>
            </a:r>
          </a:p>
          <a:p>
            <a:pPr>
              <a:spcBef>
                <a:spcPts val="0"/>
              </a:spcBef>
              <a:spcAft>
                <a:spcPts val="0"/>
              </a:spcAft>
            </a:pPr>
            <a:r>
              <a:rPr sz="1050">
                <a:solidFill>
                  <a:srgbClr val="161B26"/>
                </a:solidFill>
                <a:latin typeface="Consolas"/>
              </a:rPr>
              <a:t>  --labels='role=allowed' --command -- sleep 3600</a:t>
            </a:r>
          </a:p>
          <a:p>
            <a:pPr>
              <a:spcBef>
                <a:spcPts val="0"/>
              </a:spcBef>
              <a:spcAft>
                <a:spcPts val="0"/>
              </a:spcAft>
            </a:pPr>
            <a:r>
              <a:rPr sz="1050">
                <a:solidFill>
                  <a:srgbClr val="161B26"/>
                </a:solidFill>
                <a:latin typeface="Consolas"/>
              </a:rPr>
              <a:t>kubectl -n netpol run client-bad --image=nicolaka/netshoot \</a:t>
            </a:r>
          </a:p>
          <a:p>
            <a:pPr>
              <a:spcBef>
                <a:spcPts val="0"/>
              </a:spcBef>
              <a:spcAft>
                <a:spcPts val="0"/>
              </a:spcAft>
            </a:pPr>
            <a:r>
              <a:rPr sz="1050">
                <a:solidFill>
                  <a:srgbClr val="161B26"/>
                </a:solidFill>
                <a:latin typeface="Consolas"/>
              </a:rPr>
              <a:t>  --labels='role=denied' --command -- sleep 3600</a:t>
            </a:r>
          </a:p>
          <a:p>
            <a:pPr>
              <a:spcBef>
                <a:spcPts val="0"/>
              </a:spcBef>
              <a:spcAft>
                <a:spcPts val="0"/>
              </a:spcAft>
            </a:pPr>
            <a:r>
              <a:rPr sz="1050">
                <a:solidFill>
                  <a:srgbClr val="161B26"/>
                </a:solidFill>
                <a:latin typeface="Consolas"/>
              </a:rPr>
              <a:t>kubectl -n netpol expose pod server --port=80</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Apply default-deny-ingress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default-deny-ingress</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 {}</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Allow specific pod selector</a:t>
            </a:r>
          </a:p>
        </p:txBody>
      </p:sp>
      <p:sp>
        <p:nvSpPr>
          <p:cNvPr id="8" name="Rounded Rectangle 7"/>
          <p:cNvSpPr/>
          <p:nvPr/>
        </p:nvSpPr>
        <p:spPr>
          <a:xfrm>
            <a:off x="777240" y="2075688"/>
            <a:ext cx="10652760" cy="389534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8953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80390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allow-from-allowed</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server</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  ingress:</a:t>
            </a:r>
          </a:p>
          <a:p>
            <a:pPr>
              <a:spcBef>
                <a:spcPts val="0"/>
              </a:spcBef>
              <a:spcAft>
                <a:spcPts val="0"/>
              </a:spcAft>
            </a:pPr>
            <a:r>
              <a:rPr sz="1050">
                <a:solidFill>
                  <a:srgbClr val="161B26"/>
                </a:solidFill>
                <a:latin typeface="Consolas"/>
              </a:rPr>
              <a:t>  - from:</a:t>
            </a:r>
          </a:p>
          <a:p>
            <a:pPr>
              <a:spcBef>
                <a:spcPts val="0"/>
              </a:spcBef>
              <a:spcAft>
                <a:spcPts val="0"/>
              </a:spcAft>
            </a:pPr>
            <a:r>
              <a:rPr sz="1050">
                <a:solidFill>
                  <a:srgbClr val="161B26"/>
                </a:solidFill>
                <a:latin typeface="Consolas"/>
              </a:rPr>
              <a:t>    -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role: allowed</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-s http://server</a:t>
            </a:r>
          </a:p>
          <a:p>
            <a:pPr>
              <a:spcBef>
                <a:spcPts val="0"/>
              </a:spcBef>
              <a:spcAft>
                <a:spcPts val="0"/>
              </a:spcAft>
            </a:pPr>
            <a:r>
              <a:rPr sz="1050">
                <a:solidFill>
                  <a:srgbClr val="161B26"/>
                </a:solidFill>
                <a:latin typeface="Consolas"/>
              </a:rPr>
              <a:t># OK</a:t>
            </a:r>
          </a:p>
          <a:p>
            <a:pPr>
              <a:spcBef>
                <a:spcPts val="0"/>
              </a:spcBef>
              <a:spcAft>
                <a:spcPts val="0"/>
              </a:spcAft>
            </a:pPr>
            <a:r>
              <a:rPr sz="1050">
                <a:solidFill>
                  <a:srgbClr val="161B26"/>
                </a:solidFill>
                <a:latin typeface="Consolas"/>
              </a:rPr>
              <a:t>kubectl -n netpol exec client-bad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 podSelector {} selects ALL pods in the namespace. NetworkPolicy requires a CNI that enforces it (Calico, Cilium -- NOT Flannel alone).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default-deny blocks both clients. After allow policy, client-ok reaches server; client-bad (role=denied) is still blocked.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COREDNS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pod's /etc/resolv.conf points to kube-dns ClusterIP</a:t>
            </a:r>
          </a:p>
          <a:p>
            <a:pPr>
              <a:spcBef>
                <a:spcPts val="0"/>
              </a:spcBef>
              <a:spcAft>
                <a:spcPts val="1000"/>
              </a:spcAft>
            </a:pPr>
            <a:r>
              <a:rPr sz="1900" b="1">
                <a:solidFill>
                  <a:srgbClr val="1F6FEB"/>
                </a:solidFill>
                <a:latin typeface="Arial"/>
              </a:rPr>
              <a:t>•  </a:t>
            </a:r>
            <a:r>
              <a:rPr sz="1900">
                <a:solidFill>
                  <a:srgbClr val="161B26"/>
                </a:solidFill>
                <a:latin typeface="Arial"/>
              </a:rPr>
              <a:t>search default.svc.cluster.local svc.cluster.local cluster.local</a:t>
            </a:r>
          </a:p>
          <a:p>
            <a:pPr>
              <a:spcBef>
                <a:spcPts val="0"/>
              </a:spcBef>
              <a:spcAft>
                <a:spcPts val="1000"/>
              </a:spcAft>
            </a:pPr>
            <a:r>
              <a:rPr sz="1900" b="1">
                <a:solidFill>
                  <a:srgbClr val="1F6FEB"/>
                </a:solidFill>
                <a:latin typeface="Arial"/>
              </a:rPr>
              <a:t>•  </a:t>
            </a:r>
            <a:r>
              <a:rPr sz="1900">
                <a:solidFill>
                  <a:srgbClr val="161B26"/>
                </a:solidFill>
                <a:latin typeface="Arial"/>
              </a:rPr>
              <a:t>FQDN: &lt;service&gt;.&lt;namespace&gt;.svc.cluster.local</a:t>
            </a:r>
          </a:p>
          <a:p>
            <a:pPr>
              <a:spcBef>
                <a:spcPts val="0"/>
              </a:spcBef>
              <a:spcAft>
                <a:spcPts val="1000"/>
              </a:spcAft>
            </a:pPr>
            <a:r>
              <a:rPr sz="1900" b="1">
                <a:solidFill>
                  <a:srgbClr val="1F6FEB"/>
                </a:solidFill>
                <a:latin typeface="Arial"/>
              </a:rPr>
              <a:t>•  </a:t>
            </a:r>
            <a:r>
              <a:rPr sz="1900">
                <a:solidFill>
                  <a:srgbClr val="161B26"/>
                </a:solidFill>
                <a:latin typeface="Arial"/>
              </a:rPr>
              <a:t>Headless (clusterIP: None): DNS returns per-pod A records instead of ClusterIP</a:t>
            </a:r>
          </a:p>
          <a:p>
            <a:pPr>
              <a:spcBef>
                <a:spcPts val="0"/>
              </a:spcBef>
              <a:spcAft>
                <a:spcPts val="1000"/>
              </a:spcAft>
            </a:pPr>
            <a:r>
              <a:rPr sz="1900" b="1">
                <a:solidFill>
                  <a:srgbClr val="1F6FEB"/>
                </a:solidFill>
                <a:latin typeface="Arial"/>
              </a:rPr>
              <a:t>•  </a:t>
            </a:r>
            <a:r>
              <a:rPr sz="1900">
                <a:solidFill>
                  <a:srgbClr val="161B26"/>
                </a:solidFill>
                <a:latin typeface="Arial"/>
              </a:rPr>
              <a:t>SRV records include port and protocol in the answer</a:t>
            </a:r>
          </a:p>
          <a:p>
            <a:pPr>
              <a:spcBef>
                <a:spcPts val="0"/>
              </a:spcBef>
              <a:spcAft>
                <a:spcPts val="1000"/>
              </a:spcAft>
            </a:pPr>
            <a:r>
              <a:rPr sz="1900" b="1">
                <a:solidFill>
                  <a:srgbClr val="1F6FEB"/>
                </a:solidFill>
                <a:latin typeface="Arial"/>
              </a:rPr>
              <a:t>•  </a:t>
            </a:r>
            <a:r>
              <a:rPr sz="1900">
                <a:solidFill>
                  <a:srgbClr val="161B26"/>
                </a:solidFill>
                <a:latin typeface="Arial"/>
              </a:rPr>
              <a:t>Corefile ConfigMap: add stub zones, upstream forwarders, rewrites</a:t>
            </a:r>
          </a:p>
          <a:p>
            <a:pPr>
              <a:spcBef>
                <a:spcPts val="0"/>
              </a:spcBef>
              <a:spcAft>
                <a:spcPts val="1000"/>
              </a:spcAft>
            </a:pPr>
            <a:r>
              <a:rPr sz="1900" b="1">
                <a:solidFill>
                  <a:srgbClr val="1F6FEB"/>
                </a:solidFill>
                <a:latin typeface="Arial"/>
              </a:rPr>
              <a:t>•  </a:t>
            </a:r>
            <a:r>
              <a:rPr sz="1900">
                <a:solidFill>
                  <a:srgbClr val="161B26"/>
                </a:solidFill>
                <a:latin typeface="Arial"/>
              </a:rPr>
              <a:t>ndots:5 causes short names to try the search list before resolving as absolute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3  |  COREDNS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CoreDNS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Inspect CoreDNS configuration, query Service and Pod DNS records, understand headless service resolution (A records per pod), and customize CoreDNS with stub zones. CKA tests configuring CoreDNS via ConfigMap and diagnosing DNS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Inspect kube-dns service and coredns ConfigMap, test DNS from netshoot pod, create headless service, verify per-pod A records, add stub zone to Corefile.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-n | kubectl run | kubectl expose | &gt; Service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Inspect CoreDNS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get svc kube-dns</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get configmap coredns -o yaml</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Query DNS from debug pod</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dnsdebug --image=nicolaka/netshoot --command -- sleep 3600</a:t>
            </a:r>
          </a:p>
          <a:p>
            <a:pPr>
              <a:spcBef>
                <a:spcPts val="0"/>
              </a:spcBef>
              <a:spcAft>
                <a:spcPts val="0"/>
              </a:spcAft>
            </a:pPr>
            <a:r>
              <a:rPr sz="1050">
                <a:solidFill>
                  <a:srgbClr val="161B26"/>
                </a:solidFill>
                <a:latin typeface="Consolas"/>
              </a:rPr>
              <a:t>kubectl exec dnsdebug -- cat /etc/resolv.conf</a:t>
            </a:r>
          </a:p>
          <a:p>
            <a:pPr>
              <a:spcBef>
                <a:spcPts val="0"/>
              </a:spcBef>
              <a:spcAft>
                <a:spcPts val="0"/>
              </a:spcAft>
            </a:pPr>
            <a:r>
              <a:rPr sz="1050">
                <a:solidFill>
                  <a:srgbClr val="161B26"/>
                </a:solidFill>
                <a:latin typeface="Consolas"/>
              </a:rPr>
              <a:t>kubectl exec dnsdebug -- nslookup kubernetes.default.svc.cluster.local</a:t>
            </a:r>
          </a:p>
          <a:p>
            <a:pPr>
              <a:spcBef>
                <a:spcPts val="0"/>
              </a:spcBef>
              <a:spcAft>
                <a:spcPts val="0"/>
              </a:spcAft>
            </a:pPr>
            <a:r>
              <a:rPr sz="1050">
                <a:solidFill>
                  <a:srgbClr val="161B26"/>
                </a:solidFill>
                <a:latin typeface="Consolas"/>
              </a:rPr>
              <a:t>kubectl exec dnsdebug -- dig +short webapp.default.svc.cluster.local</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Headless service: per-pod A records</a:t>
            </a:r>
          </a:p>
        </p:txBody>
      </p:sp>
      <p:sp>
        <p:nvSpPr>
          <p:cNvPr id="16" name="Rounded Rectangle 15"/>
          <p:cNvSpPr/>
          <p:nvPr/>
        </p:nvSpPr>
        <p:spPr>
          <a:xfrm>
            <a:off x="777240" y="481431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--port=80 --name=webapp-headless --cluster-ip=None</a:t>
            </a:r>
          </a:p>
          <a:p>
            <a:pPr>
              <a:spcBef>
                <a:spcPts val="0"/>
              </a:spcBef>
              <a:spcAft>
                <a:spcPts val="0"/>
              </a:spcAft>
            </a:pPr>
            <a:r>
              <a:rPr sz="1050">
                <a:solidFill>
                  <a:srgbClr val="161B26"/>
                </a:solidFill>
                <a:latin typeface="Consolas"/>
              </a:rPr>
              <a:t>kubectl exec dnsdebug -- dig +short webapp-headless.default.svc.cluster.local</a:t>
            </a:r>
          </a:p>
          <a:p>
            <a:pPr>
              <a:spcBef>
                <a:spcPts val="0"/>
              </a:spcBef>
              <a:spcAft>
                <a:spcPts val="0"/>
              </a:spcAft>
            </a:pPr>
            <a:r>
              <a:rPr sz="1050">
                <a:solidFill>
                  <a:srgbClr val="161B26"/>
                </a:solidFill>
                <a:latin typeface="Consolas"/>
              </a:rPr>
              <a:t># Returns one IP per pod -- used by StatefulSets for stable identity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Add stub zone to Corefile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edit configmap coredns</a:t>
            </a:r>
          </a:p>
          <a:p>
            <a:pPr>
              <a:spcBef>
                <a:spcPts val="0"/>
              </a:spcBef>
              <a:spcAft>
                <a:spcPts val="0"/>
              </a:spcAft>
            </a:pPr>
            <a:r>
              <a:rPr sz="1050">
                <a:solidFill>
                  <a:srgbClr val="161B26"/>
                </a:solidFill>
                <a:latin typeface="Consolas"/>
              </a:rPr>
              <a:t># Add inside Corefile:</a:t>
            </a:r>
          </a:p>
          <a:p>
            <a:pPr>
              <a:spcBef>
                <a:spcPts val="0"/>
              </a:spcBef>
              <a:spcAft>
                <a:spcPts val="0"/>
              </a:spcAft>
            </a:pPr>
            <a:r>
              <a:rPr sz="1050">
                <a:solidFill>
                  <a:srgbClr val="161B26"/>
                </a:solidFill>
                <a:latin typeface="Consolas"/>
              </a:rPr>
              <a:t># example.internal:53 {</a:t>
            </a:r>
          </a:p>
          <a:p>
            <a:pPr>
              <a:spcBef>
                <a:spcPts val="0"/>
              </a:spcBef>
              <a:spcAft>
                <a:spcPts val="0"/>
              </a:spcAft>
            </a:pPr>
            <a:r>
              <a:rPr sz="1050">
                <a:solidFill>
                  <a:srgbClr val="161B26"/>
                </a:solidFill>
                <a:latin typeface="Consolas"/>
              </a:rPr>
              <a:t>#   forward . 10.10.0.1</a:t>
            </a:r>
          </a:p>
          <a:p>
            <a:pPr>
              <a:spcBef>
                <a:spcPts val="0"/>
              </a:spcBef>
              <a:spcAft>
                <a:spcPts val="0"/>
              </a:spcAft>
            </a:pPr>
            <a:r>
              <a:rPr sz="1050">
                <a:solidFill>
                  <a:srgbClr val="161B26"/>
                </a:solidFill>
                <a:latin typeface="Consolas"/>
              </a:rPr>
              <a:t># }</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Service name is 'kube-dns' (legacy) even though pods run CoreDNS. Headless services have clusterIP: None. Stub zones forward specific domains to external DNS.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nslookup kubernetes.default resolves to 10.96.0.1. Headless service dig returns one IP per pod. CoreDNS ConfigMap has the Corefile visible.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Storage +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Labs 23-31  |  CKA 10% + 30%  |  then Mock Exam + Assessment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03</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DOMAIN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Storage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PV  |  PVC  |  StorageClass  |  dynamic provisioning  |  volume types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4</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PERSISTENT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PV, PVC, and Pod</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a:t>
            </a:r>
          </a:p>
          <a:p>
            <a:pPr algn="ctr">
              <a:spcBef>
                <a:spcPts val="0"/>
              </a:spcBef>
              <a:spcAft>
                <a:spcPts val="300"/>
              </a:spcAft>
            </a:pPr>
            <a:r>
              <a:rPr sz="1100" b="0">
                <a:solidFill>
                  <a:srgbClr val="5B6372"/>
                </a:solidFill>
                <a:latin typeface="Arial"/>
              </a:rPr>
              <a:t>capacity, accessModes</a:t>
            </a:r>
          </a:p>
          <a:p>
            <a:pPr algn="ctr">
              <a:spcBef>
                <a:spcPts val="0"/>
              </a:spcBef>
              <a:spcAft>
                <a:spcPts val="300"/>
              </a:spcAft>
            </a:pPr>
            <a:r>
              <a:rPr sz="1100" b="0">
                <a:solidFill>
                  <a:srgbClr val="5B6372"/>
                </a:solidFill>
                <a:latin typeface="Arial"/>
              </a:rPr>
              <a:t>reclaimPolicy, storageClass</a:t>
            </a:r>
          </a:p>
          <a:p>
            <a:pPr algn="ctr">
              <a:spcBef>
                <a:spcPts val="0"/>
              </a:spcBef>
              <a:spcAft>
                <a:spcPts val="300"/>
              </a:spcAft>
            </a:pPr>
            <a:r>
              <a:rPr sz="1100" b="0">
                <a:solidFill>
                  <a:srgbClr val="5B6372"/>
                </a:solidFill>
                <a:latin typeface="Arial"/>
              </a:rPr>
              <a:t>hostPath / NFS / CSI</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bound</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PersistentVolumeClaim</a:t>
            </a:r>
          </a:p>
          <a:p>
            <a:pPr algn="ctr">
              <a:spcBef>
                <a:spcPts val="0"/>
              </a:spcBef>
              <a:spcAft>
                <a:spcPts val="300"/>
              </a:spcAft>
            </a:pPr>
            <a:r>
              <a:rPr sz="1100" b="0">
                <a:solidFill>
                  <a:srgbClr val="5B6372"/>
                </a:solidFill>
                <a:latin typeface="Arial"/>
              </a:rPr>
              <a:t>requests storage size</a:t>
            </a:r>
          </a:p>
          <a:p>
            <a:pPr algn="ctr">
              <a:spcBef>
                <a:spcPts val="0"/>
              </a:spcBef>
              <a:spcAft>
                <a:spcPts val="300"/>
              </a:spcAft>
            </a:pPr>
            <a:r>
              <a:rPr sz="1100" b="0">
                <a:solidFill>
                  <a:srgbClr val="5B6372"/>
                </a:solidFill>
                <a:latin typeface="Arial"/>
              </a:rPr>
              <a:t>accessModes match</a:t>
            </a:r>
          </a:p>
          <a:p>
            <a:pPr algn="ctr">
              <a:spcBef>
                <a:spcPts val="0"/>
              </a:spcBef>
              <a:spcAft>
                <a:spcPts val="300"/>
              </a:spcAft>
            </a:pPr>
            <a:r>
              <a:rPr sz="1100" b="0">
                <a:solidFill>
                  <a:srgbClr val="5B6372"/>
                </a:solidFill>
                <a:latin typeface="Arial"/>
              </a:rPr>
              <a:t>binds to best PV</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mounted in</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volumes: [{pvc: claim}]</a:t>
            </a:r>
          </a:p>
          <a:p>
            <a:pPr algn="ctr">
              <a:spcBef>
                <a:spcPts val="0"/>
              </a:spcBef>
              <a:spcAft>
                <a:spcPts val="300"/>
              </a:spcAft>
            </a:pPr>
            <a:r>
              <a:rPr sz="1100" b="0">
                <a:solidFill>
                  <a:srgbClr val="5B6372"/>
                </a:solidFill>
                <a:latin typeface="Arial"/>
              </a:rPr>
              <a:t>volumeMounts: [{mountPath}]</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Dynamic: PVC -&gt; </a:t>
            </a:r>
            <a:r>
              <a:rPr sz="1300" b="1">
                <a:solidFill>
                  <a:srgbClr val="161B26"/>
                </a:solidFill>
                <a:latin typeface="Arial"/>
              </a:rPr>
              <a:t>StorageClass</a:t>
            </a:r>
            <a:r>
              <a:rPr sz="1300" b="0">
                <a:solidFill>
                  <a:srgbClr val="5B6372"/>
                </a:solidFill>
                <a:latin typeface="Arial"/>
              </a:rPr>
              <a:t> -&gt; CSI provisioner creates PV on demand. </a:t>
            </a:r>
            <a:r>
              <a:rPr sz="1300" b="1">
                <a:solidFill>
                  <a:srgbClr val="1F6FEB"/>
                </a:solidFill>
                <a:latin typeface="Arial"/>
              </a:rPr>
              <a:t>Retain</a:t>
            </a:r>
            <a:r>
              <a:rPr sz="1300" b="0">
                <a:solidFill>
                  <a:srgbClr val="5B6372"/>
                </a:solidFill>
                <a:latin typeface="Arial"/>
              </a:rPr>
              <a:t> keeps data; </a:t>
            </a:r>
            <a:r>
              <a:rPr sz="1300" b="1">
                <a:solidFill>
                  <a:srgbClr val="DC2626"/>
                </a:solidFill>
                <a:latin typeface="Arial"/>
              </a:rPr>
              <a:t>Delete</a:t>
            </a:r>
            <a:r>
              <a:rPr sz="1300" b="0">
                <a:solidFill>
                  <a:srgbClr val="5B6372"/>
                </a:solidFill>
                <a:latin typeface="Arial"/>
              </a:rPr>
              <a:t> removes 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4  |  PV AND PVC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PersistentVolumes and PersistentVolumeClaims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PersistentVolume (static provisioning), bind it via a PVC, mount in a pod, and understand PV/PVC binding rules including access modes and reclaim policies. CKA tests static provisioning, access modes, and the fact that PVCs outlive pods.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hostPath PV with ReadWriteOnce, create PVC that binds, mount in nginx pod, write data, delete pod and recreate to verify persistence.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sudo mkdir | cat &gt; | cat &lt;&lt;'EOF' | &gt; Access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 PersistentVolume</a:t>
            </a:r>
          </a:p>
        </p:txBody>
      </p:sp>
      <p:sp>
        <p:nvSpPr>
          <p:cNvPr id="8" name="Rounded Rectangle 7"/>
          <p:cNvSpPr/>
          <p:nvPr/>
        </p:nvSpPr>
        <p:spPr>
          <a:xfrm>
            <a:off x="777240" y="2075688"/>
            <a:ext cx="10652760" cy="295808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9580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86664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mkdir -p /mnt/data &amp;&amp; echo 'hello from host' | sudo tee /mnt/data/index.html</a:t>
            </a:r>
          </a:p>
          <a:p>
            <a:pPr>
              <a:spcBef>
                <a:spcPts val="0"/>
              </a:spcBef>
              <a:spcAft>
                <a:spcPts val="0"/>
              </a:spcAft>
            </a:pPr>
            <a:r>
              <a:rPr sz="1050">
                <a:solidFill>
                  <a:srgbClr val="161B26"/>
                </a:solidFill>
                <a:latin typeface="Consolas"/>
              </a:rPr>
              <a:t>cat &gt; pv.yaml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capacity:</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hostPath:</a:t>
            </a:r>
          </a:p>
          <a:p>
            <a:pPr>
              <a:spcBef>
                <a:spcPts val="0"/>
              </a:spcBef>
              <a:spcAft>
                <a:spcPts val="0"/>
              </a:spcAft>
            </a:pPr>
            <a:r>
              <a:rPr sz="1050">
                <a:solidFill>
                  <a:srgbClr val="161B26"/>
                </a:solidFill>
                <a:latin typeface="Consolas"/>
              </a:rPr>
              <a:t>    path: /mnt/data</a:t>
            </a:r>
          </a:p>
          <a:p>
            <a:pPr>
              <a:spcBef>
                <a:spcPts val="0"/>
              </a:spcBef>
              <a:spcAft>
                <a:spcPts val="0"/>
              </a:spcAft>
            </a:pPr>
            <a:r>
              <a:rPr sz="1050">
                <a:solidFill>
                  <a:srgbClr val="161B26"/>
                </a:solidFill>
                <a:latin typeface="Consolas"/>
              </a:rPr>
              <a:t>  persistentVolumeReclaimPolicy: Retain</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pv.yaml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PVC that binds to the PV</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&gt; pvc.yaml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pvc.yaml &amp;&amp; kubectl get pvc</a:t>
            </a:r>
          </a:p>
          <a:p>
            <a:pPr>
              <a:spcBef>
                <a:spcPts val="0"/>
              </a:spcBef>
              <a:spcAft>
                <a:spcPts val="0"/>
              </a:spcAft>
            </a:pPr>
            <a:r>
              <a:rPr sz="1050">
                <a:solidFill>
                  <a:srgbClr val="161B26"/>
                </a:solidFill>
                <a:latin typeface="Consolas"/>
              </a:rPr>
              <a:t># STATUS: Bound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PVC in a pod</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/usr/share/nginx/html</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persistentVolumeClaim:</a:t>
            </a:r>
          </a:p>
          <a:p>
            <a:pPr>
              <a:spcBef>
                <a:spcPts val="0"/>
              </a:spcBef>
              <a:spcAft>
                <a:spcPts val="0"/>
              </a:spcAft>
            </a:pPr>
            <a:r>
              <a:rPr sz="1050">
                <a:solidFill>
                  <a:srgbClr val="161B26"/>
                </a:solidFill>
                <a:latin typeface="Consolas"/>
              </a:rPr>
              <a:t>      claimName: pvc-host</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pvc-pod -- cat /usr/share/nginx/html/index.html</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Access modes: ReadWriteOnce (one node RW), ReadOnlyMany (many nodes R), ReadWriteMany (many nodes RW). Reclaim: Retain (manual cleanup), Delete (removes storage), Recycle (deprecated).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PVC shows STATUS=Bound. Pod reads 'hello from host' from the mounted volume. After pod deletion and recreation, data persists (Retain policy).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STORAGECLASSES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Dynamic Provisioning and StorageClass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StorageClass: provisioner + parameters + reclaimPolicy + volumeBindingMode</a:t>
            </a:r>
          </a:p>
          <a:p>
            <a:pPr>
              <a:spcBef>
                <a:spcPts val="0"/>
              </a:spcBef>
              <a:spcAft>
                <a:spcPts val="1000"/>
              </a:spcAft>
            </a:pPr>
            <a:r>
              <a:rPr sz="1900" b="1">
                <a:solidFill>
                  <a:srgbClr val="1F6FEB"/>
                </a:solidFill>
                <a:latin typeface="Arial"/>
              </a:rPr>
              <a:t>•  </a:t>
            </a:r>
            <a:r>
              <a:rPr sz="1900">
                <a:solidFill>
                  <a:srgbClr val="161B26"/>
                </a:solidFill>
                <a:latin typeface="Arial"/>
              </a:rPr>
              <a:t>Default class: annotation storageclass.kubernetes.io/is-default-class: true</a:t>
            </a:r>
          </a:p>
          <a:p>
            <a:pPr>
              <a:spcBef>
                <a:spcPts val="0"/>
              </a:spcBef>
              <a:spcAft>
                <a:spcPts val="1000"/>
              </a:spcAft>
            </a:pPr>
            <a:r>
              <a:rPr sz="1900" b="1">
                <a:solidFill>
                  <a:srgbClr val="1F6FEB"/>
                </a:solidFill>
                <a:latin typeface="Arial"/>
              </a:rPr>
              <a:t>•  </a:t>
            </a:r>
            <a:r>
              <a:rPr sz="1900">
                <a:solidFill>
                  <a:srgbClr val="161B26"/>
                </a:solidFill>
                <a:latin typeface="Arial"/>
              </a:rPr>
              <a:t>PVC omitting storageClassName uses the default class automatically</a:t>
            </a:r>
          </a:p>
          <a:p>
            <a:pPr>
              <a:spcBef>
                <a:spcPts val="0"/>
              </a:spcBef>
              <a:spcAft>
                <a:spcPts val="1000"/>
              </a:spcAft>
            </a:pPr>
            <a:r>
              <a:rPr sz="1900" b="1">
                <a:solidFill>
                  <a:srgbClr val="1F6FEB"/>
                </a:solidFill>
                <a:latin typeface="Arial"/>
              </a:rPr>
              <a:t>•  </a:t>
            </a:r>
            <a:r>
              <a:rPr sz="1900">
                <a:solidFill>
                  <a:srgbClr val="161B26"/>
                </a:solidFill>
                <a:latin typeface="Arial"/>
              </a:rPr>
              <a:t>CSI driver creates the PV on demand when a PVC is submitted</a:t>
            </a:r>
          </a:p>
          <a:p>
            <a:pPr>
              <a:spcBef>
                <a:spcPts val="0"/>
              </a:spcBef>
              <a:spcAft>
                <a:spcPts val="1000"/>
              </a:spcAft>
            </a:pPr>
            <a:r>
              <a:rPr sz="1900" b="1">
                <a:solidFill>
                  <a:srgbClr val="1F6FEB"/>
                </a:solidFill>
                <a:latin typeface="Arial"/>
              </a:rPr>
              <a:t>•  </a:t>
            </a:r>
            <a:r>
              <a:rPr sz="1900">
                <a:solidFill>
                  <a:srgbClr val="161B26"/>
                </a:solidFill>
                <a:latin typeface="Arial"/>
              </a:rPr>
              <a:t>StatefulSet volumeClaimTemplates: each replica gets its own PVC</a:t>
            </a:r>
          </a:p>
          <a:p>
            <a:pPr>
              <a:spcBef>
                <a:spcPts val="0"/>
              </a:spcBef>
              <a:spcAft>
                <a:spcPts val="1000"/>
              </a:spcAft>
            </a:pPr>
            <a:r>
              <a:rPr sz="1900" b="1">
                <a:solidFill>
                  <a:srgbClr val="1F6FEB"/>
                </a:solidFill>
                <a:latin typeface="Arial"/>
              </a:rPr>
              <a:t>•  </a:t>
            </a:r>
            <a:r>
              <a:rPr sz="1900">
                <a:solidFill>
                  <a:srgbClr val="161B26"/>
                </a:solidFill>
                <a:latin typeface="Arial"/>
              </a:rPr>
              <a:t>PVCs from templates are NOT auto-deleted -- clean them up explicitly</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4  |  STORAGECLASS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StorageClass and dynamic provisioning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StorageClasses for dynamic PV creation, mark a class as default, and create a StatefulSet with volumeClaimTemplates that provisions one PVC per pod. CKA tests creating StorageClasses and dynamic provisioning.</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local-path-provisioner, mark StorageClass as default, create dynamically-provisioned PVC,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patch | cat &lt;&lt;'EOF' | &gt; StatefulSet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local-path-provisioner</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https://raw.githubusercontent.com/rancher/local-path-provisioner/master/deploy/local-path-storage.yaml</a:t>
            </a:r>
          </a:p>
          <a:p>
            <a:pPr>
              <a:spcBef>
                <a:spcPts val="0"/>
              </a:spcBef>
              <a:spcAft>
                <a:spcPts val="0"/>
              </a:spcAft>
            </a:pPr>
            <a:r>
              <a:rPr sz="1050">
                <a:solidFill>
                  <a:srgbClr val="161B26"/>
                </a:solidFill>
                <a:latin typeface="Consolas"/>
              </a:rPr>
              <a:t>kubectl -n local-path-storage rollout status deploy/local-path-provisioner</a:t>
            </a:r>
          </a:p>
          <a:p>
            <a:pPr>
              <a:spcBef>
                <a:spcPts val="0"/>
              </a:spcBef>
              <a:spcAft>
                <a:spcPts val="0"/>
              </a:spcAft>
            </a:pPr>
            <a:r>
              <a:rPr sz="1050">
                <a:solidFill>
                  <a:srgbClr val="161B26"/>
                </a:solidFill>
                <a:latin typeface="Consolas"/>
              </a:rPr>
              <a:t>kubectl get storageclass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Mark StorageClass as default</a:t>
            </a:r>
          </a:p>
        </p:txBody>
      </p:sp>
      <p:sp>
        <p:nvSpPr>
          <p:cNvPr id="12" name="Rounded Rectangle 11"/>
          <p:cNvSpPr/>
          <p:nvPr/>
        </p:nvSpPr>
        <p:spPr>
          <a:xfrm>
            <a:off x="777240" y="335127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storageclass local-path \</a:t>
            </a:r>
          </a:p>
          <a:p>
            <a:pPr>
              <a:spcBef>
                <a:spcPts val="0"/>
              </a:spcBef>
              <a:spcAft>
                <a:spcPts val="0"/>
              </a:spcAft>
            </a:pPr>
            <a:r>
              <a:rPr sz="1050">
                <a:solidFill>
                  <a:srgbClr val="161B26"/>
                </a:solidFill>
                <a:latin typeface="Consolas"/>
              </a:rPr>
              <a:t>  -p '{"metadata":{"annotations":{"storageclass.kubernetes.io/is-default-class":"true"}}}'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Dynamic PVC provisioning</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dynamic-pvc</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storageClassName: local-path</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512Mi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pvc dynamic-pvc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StatefulSet with volumeClaimTemplates</a:t>
            </a:r>
          </a:p>
        </p:txBody>
      </p:sp>
      <p:sp>
        <p:nvSpPr>
          <p:cNvPr id="8" name="Rounded Rectangle 7"/>
          <p:cNvSpPr/>
          <p:nvPr/>
        </p:nvSpPr>
        <p:spPr>
          <a:xfrm>
            <a:off x="777240" y="2075688"/>
            <a:ext cx="10652760" cy="67071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67071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6156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StatefulSet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db</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serviceName: db</a:t>
            </a:r>
          </a:p>
          <a:p>
            <a:pPr>
              <a:spcBef>
                <a:spcPts val="0"/>
              </a:spcBef>
              <a:spcAft>
                <a:spcPts val="0"/>
              </a:spcAft>
            </a:pPr>
            <a:r>
              <a:rPr sz="1050">
                <a:solidFill>
                  <a:srgbClr val="161B26"/>
                </a:solidFill>
                <a:latin typeface="Consolas"/>
              </a:rPr>
              <a:t>  replicas: 3</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postgres</a:t>
            </a:r>
          </a:p>
          <a:p>
            <a:pPr>
              <a:spcBef>
                <a:spcPts val="0"/>
              </a:spcBef>
              <a:spcAft>
                <a:spcPts val="0"/>
              </a:spcAft>
            </a:pPr>
            <a:r>
              <a:rPr sz="1050">
                <a:solidFill>
                  <a:srgbClr val="161B26"/>
                </a:solidFill>
                <a:latin typeface="Consolas"/>
              </a:rPr>
              <a:t>        image: postgres:16-alpine</a:t>
            </a:r>
          </a:p>
          <a:p>
            <a:pPr>
              <a:spcBef>
                <a:spcPts val="0"/>
              </a:spcBef>
              <a:spcAft>
                <a:spcPts val="0"/>
              </a:spcAft>
            </a:pPr>
            <a:r>
              <a:rPr sz="1050">
                <a:solidFill>
                  <a:srgbClr val="161B26"/>
                </a:solidFill>
                <a:latin typeface="Consolas"/>
              </a:rPr>
              <a:t>        env:</a:t>
            </a:r>
          </a:p>
          <a:p>
            <a:pPr>
              <a:spcBef>
                <a:spcPts val="0"/>
              </a:spcBef>
              <a:spcAft>
                <a:spcPts val="0"/>
              </a:spcAft>
            </a:pPr>
            <a:r>
              <a:rPr sz="1050">
                <a:solidFill>
                  <a:srgbClr val="161B26"/>
                </a:solidFill>
                <a:latin typeface="Consolas"/>
              </a:rPr>
              <a:t>        - name: POSTGRES_PASSWORD</a:t>
            </a:r>
          </a:p>
          <a:p>
            <a:pPr>
              <a:spcBef>
                <a:spcPts val="0"/>
              </a:spcBef>
              <a:spcAft>
                <a:spcPts val="0"/>
              </a:spcAft>
            </a:pPr>
            <a:r>
              <a:rPr sz="1050">
                <a:solidFill>
                  <a:srgbClr val="161B26"/>
                </a:solidFill>
                <a:latin typeface="Consolas"/>
              </a:rPr>
              <a:t>          value: example</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/var/lib/postgresql/data</a:t>
            </a:r>
          </a:p>
          <a:p>
            <a:pPr>
              <a:spcBef>
                <a:spcPts val="0"/>
              </a:spcBef>
              <a:spcAft>
                <a:spcPts val="0"/>
              </a:spcAft>
            </a:pPr>
            <a:r>
              <a:rPr sz="1050">
                <a:solidFill>
                  <a:srgbClr val="161B26"/>
                </a:solidFill>
                <a:latin typeface="Consolas"/>
              </a:rPr>
              <a:t>  volumeClaimTemplates:</a:t>
            </a:r>
          </a:p>
          <a:p>
            <a:pPr>
              <a:spcBef>
                <a:spcPts val="0"/>
              </a:spcBef>
              <a:spcAft>
                <a:spcPts val="0"/>
              </a:spcAft>
            </a:pPr>
            <a:r>
              <a:rPr sz="1050">
                <a:solidFill>
                  <a:srgbClr val="161B26"/>
                </a:solidFill>
                <a:latin typeface="Consolas"/>
              </a:rPr>
              <a:t>  - metadata:</a:t>
            </a:r>
          </a:p>
          <a:p>
            <a:pPr>
              <a:spcBef>
                <a:spcPts val="0"/>
              </a:spcBef>
              <a:spcAft>
                <a:spcPts val="0"/>
              </a:spcAft>
            </a:pPr>
            <a:r>
              <a:rPr sz="1050">
                <a:solidFill>
                  <a:srgbClr val="161B26"/>
                </a:solidFill>
                <a:latin typeface="Consolas"/>
              </a:rPr>
              <a:t>      name: data</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pods -l app=db &amp;&amp; kubectl get pvc -l app=db</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StatefulSet volumeClaimTemplates create one PVC per pod: data-db-0, data-db-1, data-db-2. PVCs are NOT deleted when the StatefulSet is deleted -- manual cleanup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dynamic-pvc is Bound. StatefulSet db has 3 pods each with their own PVC (data-db-0, etc).</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4  |  VOLUME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volume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pod-level volume types: emptyDir for shared scratch space, hostPath for node filesystem access, projected for combining multiple sources into one mount, and downwardAPI for exposing pod metadata to the application.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pod with emptyDir shared between two containers, projected volume combining ConfigMap + Secret, downwardAPI volume exposing pod name/namespace/resource requests.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exec | &gt; emptyDir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emptyDir: shared scratch space</a:t>
            </a:r>
          </a:p>
        </p:txBody>
      </p:sp>
      <p:sp>
        <p:nvSpPr>
          <p:cNvPr id="8" name="Rounded Rectangle 7"/>
          <p:cNvSpPr/>
          <p:nvPr/>
        </p:nvSpPr>
        <p:spPr>
          <a:xfrm>
            <a:off x="777240" y="2075688"/>
            <a:ext cx="10652760" cy="464515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645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55371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scratch</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writer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'echo hello-shared &gt; /data/file;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 name: reader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emptyDir: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scratch -c reader -- cat /data/file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projected volume (ConfigMap + Secret)</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combined</a:t>
            </a:r>
          </a:p>
          <a:p>
            <a:pPr>
              <a:spcBef>
                <a:spcPts val="0"/>
              </a:spcBef>
              <a:spcAft>
                <a:spcPts val="0"/>
              </a:spcAft>
            </a:pPr>
            <a:r>
              <a:rPr sz="1050">
                <a:solidFill>
                  <a:srgbClr val="161B26"/>
                </a:solidFill>
                <a:latin typeface="Consolas"/>
              </a:rPr>
              <a:t>#   projected:</a:t>
            </a:r>
          </a:p>
          <a:p>
            <a:pPr>
              <a:spcBef>
                <a:spcPts val="0"/>
              </a:spcBef>
              <a:spcAft>
                <a:spcPts val="0"/>
              </a:spcAft>
            </a:pPr>
            <a:r>
              <a:rPr sz="1050">
                <a:solidFill>
                  <a:srgbClr val="161B26"/>
                </a:solidFill>
                <a:latin typeface="Consolas"/>
              </a:rPr>
              <a:t>#     sources:</a:t>
            </a:r>
          </a:p>
          <a:p>
            <a:pPr>
              <a:spcBef>
                <a:spcPts val="0"/>
              </a:spcBef>
              <a:spcAft>
                <a:spcPts val="0"/>
              </a:spcAft>
            </a:pPr>
            <a:r>
              <a:rPr sz="1050">
                <a:solidFill>
                  <a:srgbClr val="161B26"/>
                </a:solidFill>
                <a:latin typeface="Consolas"/>
              </a:rPr>
              <a:t>#     -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 secret:</a:t>
            </a:r>
          </a:p>
          <a:p>
            <a:pPr>
              <a:spcBef>
                <a:spcPts val="0"/>
              </a:spcBef>
              <a:spcAft>
                <a:spcPts val="0"/>
              </a:spcAft>
            </a:pPr>
            <a:r>
              <a:rPr sz="1050">
                <a:solidFill>
                  <a:srgbClr val="161B26"/>
                </a:solidFill>
                <a:latin typeface="Consolas"/>
              </a:rPr>
              <a:t>#         name: app-secret</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downwardAPI: pod metadata as files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podinfo</a:t>
            </a:r>
          </a:p>
          <a:p>
            <a:pPr>
              <a:spcBef>
                <a:spcPts val="0"/>
              </a:spcBef>
              <a:spcAft>
                <a:spcPts val="0"/>
              </a:spcAft>
            </a:pPr>
            <a:r>
              <a:rPr sz="1050">
                <a:solidFill>
                  <a:srgbClr val="161B26"/>
                </a:solidFill>
                <a:latin typeface="Consolas"/>
              </a:rPr>
              <a:t>#   downwardAPI:</a:t>
            </a:r>
          </a:p>
          <a:p>
            <a:pPr>
              <a:spcBef>
                <a:spcPts val="0"/>
              </a:spcBef>
              <a:spcAft>
                <a:spcPts val="0"/>
              </a:spcAft>
            </a:pPr>
            <a:r>
              <a:rPr sz="1050">
                <a:solidFill>
                  <a:srgbClr val="161B26"/>
                </a:solidFill>
                <a:latin typeface="Consolas"/>
              </a:rPr>
              <a:t>#     items:</a:t>
            </a:r>
          </a:p>
          <a:p>
            <a:pPr>
              <a:spcBef>
                <a:spcPts val="0"/>
              </a:spcBef>
              <a:spcAft>
                <a:spcPts val="0"/>
              </a:spcAft>
            </a:pPr>
            <a:r>
              <a:rPr sz="1050">
                <a:solidFill>
                  <a:srgbClr val="161B26"/>
                </a:solidFill>
                <a:latin typeface="Consolas"/>
              </a:rPr>
              <a:t>#     - path: 'pod-name'</a:t>
            </a:r>
          </a:p>
          <a:p>
            <a:pPr>
              <a:spcBef>
                <a:spcPts val="0"/>
              </a:spcBef>
              <a:spcAft>
                <a:spcPts val="0"/>
              </a:spcAft>
            </a:pPr>
            <a:r>
              <a:rPr sz="1050">
                <a:solidFill>
                  <a:srgbClr val="161B26"/>
                </a:solidFill>
                <a:latin typeface="Consolas"/>
              </a:rPr>
              <a:t>#       fieldRef:</a:t>
            </a:r>
          </a:p>
          <a:p>
            <a:pPr>
              <a:spcBef>
                <a:spcPts val="0"/>
              </a:spcBef>
              <a:spcAft>
                <a:spcPts val="0"/>
              </a:spcAft>
            </a:pPr>
            <a:r>
              <a:rPr sz="1050">
                <a:solidFill>
                  <a:srgbClr val="161B26"/>
                </a:solidFill>
                <a:latin typeface="Consolas"/>
              </a:rPr>
              <a:t>#         fieldPath: metadata.name</a:t>
            </a:r>
          </a:p>
          <a:p>
            <a:pPr>
              <a:spcBef>
                <a:spcPts val="0"/>
              </a:spcBef>
              <a:spcAft>
                <a:spcPts val="0"/>
              </a:spcAft>
            </a:pPr>
            <a:r>
              <a:rPr sz="1050">
                <a:solidFill>
                  <a:srgbClr val="161B26"/>
                </a:solidFill>
                <a:latin typeface="Consolas"/>
              </a:rPr>
              <a:t>#     - path: 'cpu-request'</a:t>
            </a:r>
          </a:p>
          <a:p>
            <a:pPr>
              <a:spcBef>
                <a:spcPts val="0"/>
              </a:spcBef>
              <a:spcAft>
                <a:spcPts val="0"/>
              </a:spcAft>
            </a:pPr>
            <a:r>
              <a:rPr sz="1050">
                <a:solidFill>
                  <a:srgbClr val="161B26"/>
                </a:solidFill>
                <a:latin typeface="Consolas"/>
              </a:rPr>
              <a:t>#       resourceFieldRef:</a:t>
            </a:r>
          </a:p>
          <a:p>
            <a:pPr>
              <a:spcBef>
                <a:spcPts val="0"/>
              </a:spcBef>
              <a:spcAft>
                <a:spcPts val="0"/>
              </a:spcAft>
            </a:pPr>
            <a:r>
              <a:rPr sz="1050">
                <a:solidFill>
                  <a:srgbClr val="161B26"/>
                </a:solidFill>
                <a:latin typeface="Consolas"/>
              </a:rPr>
              <a:t>#         resource: requests.cpu</a:t>
            </a:r>
          </a:p>
          <a:p>
            <a:pPr>
              <a:spcBef>
                <a:spcPts val="0"/>
              </a:spcBef>
              <a:spcAft>
                <a:spcPts val="0"/>
              </a:spcAft>
            </a:pPr>
            <a:r>
              <a:rPr sz="1050">
                <a:solidFill>
                  <a:srgbClr val="161B26"/>
                </a:solidFill>
                <a:latin typeface="Consolas"/>
              </a:rPr>
              <a:t>kubectl exec downward-pod -- cat /podinfo/pod-name</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emptyDir is deleted when the pod is deleted. hostPath ties the pod to a specific node. projected combines ConfigMap, Secret, serviceAccountToken, and downwardAPI into one mount.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reader container reads file written by writer via emptyDir. downwardAPI pod shows correct pod name from /podinfo/pod-name.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10 minutes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DOMAIN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cluster components  |  nodes  |  logs  |  monitoring  |  networking  |  RBAC/scheduling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5</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7-STEP DEBUG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Troubleshooting Triage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642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1. kubectl get/describe</a:t>
            </a:r>
          </a:p>
        </p:txBody>
      </p:sp>
      <p:sp>
        <p:nvSpPr>
          <p:cNvPr id="9" name="TextBox 8"/>
          <p:cNvSpPr txBox="1"/>
          <p:nvPr/>
        </p:nvSpPr>
        <p:spPr>
          <a:xfrm>
            <a:off x="4251960" y="16642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Events -- usually tells you the cause directly</a:t>
            </a:r>
          </a:p>
        </p:txBody>
      </p:sp>
      <p:sp>
        <p:nvSpPr>
          <p:cNvPr id="10" name="Rectangle 9"/>
          <p:cNvSpPr/>
          <p:nvPr/>
        </p:nvSpPr>
        <p:spPr>
          <a:xfrm>
            <a:off x="4160520" y="18013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23957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3957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2. kubectl logs (--previous)</a:t>
            </a:r>
          </a:p>
        </p:txBody>
      </p:sp>
      <p:sp>
        <p:nvSpPr>
          <p:cNvPr id="13" name="TextBox 12"/>
          <p:cNvSpPr txBox="1"/>
          <p:nvPr/>
        </p:nvSpPr>
        <p:spPr>
          <a:xfrm>
            <a:off x="4251960" y="23957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container output; --previous for a crashed pod</a:t>
            </a:r>
          </a:p>
        </p:txBody>
      </p:sp>
      <p:sp>
        <p:nvSpPr>
          <p:cNvPr id="14" name="Rectangle 13"/>
          <p:cNvSpPr/>
          <p:nvPr/>
        </p:nvSpPr>
        <p:spPr>
          <a:xfrm>
            <a:off x="4160520" y="25328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12724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12724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3. systemctl / journalctl</a:t>
            </a:r>
          </a:p>
        </p:txBody>
      </p:sp>
      <p:sp>
        <p:nvSpPr>
          <p:cNvPr id="17" name="TextBox 16"/>
          <p:cNvSpPr txBox="1"/>
          <p:nvPr/>
        </p:nvSpPr>
        <p:spPr>
          <a:xfrm>
            <a:off x="4251960" y="312724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On the node: status kubelet containerd; journalctl -u kubelet</a:t>
            </a:r>
          </a:p>
        </p:txBody>
      </p:sp>
      <p:sp>
        <p:nvSpPr>
          <p:cNvPr id="18" name="Rectangle 17"/>
          <p:cNvSpPr/>
          <p:nvPr/>
        </p:nvSpPr>
        <p:spPr>
          <a:xfrm>
            <a:off x="4160520" y="326440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 y="385876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5876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4. crictl ps / logs</a:t>
            </a:r>
          </a:p>
        </p:txBody>
      </p:sp>
      <p:sp>
        <p:nvSpPr>
          <p:cNvPr id="21" name="TextBox 20"/>
          <p:cNvSpPr txBox="1"/>
          <p:nvPr/>
        </p:nvSpPr>
        <p:spPr>
          <a:xfrm>
            <a:off x="4251960" y="385876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Use when kubectl is unavailable (API server down)</a:t>
            </a:r>
          </a:p>
        </p:txBody>
      </p:sp>
      <p:sp>
        <p:nvSpPr>
          <p:cNvPr id="22" name="Rectangle 21"/>
          <p:cNvSpPr/>
          <p:nvPr/>
        </p:nvSpPr>
        <p:spPr>
          <a:xfrm>
            <a:off x="4160520" y="399592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7240" y="459028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59028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5. etcdctl endpoint health</a:t>
            </a:r>
          </a:p>
        </p:txBody>
      </p:sp>
      <p:sp>
        <p:nvSpPr>
          <p:cNvPr id="25" name="TextBox 24"/>
          <p:cNvSpPr txBox="1"/>
          <p:nvPr/>
        </p:nvSpPr>
        <p:spPr>
          <a:xfrm>
            <a:off x="4251960" y="459028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Verify etcd is healthy before assuming API server bugs</a:t>
            </a:r>
          </a:p>
        </p:txBody>
      </p:sp>
      <p:sp>
        <p:nvSpPr>
          <p:cNvPr id="26" name="Rectangle 25"/>
          <p:cNvSpPr/>
          <p:nvPr/>
        </p:nvSpPr>
        <p:spPr>
          <a:xfrm>
            <a:off x="4160520" y="472744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53218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3218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6. kubectl get events -A</a:t>
            </a:r>
          </a:p>
        </p:txBody>
      </p:sp>
      <p:sp>
        <p:nvSpPr>
          <p:cNvPr id="29" name="TextBox 28"/>
          <p:cNvSpPr txBox="1"/>
          <p:nvPr/>
        </p:nvSpPr>
        <p:spPr>
          <a:xfrm>
            <a:off x="4251960" y="53218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Cluster-wide event stream -- sorted by lastTimestamp</a:t>
            </a:r>
          </a:p>
        </p:txBody>
      </p:sp>
      <p:sp>
        <p:nvSpPr>
          <p:cNvPr id="30" name="Rectangle 29"/>
          <p:cNvSpPr/>
          <p:nvPr/>
        </p:nvSpPr>
        <p:spPr>
          <a:xfrm>
            <a:off x="4160520" y="54589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60533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60533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7. kubectl auth can-i</a:t>
            </a:r>
          </a:p>
        </p:txBody>
      </p:sp>
      <p:sp>
        <p:nvSpPr>
          <p:cNvPr id="33" name="TextBox 32"/>
          <p:cNvSpPr txBox="1"/>
          <p:nvPr/>
        </p:nvSpPr>
        <p:spPr>
          <a:xfrm>
            <a:off x="4251960" y="60533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Confirm RBAC allows the operation before blaming the app</a:t>
            </a:r>
          </a:p>
        </p:txBody>
      </p:sp>
      <p:sp>
        <p:nvSpPr>
          <p:cNvPr id="34" name="Rectangle 33"/>
          <p:cNvSpPr/>
          <p:nvPr/>
        </p:nvSpPr>
        <p:spPr>
          <a:xfrm>
            <a:off x="4160520" y="61904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6" name="TextBox 3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37" name="TextBox 3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Static pod manifests: /etc/kubernetes/manifests/ -- watched by kubelet</a:t>
            </a:r>
          </a:p>
          <a:p>
            <a:pPr>
              <a:spcBef>
                <a:spcPts val="0"/>
              </a:spcBef>
              <a:spcAft>
                <a:spcPts val="1000"/>
              </a:spcAft>
            </a:pPr>
            <a:r>
              <a:rPr sz="1900" b="1">
                <a:solidFill>
                  <a:srgbClr val="1F6FEB"/>
                </a:solidFill>
                <a:latin typeface="Arial"/>
              </a:rPr>
              <a:t>•  </a:t>
            </a:r>
            <a:r>
              <a:rPr sz="1900">
                <a:solidFill>
                  <a:srgbClr val="161B26"/>
                </a:solidFill>
                <a:latin typeface="Arial"/>
              </a:rPr>
              <a:t>Broken API server? kubectl fails -- use crictl and journalctl instead</a:t>
            </a:r>
          </a:p>
          <a:p>
            <a:pPr>
              <a:spcBef>
                <a:spcPts val="0"/>
              </a:spcBef>
              <a:spcAft>
                <a:spcPts val="1000"/>
              </a:spcAft>
            </a:pPr>
            <a:r>
              <a:rPr sz="1900" b="1">
                <a:solidFill>
                  <a:srgbClr val="1F6FEB"/>
                </a:solidFill>
                <a:latin typeface="Arial"/>
              </a:rPr>
              <a:t>•  </a:t>
            </a:r>
            <a:r>
              <a:rPr sz="1900">
                <a:solidFill>
                  <a:srgbClr val="161B26"/>
                </a:solidFill>
                <a:latin typeface="Arial"/>
              </a:rPr>
              <a:t>crictl ps -a | grep apiserver -&gt; crictl logs &lt;id&gt;</a:t>
            </a:r>
          </a:p>
          <a:p>
            <a:pPr>
              <a:spcBef>
                <a:spcPts val="0"/>
              </a:spcBef>
              <a:spcAft>
                <a:spcPts val="1000"/>
              </a:spcAft>
            </a:pPr>
            <a:r>
              <a:rPr sz="1900" b="1">
                <a:solidFill>
                  <a:srgbClr val="1F6FEB"/>
                </a:solidFill>
                <a:latin typeface="Arial"/>
              </a:rPr>
              <a:t>•  </a:t>
            </a:r>
            <a:r>
              <a:rPr sz="1900">
                <a:solidFill>
                  <a:srgbClr val="161B26"/>
                </a:solidFill>
                <a:latin typeface="Arial"/>
              </a:rPr>
              <a:t>journalctl -u kubelet --no-pager | tail -30</a:t>
            </a:r>
          </a:p>
          <a:p>
            <a:pPr>
              <a:spcBef>
                <a:spcPts val="0"/>
              </a:spcBef>
              <a:spcAft>
                <a:spcPts val="1000"/>
              </a:spcAft>
            </a:pPr>
            <a:r>
              <a:rPr sz="1900" b="1">
                <a:solidFill>
                  <a:srgbClr val="1F6FEB"/>
                </a:solidFill>
                <a:latin typeface="Arial"/>
              </a:rPr>
              <a:t>•  </a:t>
            </a:r>
            <a:r>
              <a:rPr sz="1900">
                <a:solidFill>
                  <a:srgbClr val="161B26"/>
                </a:solidFill>
                <a:latin typeface="Arial"/>
              </a:rPr>
              <a:t>Fix manifest -&gt; kubelet auto-restarts the static pod in about 30 seconds</a:t>
            </a:r>
          </a:p>
          <a:p>
            <a:pPr>
              <a:spcBef>
                <a:spcPts val="0"/>
              </a:spcBef>
              <a:spcAft>
                <a:spcPts val="1000"/>
              </a:spcAft>
            </a:pPr>
            <a:r>
              <a:rPr sz="1900" b="1">
                <a:solidFill>
                  <a:srgbClr val="1F6FEB"/>
                </a:solidFill>
                <a:latin typeface="Arial"/>
              </a:rPr>
              <a:t>•  </a:t>
            </a:r>
            <a:r>
              <a:rPr sz="1900">
                <a:solidFill>
                  <a:srgbClr val="161B26"/>
                </a:solidFill>
                <a:latin typeface="Arial"/>
              </a:rPr>
              <a:t>etcdctl endpoint health -- needs cacert, cert, key flags</a:t>
            </a:r>
          </a:p>
          <a:p>
            <a:pPr>
              <a:spcBef>
                <a:spcPts val="0"/>
              </a:spcBef>
              <a:spcAft>
                <a:spcPts val="1000"/>
              </a:spcAft>
            </a:pPr>
            <a:r>
              <a:rPr sz="1900" b="1">
                <a:solidFill>
                  <a:srgbClr val="1F6FEB"/>
                </a:solidFill>
                <a:latin typeface="Arial"/>
              </a:rPr>
              <a:t>•  </a:t>
            </a:r>
            <a:r>
              <a:rPr sz="1900">
                <a:solidFill>
                  <a:srgbClr val="161B26"/>
                </a:solidFill>
                <a:latin typeface="Arial"/>
              </a:rPr>
              <a:t>kube-controller-manager and kube-scheduler -&gt; kubectl -n kube-system logs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5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Control plane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broken control plane components. When kubectl is unresponsive, use crictl and journalctl instead. Troubleshooting is the highest-weighted CKA domain at 30%.</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Locate static pod manifests, introduce a break in kube-apiserver.yaml (wrong flag), diagnose with crictl and journalctl, fix manifest and verify recovery.</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ls /etc/kubernetes/manifests/ | crictl pods | sudo vi | kubectl get | &gt; Static</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Know where control plane components live</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sudo systemctl status kubelet --no-pager | head -5</a:t>
            </a:r>
          </a:p>
          <a:p>
            <a:pPr>
              <a:spcBef>
                <a:spcPts val="0"/>
              </a:spcBef>
              <a:spcAft>
                <a:spcPts val="0"/>
              </a:spcAft>
            </a:pPr>
            <a:r>
              <a:rPr sz="1050">
                <a:solidFill>
                  <a:srgbClr val="161B26"/>
                </a:solidFill>
                <a:latin typeface="Consolas"/>
              </a:rPr>
              <a:t>sudo systemctl status containerd --no-pager | head -5</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Diagnose API server failure</a:t>
            </a:r>
          </a:p>
        </p:txBody>
      </p:sp>
      <p:sp>
        <p:nvSpPr>
          <p:cNvPr id="12" name="Rounded Rectangle 11"/>
          <p:cNvSpPr/>
          <p:nvPr/>
        </p:nvSpPr>
        <p:spPr>
          <a:xfrm>
            <a:off x="777240" y="3351276"/>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If kubectl is unresponsive:</a:t>
            </a:r>
          </a:p>
          <a:p>
            <a:pPr>
              <a:spcBef>
                <a:spcPts val="0"/>
              </a:spcBef>
              <a:spcAft>
                <a:spcPts val="0"/>
              </a:spcAft>
            </a:pPr>
            <a:r>
              <a:rPr sz="1050">
                <a:solidFill>
                  <a:srgbClr val="161B26"/>
                </a:solidFill>
                <a:latin typeface="Consolas"/>
              </a:rPr>
              <a:t>crictl pods</a:t>
            </a:r>
          </a:p>
          <a:p>
            <a:pPr>
              <a:spcBef>
                <a:spcPts val="0"/>
              </a:spcBef>
              <a:spcAft>
                <a:spcPts val="0"/>
              </a:spcAft>
            </a:pPr>
            <a:r>
              <a:rPr sz="1050">
                <a:solidFill>
                  <a:srgbClr val="161B26"/>
                </a:solidFill>
                <a:latin typeface="Consolas"/>
              </a:rPr>
              <a:t>crictl ps -a</a:t>
            </a:r>
          </a:p>
          <a:p>
            <a:pPr>
              <a:spcBef>
                <a:spcPts val="0"/>
              </a:spcBef>
              <a:spcAft>
                <a:spcPts val="0"/>
              </a:spcAft>
            </a:pPr>
            <a:r>
              <a:rPr sz="1050">
                <a:solidFill>
                  <a:srgbClr val="161B26"/>
                </a:solidFill>
                <a:latin typeface="Consolas"/>
              </a:rPr>
              <a:t>crictl logs $(crictl ps -a --name kube-apiserver -q)</a:t>
            </a:r>
          </a:p>
          <a:p>
            <a:pPr>
              <a:spcBef>
                <a:spcPts val="0"/>
              </a:spcBef>
              <a:spcAft>
                <a:spcPts val="0"/>
              </a:spcAft>
            </a:pPr>
            <a:r>
              <a:rPr sz="1050">
                <a:solidFill>
                  <a:srgbClr val="161B26"/>
                </a:solidFill>
                <a:latin typeface="Consolas"/>
              </a:rPr>
              <a:t>journalctl -u kubelet --no-pager -n 50 | grep -i error</a:t>
            </a:r>
          </a:p>
          <a:p>
            <a:pPr>
              <a:spcBef>
                <a:spcPts val="0"/>
              </a:spcBef>
              <a:spcAft>
                <a:spcPts val="0"/>
              </a:spcAft>
            </a:pPr>
            <a:r>
              <a:rPr sz="1050">
                <a:solidFill>
                  <a:srgbClr val="161B26"/>
                </a:solidFill>
                <a:latin typeface="Consolas"/>
              </a:rPr>
              <a:t>sudo cat /etc/kubernetes/manifests/kube-apiserver.yaml | head -50</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Fix static pod manifest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Wrong flag/image in manifest causes API server to not start</a:t>
            </a:r>
          </a:p>
          <a:p>
            <a:pPr>
              <a:spcBef>
                <a:spcPts val="0"/>
              </a:spcBef>
              <a:spcAft>
                <a:spcPts val="0"/>
              </a:spcAft>
            </a:pPr>
            <a:r>
              <a:rPr sz="1050">
                <a:solidFill>
                  <a:srgbClr val="161B26"/>
                </a:solidFill>
                <a:latin typeface="Consolas"/>
              </a:rPr>
              <a:t>sudo vi /etc/kubernetes/manifests/kube-apiserver.yaml</a:t>
            </a:r>
          </a:p>
          <a:p>
            <a:pPr>
              <a:spcBef>
                <a:spcPts val="0"/>
              </a:spcBef>
              <a:spcAft>
                <a:spcPts val="0"/>
              </a:spcAft>
            </a:pPr>
            <a:r>
              <a:rPr sz="1050">
                <a:solidFill>
                  <a:srgbClr val="161B26"/>
                </a:solidFill>
                <a:latin typeface="Consolas"/>
              </a:rPr>
              <a:t># Kubelet detects change within 20 seconds</a:t>
            </a:r>
          </a:p>
          <a:p>
            <a:pPr>
              <a:spcBef>
                <a:spcPts val="0"/>
              </a:spcBef>
              <a:spcAft>
                <a:spcPts val="0"/>
              </a:spcAft>
            </a:pPr>
            <a:r>
              <a:rPr sz="1050">
                <a:solidFill>
                  <a:srgbClr val="161B26"/>
                </a:solidFill>
                <a:latin typeface="Consolas"/>
              </a:rPr>
              <a:t>crictl ps | grep apiserver</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Should work once apiserver recovers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Diagnose controller manager and scheduler</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-n kube-system | grep -E 'controller|scheduler'</a:t>
            </a:r>
          </a:p>
          <a:p>
            <a:pPr>
              <a:spcBef>
                <a:spcPts val="0"/>
              </a:spcBef>
              <a:spcAft>
                <a:spcPts val="0"/>
              </a:spcAft>
            </a:pPr>
            <a:r>
              <a:rPr sz="1050">
                <a:solidFill>
                  <a:srgbClr val="161B26"/>
                </a:solidFill>
                <a:latin typeface="Consolas"/>
              </a:rPr>
              <a:t>kubectl logs -n kube-system kube-controller-manager-controlplane | tail -20</a:t>
            </a:r>
          </a:p>
          <a:p>
            <a:pPr>
              <a:spcBef>
                <a:spcPts val="0"/>
              </a:spcBef>
              <a:spcAft>
                <a:spcPts val="0"/>
              </a:spcAft>
            </a:pPr>
            <a:r>
              <a:rPr sz="1050">
                <a:solidFill>
                  <a:srgbClr val="161B26"/>
                </a:solidFill>
                <a:latin typeface="Consolas"/>
              </a:rPr>
              <a:t>kubectl logs -n kube-system kube-scheduler-controlplane | tail -20</a:t>
            </a:r>
          </a:p>
        </p:txBody>
      </p:sp>
      <p:sp>
        <p:nvSpPr>
          <p:cNvPr id="15" name="TextBox 14"/>
          <p:cNvSpPr txBox="1"/>
          <p:nvPr/>
        </p:nvSpPr>
        <p:spPr>
          <a:xfrm>
            <a:off x="777240" y="480517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Static pod manifests: changes cause automatic pod restart by kubelet -- no restart needed. Use crictl when API server is down: crictl pods, crictl logs, crictl ps -a.</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Broken API server manifest is fixed; kubectl get nodes works again. journalctl shows the specific error. All kube-system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NODES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Node Troubleshooting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Five conditions: Ready, MemoryPressure, DiskPressure, PIDPressure, NetworkUnavailable</a:t>
            </a:r>
          </a:p>
          <a:p>
            <a:pPr>
              <a:spcBef>
                <a:spcPts val="0"/>
              </a:spcBef>
              <a:spcAft>
                <a:spcPts val="1000"/>
              </a:spcAft>
            </a:pPr>
            <a:r>
              <a:rPr sz="1900" b="1">
                <a:solidFill>
                  <a:srgbClr val="1F6FEB"/>
                </a:solidFill>
                <a:latin typeface="Arial"/>
              </a:rPr>
              <a:t>•  </a:t>
            </a:r>
            <a:r>
              <a:rPr sz="1900">
                <a:solidFill>
                  <a:srgbClr val="161B26"/>
                </a:solidFill>
                <a:latin typeface="Arial"/>
              </a:rPr>
              <a:t>Stopped kubelet: node NotReady after ~40s; systemctl start kubelet to fix</a:t>
            </a:r>
          </a:p>
          <a:p>
            <a:pPr>
              <a:spcBef>
                <a:spcPts val="0"/>
              </a:spcBef>
              <a:spcAft>
                <a:spcPts val="1000"/>
              </a:spcAft>
            </a:pPr>
            <a:r>
              <a:rPr sz="1900" b="1">
                <a:solidFill>
                  <a:srgbClr val="1F6FEB"/>
                </a:solidFill>
                <a:latin typeface="Arial"/>
              </a:rPr>
              <a:t>•  </a:t>
            </a:r>
            <a:r>
              <a:rPr sz="1900">
                <a:solidFill>
                  <a:srgbClr val="161B26"/>
                </a:solidFill>
                <a:latin typeface="Arial"/>
              </a:rPr>
              <a:t>cgroup driver mismatch: kubelet crash loop; check /var/lib/kubelet/config.yaml</a:t>
            </a:r>
          </a:p>
          <a:p>
            <a:pPr>
              <a:spcBef>
                <a:spcPts val="0"/>
              </a:spcBef>
              <a:spcAft>
                <a:spcPts val="1000"/>
              </a:spcAft>
            </a:pPr>
            <a:r>
              <a:rPr sz="1900" b="1">
                <a:solidFill>
                  <a:srgbClr val="1F6FEB"/>
                </a:solidFill>
                <a:latin typeface="Arial"/>
              </a:rPr>
              <a:t>•  </a:t>
            </a:r>
            <a:r>
              <a:rPr sz="1900">
                <a:solidFill>
                  <a:srgbClr val="161B26"/>
                </a:solidFill>
                <a:latin typeface="Arial"/>
              </a:rPr>
              <a:t>Disk pressure: df -h; node evicts pods; remove files to recover</a:t>
            </a:r>
          </a:p>
          <a:p>
            <a:pPr>
              <a:spcBef>
                <a:spcPts val="0"/>
              </a:spcBef>
              <a:spcAft>
                <a:spcPts val="1000"/>
              </a:spcAft>
            </a:pPr>
            <a:r>
              <a:rPr sz="1900" b="1">
                <a:solidFill>
                  <a:srgbClr val="1F6FEB"/>
                </a:solidFill>
                <a:latin typeface="Arial"/>
              </a:rPr>
              <a:t>•  </a:t>
            </a:r>
            <a:r>
              <a:rPr sz="1900">
                <a:solidFill>
                  <a:srgbClr val="161B26"/>
                </a:solidFill>
                <a:latin typeface="Arial"/>
              </a:rPr>
              <a:t>cordon = SchedulingDisabled (no new pods); drain = evict existing pods</a:t>
            </a:r>
          </a:p>
          <a:p>
            <a:pPr>
              <a:spcBef>
                <a:spcPts val="0"/>
              </a:spcBef>
              <a:spcAft>
                <a:spcPts val="1000"/>
              </a:spcAft>
            </a:pPr>
            <a:r>
              <a:rPr sz="1900" b="1">
                <a:solidFill>
                  <a:srgbClr val="1F6FEB"/>
                </a:solidFill>
                <a:latin typeface="Arial"/>
              </a:rPr>
              <a:t>•  </a:t>
            </a:r>
            <a:r>
              <a:rPr sz="1900">
                <a:solidFill>
                  <a:srgbClr val="161B26"/>
                </a:solidFill>
                <a:latin typeface="Arial"/>
              </a:rPr>
              <a:t>uncordon restores scheduling after maintenance is complete</a:t>
            </a:r>
          </a:p>
          <a:p>
            <a:pPr>
              <a:spcBef>
                <a:spcPts val="0"/>
              </a:spcBef>
              <a:spcAft>
                <a:spcPts val="1000"/>
              </a:spcAft>
            </a:pPr>
            <a:r>
              <a:rPr sz="1900" b="1">
                <a:solidFill>
                  <a:srgbClr val="1F6FEB"/>
                </a:solidFill>
                <a:latin typeface="Arial"/>
              </a:rPr>
              <a:t>•  </a:t>
            </a:r>
            <a:r>
              <a:rPr sz="1900">
                <a:solidFill>
                  <a:srgbClr val="161B26"/>
                </a:solidFill>
                <a:latin typeface="Arial"/>
              </a:rPr>
              <a:t>Container runtime down: systemctl status containerd -&gt; node NotReady</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5  |  NODES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Node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 node transition to NotReady by identifying common causes: kubelet service failure, cgroup driver mismatch between kubelet and containerd, and containerd failure. Practice safely draining a node for maintenance.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Stop kubelet, observe NotReady, restart. Introduce cgroup mismatch, diagnose with journalctl, fix config.toml, drain and uncordon node.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sudo systemctl | journalctl -u | kubectl drain | &gt; After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Check node status baseline</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describe node node01 | grep -A10 Conditions</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Scenario: kubelet service stops</a:t>
            </a:r>
          </a:p>
        </p:txBody>
      </p:sp>
      <p:sp>
        <p:nvSpPr>
          <p:cNvPr id="12" name="Rounded Rectangle 11"/>
          <p:cNvSpPr/>
          <p:nvPr/>
        </p:nvSpPr>
        <p:spPr>
          <a:xfrm>
            <a:off x="777240" y="3163823"/>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node01:</a:t>
            </a:r>
          </a:p>
          <a:p>
            <a:pPr>
              <a:spcBef>
                <a:spcPts val="0"/>
              </a:spcBef>
              <a:spcAft>
                <a:spcPts val="0"/>
              </a:spcAft>
            </a:pPr>
            <a:r>
              <a:rPr sz="1050">
                <a:solidFill>
                  <a:srgbClr val="161B26"/>
                </a:solidFill>
                <a:latin typeface="Consolas"/>
              </a:rPr>
              <a:t>sudo systemctl stop kubelet</a:t>
            </a:r>
          </a:p>
          <a:p>
            <a:pPr>
              <a:spcBef>
                <a:spcPts val="0"/>
              </a:spcBef>
              <a:spcAft>
                <a:spcPts val="0"/>
              </a:spcAft>
            </a:pPr>
            <a:r>
              <a:rPr sz="1050">
                <a:solidFill>
                  <a:srgbClr val="161B26"/>
                </a:solidFill>
                <a:latin typeface="Consolas"/>
              </a:rPr>
              <a:t># On control plane (wait 40s):</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NotReady</a:t>
            </a:r>
          </a:p>
          <a:p>
            <a:pPr>
              <a:spcBef>
                <a:spcPts val="0"/>
              </a:spcBef>
              <a:spcAft>
                <a:spcPts val="0"/>
              </a:spcAft>
            </a:pPr>
            <a:r>
              <a:rPr sz="1050">
                <a:solidFill>
                  <a:srgbClr val="161B26"/>
                </a:solidFill>
                <a:latin typeface="Consolas"/>
              </a:rPr>
              <a:t># Fix (on node01):</a:t>
            </a:r>
          </a:p>
          <a:p>
            <a:pPr>
              <a:spcBef>
                <a:spcPts val="0"/>
              </a:spcBef>
              <a:spcAft>
                <a:spcPts val="0"/>
              </a:spcAft>
            </a:pPr>
            <a:r>
              <a:rPr sz="1050">
                <a:solidFill>
                  <a:srgbClr val="161B26"/>
                </a:solidFill>
                <a:latin typeface="Consolas"/>
              </a:rPr>
              <a:t>sudo systemctl start kubelet &amp;&amp; kubectl get nodes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Scenario: cgroup driver mismatch</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journalctl -u kubelet --no-pager -n 30</a:t>
            </a:r>
          </a:p>
          <a:p>
            <a:pPr>
              <a:spcBef>
                <a:spcPts val="0"/>
              </a:spcBef>
              <a:spcAft>
                <a:spcPts val="0"/>
              </a:spcAft>
            </a:pPr>
            <a:r>
              <a:rPr sz="1050">
                <a:solidFill>
                  <a:srgbClr val="161B26"/>
                </a:solidFill>
                <a:latin typeface="Consolas"/>
              </a:rPr>
              <a:t># Look for: 'failed to create containerd task' or 'cgroupDriver'</a:t>
            </a:r>
          </a:p>
          <a:p>
            <a:pPr>
              <a:spcBef>
                <a:spcPts val="0"/>
              </a:spcBef>
              <a:spcAft>
                <a:spcPts val="0"/>
              </a:spcAft>
            </a:pPr>
            <a:r>
              <a:rPr sz="1050">
                <a:solidFill>
                  <a:srgbClr val="161B26"/>
                </a:solidFill>
                <a:latin typeface="Consolas"/>
              </a:rPr>
              <a:t>grep -i cgroup /var/lib/kubelet/config.yaml</a:t>
            </a:r>
          </a:p>
          <a:p>
            <a:pPr>
              <a:spcBef>
                <a:spcPts val="0"/>
              </a:spcBef>
              <a:spcAft>
                <a:spcPts val="0"/>
              </a:spcAft>
            </a:pPr>
            <a:r>
              <a:rPr sz="1050">
                <a:solidFill>
                  <a:srgbClr val="161B26"/>
                </a:solidFill>
                <a:latin typeface="Consolas"/>
              </a:rPr>
              <a:t>grep -i SystemdCgroup /etc/containerd/config.toml</a:t>
            </a:r>
          </a:p>
          <a:p>
            <a:pPr>
              <a:spcBef>
                <a:spcPts val="0"/>
              </a:spcBef>
              <a:spcAft>
                <a:spcPts val="0"/>
              </a:spcAft>
            </a:pPr>
            <a:r>
              <a:rPr sz="1050">
                <a:solidFill>
                  <a:srgbClr val="161B26"/>
                </a:solidFill>
                <a:latin typeface="Consolas"/>
              </a:rPr>
              <a:t># Fix: ensure both use cgroupDriver: systemd / SystemdCgroup = true</a:t>
            </a:r>
          </a:p>
          <a:p>
            <a:pPr>
              <a:spcBef>
                <a:spcPts val="0"/>
              </a:spcBef>
              <a:spcAft>
                <a:spcPts val="0"/>
              </a:spcAft>
            </a:pPr>
            <a:r>
              <a:rPr sz="1050">
                <a:solidFill>
                  <a:srgbClr val="161B26"/>
                </a:solidFill>
                <a:latin typeface="Consolas"/>
              </a:rPr>
              <a:t>sudo systemctl restart kubelet containerd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node for maintenance</a:t>
            </a:r>
          </a:p>
        </p:txBody>
      </p:sp>
      <p:sp>
        <p:nvSpPr>
          <p:cNvPr id="12" name="Rounded Rectangle 11"/>
          <p:cNvSpPr/>
          <p:nvPr/>
        </p:nvSpPr>
        <p:spPr>
          <a:xfrm>
            <a:off x="777240" y="391363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node01 --ignore-daemonsets --delete-emptydir-data</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Ready,SchedulingDisabled</a:t>
            </a:r>
          </a:p>
          <a:p>
            <a:pPr>
              <a:spcBef>
                <a:spcPts val="0"/>
              </a:spcBef>
              <a:spcAft>
                <a:spcPts val="0"/>
              </a:spcAft>
            </a:pPr>
            <a:r>
              <a:rPr sz="1050">
                <a:solidFill>
                  <a:srgbClr val="161B26"/>
                </a:solidFill>
                <a:latin typeface="Consolas"/>
              </a:rPr>
              <a:t># After maintenance:</a:t>
            </a:r>
          </a:p>
          <a:p>
            <a:pPr>
              <a:spcBef>
                <a:spcPts val="0"/>
              </a:spcBef>
              <a:spcAft>
                <a:spcPts val="0"/>
              </a:spcAft>
            </a:pPr>
            <a:r>
              <a:rPr sz="1050">
                <a:solidFill>
                  <a:srgbClr val="161B26"/>
                </a:solidFill>
                <a:latin typeface="Consolas"/>
              </a:rPr>
              <a:t>kubectl uncordon node01</a:t>
            </a:r>
          </a:p>
        </p:txBody>
      </p:sp>
      <p:sp>
        <p:nvSpPr>
          <p:cNvPr id="15" name="TextBox 14"/>
          <p:cNvSpPr txBox="1"/>
          <p:nvPr/>
        </p:nvSpPr>
        <p:spPr>
          <a:xfrm>
            <a:off x="777240" y="51800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After 40s without kubelet heartbeat, node controller marks NotReady. After 5 minutes, pods are evicted to healthy nodes. Drain before any maintenance.</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Stopped kubelet causes NotReady; starting it restores Ready within 1 minute. Drain evicts pods and cordons node; uncordon re-enables scheduling.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5  |  LOGS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Application logs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Read logs from running containers, crashed containers (--previous), specific containers in multi-container pods, and raw log files on disk at /var/log/pods/. Log retrieval is the first step in every CKA application troubleshooting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noisy pod, use kubectl logs with --tail --timestamps --follow. Create crashloop pod and read with --previous. Locate raw log file on disk.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kubectl logs | ls /var/log/pods/ | &gt; --previous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Basic log commands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noisy --image=busybox --restart=Never -- \</a:t>
            </a:r>
          </a:p>
          <a:p>
            <a:pPr>
              <a:spcBef>
                <a:spcPts val="0"/>
              </a:spcBef>
              <a:spcAft>
                <a:spcPts val="0"/>
              </a:spcAft>
            </a:pPr>
            <a:r>
              <a:rPr sz="1050">
                <a:solidFill>
                  <a:srgbClr val="161B26"/>
                </a:solidFill>
                <a:latin typeface="Consolas"/>
              </a:rPr>
              <a:t>  sh -c 'i=0; while true; do echo "line $i"; i=$((i+1)); sleep 1; done'</a:t>
            </a:r>
          </a:p>
          <a:p>
            <a:pPr>
              <a:spcBef>
                <a:spcPts val="0"/>
              </a:spcBef>
              <a:spcAft>
                <a:spcPts val="0"/>
              </a:spcAft>
            </a:pPr>
            <a:r>
              <a:rPr sz="1050">
                <a:solidFill>
                  <a:srgbClr val="161B26"/>
                </a:solidFill>
                <a:latin typeface="Consolas"/>
              </a:rPr>
              <a:t>kubectl logs noisy --tail=5</a:t>
            </a:r>
          </a:p>
          <a:p>
            <a:pPr>
              <a:spcBef>
                <a:spcPts val="0"/>
              </a:spcBef>
              <a:spcAft>
                <a:spcPts val="0"/>
              </a:spcAft>
            </a:pPr>
            <a:r>
              <a:rPr sz="1050">
                <a:solidFill>
                  <a:srgbClr val="161B26"/>
                </a:solidFill>
                <a:latin typeface="Consolas"/>
              </a:rPr>
              <a:t>kubectl logs noisy --tail=10 --timestamps=true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Crashed container logs with --previous</a:t>
            </a:r>
          </a:p>
        </p:txBody>
      </p:sp>
      <p:sp>
        <p:nvSpPr>
          <p:cNvPr id="12" name="Rounded Rectangle 11"/>
          <p:cNvSpPr/>
          <p:nvPr/>
        </p:nvSpPr>
        <p:spPr>
          <a:xfrm>
            <a:off x="777240" y="353872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crasher --image=busybox --restart=Always -- \</a:t>
            </a:r>
          </a:p>
          <a:p>
            <a:pPr>
              <a:spcBef>
                <a:spcPts val="0"/>
              </a:spcBef>
              <a:spcAft>
                <a:spcPts val="0"/>
              </a:spcAft>
            </a:pPr>
            <a:r>
              <a:rPr sz="1050">
                <a:solidFill>
                  <a:srgbClr val="161B26"/>
                </a:solidFill>
                <a:latin typeface="Consolas"/>
              </a:rPr>
              <a:t>  sh -c 'echo starting; sleep 2; echo crashing; exit 1'</a:t>
            </a:r>
          </a:p>
          <a:p>
            <a:pPr>
              <a:spcBef>
                <a:spcPts val="0"/>
              </a:spcBef>
              <a:spcAft>
                <a:spcPts val="0"/>
              </a:spcAft>
            </a:pPr>
            <a:r>
              <a:rPr sz="1050">
                <a:solidFill>
                  <a:srgbClr val="161B26"/>
                </a:solidFill>
                <a:latin typeface="Consolas"/>
              </a:rPr>
              <a:t>kubectl get pod crasher -w</a:t>
            </a:r>
          </a:p>
          <a:p>
            <a:pPr>
              <a:spcBef>
                <a:spcPts val="0"/>
              </a:spcBef>
              <a:spcAft>
                <a:spcPts val="0"/>
              </a:spcAft>
            </a:pPr>
            <a:r>
              <a:rPr sz="1050">
                <a:solidFill>
                  <a:srgbClr val="161B26"/>
                </a:solidFill>
                <a:latin typeface="Consolas"/>
              </a:rPr>
              <a:t># Watch CrashLoopBackOff</a:t>
            </a:r>
          </a:p>
          <a:p>
            <a:pPr>
              <a:spcBef>
                <a:spcPts val="0"/>
              </a:spcBef>
              <a:spcAft>
                <a:spcPts val="0"/>
              </a:spcAft>
            </a:pPr>
            <a:r>
              <a:rPr sz="1050">
                <a:solidFill>
                  <a:srgbClr val="161B26"/>
                </a:solidFill>
                <a:latin typeface="Consolas"/>
              </a:rPr>
              <a:t>kubectl logs crasher --previous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Multi-container pod logs</a:t>
            </a:r>
          </a:p>
        </p:txBody>
      </p:sp>
      <p:sp>
        <p:nvSpPr>
          <p:cNvPr id="16" name="Rounded Rectangle 15"/>
          <p:cNvSpPr/>
          <p:nvPr/>
        </p:nvSpPr>
        <p:spPr>
          <a:xfrm>
            <a:off x="777240" y="5189219"/>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logs multi-pod -c c1</a:t>
            </a:r>
          </a:p>
          <a:p>
            <a:pPr>
              <a:spcBef>
                <a:spcPts val="0"/>
              </a:spcBef>
              <a:spcAft>
                <a:spcPts val="0"/>
              </a:spcAft>
            </a:pPr>
            <a:r>
              <a:rPr sz="1050">
                <a:solidFill>
                  <a:srgbClr val="161B26"/>
                </a:solidFill>
                <a:latin typeface="Consolas"/>
              </a:rPr>
              <a:t>kubectl logs multi-pod -c c2</a:t>
            </a:r>
          </a:p>
          <a:p>
            <a:pPr>
              <a:spcBef>
                <a:spcPts val="0"/>
              </a:spcBef>
              <a:spcAft>
                <a:spcPts val="0"/>
              </a:spcAft>
            </a:pPr>
            <a:r>
              <a:rPr sz="1050">
                <a:solidFill>
                  <a:srgbClr val="161B26"/>
                </a:solidFill>
                <a:latin typeface="Consolas"/>
              </a:rPr>
              <a:t>kubectl logs multi-pod --all-containers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Raw log files on disk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/var/log/pods/</a:t>
            </a:r>
          </a:p>
          <a:p>
            <a:pPr>
              <a:spcBef>
                <a:spcPts val="0"/>
              </a:spcBef>
              <a:spcAft>
                <a:spcPts val="0"/>
              </a:spcAft>
            </a:pPr>
            <a:r>
              <a:rPr sz="1050">
                <a:solidFill>
                  <a:srgbClr val="161B26"/>
                </a:solidFill>
                <a:latin typeface="Consolas"/>
              </a:rPr>
              <a:t>find /var/log/pods/ -name '*.log' | head -5</a:t>
            </a:r>
          </a:p>
          <a:p>
            <a:pPr>
              <a:spcBef>
                <a:spcPts val="0"/>
              </a:spcBef>
              <a:spcAft>
                <a:spcPts val="0"/>
              </a:spcAft>
            </a:pPr>
            <a:r>
              <a:rPr sz="1050">
                <a:solidFill>
                  <a:srgbClr val="161B26"/>
                </a:solidFill>
                <a:latin typeface="Consolas"/>
              </a:rPr>
              <a:t>tail -20 /var/log/pods/default_noisy_*/noisy/0.log</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--previous reads the last terminated container instance -- essential for CrashLoopBackOff. Raw log files at /var/log/pods/ persist even if the pod is deleted.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logs noisy shows incrementing lines. kubectl logs crasher --previous shows crash message. Raw log file found under /var/log/pods/default_noisy_*/.</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MONITORING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Usage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metrics-server feeds kubectl top nodes/pods and HPA</a:t>
            </a:r>
          </a:p>
          <a:p>
            <a:pPr>
              <a:spcBef>
                <a:spcPts val="0"/>
              </a:spcBef>
              <a:spcAft>
                <a:spcPts val="1000"/>
              </a:spcAft>
            </a:pPr>
            <a:r>
              <a:rPr sz="1900" b="1">
                <a:solidFill>
                  <a:srgbClr val="1F6FEB"/>
                </a:solidFill>
                <a:latin typeface="Arial"/>
              </a:rPr>
              <a:t>•  </a:t>
            </a:r>
            <a:r>
              <a:rPr sz="1900">
                <a:solidFill>
                  <a:srgbClr val="161B26"/>
                </a:solidFill>
                <a:latin typeface="Arial"/>
              </a:rPr>
              <a:t>kubectl top pods -A --sort-by=cpu -- find the top CPU consumers</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 ~1h retention</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--field-selector type=Warning -A -- filter warnings</a:t>
            </a:r>
          </a:p>
          <a:p>
            <a:pPr>
              <a:spcBef>
                <a:spcPts val="0"/>
              </a:spcBef>
              <a:spcAft>
                <a:spcPts val="1000"/>
              </a:spcAft>
            </a:pPr>
            <a:r>
              <a:rPr sz="1900" b="1">
                <a:solidFill>
                  <a:srgbClr val="1F6FEB"/>
                </a:solidFill>
                <a:latin typeface="Arial"/>
              </a:rPr>
              <a:t>•  </a:t>
            </a:r>
            <a:r>
              <a:rPr sz="1900">
                <a:solidFill>
                  <a:srgbClr val="161B26"/>
                </a:solidFill>
                <a:latin typeface="Arial"/>
              </a:rPr>
              <a:t>cAdvisor raw endpoint: /api/v1/nodes/&lt;node&gt;/proxy/stats/summary</a:t>
            </a:r>
          </a:p>
          <a:p>
            <a:pPr>
              <a:spcBef>
                <a:spcPts val="0"/>
              </a:spcBef>
              <a:spcAft>
                <a:spcPts val="1000"/>
              </a:spcAft>
            </a:pPr>
            <a:r>
              <a:rPr sz="1900" b="1">
                <a:solidFill>
                  <a:srgbClr val="1F6FEB"/>
                </a:solidFill>
                <a:latin typeface="Arial"/>
              </a:rPr>
              <a:t>•  </a:t>
            </a:r>
            <a:r>
              <a:rPr sz="1900">
                <a:solidFill>
                  <a:srgbClr val="161B26"/>
                </a:solidFill>
                <a:latin typeface="Arial"/>
              </a:rPr>
              <a:t>Prometheus + Grafana for long-term metrics (kube-prometheus-stack)</a:t>
            </a:r>
          </a:p>
          <a:p>
            <a:pPr>
              <a:spcBef>
                <a:spcPts val="0"/>
              </a:spcBef>
              <a:spcAft>
                <a:spcPts val="1000"/>
              </a:spcAft>
            </a:pPr>
            <a:r>
              <a:rPr sz="1900" b="1">
                <a:solidFill>
                  <a:srgbClr val="1F6FEB"/>
                </a:solidFill>
                <a:latin typeface="Arial"/>
              </a:rPr>
              <a:t>•  </a:t>
            </a:r>
            <a:r>
              <a:rPr sz="1900">
                <a:solidFill>
                  <a:srgbClr val="161B26"/>
                </a:solidFill>
                <a:latin typeface="Arial"/>
              </a:rPr>
              <a:t>kubectl describe node shows CPU/memory allocations vs node capacity</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5  |  MONITORING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Monitoring and observability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kubectl top to check CPU and memory usage for nodes and pods, inspect cluster events to identify recent warnings, and understand how metrics flow from cAdvisor through metrics-server to kubectl top and HPA.</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run kubectl top node and kubectl top pod (sorted by CPU/memory), inspect kubectl get events, use kubectl describe to surface warning events.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top | kubectl get | &gt; Metrics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-n kube-system patch deploy metrics-server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Resource usage</a:t>
            </a:r>
          </a:p>
        </p:txBody>
      </p:sp>
      <p:sp>
        <p:nvSpPr>
          <p:cNvPr id="12" name="Rounded Rectangle 11"/>
          <p:cNvSpPr/>
          <p:nvPr/>
        </p:nvSpPr>
        <p:spPr>
          <a:xfrm>
            <a:off x="777240" y="353872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top node</a:t>
            </a:r>
          </a:p>
          <a:p>
            <a:pPr>
              <a:spcBef>
                <a:spcPts val="0"/>
              </a:spcBef>
              <a:spcAft>
                <a:spcPts val="0"/>
              </a:spcAft>
            </a:pPr>
            <a:r>
              <a:rPr sz="1050">
                <a:solidFill>
                  <a:srgbClr val="161B26"/>
                </a:solidFill>
                <a:latin typeface="Consolas"/>
              </a:rPr>
              <a:t>kubectl top pod -A</a:t>
            </a:r>
          </a:p>
          <a:p>
            <a:pPr>
              <a:spcBef>
                <a:spcPts val="0"/>
              </a:spcBef>
              <a:spcAft>
                <a:spcPts val="0"/>
              </a:spcAft>
            </a:pPr>
            <a:r>
              <a:rPr sz="1050">
                <a:solidFill>
                  <a:srgbClr val="161B26"/>
                </a:solidFill>
                <a:latin typeface="Consolas"/>
              </a:rPr>
              <a:t>kubectl top pod -A --sort-by=cpu | head -10</a:t>
            </a:r>
          </a:p>
          <a:p>
            <a:pPr>
              <a:spcBef>
                <a:spcPts val="0"/>
              </a:spcBef>
              <a:spcAft>
                <a:spcPts val="0"/>
              </a:spcAft>
            </a:pPr>
            <a:r>
              <a:rPr sz="1050">
                <a:solidFill>
                  <a:srgbClr val="161B26"/>
                </a:solidFill>
                <a:latin typeface="Consolas"/>
              </a:rPr>
              <a:t>kubectl top pod -A --sort-by=memory | head -10</a:t>
            </a:r>
          </a:p>
        </p:txBody>
      </p:sp>
      <p:sp>
        <p:nvSpPr>
          <p:cNvPr id="15" name="TextBox 14"/>
          <p:cNvSpPr txBox="1"/>
          <p:nvPr/>
        </p:nvSpPr>
        <p:spPr>
          <a:xfrm>
            <a:off x="777240" y="461772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Cluster events</a:t>
            </a:r>
          </a:p>
        </p:txBody>
      </p:sp>
      <p:sp>
        <p:nvSpPr>
          <p:cNvPr id="16" name="Rounded Rectangle 15"/>
          <p:cNvSpPr/>
          <p:nvPr/>
        </p:nvSpPr>
        <p:spPr>
          <a:xfrm>
            <a:off x="777240" y="500176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0176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06577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events -A --sort-by='.lastTimestamp'</a:t>
            </a:r>
          </a:p>
          <a:p>
            <a:pPr>
              <a:spcBef>
                <a:spcPts val="0"/>
              </a:spcBef>
              <a:spcAft>
                <a:spcPts val="0"/>
              </a:spcAft>
            </a:pPr>
            <a:r>
              <a:rPr sz="1050">
                <a:solidFill>
                  <a:srgbClr val="161B26"/>
                </a:solidFill>
                <a:latin typeface="Consolas"/>
              </a:rPr>
              <a:t>kubectl get events -A --field-selector type=Warning</a:t>
            </a:r>
          </a:p>
          <a:p>
            <a:pPr>
              <a:spcBef>
                <a:spcPts val="0"/>
              </a:spcBef>
              <a:spcAft>
                <a:spcPts val="0"/>
              </a:spcAft>
            </a:pPr>
            <a:r>
              <a:rPr sz="1050">
                <a:solidFill>
                  <a:srgbClr val="161B26"/>
                </a:solidFill>
                <a:latin typeface="Consolas"/>
              </a:rPr>
              <a:t>kubectl describe node worker01 | grep -A20 Events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Metrics pipeline raw API</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--raw '/apis/metrics.k8s.io/v1beta1/nodes' | python3 -m json.tool | head -30</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Metrics flow: cAdvisor (per node) -&gt; kubelet Summary API -&gt; metrics-server -&gt; kubectl top + HPA. kubectl top requires metrics-server. Events are the first place to look when a pod fails to start.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top node shows CPU and memory for all nodes. kubectl get events shows Warning events. Metrics API returns JSON with per-node data.</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BROKEN SERVICE CHECKLIST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Triage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6642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664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DNS resolves?</a:t>
            </a:r>
          </a:p>
        </p:txBody>
      </p:sp>
      <p:sp>
        <p:nvSpPr>
          <p:cNvPr id="10" name="TextBox 9"/>
          <p:cNvSpPr txBox="1"/>
          <p:nvPr/>
        </p:nvSpPr>
        <p:spPr>
          <a:xfrm>
            <a:off x="4251960" y="1664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exec probe -- nslookup &lt;svc&gt;</a:t>
            </a:r>
          </a:p>
        </p:txBody>
      </p:sp>
      <p:sp>
        <p:nvSpPr>
          <p:cNvPr id="11" name="Rectangle 10"/>
          <p:cNvSpPr/>
          <p:nvPr/>
        </p:nvSpPr>
        <p:spPr>
          <a:xfrm>
            <a:off x="4160520" y="1755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350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350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50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Service has endpoints?</a:t>
            </a:r>
          </a:p>
        </p:txBody>
      </p:sp>
      <p:sp>
        <p:nvSpPr>
          <p:cNvPr id="15" name="TextBox 14"/>
          <p:cNvSpPr txBox="1"/>
          <p:nvPr/>
        </p:nvSpPr>
        <p:spPr>
          <a:xfrm>
            <a:off x="4251960" y="2350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endpoints &lt;svc&gt;  -- non-empty?</a:t>
            </a:r>
          </a:p>
        </p:txBody>
      </p:sp>
      <p:sp>
        <p:nvSpPr>
          <p:cNvPr id="16" name="Rectangle 15"/>
          <p:cNvSpPr/>
          <p:nvPr/>
        </p:nvSpPr>
        <p:spPr>
          <a:xfrm>
            <a:off x="4160520" y="2441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0358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35808"/>
            <a:ext cx="91440" cy="5943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0358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7C3AED"/>
                </a:solidFill>
                <a:latin typeface="Arial"/>
              </a:rPr>
              <a:t>Selector matches pod labels?</a:t>
            </a:r>
          </a:p>
        </p:txBody>
      </p:sp>
      <p:sp>
        <p:nvSpPr>
          <p:cNvPr id="20" name="TextBox 19"/>
          <p:cNvSpPr txBox="1"/>
          <p:nvPr/>
        </p:nvSpPr>
        <p:spPr>
          <a:xfrm>
            <a:off x="4251960" y="30358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svc.spec.selector == pod.metadata.labels</a:t>
            </a:r>
          </a:p>
        </p:txBody>
      </p:sp>
      <p:sp>
        <p:nvSpPr>
          <p:cNvPr id="21" name="Rectangle 20"/>
          <p:cNvSpPr/>
          <p:nvPr/>
        </p:nvSpPr>
        <p:spPr>
          <a:xfrm>
            <a:off x="4160520" y="31272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7216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21608"/>
            <a:ext cx="91440" cy="5943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216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F59E0B"/>
                </a:solidFill>
                <a:latin typeface="Arial"/>
              </a:rPr>
              <a:t>targetPort matches container?</a:t>
            </a:r>
          </a:p>
        </p:txBody>
      </p:sp>
      <p:sp>
        <p:nvSpPr>
          <p:cNvPr id="25" name="TextBox 24"/>
          <p:cNvSpPr txBox="1"/>
          <p:nvPr/>
        </p:nvSpPr>
        <p:spPr>
          <a:xfrm>
            <a:off x="4251960" y="37216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svc.spec.ports[].targetPort == containerPort</a:t>
            </a:r>
          </a:p>
        </p:txBody>
      </p:sp>
      <p:sp>
        <p:nvSpPr>
          <p:cNvPr id="26" name="Rectangle 25"/>
          <p:cNvSpPr/>
          <p:nvPr/>
        </p:nvSpPr>
        <p:spPr>
          <a:xfrm>
            <a:off x="4160520" y="38130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44074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074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4074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Pod IP reachable?</a:t>
            </a:r>
          </a:p>
        </p:txBody>
      </p:sp>
      <p:sp>
        <p:nvSpPr>
          <p:cNvPr id="30" name="TextBox 29"/>
          <p:cNvSpPr txBox="1"/>
          <p:nvPr/>
        </p:nvSpPr>
        <p:spPr>
          <a:xfrm>
            <a:off x="4251960" y="44074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curl http://&lt;podIP&gt;:&lt;port&gt;  -- bypasses Service</a:t>
            </a:r>
          </a:p>
        </p:txBody>
      </p:sp>
      <p:sp>
        <p:nvSpPr>
          <p:cNvPr id="31" name="Rectangle 30"/>
          <p:cNvSpPr/>
          <p:nvPr/>
        </p:nvSpPr>
        <p:spPr>
          <a:xfrm>
            <a:off x="4160520" y="44988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77240" y="5093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93208"/>
            <a:ext cx="91440" cy="5943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093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DC2626"/>
                </a:solidFill>
                <a:latin typeface="Arial"/>
              </a:rPr>
              <a:t>NetworkPolicy blocking?</a:t>
            </a:r>
          </a:p>
        </p:txBody>
      </p:sp>
      <p:sp>
        <p:nvSpPr>
          <p:cNvPr id="35" name="TextBox 34"/>
          <p:cNvSpPr txBox="1"/>
          <p:nvPr/>
        </p:nvSpPr>
        <p:spPr>
          <a:xfrm>
            <a:off x="4251960" y="5093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netpol -n &lt;ns&gt;  -- check podSelector</a:t>
            </a:r>
          </a:p>
        </p:txBody>
      </p:sp>
      <p:sp>
        <p:nvSpPr>
          <p:cNvPr id="36" name="Rectangle 35"/>
          <p:cNvSpPr/>
          <p:nvPr/>
        </p:nvSpPr>
        <p:spPr>
          <a:xfrm>
            <a:off x="4160520" y="5184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77240" y="5779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79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779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kube-proxy alive?</a:t>
            </a:r>
          </a:p>
        </p:txBody>
      </p:sp>
      <p:sp>
        <p:nvSpPr>
          <p:cNvPr id="40" name="TextBox 39"/>
          <p:cNvSpPr txBox="1"/>
          <p:nvPr/>
        </p:nvSpPr>
        <p:spPr>
          <a:xfrm>
            <a:off x="4251960" y="5779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-n kube-system get pods -l k8s-app=kube-proxy</a:t>
            </a:r>
          </a:p>
        </p:txBody>
      </p:sp>
      <p:sp>
        <p:nvSpPr>
          <p:cNvPr id="41" name="Rectangle 40"/>
          <p:cNvSpPr/>
          <p:nvPr/>
        </p:nvSpPr>
        <p:spPr>
          <a:xfrm>
            <a:off x="4160520" y="5870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43" name="TextBox 4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44" name="TextBox 4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5  |  SERVICE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Follow a structured 7-step triage chain for Kubernetes networking failures: DNS -&gt; Service selector -&gt; Endpoints -&gt; CNI -&gt; NetworkPolicy -&gt; kube-proxy -&gt; routing. CKA 2026 tests this methodical approach in multi-step troubleshooting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baseline app, break DNS by patching CoreDNS, break service selector, block traffic with NetworkPolicy, fix each layer and verify restoration.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exec | kubectl get | &gt; Always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baseline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app --image=nginx --replicas=2</a:t>
            </a:r>
          </a:p>
          <a:p>
            <a:pPr>
              <a:spcBef>
                <a:spcPts val="0"/>
              </a:spcBef>
              <a:spcAft>
                <a:spcPts val="0"/>
              </a:spcAft>
            </a:pPr>
            <a:r>
              <a:rPr sz="1050">
                <a:solidFill>
                  <a:srgbClr val="161B26"/>
                </a:solidFill>
                <a:latin typeface="Consolas"/>
              </a:rPr>
              <a:t>kubectl expose deploy app --port=80 --name=app-svc</a:t>
            </a:r>
          </a:p>
          <a:p>
            <a:pPr>
              <a:spcBef>
                <a:spcPts val="0"/>
              </a:spcBef>
              <a:spcAft>
                <a:spcPts val="0"/>
              </a:spcAft>
            </a:pPr>
            <a:r>
              <a:rPr sz="1050">
                <a:solidFill>
                  <a:srgbClr val="161B26"/>
                </a:solidFill>
                <a:latin typeface="Consolas"/>
              </a:rPr>
              <a:t>kubectl run dbg --image=nicolaka/netshoot --command -- sleep 3600</a:t>
            </a:r>
          </a:p>
          <a:p>
            <a:pPr>
              <a:spcBef>
                <a:spcPts val="0"/>
              </a:spcBef>
              <a:spcAft>
                <a:spcPts val="0"/>
              </a:spcAft>
            </a:pPr>
            <a:r>
              <a:rPr sz="1050">
                <a:solidFill>
                  <a:srgbClr val="161B26"/>
                </a:solidFill>
                <a:latin typeface="Consolas"/>
              </a:rPr>
              <a:t>kubectl exec dbg -- curl -s http://app-svc</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Layer 1: DNS check</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dbg -- nslookup app-svc.default.svc.cluster.local</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logs -l k8s-app=kube-dns | tail -20</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Layer 2: Service and Endpoints</a:t>
            </a:r>
          </a:p>
        </p:txBody>
      </p:sp>
      <p:sp>
        <p:nvSpPr>
          <p:cNvPr id="16" name="Rounded Rectangle 15"/>
          <p:cNvSpPr/>
          <p:nvPr/>
        </p:nvSpPr>
        <p:spPr>
          <a:xfrm>
            <a:off x="777240" y="481431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svc app-svc -o yaml | grep selector -A 5</a:t>
            </a:r>
          </a:p>
          <a:p>
            <a:pPr>
              <a:spcBef>
                <a:spcPts val="0"/>
              </a:spcBef>
              <a:spcAft>
                <a:spcPts val="0"/>
              </a:spcAft>
            </a:pPr>
            <a:r>
              <a:rPr sz="1050">
                <a:solidFill>
                  <a:srgbClr val="161B26"/>
                </a:solidFill>
                <a:latin typeface="Consolas"/>
              </a:rPr>
              <a:t>kubectl get endpoints app-svc</a:t>
            </a:r>
          </a:p>
          <a:p>
            <a:pPr>
              <a:spcBef>
                <a:spcPts val="0"/>
              </a:spcBef>
              <a:spcAft>
                <a:spcPts val="0"/>
              </a:spcAft>
            </a:pPr>
            <a:r>
              <a:rPr sz="1050">
                <a:solidFill>
                  <a:srgbClr val="161B26"/>
                </a:solidFill>
                <a:latin typeface="Consolas"/>
              </a:rPr>
              <a:t>kubectl get pods --show-labels</a:t>
            </a:r>
          </a:p>
          <a:p>
            <a:pPr>
              <a:spcBef>
                <a:spcPts val="0"/>
              </a:spcBef>
              <a:spcAft>
                <a:spcPts val="0"/>
              </a:spcAft>
            </a:pPr>
            <a:r>
              <a:rPr sz="1050">
                <a:solidFill>
                  <a:srgbClr val="161B26"/>
                </a:solidFill>
                <a:latin typeface="Consolas"/>
              </a:rPr>
              <a:t># Empty endpoints = selector mismatch -- compare and fix</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Layers 3-7: CNI, NetworkPolicy, kube-proxy</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 Check pod IPs assigned (CNI OK)</a:t>
            </a:r>
          </a:p>
          <a:p>
            <a:pPr>
              <a:spcBef>
                <a:spcPts val="0"/>
              </a:spcBef>
              <a:spcAft>
                <a:spcPts val="0"/>
              </a:spcAft>
            </a:pPr>
            <a:r>
              <a:rPr sz="1050">
                <a:solidFill>
                  <a:srgbClr val="161B26"/>
                </a:solidFill>
                <a:latin typeface="Consolas"/>
              </a:rPr>
              <a:t>kubectl get networkpolicy -A</a:t>
            </a:r>
          </a:p>
          <a:p>
            <a:pPr>
              <a:spcBef>
                <a:spcPts val="0"/>
              </a:spcBef>
              <a:spcAft>
                <a:spcPts val="0"/>
              </a:spcAft>
            </a:pPr>
            <a:r>
              <a:rPr sz="1050">
                <a:solidFill>
                  <a:srgbClr val="161B26"/>
                </a:solidFill>
                <a:latin typeface="Consolas"/>
              </a:rPr>
              <a:t># Check for blocking policies</a:t>
            </a:r>
          </a:p>
          <a:p>
            <a:pPr>
              <a:spcBef>
                <a:spcPts val="0"/>
              </a:spcBef>
              <a:spcAft>
                <a:spcPts val="0"/>
              </a:spcAft>
            </a:pPr>
            <a:r>
              <a:rPr sz="1050">
                <a:solidFill>
                  <a:srgbClr val="161B26"/>
                </a:solidFill>
                <a:latin typeface="Consolas"/>
              </a:rPr>
              <a:t>kubectl -n kube-system get pods -l k8s-app=kube-proxy</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start with DNS -- 80% of Kubernetes networking problems are DNS. If DNS works but curl fails: check Service selector vs pod labels. If endpoints exist but curl fails: check NetworkPolicy or kube-proxy.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Baseline curl to app-svc works. Selector mismatch: endpoints empty, curl fails. After fixing selector: endpoints repopulated, curl works again.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DOMAIN 5  |  RBAC AND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 and scheduling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two of the most common CKA exam question types: a 403 Forbidden error caused by a missing ClusterRoleBinding, and a pod stuck in Pending due to a scheduling constraint (taint, node selector, or resource exhaustion).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pod that fails with Forbidden, diagnose with auth can-i, add missing binding. Create pod that is Pending, diagnose with kubectl describe, fix constraint.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run | kubectl describe | &gt; kubectl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RBAC: diagnose 403 Forbidden</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serviceaccount dev-sa</a:t>
            </a:r>
          </a:p>
          <a:p>
            <a:pPr>
              <a:spcBef>
                <a:spcPts val="0"/>
              </a:spcBef>
              <a:spcAft>
                <a:spcPts val="0"/>
              </a:spcAft>
            </a:pPr>
            <a:r>
              <a:rPr sz="1050">
                <a:solidFill>
                  <a:srgbClr val="161B26"/>
                </a:solidFill>
                <a:latin typeface="Consolas"/>
              </a:rPr>
              <a:t># Pod using dev-sa attempts to list pods:</a:t>
            </a:r>
          </a:p>
          <a:p>
            <a:pPr>
              <a:spcBef>
                <a:spcPts val="0"/>
              </a:spcBef>
              <a:spcAft>
                <a:spcPts val="0"/>
              </a:spcAft>
            </a:pPr>
            <a:r>
              <a:rPr sz="1050">
                <a:solidFill>
                  <a:srgbClr val="161B26"/>
                </a:solidFill>
                <a:latin typeface="Consolas"/>
              </a:rPr>
              <a:t>kubectl exec sa-pod -- kubectl get pods</a:t>
            </a:r>
          </a:p>
          <a:p>
            <a:pPr>
              <a:spcBef>
                <a:spcPts val="0"/>
              </a:spcBef>
              <a:spcAft>
                <a:spcPts val="0"/>
              </a:spcAft>
            </a:pPr>
            <a:r>
              <a:rPr sz="1050">
                <a:solidFill>
                  <a:srgbClr val="161B26"/>
                </a:solidFill>
                <a:latin typeface="Consolas"/>
              </a:rPr>
              <a:t># Error from server (Forbidden)</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no</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Fix: create RoleBinding</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clusterrolebinding dev-sa-view \</a:t>
            </a:r>
          </a:p>
          <a:p>
            <a:pPr>
              <a:spcBef>
                <a:spcPts val="0"/>
              </a:spcBef>
              <a:spcAft>
                <a:spcPts val="0"/>
              </a:spcAft>
            </a:pPr>
            <a:r>
              <a:rPr sz="1050">
                <a:solidFill>
                  <a:srgbClr val="161B26"/>
                </a:solidFill>
                <a:latin typeface="Consolas"/>
              </a:rPr>
              <a:t>  --clusterrole=view \</a:t>
            </a:r>
          </a:p>
          <a:p>
            <a:pPr>
              <a:spcBef>
                <a:spcPts val="0"/>
              </a:spcBef>
              <a:spcAft>
                <a:spcPts val="0"/>
              </a:spcAft>
            </a:pPr>
            <a:r>
              <a:rPr sz="1050">
                <a:solidFill>
                  <a:srgbClr val="161B26"/>
                </a:solidFill>
                <a:latin typeface="Consolas"/>
              </a:rPr>
              <a:t>  --serviceaccount=default:dev-sa</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yes</a:t>
            </a:r>
          </a:p>
          <a:p>
            <a:pPr>
              <a:spcBef>
                <a:spcPts val="0"/>
              </a:spcBef>
              <a:spcAft>
                <a:spcPts val="0"/>
              </a:spcAft>
            </a:pPr>
            <a:r>
              <a:rPr sz="1050">
                <a:solidFill>
                  <a:srgbClr val="161B26"/>
                </a:solidFill>
                <a:latin typeface="Consolas"/>
              </a:rPr>
              <a:t>kubectl exec sa-pod -- kubectl get pods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Scheduling: diagnose Pending pod</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pending-pod --image=nginx</a:t>
            </a:r>
          </a:p>
          <a:p>
            <a:pPr>
              <a:spcBef>
                <a:spcPts val="0"/>
              </a:spcBef>
              <a:spcAft>
                <a:spcPts val="0"/>
              </a:spcAft>
            </a:pPr>
            <a:r>
              <a:rPr sz="1050">
                <a:solidFill>
                  <a:srgbClr val="161B26"/>
                </a:solidFill>
                <a:latin typeface="Consolas"/>
              </a:rPr>
              <a:t>kubectl get pod pending-pod</a:t>
            </a:r>
          </a:p>
          <a:p>
            <a:pPr>
              <a:spcBef>
                <a:spcPts val="0"/>
              </a:spcBef>
              <a:spcAft>
                <a:spcPts val="0"/>
              </a:spcAft>
            </a:pPr>
            <a:r>
              <a:rPr sz="1050">
                <a:solidFill>
                  <a:srgbClr val="161B26"/>
                </a:solidFill>
                <a:latin typeface="Consolas"/>
              </a:rPr>
              <a:t># Pending</a:t>
            </a:r>
          </a:p>
          <a:p>
            <a:pPr>
              <a:spcBef>
                <a:spcPts val="0"/>
              </a:spcBef>
              <a:spcAft>
                <a:spcPts val="0"/>
              </a:spcAft>
            </a:pPr>
            <a:r>
              <a:rPr sz="1050">
                <a:solidFill>
                  <a:srgbClr val="161B26"/>
                </a:solidFill>
                <a:latin typeface="Consolas"/>
              </a:rPr>
              <a:t>kubectl describe pod pending-pod | grep -A20 Events</a:t>
            </a:r>
          </a:p>
          <a:p>
            <a:pPr>
              <a:spcBef>
                <a:spcPts val="0"/>
              </a:spcBef>
              <a:spcAft>
                <a:spcPts val="0"/>
              </a:spcAft>
            </a:pPr>
            <a:r>
              <a:rPr sz="1050">
                <a:solidFill>
                  <a:srgbClr val="161B26"/>
                </a:solidFill>
                <a:latin typeface="Consolas"/>
              </a:rPr>
              <a:t># Look for: Insufficient cpu, node(s) had taint, MatchNodeSelector</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Fix scheduling constraints</a:t>
            </a:r>
          </a:p>
        </p:txBody>
      </p:sp>
      <p:sp>
        <p:nvSpPr>
          <p:cNvPr id="12" name="Rounded Rectangle 11"/>
          <p:cNvSpPr/>
          <p:nvPr/>
        </p:nvSpPr>
        <p:spPr>
          <a:xfrm>
            <a:off x="777240" y="3726179"/>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Taint causing failure:</a:t>
            </a:r>
          </a:p>
          <a:p>
            <a:pPr>
              <a:spcBef>
                <a:spcPts val="0"/>
              </a:spcBef>
              <a:spcAft>
                <a:spcPts val="0"/>
              </a:spcAft>
            </a:pPr>
            <a:r>
              <a:rPr sz="1050">
                <a:solidFill>
                  <a:srgbClr val="161B26"/>
                </a:solidFill>
                <a:latin typeface="Consolas"/>
              </a:rPr>
              <a:t>kubectl describe node worker01 | grep Taints</a:t>
            </a:r>
          </a:p>
          <a:p>
            <a:pPr>
              <a:spcBef>
                <a:spcPts val="0"/>
              </a:spcBef>
              <a:spcAft>
                <a:spcPts val="0"/>
              </a:spcAft>
            </a:pPr>
            <a:r>
              <a:rPr sz="1050">
                <a:solidFill>
                  <a:srgbClr val="161B26"/>
                </a:solidFill>
                <a:latin typeface="Consolas"/>
              </a:rPr>
              <a:t>kubectl taint node worker01 &lt;key&gt;-</a:t>
            </a:r>
          </a:p>
          <a:p>
            <a:pPr>
              <a:spcBef>
                <a:spcPts val="0"/>
              </a:spcBef>
              <a:spcAft>
                <a:spcPts val="0"/>
              </a:spcAft>
            </a:pPr>
            <a:r>
              <a:rPr sz="1050">
                <a:solidFill>
                  <a:srgbClr val="161B26"/>
                </a:solidFill>
                <a:latin typeface="Consolas"/>
              </a:rPr>
              <a:t># Remove taint</a:t>
            </a:r>
          </a:p>
          <a:p>
            <a:pPr>
              <a:spcBef>
                <a:spcPts val="0"/>
              </a:spcBef>
              <a:spcAft>
                <a:spcPts val="0"/>
              </a:spcAft>
            </a:pPr>
            <a:r>
              <a:rPr sz="1050">
                <a:solidFill>
                  <a:srgbClr val="161B26"/>
                </a:solidFill>
                <a:latin typeface="Consolas"/>
              </a:rPr>
              <a:t># Or add toleration to pod:</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&lt;key&gt;</a:t>
            </a:r>
          </a:p>
          <a:p>
            <a:pPr>
              <a:spcBef>
                <a:spcPts val="0"/>
              </a:spcBef>
              <a:spcAft>
                <a:spcPts val="0"/>
              </a:spcAft>
            </a:pPr>
            <a:r>
              <a:rPr sz="1050">
                <a:solidFill>
                  <a:srgbClr val="161B26"/>
                </a:solidFill>
                <a:latin typeface="Consolas"/>
              </a:rPr>
              <a:t>  operator: Exists</a:t>
            </a:r>
          </a:p>
          <a:p>
            <a:pPr>
              <a:spcBef>
                <a:spcPts val="0"/>
              </a:spcBef>
              <a:spcAft>
                <a:spcPts val="0"/>
              </a:spcAft>
            </a:pPr>
            <a:r>
              <a:rPr sz="1050">
                <a:solidFill>
                  <a:srgbClr val="161B26"/>
                </a:solidFill>
                <a:latin typeface="Consolas"/>
              </a:rPr>
              <a:t>  effect: NoSchedule</a:t>
            </a:r>
          </a:p>
          <a:p>
            <a:pPr>
              <a:spcBef>
                <a:spcPts val="0"/>
              </a:spcBef>
              <a:spcAft>
                <a:spcPts val="0"/>
              </a:spcAft>
            </a:pPr>
            <a:r>
              <a:rPr sz="1050">
                <a:solidFill>
                  <a:srgbClr val="161B26"/>
                </a:solidFill>
                <a:latin typeface="Consolas"/>
              </a:rPr>
              <a:t>kubectl get pod pending-pod -o wide</a:t>
            </a:r>
          </a:p>
          <a:p>
            <a:pPr>
              <a:spcBef>
                <a:spcPts val="0"/>
              </a:spcBef>
              <a:spcAft>
                <a:spcPts val="0"/>
              </a:spcAft>
            </a:pPr>
            <a:r>
              <a:rPr sz="1050">
                <a:solidFill>
                  <a:srgbClr val="161B26"/>
                </a:solidFill>
                <a:latin typeface="Consolas"/>
              </a:rPr>
              <a:t># Now Running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kubectl describe pod is ALWAYS the first command for a Pending pod -- Events shows exactly why. kubectl auth can-i --as is the fastest way to test what a ServiceAccount can do.</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adding ClusterRoleBinding: SA can list pods, no Forbidden error. After fixing taint/selector: pod transitions from Pending to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093976"/>
            <a:ext cx="4636008" cy="457200"/>
          </a:xfrm>
          <a:prstGeom prst="rect">
            <a:avLst/>
          </a:prstGeom>
          <a:noFill/>
        </p:spPr>
        <p:txBody>
          <a:bodyPr wrap="square" anchor="t" lIns="0" rIns="0" tIns="0" bIns="0">
            <a:spAutoFit/>
          </a:bodyPr>
          <a:lstStyle/>
          <a:p>
            <a:pPr algn="l">
              <a:spcBef>
                <a:spcPts val="0"/>
              </a:spcBef>
              <a:spcAft>
                <a:spcPts val="400"/>
              </a:spcAft>
            </a:pPr>
            <a:r>
              <a:rPr sz="1800" b="1">
                <a:solidFill>
                  <a:srgbClr val="161B26"/>
                </a:solidFill>
                <a:latin typeface="Arial"/>
              </a:rPr>
              <a:t>Final Assessment</a:t>
            </a:r>
          </a:p>
        </p:txBody>
      </p:sp>
      <p:sp>
        <p:nvSpPr>
          <p:cNvPr id="9" name="TextBox 8"/>
          <p:cNvSpPr txBox="1"/>
          <p:nvPr/>
        </p:nvSpPr>
        <p:spPr>
          <a:xfrm>
            <a:off x="1088136" y="2697480"/>
            <a:ext cx="4636008" cy="256032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Day 3 afternoon, from 3:45 PM; mock-exam practice 2:00-3:30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0" name="Rounded Rectangle 9"/>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0256" y="2093976"/>
            <a:ext cx="4636008" cy="457200"/>
          </a:xfrm>
          <a:prstGeom prst="rect">
            <a:avLst/>
          </a:prstGeom>
          <a:noFill/>
        </p:spPr>
        <p:txBody>
          <a:bodyPr wrap="square" anchor="t"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2" name="TextBox 11"/>
          <p:cNvSpPr txBox="1"/>
          <p:nvPr/>
        </p:nvSpPr>
        <p:spPr>
          <a:xfrm>
            <a:off x="6620256" y="26974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3" name="TextBox 12"/>
          <p:cNvSpPr txBox="1"/>
          <p:nvPr/>
        </p:nvSpPr>
        <p:spPr>
          <a:xfrm>
            <a:off x="6620256" y="388620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(c)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286000"/>
            <a:ext cx="12191695" cy="1371600"/>
          </a:xfrm>
          <a:prstGeom prst="rect">
            <a:avLst/>
          </a:prstGeom>
          <a:noFill/>
        </p:spPr>
        <p:txBody>
          <a:bodyPr wrap="square" anchor="t" lIns="0" rIns="0" tIns="0" bIns="0">
            <a:spAutoFit/>
          </a:bodyPr>
          <a:lstStyle/>
          <a:p>
            <a:pPr algn="ctr">
              <a:spcBef>
                <a:spcPts val="0"/>
              </a:spcBef>
              <a:spcAft>
                <a:spcPts val="400"/>
              </a:spcAft>
            </a:pPr>
            <a:r>
              <a:rPr sz="5600" b="1">
                <a:solidFill>
                  <a:srgbClr val="161B26"/>
                </a:solidFill>
                <a:latin typeface="Arial"/>
              </a:rPr>
              <a:t>Thank You!</a:t>
            </a:r>
          </a:p>
        </p:txBody>
      </p:sp>
      <p:sp>
        <p:nvSpPr>
          <p:cNvPr id="6" name="TextBox 5"/>
          <p:cNvSpPr txBox="1"/>
          <p:nvPr/>
        </p:nvSpPr>
        <p:spPr>
          <a:xfrm>
            <a:off x="0" y="3840480"/>
            <a:ext cx="12191695" cy="640080"/>
          </a:xfrm>
          <a:prstGeom prst="rect">
            <a:avLst/>
          </a:prstGeom>
          <a:noFill/>
        </p:spPr>
        <p:txBody>
          <a:bodyPr wrap="square" anchor="t" lIns="0" rIns="0" tIns="0" bIns="0">
            <a:spAutoFit/>
          </a:bodyPr>
          <a:lstStyle/>
          <a:p>
            <a:pPr algn="ctr">
              <a:spcBef>
                <a:spcPts val="0"/>
              </a:spcBef>
              <a:spcAft>
                <a:spcPts val="400"/>
              </a:spcAft>
            </a:pPr>
            <a:r>
              <a:rPr sz="1800" b="0">
                <a:solidFill>
                  <a:srgbClr val="5B6372"/>
                </a:solidFill>
                <a:latin typeface="Arial"/>
              </a:rPr>
              <a:t>Certified Kubernetes Administrator (CKA)</a:t>
            </a:r>
          </a:p>
        </p:txBody>
      </p:sp>
      <p:sp>
        <p:nvSpPr>
          <p:cNvPr id="7" name="TextBox 6"/>
          <p:cNvSpPr txBox="1"/>
          <p:nvPr/>
        </p:nvSpPr>
        <p:spPr>
          <a:xfrm>
            <a:off x="0" y="4480560"/>
            <a:ext cx="12191695" cy="457200"/>
          </a:xfrm>
          <a:prstGeom prst="rect">
            <a:avLst/>
          </a:prstGeom>
          <a:noFill/>
        </p:spPr>
        <p:txBody>
          <a:bodyPr wrap="square" anchor="t" lIns="0" rIns="0" tIns="0" bIns="0">
            <a:spAutoFit/>
          </a:bodyPr>
          <a:lstStyle/>
          <a:p>
            <a:pPr algn="ctr">
              <a:spcBef>
                <a:spcPts val="0"/>
              </a:spcBef>
              <a:spcAft>
                <a:spcPts val="400"/>
              </a:spcAft>
            </a:pPr>
            <a:r>
              <a:rPr sz="1400" b="0">
                <a:solidFill>
                  <a:srgbClr val="5B6372"/>
                </a:solidFill>
                <a:latin typeface="Arial"/>
              </a:rPr>
              <a:t>WSQ Course Code: TGS-2025054612  |  Tertiary Infotech Academy Pte Ltd</a:t>
            </a:r>
          </a:p>
        </p:txBody>
      </p:sp>
      <p:sp>
        <p:nvSpPr>
          <p:cNvPr id="8" name="Rectangle 7"/>
          <p:cNvSpPr/>
          <p:nvPr/>
        </p:nvSpPr>
        <p:spPr>
          <a:xfrm>
            <a:off x="3840480" y="5166360"/>
            <a:ext cx="457200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0" y="5394960"/>
            <a:ext cx="12191695" cy="365760"/>
          </a:xfrm>
          <a:prstGeom prst="rect">
            <a:avLst/>
          </a:prstGeom>
          <a:noFill/>
        </p:spPr>
        <p:txBody>
          <a:bodyPr wrap="square" anchor="t" lIns="0" rIns="0" tIns="0" bIns="0">
            <a:spAutoFit/>
          </a:bodyPr>
          <a:lstStyle/>
          <a:p>
            <a:pPr algn="ctr">
              <a:spcBef>
                <a:spcPts val="0"/>
              </a:spcBef>
              <a:spcAft>
                <a:spcPts val="400"/>
              </a:spcAft>
            </a:pPr>
            <a:r>
              <a:rPr sz="1400" b="0">
                <a:solidFill>
                  <a:srgbClr val="1F6FEB"/>
                </a:solidFill>
                <a:latin typeface="Arial"/>
              </a:rPr>
              <a:t>Good luck with your CKA exam! Keep practising at killer.sh</a:t>
            </a:r>
          </a:p>
        </p:txBody>
      </p:sp>
      <p:sp>
        <p:nvSpPr>
          <p:cNvPr id="10" name="TextBox 9"/>
          <p:cNvSpPr txBox="1"/>
          <p:nvPr/>
        </p:nvSpPr>
        <p:spPr>
          <a:xfrm>
            <a:off x="0" y="6400800"/>
            <a:ext cx="12191695" cy="274320"/>
          </a:xfrm>
          <a:prstGeom prst="rect">
            <a:avLst/>
          </a:prstGeom>
          <a:noFill/>
        </p:spPr>
        <p:txBody>
          <a:bodyPr wrap="square" anchor="t" lIns="0" rIns="0" tIns="0" bIns="0">
            <a:spAutoFit/>
          </a:bodyPr>
          <a:lstStyle/>
          <a:p>
            <a:pPr algn="ctr">
              <a:spcBef>
                <a:spcPts val="0"/>
              </a:spcBef>
              <a:spcAft>
                <a:spcPts val="400"/>
              </a:spcAft>
            </a:pPr>
            <a:r>
              <a:rPr sz="1000" b="0">
                <a:solidFill>
                  <a:srgbClr val="5B6372"/>
                </a:solidFill>
                <a:latin typeface="Arial"/>
              </a:rPr>
              <a:t>(c) 2026 Tertiary Infotech Academy Pte Ltd  |  www.tertiarycourses.com.sg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