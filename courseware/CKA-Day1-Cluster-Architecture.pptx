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Administrator (CKA)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TGS-2025054612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Mohan Pothula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Kubernetes &amp; Cloud-Native Trainer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7830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Kubernetes &amp; DevOps trainer at Tertiary Infotech Academy.</a:t>
            </a:r>
          </a:p>
        </p:txBody>
      </p:sp>
      <p:sp>
        <p:nvSpPr>
          <p:cNvPr id="15" name="Oval 14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9240" y="26974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Certified Kubernetes Administrator (CKA) · CKAD · CKS · Docker Certified Associate · AWS Solutions Architect.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9240" y="36118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Kubernetes cluster administration · Docker · CI/CD · kubeadm · etcd · Helm.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_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9240" y="45262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20+ years across DBS Bank, SingTel, Mediacorp and SPH Media.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[ Trainer Name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[ Title / Role ]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8288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1361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9240" y="27432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30505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49240" y="36576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39649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_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49240" y="45720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Contact / Profile: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48793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Take a minute to introduce yourself to the class: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63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pers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72" y="2439984"/>
            <a:ext cx="386976" cy="386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8299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132" y="2439984"/>
            <a:ext cx="386976" cy="386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0248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563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Any experience with Docker, Kubernetes or Linux administration.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535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92" y="2439984"/>
            <a:ext cx="386976" cy="3869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4484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799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Whether you are targeting the CKA exam or production cluster skills.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Phones on silent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your phone to silent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g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 actively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question is too small — ask freely.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g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Mutual 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g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punctual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Step out quietly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 calls or short breaks.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gr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75% attendance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for funding eligibility.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3½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1 · Domain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Cluster Architecture, Installation &amp; Configuration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kubeadm bootstrap, CNI, cluster upgrade (Labs 1–4)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HA etcd, Helm, Kustomize (Labs 5–7)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RBAC (Lab 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4253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062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2 · Domains 1+2+3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CRDs + Workloads &amp; Scheduling + Services start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CRDs, CRI/CNI/CSI, Deployments, ConfigMaps (Labs 9–13)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Secrets, HPA, self-healing, scheduling (Labs 14–16)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Pod connectivity, Service types (Labs 17–18)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3 · Domains 3+4+5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Networking + Storage + Troubleshooting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Ingress, Gateway API, NetworkPolicy, CoreDNS (Labs 19–22)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PV/PVC, StorageClass, volume types (Labs 23–25)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Cluster, node and application troubleshooting (Labs 26–28)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4253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062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4 (½ day) · Domain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082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Monitoring + Service triage + RBAC/scheduling debug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Monitoring, service networking, RBAC failures (Labs 29–31)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12:00 PM lunch  ·  1:00 PM mock-exam practice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3:30 PM tea  ·  3:45 PM final 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6089904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9904"/>
            <a:ext cx="10058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Daily timing:   </a:t>
            </a:r>
            <a:r>
              <a:rPr sz="1200" b="0">
                <a:solidFill>
                  <a:srgbClr val="161B26"/>
                </a:solidFill>
                <a:latin typeface="Arial"/>
              </a:rPr>
              <a:t>9:00am – 6:00pm   ·   1-hour lunch   ·   short tea breaks within each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691640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LO1   </a:t>
            </a:r>
            <a:r>
              <a:rPr sz="1500" b="0">
                <a:solidFill>
                  <a:srgbClr val="161B26"/>
                </a:solidFill>
                <a:latin typeface="Arial"/>
              </a:rPr>
              <a:t>Bootstrap a Kubernetes cluster with kubeadm, containerd, and a CNI plugin.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0487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404872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LO2   </a:t>
            </a:r>
            <a:r>
              <a:rPr sz="1500" b="0">
                <a:solidFill>
                  <a:srgbClr val="161B26"/>
                </a:solidFill>
                <a:latin typeface="Arial"/>
              </a:rPr>
              <a:t>Perform cluster upgrades, configure HA etcd, and back up/restore cluster state.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11810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118104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LO3   </a:t>
            </a:r>
            <a:r>
              <a:rPr sz="1500" b="0">
                <a:solidFill>
                  <a:srgbClr val="161B26"/>
                </a:solidFill>
                <a:latin typeface="Arial"/>
              </a:rPr>
              <a:t>Configure RBAC, Helm, Kustomize, CRDs, and the CNI/CSI/CRI extension interfaces.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83133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831336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LO4   </a:t>
            </a:r>
            <a:r>
              <a:rPr sz="1500" b="0">
                <a:solidFill>
                  <a:srgbClr val="161B26"/>
                </a:solidFill>
                <a:latin typeface="Arial"/>
              </a:rPr>
              <a:t>Deploy, scale, schedule, and self-heal workloads with HPA, taints, and affinity.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4456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4544568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LO5   </a:t>
            </a:r>
            <a:r>
              <a:rPr sz="1500" b="0">
                <a:solidFill>
                  <a:srgbClr val="161B26"/>
                </a:solidFill>
                <a:latin typeface="Arial"/>
              </a:rPr>
              <a:t>Expose services with ClusterIP, NodePort, Ingress, and Gateway API; write NetworkPolicy.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2578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5257800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LO6   </a:t>
            </a:r>
            <a:r>
              <a:rPr sz="1500" b="0">
                <a:solidFill>
                  <a:srgbClr val="161B26"/>
                </a:solidFill>
                <a:latin typeface="Arial"/>
              </a:rPr>
              <a:t>Provision persistent storage with PV/PVC, StorageClass, and troubleshoot the full cluster stack.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Written / MCQ assessment on the LMS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Mock-exam practice from 1:00 PM; final assessment from 3:45 PM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Covers all five CKA domains and the hands-on labs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Open book — slides, Learner Guide &amp; kubernetes.io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Must be attempted for SSG 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Funding &amp;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Minimum 75% attendance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Based on SSG digital attendance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Assessed as Competent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Pass the written / MCQ assessment.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only approved materials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of the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assessment is delivered online.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&amp; kubernetes.io are allowed.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Time's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Cluster Architecture, Installation &amp;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Domain 1 (25%) — Labs 1–8  ·  kubeadm · CNI · upgrade · HA · Helm · Kustomize · 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Kubernetes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control plane, worker nodes and their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CLUSTER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Makes a Kubernetes Cluster?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Kubernetes cluster is a set of nodes: one or more control-plane nodes and worker nodes.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The control plane stores cluster state in etcd and runs the scheduler and controller loops.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Worker nodes run the kubelet (node agent), kube-proxy (service routing), container runtime and CNI plugin.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The kube-apiserver is the single entry point — all tools (kubectl, controllers, kubelets) talk to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BRAIN OF THE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Plane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kube-apiserver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REST gateway to etcd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AuthN + AuthZ + admission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All state changes go 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kube-scheduler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Selects a node for each pod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Evaluates resource requests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taints, affinity, topology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kube-controller-manager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Reconciliation loops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Node, ReplicaSet, Job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Drives actual → desired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1  ·  CLUSTER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Kubernetes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303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Control Plane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484632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148840"/>
            <a:ext cx="462686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kube-apiserver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 gateway, auth, admission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843784"/>
            <a:ext cx="484632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843784"/>
            <a:ext cx="462686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kube-scheduler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chooses which node for each pod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538728"/>
            <a:ext cx="484632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538728"/>
            <a:ext cx="462686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kube-controller-manager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reconciliation loops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33672"/>
            <a:ext cx="484632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233672"/>
            <a:ext cx="462686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etcd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key-value store — cluster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691640"/>
            <a:ext cx="4937760" cy="34747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91640"/>
            <a:ext cx="4937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Worker Node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148840"/>
            <a:ext cx="448056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2148840"/>
            <a:ext cx="426110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kubelet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manages pods on this node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2843784"/>
            <a:ext cx="448056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8" y="2843784"/>
            <a:ext cx="426110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kube-proxy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iptables / IPVS service 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538728"/>
            <a:ext cx="448056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3538728"/>
            <a:ext cx="426110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container runtime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containerd / CRI-O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4233672"/>
            <a:ext cx="4480560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4233672"/>
            <a:ext cx="426110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CNI plugin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pod networking (Calico, Cilium)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880360" y="5440680"/>
            <a:ext cx="1371600" cy="384048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516636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kubectl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WHERE WORKLOADS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Worker Node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kubelet: the node agent — watches the API server for pods assigned to this node and starts/stops containers.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kube-proxy: programs iptables or IPVS rules to implement Service ClusterIP and NodePort routing.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Container runtime: containerd (default) or CRI-O; communicates with kubelet via the CRI gRPC interface.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CNI plugin: called on every pod create/delete to assign an IP; Calico and Cilium are the most common CKA choices.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kubeadm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Bootstrap a production-grade cluster in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Pre-flight: load overlay + br_netfilter kernel modules; set net.ipv4.ip_forward=1 sysctl; swap off.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Install containerd with SystemdCgroup=true; then install kubeadm, kubelet and kubectl from pkgs.k8s.io.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kubeadm init generates the PKI under /etc/kubernetes/pki/, writes static pod manifests and prints the join command.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Copy /etc/kubernetes/admin.conf to ~/.kube/config; apply a CNI manifest (Calico/Cilium); then kubeadm join on workers.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1  ·  KUBEADM INIT THEN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kubeadm Bootstrap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3063240" cy="164592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843784" cy="1536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kubeadm init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generates PKI (pki/)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writes static pod manifests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prints bootstrap token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09067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control plane 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3063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468880"/>
            <a:ext cx="2843784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kubectl apply CNI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e.g. Calico or Cilium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nodes go Ready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35240" y="309067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cluster usable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468880"/>
            <a:ext cx="3063240" cy="16459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246888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2578608"/>
            <a:ext cx="2843784" cy="1536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kubeadm join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worker uses token + CA hash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kubelet registers node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Manifests: </a:t>
            </a:r>
            <a:r>
              <a:rPr sz="1300" b="1">
                <a:solidFill>
                  <a:srgbClr val="161B26"/>
                </a:solidFill>
                <a:latin typeface="Arial"/>
              </a:rPr>
              <a:t>/etc/kubernetes/manifests/</a:t>
            </a:r>
            <a:r>
              <a:rPr sz="1300" b="0">
                <a:solidFill>
                  <a:srgbClr val="5B6372"/>
                </a:solidFill>
                <a:latin typeface="Arial"/>
              </a:rPr>
              <a:t>  ·  PKI: </a:t>
            </a:r>
            <a:r>
              <a:rPr sz="1300" b="1">
                <a:solidFill>
                  <a:srgbClr val="161B26"/>
                </a:solidFill>
                <a:latin typeface="Arial"/>
              </a:rPr>
              <a:t>/etc/kubernetes/pki/</a:t>
            </a:r>
            <a:r>
              <a:rPr sz="1300" b="0">
                <a:solidFill>
                  <a:srgbClr val="5B6372"/>
                </a:solidFill>
                <a:latin typeface="Arial"/>
              </a:rPr>
              <a:t>  ·  kubeconfig: ~/.kube/config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CLUSTER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kubeadm Prerequisites and Container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Cluster 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Prepare two clean Ubuntu nodes for a Kubernetes cluster install: load kernel modules, configure sysctls, install containerd as the CRI, and install kubeadm/kubelet/kubectl from the official pkgs.k8s.io repository. CKA tests this sequence in troubleshooting questions where a node is NotReady due to a misconfigured runtime.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Configure kernel modules, sysctls, containerd (SystemdCgroup=true), and install pinned Kubernetes packages on both nodes.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cat &lt;&lt;EOF · sudo swapoff · sudo apt · » SystemdCgroup · kubeadm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kubeadm Prerequisites and Container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Load kernel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&lt;&lt;EOF | sudo tee /etc/modules-load.d/k8s.conf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overlay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br_netfilter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modprobe overlay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modprobe br_netfilter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Set required sysctls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13632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913632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977640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&lt;&lt;EOF | sudo tee /etc/sysctl.d/k8s.conf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net.bridge.bridge-nf-call-iptables  =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net.bridge.bridge-nf-call-ip6tables =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net.ipv4.ip_forward                 =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sysctl --system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kubeadm Prerequisites and Container Runtime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Disable swap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swapoff -a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sed -i '/ swap / s/^(.*)$/#\1/g' /etc/fstab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Install containerd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apt update &amp;&amp; sudo apt install -y containerd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mkdir -p /etc/containerd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containerd config default | sudo tee /etc/containerd/config.toml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sed -i 's/SystemdCgroup = false/SystemdCgroup = true/' /etc/containerd/config.toml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systemctl restart containerd &amp;&amp; sudo systemctl enable containerd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6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SystemdCgroup = true aligns containerd's cgroup driver with kubelet. A mismatch is the #1 cause of 'node NotReady' in fresh clusters.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kubeadm Prerequisites and Container Runtime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5 -- Install kubeadm, kubelet, kubectl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apt install -y apt-transport-https ca-certificates curl gpg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mkdir -p /etc/apt/keyrings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-fsSL https://pkgs.k8s.io/core:/stable:/v1.31/deb/Release.key |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sudo gpg --dearmor -o /etc/apt/keyrings/kubernetes-apt-keyring.gpg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 'deb [signed-by=/etc/apt/keyrings/kubernetes-apt-keyring.gpg] https://pkgs.k8s.io/core:/stable:/v1.31/deb/ /' |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sudo tee /etc/apt/sources.list.d/kubernetes.list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apt update &amp;&amp; sudo apt install -y kubelet kubeadm kubectl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apt-mark hold kubelet kubeadm kubectl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6 -- Verify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88535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88535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52543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kubeadm version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version --client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sudo systemctl status containerd --no-pager | 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kubeadm Prerequisites and Container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kubeadm version shows v1.31.x, containerd is active, and crictl reports the runtime 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https://killercoda.com/playgrounds/scenario/kubeadm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CLUSTER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kubeadm Bootstrap: init, kubeconfig, Worker Join, Cluster PKI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Cluster 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kubeadm init to create the control plane, configure kubectl access via kubeconfig, join a worker node using the bootstrap token, explore the PKI certificates under /etc/kubernetes/pki/, take an etcd snapshot, and inspect static pod manifests. The CKA exam always includes an etcd backup/restore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kubeadm init, copy admin.conf, join worker, explore PKI, take etcd snapshot with etcdctl.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kubeadm init · mkdir -p · ls /etc/kubernetes/manifests/ · ls /etc/kubernetes/pki/ · export ETCDCTL_API=3 · » Always · kubeadm toke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kubeadm Bootstrap: init, kubeconfig, Worker Join, Cluster PKI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Initialize the control plane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kubeadm init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--kubernetes-version=v1.35.0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--pod-network-cidr=192.168.0.0/16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--service-cidr=10.96.0.0/12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--apiserver-advertise-address=$(hostname -I | awk '{print $1}')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Configure kubectl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mkdir -p $HOME/.kube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cp -i /etc/kubernetes/admin.conf $HOME/.kube/config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chown $(id -u):$(id -g) $HOME/.kube/config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517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Explore static pod manifests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8921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518921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5253227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ls /etc/kubernetes/manifests/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grep 'image:' /etc/kubernetes/manifests/kube-apiserver.yaml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kubeadm Bootstrap: init, kubeconfig, Worker Join, Cluster PKI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Explore cluster PKI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ls /etc/kubernetes/pki/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kubeadm certs check-expiration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openssl x509 -in /etc/kubernetes/pki/ca.crt -noout -dates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5 -- Take an etcd snapshot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export ETCDCTL_API=3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export ETCDCTL_ENDPOINTS=https://127.0.0.1:2379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export ETCDCTL_CACERT=/etc/kubernetes/pki/etcd/ca.crt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export ETCDCTL_CERT=/etc/kubernetes/pki/etcd/server.crt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export ETCDCTL_KEY=/etc/kubernetes/pki/etcd/server.key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etcdctl snapshot save /opt/etcd-backup-$(date +%Y%m%d).db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etcdctl snapshot status /opt/etcd-backup-$(date +%Y%m%d).db --write-out=table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3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Always set ETCDCTL_API=3. etcd backup/restore is guaranteed to appear on the CKA exam.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kubeadm Bootstrap: init, kubeconfig, Worker Join, Cluster PKI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6 -- Join worker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On control plane -- generate join command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kubeadm token create --print-join-command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Run the output on WORKER NODE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Back on control plane: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nodes -o 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kubeadm Bootstrap: init, kubeconfig, Worker Join, Cluster PKI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get nodes shows both nodes (NotReady until CNI installed). etcd snapshot file exists at /opt/.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https://killercoda.com/playgrounds/scenario/kubeadm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CNI — Container Network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Pod networking with Calico and Cilium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Pods Get 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CNI is called by the kubelet on every pod creation — the plugin assigns an IP from the pod CIDR.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Calico uses BGP or VXLAN; Cilium uses eBPF for high-performance networking and advanced observability.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CNI binaries live in /opt/cni/bin/; configuration files live in /etc/cni/net.d/.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Without a CNI plugin nodes stay NotReady — applying the CNI manifest is a mandatory post-init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PICK YOUR CNI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CNI Plugin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Calico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BGP or VXLAN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NetworkPolicy support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Most popular CKA choice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Cilium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eBPF dataplane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Advanced observability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Kubernetes 1.21+ native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Flannel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VXLAN overlay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Simple, no NetworkPolicy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Development / lab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 Calico CNI and Verify Cross-Node Pod 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CNI networking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Install Calico as the CNI plugin using the Tigera Operator pattern, watch nodes transition to Ready, deploy test pods on different nodes, and validate cross-node pod-to-pod communication. The pod CIDR in Calico must match the --pod-network-cidr from kubeadm init.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Apply tigera-operator.yaml + custom-resources.yaml, watch nodes go Ready, ping across nodes.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get · curl -O · kubectl run · » Kubernetes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 Calico CNI and Verify Cross-Node Pod 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Confirm nodes are NotReady before CNI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nodes -o wide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-n kube-system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Install Calico Operator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-O https://raw.githubusercontent.com/projectcalico/calico/v3.29.0/manifests/tigera-operator.yaml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-O https://raw.githubusercontent.com/projectcalico/calico/v3.29.0/manifests/custom-resources.yaml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tigera-operator.yaml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custom-resources.yaml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Watch nodes transition to 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nodes -w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-n calico-system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 Calico CNI and Verify Cross-Node Pod Ping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Test cross-node pod 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run pod-cp --image=nicolaka/netshoot -- sleep infinity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run pod-worker --image=nicolaka/netshoot -- sleep infinity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-o wide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POD_WORKER_IP=$(kubectl get pod pod-worker -o jsonpath='{.status.podIP}')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pod-cp -- ping -c 4 $POD_WORKER_IP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Kubernetes requires a flat pod network -- cross-node pod-to-pod communication without NAT. A failed ping indicates CNI misconfiguration.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Install Calico CNI and Verify Cross-Node Pod 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nodes are Ready. Cross-node ping returns 0% packet loss. coredns pods are Running.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https://killercoda.com/playgrounds/scenario/kubeadm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Cluster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Upgrade control plane then workers with kubeadm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UPGRADE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Upgrade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Upgrades are one minor version at a time — you cannot skip from 1.29 to 1.31 directly.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Always upgrade the control plane first; then drain, upgrade and uncordon each worker node.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Use apt-mark unhold / hold around the install step to manage package pins.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kubeadm upgrade apply for the control plane; kubeadm upgrade node for each worker.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1  ·  CLUSTER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Cluster Upgrade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109728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74519"/>
            <a:ext cx="3840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drain the node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kubectl drain &lt;node&gt; --ignore-daemonsets --delete-emptydir-data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2130551"/>
            <a:ext cx="640080" cy="32918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874519"/>
            <a:ext cx="5349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Cordons the node (no new pods) and evicts existing pods safely before upgrade.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07207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07207"/>
            <a:ext cx="109728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807207"/>
            <a:ext cx="3840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upgrade kubeadm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apt-mark unhold kubeadm &amp;&amp; apt install kubeadm=v1.31.0-1.1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74920" y="3063239"/>
            <a:ext cx="640080" cy="329184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807207"/>
            <a:ext cx="5349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kubeadm upgrade apply v1.31.0 on the control plane; kubeadm upgrade node on workers.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39895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739895"/>
            <a:ext cx="109728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39895"/>
            <a:ext cx="3840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upgrade kubelet + kubectl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apt install kubelet=v1.31.0-1.1 kubectl=v1.31.0-1.1 &amp;&amp; systemctl restart kubelet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74920" y="3995927"/>
            <a:ext cx="640080" cy="32918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739895"/>
            <a:ext cx="5349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Verify: kubectl get nodes — the node shows the new version after kubelet restart.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72583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672583"/>
            <a:ext cx="109728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672583"/>
            <a:ext cx="3840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uncordon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kubectl uncordon &lt;node&gt;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074920" y="4928615"/>
            <a:ext cx="640080" cy="329184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4672583"/>
            <a:ext cx="5349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Restores scheduling. Repeat drain → upgrade → uncordon for each worker node in turn.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Upgrade </a:t>
            </a:r>
            <a:r>
              <a:rPr sz="1300" b="1">
                <a:solidFill>
                  <a:srgbClr val="161B26"/>
                </a:solidFill>
                <a:latin typeface="Arial"/>
              </a:rPr>
              <a:t>control plane first</a:t>
            </a:r>
            <a:r>
              <a:rPr sz="1300" b="0">
                <a:solidFill>
                  <a:srgbClr val="5B6372"/>
                </a:solidFill>
                <a:latin typeface="Arial"/>
              </a:rPr>
              <a:t>, then each worker. apt-mark hold/unhold kubeadm kubelet kubectl around each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CLUSTER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Cluster Upgrade: v1.34 to v1.35 with kubeadm drain/uncordon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Cluster upgrade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Upgrade a two-node cluster from v1.34 to v1.35 following the official kubeadm upgrade procedure. The exact sequence: unhold, install kubeadm, upgrade plan, upgrade apply, drain, upgrade kubelet/kubectl, uncordon. Missing any step is a common exam mistake.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Upgrade control plane with kubeadm upgrade apply, drain node, upgrade kubelet, uncordon. Repeat for worker.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curl -fsSL · apt-mark unhold · kubeadm upgrade · kubectl drain · »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Cluster Upgrade: v1.34 to v1.35 with kubeadm drain/uncordon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Add v1.35 apt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-fsSL https://pkgs.k8s.io/core:/stable:/v1.35/deb/Release.key |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gpg --dearmor -o /etc/apt/keyrings/kubernetes-apt-keyring.gpg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apt-get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Upgrade kubeadm on control 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apt-mark unhold kubeadm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apt-get install -y kubeadm=1.35.0-*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apt-mark hold kubeadm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kubeadm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Run upgrade plan and apply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kubeadm upgrade plan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kubeadm upgrade apply v1.35.0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Cluster Upgrade: v1.34 to v1.35 with kubeadm drain/uncordon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Drain, upgrade kubelet, uncordon control plane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drain controlplane --ignore-daemonsets --delete-emptydir-data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apt-mark unhold kubelet kubectl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apt-get install -y kubelet=1.35.0-* kubectl=1.35.0-*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apt-mark hold kubelet kubectl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systemctl daemon-reload &amp;&amp; systemctl restart kubelet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uncordon controlplane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Cluster Upgrade: v1.34 to v1.35 with kubeadm drain/uncordon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5 -- Upgrade worker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20827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2082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116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On WORKER NODE: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apt-mark unhold kubeadm &amp;&amp; apt-get install -y kubeadm=1.35.0-*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kubeadm upgrade node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On CONTROL PLANE: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drain worker01 --ignore-daemonsets --delete-emptydir-data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Back on WORKER: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apt-mark unhold kubelet kubectl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apt-get install -y kubelet=1.35.0-* kubectl=1.35.0-*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systemctl daemon-reload &amp;&amp; systemctl restart kubelet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On CONTROL PLANE: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uncordon worker01 &amp;&amp; kubectl get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66844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The VERSION column in 'kubectl get nodes' shows kubelet version, not API server version. systemctl daemon-reload is required after binary update before restarting kubelet.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Cluster Upgrade: v1.34 to v1.35 with kubeadm drain/uncordon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get nodes shows both nodes as Ready at v1.35.0. kubectl version shows Server v1.35.0.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https://killercoda.com/playgrounds/scenario/kubeadm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High Availability — etcd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Stacked etcd topology and backup/restore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HA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 Cluster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Stacked etcd: each control-plane node runs its own etcd member — simplest HA topology.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External etcd: separate etcd cluster decoupled from control-plane nodes — more resilient but more infra.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All CP nodes must point to the same load-balancer endpoint (--control-plane-endpoint).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Quorum: (N-1)/2 failures tolerated — 3 nodes survive 1; 5 nodes survive 2. Always use odd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1  ·  HIGH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 Stacked etcd Topology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21031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188366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Load Balancer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HAProxy / cloud LB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endpoint :6443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DNS or VIP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71800" y="2834640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94760" y="1691640"/>
            <a:ext cx="7772400" cy="361188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691640"/>
            <a:ext cx="7772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Control-Plane Nodes (×3)  +  Stacked etcd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011680"/>
            <a:ext cx="3749039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23360" y="2011680"/>
            <a:ext cx="374903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103120"/>
            <a:ext cx="374903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CP 1  ·  kube-apiserver · scheduler · controller-mgr</a:t>
            </a:r>
          </a:p>
        </p:txBody>
      </p:sp>
      <p:sp>
        <p:nvSpPr>
          <p:cNvPr id="16" name="Can 15"/>
          <p:cNvSpPr/>
          <p:nvPr/>
        </p:nvSpPr>
        <p:spPr>
          <a:xfrm>
            <a:off x="7909560" y="2084832"/>
            <a:ext cx="1554480" cy="630936"/>
          </a:xfrm>
          <a:prstGeom prst="can">
            <a:avLst/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487168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etcd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2898648"/>
            <a:ext cx="3749039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2898648"/>
            <a:ext cx="374903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2990088"/>
            <a:ext cx="374903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CP 2  ·  kube-apiserver · scheduler · controller-mgr</a:t>
            </a:r>
          </a:p>
        </p:txBody>
      </p:sp>
      <p:sp>
        <p:nvSpPr>
          <p:cNvPr id="21" name="Can 20"/>
          <p:cNvSpPr/>
          <p:nvPr/>
        </p:nvSpPr>
        <p:spPr>
          <a:xfrm>
            <a:off x="7909560" y="2971800"/>
            <a:ext cx="1554480" cy="630936"/>
          </a:xfrm>
          <a:prstGeom prst="can">
            <a:avLst/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3374136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etcd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3785616"/>
            <a:ext cx="3749039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3785616"/>
            <a:ext cx="3749039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3877056"/>
            <a:ext cx="374903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CP 3  ·  kube-apiserver · scheduler · controller-mgr</a:t>
            </a:r>
          </a:p>
        </p:txBody>
      </p:sp>
      <p:sp>
        <p:nvSpPr>
          <p:cNvPr id="26" name="Can 25"/>
          <p:cNvSpPr/>
          <p:nvPr/>
        </p:nvSpPr>
        <p:spPr>
          <a:xfrm>
            <a:off x="7909560" y="3858768"/>
            <a:ext cx="1554480" cy="630936"/>
          </a:xfrm>
          <a:prstGeom prst="can">
            <a:avLst/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4261104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etcd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80" y="2788920"/>
            <a:ext cx="19050" cy="1097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41080" y="3675888"/>
            <a:ext cx="19050" cy="1097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730752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Raft sync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Stacked etcd: </a:t>
            </a:r>
            <a:r>
              <a:rPr sz="1300" b="1">
                <a:solidFill>
                  <a:srgbClr val="161B26"/>
                </a:solidFill>
                <a:latin typeface="Arial"/>
              </a:rPr>
              <a:t>each CP node runs its own etcd member — state replicated via Raft</a:t>
            </a:r>
            <a:r>
              <a:rPr sz="1300" b="0">
                <a:solidFill>
                  <a:srgbClr val="5B6372"/>
                </a:solidFill>
                <a:latin typeface="Arial"/>
              </a:rPr>
              <a:t>. 3 CPs tolerate 1 failure (quorum = 2).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1  ·  ETCD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etcd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 6"/>
          <p:cNvSpPr/>
          <p:nvPr/>
        </p:nvSpPr>
        <p:spPr>
          <a:xfrm>
            <a:off x="777240" y="2194560"/>
            <a:ext cx="2103120" cy="1828800"/>
          </a:xfrm>
          <a:prstGeom prst="can">
            <a:avLst/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etcd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2578608"/>
            <a:ext cx="1280160" cy="40233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2286000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snapshot save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3017520" y="3218688"/>
            <a:ext cx="1280160" cy="402336"/>
          </a:xfrm>
          <a:prstGeom prst="lef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3675888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snapshot restore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945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450592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snapshot.db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80360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/backup/etcd.db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18688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etcdctl snapshot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520440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snapshot restore --data-dir 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194560"/>
            <a:ext cx="4434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304288"/>
            <a:ext cx="4206240" cy="1609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Required etcdctl flags: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--endpoints=https://127.0.0.1:2379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--cacert  /etc/kubernetes/pki/etcd/ca.crt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--cert    /etc/kubernetes/pki/etcd/server.crt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--key     /etc/kubernetes/pki/etcd/server.key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After restore: </a:t>
            </a:r>
            <a:r>
              <a:rPr sz="1300" b="1">
                <a:solidFill>
                  <a:srgbClr val="161B26"/>
                </a:solidFill>
                <a:latin typeface="Arial"/>
              </a:rPr>
              <a:t>update etcd static pod --data-dir</a:t>
            </a:r>
            <a:r>
              <a:rPr sz="1300" b="0">
                <a:solidFill>
                  <a:srgbClr val="5B6372"/>
                </a:solidFill>
                <a:latin typeface="Arial"/>
              </a:rPr>
              <a:t> → kubelet auto-restarts etcd. Set </a:t>
            </a:r>
            <a:r>
              <a:rPr sz="1300" b="1">
                <a:solidFill>
                  <a:srgbClr val="161B26"/>
                </a:solidFill>
                <a:latin typeface="Arial"/>
              </a:rPr>
              <a:t>ETCDCTL_API=3</a:t>
            </a:r>
            <a:r>
              <a:rPr sz="1300" b="0">
                <a:solidFill>
                  <a:srgbClr val="5B6372"/>
                </a:solidFill>
                <a:latin typeface="Arial"/>
              </a:rPr>
              <a:t> before all etcdctl commands.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HIGH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 Control Plane: HAProxy + Keepalived VIP and --upload-certs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High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Set up a highly available control plane topology using HAProxy as a TCP load balancer and Keepalived to provide a floating VIP. Initialize the first control plane with --control-plane-endpoint pointing to the VIP and --upload-certs to share certs. CKA tests etcd quorum and cluster resilience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Configure HAProxy and Keepalived, run kubeadm init with --control-plane-endpoint and --upload-certs, join additional control plane nodes, verify etcd member list.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apt-get install · kubeadm init · » --control-plane-endpoint · kubeadm join · kubectl -n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 Control Plane: HAProxy + Keepalived VIP and --upload-certs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Install and configure HAProxy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apt-get install -y haproxy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systemctl restart haproxy &amp;&amp; systemctl enable haproxy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Configure Keepalived with VIP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apt-get install -y keepalived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MASTER: state MASTER, priority 101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BACKUP: state BACKUP, priority 100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systemctl restart keepalived &amp;&amp; systemctl enable keepalived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Initialize first control plane with VIP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3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3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1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kubeadm init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--kubernetes-version=v1.35.0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--control-plane-endpoint='192.168.1.100:6443'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--pod-network-cidr=192.168.0.0/16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--upload-certs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mkdir -p $HOME/.kube &amp;&amp; cp /etc/kubernetes/admin.conf $HOME/.kube/config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 Control Plane: HAProxy + Keepalived VIP and --upload-certs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--control-plane-endpoint must point to the VIP address and is baked into all certs/kubeconfigs. --upload-certs stores encrypted certs in a Secret. The --certificate-key expires after 2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9864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Join additional control plane nodes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82696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282696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3346704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kubeadm join 192.168.1.100:6443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--token &lt;token&gt;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--discovery-token-ca-cert-hash sha256:&lt;hash&gt;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--control-plane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--certificate-key &lt;cert-key&gt;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49139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5 -- Verify etcd HA cluster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933187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933187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997195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-n kube-system exec -it etcd-control-plane-01 --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etcdctl --endpoints=https://127.0.0.1:2379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--cacert=/etc/kubernetes/pki/etcd/ca.crt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--cert=/etc/kubernetes/pki/etcd/server.crt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--key=/etc/kubernetes/pki/etcd/server.key member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 Control Plane: HAProxy + Keepalived VIP and --upload-certs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etcdctl member list shows all control plane nodes as healthy. kubectl get nodes shows 3+ nodes. VIP migrates to secondary when primary API server is stopped.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https://killercoda.com/playgrounds/scenario/kubeadm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Helm &amp; Kustomize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Package management and configuration overlays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HELM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The Package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Helm chart is a bundle of templated YAML; a release is one deployed instance of a chart.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Workflow: helm repo add → helm install → helm upgrade → helm rollback → helm uninstall.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--set key=value overrides chart values at install/upgrade time.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helm history &lt;release&gt; lists every revision; helm get manifest shows what was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— Overlays Without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Kustomize reuses a base set of manifests and applies environment-specific patches on top.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namePrefix and commonLabels modify every resource in an overlay without touching the base.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The images block overrides image tags; strategic-merge patches fine-tune individual fields.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Built into kubectl: kubectl apply -k and kubectl kustomize — no extra binary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HELM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Helm: Install, Upgrade, Rollback, --set, -f values.yaml, helm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Helm package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Master the complete Helm workflow: adding repos, installing charts, overriding values with --set and -f, upgrading releases, rollbacks, and using helm template to render manifests. Helm is explicitly allowed as a reference during the CKA exam at helm.sh/docs.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 bitnami repo, install nginx chart with custom values, upgrade, rollback, use helm template for GitOps-style rendering.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curl https://raw.githubusercontent.com/helm/helm/main/scripts/get-helm-3 · helm install · cat &lt;&lt;'EOF' · helm rollback · helm templ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Helm: Install, Upgrade, Rollback, --set, -f values.yaml, helm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Install Helm and add repos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https://raw.githubusercontent.com/helm/helm/main/scripts/get-helm-3 | bash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version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repo add bitnami https://charts.bitnami.com/bitnami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repo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Install a chart with value overrides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install my-nginx bitnami/nginx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--namespace web --create-namespace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--set service.type=NodePort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--set replicaCount=2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list -n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status my-nginx -n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Helm: Install, Upgrade, Rollback, --set, -f values.yaml, helm template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Upgrade with -f values.yaml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&lt;&lt;'EOF' &gt; my-values.yaml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replicaCount: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service: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type: ClusterIP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upgrade my-nginx bitnami/nginx -n web -f my-values.yaml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history my-nginx -n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1703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Roll back a release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0108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0108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16509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rollback my-nginx -n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history my-nginx -n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517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5 -- Render manifests without installing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8921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518921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525322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template my-nginx bitnami/nginx --set replicaCount=2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template my-nginx bitnami/nginx -f my-values.yaml &gt; rendered.yaml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Helm: Install, Upgrade, Rollback, --set, -f values.yaml, helm template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helm template is used in GitOps workflows. -f values override defaults; --set overrides -f when both are specified.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Helm: Install, Upgrade, Rollback, --set, -f values.yaml, helm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helm list -n web shows my-nginx deployed. helm history shows at least 2 revisions. helm rollback reverts to the previous 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Kustomize: Base + Overlays, namePrefix, images, patches, kubectl apply -k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Kustomize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Kustomize (built into kubectl) to manage base manifests and environment-specific overlays without file duplication. CKA tests kubectl apply -k, namePrefix, image overrides, and strategic merge patches.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base (deployment + service + kustomization.yaml), dev overlay with namePrefix and image override, production overlay with replica patch. Apply with kubectl apply -k.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kustomize · mkdir -p · cat &lt;&lt;'EOF' · kubectl create · kubectl diff · » namePrefix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Kustomize: Base + Overlays, namePrefix, images, patches, kubectl apply -k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Verify kustomize is built into kubectl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kustomize --help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version --client -o yaml | grep -i kustomize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Create base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mkdir -p ~/kustomize-lab/base ~/kustomize-lab/overlays/dev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Create base/deployment.yaml, base/service.yaml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Create base/kustomization.yaml with resources list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kustomize ~/kustomize-lab/base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Kustomize: Base + Overlays, namePrefix, images, patches, kubectl apply -k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Dev overlay with namePrefix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&lt;&lt;'EOF' &gt; ~/kustomize-lab/overlays/dev/kustomization.yaml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bases: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../../base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namePrefix: dev-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namespace: 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images: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newTag: '1.25-alpine'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EOF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kustomize ~/kustomize-lab/overlays/dev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Apply overlays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63440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663440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727448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namespace 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-k ~/kustomize-lab/overlays/dev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deployment -n 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NAME: dev-webapp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Kustomize: Base + Overlays, namePrefix, images, patches, kubectl apply -k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5 -- Preview changes before applying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diff -k ~/kustomize-lab/overlays/dev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2324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namePrefix automatically updates all cross-references (selectors, labels). kubectl diff -k previews changes before applying -- essential for safe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Kustomize: Base + Overlays, namePrefix, images, patches, kubectl apply -k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get deployment -n dev shows dev-webapp (namePrefix applied). kubectl diff -k shows planned changes without modifying the cluster.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RBAC — Role-Based Access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Who can do what, 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Authorisation in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Role (namespace) or ClusterRole (cluster-wide) lists allowed verbs on resources.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RoleBinding or ClusterRoleBinding ties a Role to a subject: ServiceAccount, user or group.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ClusterRole + RoleBinding restricts cluster-level role verbs to a single namespace.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Validate without impersonation: kubectl auth can-i &lt;verb&gt; &lt;resource&gt; --as=&lt;identity&gt;.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1  ·  ROLE-BASED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Role, Binding, Subject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320040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298094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 / ClusterRole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verbs: get, list, create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resources: pods, deployments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77640" y="3017520"/>
            <a:ext cx="548640" cy="36576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79" y="22860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79" y="2286000"/>
            <a:ext cx="320040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395728"/>
            <a:ext cx="298094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RoleBinding / ClusterRoleBinding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binds role to subject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ns or cluster scope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26679" y="3017520"/>
            <a:ext cx="548640" cy="36576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18" y="22860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6" y="2286000"/>
            <a:ext cx="2980944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Subject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ServiceAccount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 /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17720"/>
            <a:ext cx="10652760" cy="713232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17720"/>
            <a:ext cx="10058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kubectl auth can-i list pods --as=system:serviceaccount:ns:sa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→ yes | 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RBAC: Roles, RoleBindings, ServiceAccounts, ClusterRole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a ServiceAccount for a read-only viewer persona, define a namespaced Role that allows only get/list/watch on Pods, bind the role to the SA, and prove that the SA can read but cannot write. Then extend to ClusterRole for cluster-scoped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SA + Role + RoleBinding in rbac-demo namespace, test with kubectl auth can-i --as, verify from inside a pod, add ClusterRole for node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create · kubectl -n · »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RBAC: Roles, RoleBindings, ServiceAccounts, ClusterRole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Create namespace and ServiceAccount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ns rbac-demo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-n rbac-demo create serviceaccount 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Create a namespaced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-n rbac-demo create role pod-viewer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--verb=get,list,watch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--resource=pods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-n rbac-demo get role pod-viewer -o 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Bind Role to ServiceAccount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-n rbac-demo create rolebinding viewer-binding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--role=pod-viewer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--serviceaccount=rbac-demo:viewer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RBAC: Roles, RoleBindings, ServiceAccounts, ClusterRole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Test with kubectl auth can-i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-n rbac-demo auth can-i list pods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--as=system:serviceaccount:rbac-demo:viewer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-n rbac-demo auth can-i create pods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--as=system:serviceaccount:rbac-demo:viewer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Expected: yes,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5 -- ClusterRole for cluster-scoped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clusterrole node-reader --verb=get,list,watch --resource=nodes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clusterrolebinding viewer-nodes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--clusterrole=node-reader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--serviceaccount=rbac-demo:viewer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517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Identity format for SA: system:serviceaccount:&lt;namespace&gt;:&lt;name&gt;. ClusterRole is for cluster-scoped resources (nodes, PVs); Role is namespace-scoped.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RBAC: Roles, RoleBindings, ServiceAccounts, ClusterRole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auth can-i list pods --as=SA returns yes; create pods returns no. ClusterRole allows viewer SA to list nodes across all namespaces.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1 done — you can build and administer a Kubernetes cluster.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Tomorrow: CRDs, workloads, scheduling, services and networking.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