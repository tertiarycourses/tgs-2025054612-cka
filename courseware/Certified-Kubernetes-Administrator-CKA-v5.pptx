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21.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6" name="TextBox 5"/>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Certified Kubernetes Administrator (CKA)</a:t>
            </a:r>
          </a:p>
        </p:txBody>
      </p:sp>
      <p:sp>
        <p:nvSpPr>
          <p:cNvPr id="7" name="Rectangle 6"/>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TGS-2025054612</a:t>
            </a:r>
          </a:p>
          <a:p>
            <a:pPr algn="l">
              <a:spcBef>
                <a:spcPts val="0"/>
              </a:spcBef>
              <a:spcAft>
                <a:spcPts val="600"/>
              </a:spcAft>
            </a:pPr>
            <a:r>
              <a:rPr sz="1400" b="0">
                <a:solidFill>
                  <a:srgbClr val="5B6372"/>
                </a:solidFill>
                <a:latin typeface="Arial"/>
              </a:rPr>
              <a:t>Conducted by Tertiary Infotech Academy Pte Ltd  ·  UEN 201200696W</a:t>
            </a:r>
          </a:p>
        </p:txBody>
      </p:sp>
      <p:sp>
        <p:nvSpPr>
          <p:cNvPr id="9" name="TextBox 8"/>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
        <p:nvSpPr>
          <p:cNvPr id="10" name="TextBox 9"/>
          <p:cNvSpPr txBox="1"/>
          <p:nvPr/>
        </p:nvSpPr>
        <p:spPr>
          <a:xfrm>
            <a:off x="4434840" y="4617720"/>
            <a:ext cx="3337560" cy="320040"/>
          </a:xfrm>
          <a:prstGeom prst="rect">
            <a:avLst/>
          </a:prstGeom>
          <a:noFill/>
        </p:spPr>
        <p:txBody>
          <a:bodyPr wrap="none">
            <a:spAutoFit/>
          </a:bodyPr>
          <a:lstStyle/>
          <a:p>
            <a:pPr algn="ctr"/>
            <a:r>
              <a:rPr sz="1600" b="1">
                <a:solidFill>
                  <a:srgbClr val="2563EB"/>
                </a:solidFill>
                <a:latin typeface="Aptos"/>
              </a:rPr>
              <a:t>Version 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Welcome &amp; Housekeeping</a:t>
            </a:r>
          </a:p>
        </p:txBody>
      </p:sp>
      <p:sp>
        <p:nvSpPr>
          <p:cNvPr id="7" name="TextBox 6"/>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3383280" cy="3657600"/>
          </a:xfrm>
          <a:prstGeom prst="roundRect">
            <a:avLst>
              <a:gd name="adj" fmla="val 5000"/>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51660" y="2194560"/>
            <a:ext cx="1143000" cy="11430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ad.png"/>
          <p:cNvPicPr>
            <a:picLocks noChangeAspect="1"/>
          </p:cNvPicPr>
          <p:nvPr/>
        </p:nvPicPr>
        <p:blipFill>
          <a:blip r:embed="rId2"/>
          <a:stretch>
            <a:fillRect/>
          </a:stretch>
        </p:blipFill>
        <p:spPr>
          <a:xfrm>
            <a:off x="2160270" y="2503170"/>
            <a:ext cx="525780" cy="525780"/>
          </a:xfrm>
          <a:prstGeom prst="rect">
            <a:avLst/>
          </a:prstGeom>
        </p:spPr>
      </p:pic>
      <p:sp>
        <p:nvSpPr>
          <p:cNvPr id="10" name="TextBox 9"/>
          <p:cNvSpPr txBox="1"/>
          <p:nvPr/>
        </p:nvSpPr>
        <p:spPr>
          <a:xfrm>
            <a:off x="731520" y="3611880"/>
            <a:ext cx="3383280" cy="502920"/>
          </a:xfrm>
          <a:prstGeom prst="rect">
            <a:avLst/>
          </a:prstGeom>
          <a:noFill/>
        </p:spPr>
        <p:txBody>
          <a:bodyPr wrap="square" anchor="t" lIns="0" rIns="0" tIns="0" bIns="0">
            <a:spAutoFit/>
          </a:bodyPr>
          <a:lstStyle/>
          <a:p>
            <a:pPr algn="ctr">
              <a:spcBef>
                <a:spcPts val="0"/>
              </a:spcBef>
              <a:spcAft>
                <a:spcPts val="400"/>
              </a:spcAft>
            </a:pPr>
            <a:r>
              <a:rPr sz="2000" b="1">
                <a:solidFill>
                  <a:srgbClr val="FFFFFF"/>
                </a:solidFill>
                <a:latin typeface="Arial"/>
              </a:rPr>
              <a:t>Mohan Pothula</a:t>
            </a:r>
          </a:p>
        </p:txBody>
      </p:sp>
      <p:sp>
        <p:nvSpPr>
          <p:cNvPr id="11" name="TextBox 10"/>
          <p:cNvSpPr txBox="1"/>
          <p:nvPr/>
        </p:nvSpPr>
        <p:spPr>
          <a:xfrm>
            <a:off x="731520" y="4114800"/>
            <a:ext cx="3383280" cy="411480"/>
          </a:xfrm>
          <a:prstGeom prst="rect">
            <a:avLst/>
          </a:prstGeom>
          <a:noFill/>
        </p:spPr>
        <p:txBody>
          <a:bodyPr wrap="square" anchor="t" lIns="0" rIns="0" tIns="0" bIns="0">
            <a:spAutoFit/>
          </a:bodyPr>
          <a:lstStyle/>
          <a:p>
            <a:pPr algn="ctr">
              <a:spcBef>
                <a:spcPts val="0"/>
              </a:spcBef>
              <a:spcAft>
                <a:spcPts val="400"/>
              </a:spcAft>
            </a:pPr>
            <a:r>
              <a:rPr sz="1400" b="1">
                <a:solidFill>
                  <a:srgbClr val="1F6FEB"/>
                </a:solidFill>
                <a:latin typeface="Arial"/>
              </a:rPr>
              <a:t>Kubernetes &amp; Cloud-Native Trainer</a:t>
            </a:r>
          </a:p>
        </p:txBody>
      </p:sp>
      <p:sp>
        <p:nvSpPr>
          <p:cNvPr id="12" name="Oval 11"/>
          <p:cNvSpPr/>
          <p:nvPr/>
        </p:nvSpPr>
        <p:spPr>
          <a:xfrm>
            <a:off x="4434840" y="18288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_grad.png"/>
          <p:cNvPicPr>
            <a:picLocks noChangeAspect="1"/>
          </p:cNvPicPr>
          <p:nvPr/>
        </p:nvPicPr>
        <p:blipFill>
          <a:blip r:embed="rId2"/>
          <a:stretch>
            <a:fillRect/>
          </a:stretch>
        </p:blipFill>
        <p:spPr>
          <a:xfrm>
            <a:off x="4607661" y="2001621"/>
            <a:ext cx="294438" cy="294438"/>
          </a:xfrm>
          <a:prstGeom prst="rect">
            <a:avLst/>
          </a:prstGeom>
        </p:spPr>
      </p:pic>
      <p:sp>
        <p:nvSpPr>
          <p:cNvPr id="14" name="TextBox 13"/>
          <p:cNvSpPr txBox="1"/>
          <p:nvPr/>
        </p:nvSpPr>
        <p:spPr>
          <a:xfrm>
            <a:off x="5349240" y="17830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Role</a:t>
            </a:r>
          </a:p>
          <a:p>
            <a:pPr algn="l">
              <a:spcBef>
                <a:spcPts val="0"/>
              </a:spcBef>
              <a:spcAft>
                <a:spcPts val="200"/>
              </a:spcAft>
            </a:pPr>
            <a:r>
              <a:rPr sz="1300" b="0">
                <a:solidFill>
                  <a:srgbClr val="5B6372"/>
                </a:solidFill>
                <a:latin typeface="Arial"/>
              </a:rPr>
              <a:t>Principal Kubernetes &amp; DevOps trainer at Tertiary Infotech Academy.</a:t>
            </a:r>
          </a:p>
        </p:txBody>
      </p:sp>
      <p:sp>
        <p:nvSpPr>
          <p:cNvPr id="15" name="Oval 14"/>
          <p:cNvSpPr/>
          <p:nvPr/>
        </p:nvSpPr>
        <p:spPr>
          <a:xfrm>
            <a:off x="4434840" y="27432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c_laptop.png"/>
          <p:cNvPicPr>
            <a:picLocks noChangeAspect="1"/>
          </p:cNvPicPr>
          <p:nvPr/>
        </p:nvPicPr>
        <p:blipFill>
          <a:blip r:embed="rId3"/>
          <a:stretch>
            <a:fillRect/>
          </a:stretch>
        </p:blipFill>
        <p:spPr>
          <a:xfrm>
            <a:off x="4607661" y="2916021"/>
            <a:ext cx="294438" cy="294438"/>
          </a:xfrm>
          <a:prstGeom prst="rect">
            <a:avLst/>
          </a:prstGeom>
        </p:spPr>
      </p:pic>
      <p:sp>
        <p:nvSpPr>
          <p:cNvPr id="17" name="TextBox 16"/>
          <p:cNvSpPr txBox="1"/>
          <p:nvPr/>
        </p:nvSpPr>
        <p:spPr>
          <a:xfrm>
            <a:off x="5349240" y="26974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Qualifications</a:t>
            </a:r>
          </a:p>
          <a:p>
            <a:pPr algn="l">
              <a:spcBef>
                <a:spcPts val="0"/>
              </a:spcBef>
              <a:spcAft>
                <a:spcPts val="200"/>
              </a:spcAft>
            </a:pPr>
            <a:r>
              <a:rPr sz="1300" b="0">
                <a:solidFill>
                  <a:srgbClr val="5B6372"/>
                </a:solidFill>
                <a:latin typeface="Arial"/>
              </a:rPr>
              <a:t>Certified Kubernetes Administrator (CKA) · CKAD · CKS · Docker Certified Associate · AWS Solutions Architect.</a:t>
            </a:r>
          </a:p>
        </p:txBody>
      </p:sp>
      <p:sp>
        <p:nvSpPr>
          <p:cNvPr id="18" name="Oval 17"/>
          <p:cNvSpPr/>
          <p:nvPr/>
        </p:nvSpPr>
        <p:spPr>
          <a:xfrm>
            <a:off x="4434840" y="36576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person.png"/>
          <p:cNvPicPr>
            <a:picLocks noChangeAspect="1"/>
          </p:cNvPicPr>
          <p:nvPr/>
        </p:nvPicPr>
        <p:blipFill>
          <a:blip r:embed="rId4"/>
          <a:stretch>
            <a:fillRect/>
          </a:stretch>
        </p:blipFill>
        <p:spPr>
          <a:xfrm>
            <a:off x="4607661" y="3830421"/>
            <a:ext cx="294438" cy="294438"/>
          </a:xfrm>
          <a:prstGeom prst="rect">
            <a:avLst/>
          </a:prstGeom>
        </p:spPr>
      </p:pic>
      <p:sp>
        <p:nvSpPr>
          <p:cNvPr id="20" name="TextBox 19"/>
          <p:cNvSpPr txBox="1"/>
          <p:nvPr/>
        </p:nvSpPr>
        <p:spPr>
          <a:xfrm>
            <a:off x="5349240" y="36118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Expertise</a:t>
            </a:r>
          </a:p>
          <a:p>
            <a:pPr algn="l">
              <a:spcBef>
                <a:spcPts val="0"/>
              </a:spcBef>
              <a:spcAft>
                <a:spcPts val="200"/>
              </a:spcAft>
            </a:pPr>
            <a:r>
              <a:rPr sz="1300" b="0">
                <a:solidFill>
                  <a:srgbClr val="5B6372"/>
                </a:solidFill>
                <a:latin typeface="Arial"/>
              </a:rPr>
              <a:t>Kubernetes cluster administration · Docker · CI/CD · kubeadm · etcd · Helm.</a:t>
            </a:r>
          </a:p>
        </p:txBody>
      </p:sp>
      <p:sp>
        <p:nvSpPr>
          <p:cNvPr id="21" name="Oval 20"/>
          <p:cNvSpPr/>
          <p:nvPr/>
        </p:nvSpPr>
        <p:spPr>
          <a:xfrm>
            <a:off x="4434840" y="45720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c_brief.png"/>
          <p:cNvPicPr>
            <a:picLocks noChangeAspect="1"/>
          </p:cNvPicPr>
          <p:nvPr/>
        </p:nvPicPr>
        <p:blipFill>
          <a:blip r:embed="rId5"/>
          <a:stretch>
            <a:fillRect/>
          </a:stretch>
        </p:blipFill>
        <p:spPr>
          <a:xfrm>
            <a:off x="4607661" y="4744821"/>
            <a:ext cx="294438" cy="294438"/>
          </a:xfrm>
          <a:prstGeom prst="rect">
            <a:avLst/>
          </a:prstGeom>
        </p:spPr>
      </p:pic>
      <p:sp>
        <p:nvSpPr>
          <p:cNvPr id="23" name="TextBox 22"/>
          <p:cNvSpPr txBox="1"/>
          <p:nvPr/>
        </p:nvSpPr>
        <p:spPr>
          <a:xfrm>
            <a:off x="5349240" y="45262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Experience</a:t>
            </a:r>
          </a:p>
          <a:p>
            <a:pPr algn="l">
              <a:spcBef>
                <a:spcPts val="0"/>
              </a:spcBef>
              <a:spcAft>
                <a:spcPts val="200"/>
              </a:spcAft>
            </a:pPr>
            <a:r>
              <a:rPr sz="1300" b="0">
                <a:solidFill>
                  <a:srgbClr val="5B6372"/>
                </a:solidFill>
                <a:latin typeface="Arial"/>
              </a:rPr>
              <a:t>20+ years across DBS Bank, SingTel, Mediacorp and SPH Media.</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3383280" cy="3657600"/>
          </a:xfrm>
          <a:prstGeom prst="roundRect">
            <a:avLst>
              <a:gd name="adj" fmla="val 5000"/>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51660" y="2194560"/>
            <a:ext cx="1143000" cy="11430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ad.png"/>
          <p:cNvPicPr>
            <a:picLocks noChangeAspect="1"/>
          </p:cNvPicPr>
          <p:nvPr/>
        </p:nvPicPr>
        <p:blipFill>
          <a:blip r:embed="rId2"/>
          <a:stretch>
            <a:fillRect/>
          </a:stretch>
        </p:blipFill>
        <p:spPr>
          <a:xfrm>
            <a:off x="2160270" y="2503170"/>
            <a:ext cx="525780" cy="525780"/>
          </a:xfrm>
          <a:prstGeom prst="rect">
            <a:avLst/>
          </a:prstGeom>
        </p:spPr>
      </p:pic>
      <p:sp>
        <p:nvSpPr>
          <p:cNvPr id="10" name="TextBox 9"/>
          <p:cNvSpPr txBox="1"/>
          <p:nvPr/>
        </p:nvSpPr>
        <p:spPr>
          <a:xfrm>
            <a:off x="731520" y="3611880"/>
            <a:ext cx="3383280" cy="502920"/>
          </a:xfrm>
          <a:prstGeom prst="rect">
            <a:avLst/>
          </a:prstGeom>
          <a:noFill/>
        </p:spPr>
        <p:txBody>
          <a:bodyPr wrap="square" anchor="t" lIns="0" rIns="0" tIns="0" bIns="0">
            <a:spAutoFit/>
          </a:bodyPr>
          <a:lstStyle/>
          <a:p>
            <a:pPr algn="ctr">
              <a:spcBef>
                <a:spcPts val="0"/>
              </a:spcBef>
              <a:spcAft>
                <a:spcPts val="400"/>
              </a:spcAft>
            </a:pPr>
            <a:r>
              <a:rPr sz="2000" b="1">
                <a:solidFill>
                  <a:srgbClr val="FFFFFF"/>
                </a:solidFill>
                <a:latin typeface="Arial"/>
              </a:rPr>
              <a:t>[ Trainer Name ]</a:t>
            </a:r>
          </a:p>
        </p:txBody>
      </p:sp>
      <p:sp>
        <p:nvSpPr>
          <p:cNvPr id="11" name="TextBox 10"/>
          <p:cNvSpPr txBox="1"/>
          <p:nvPr/>
        </p:nvSpPr>
        <p:spPr>
          <a:xfrm>
            <a:off x="731520" y="4114800"/>
            <a:ext cx="3383280" cy="411480"/>
          </a:xfrm>
          <a:prstGeom prst="rect">
            <a:avLst/>
          </a:prstGeom>
          <a:noFill/>
        </p:spPr>
        <p:txBody>
          <a:bodyPr wrap="square" anchor="t" lIns="0" rIns="0" tIns="0" bIns="0">
            <a:spAutoFit/>
          </a:bodyPr>
          <a:lstStyle/>
          <a:p>
            <a:pPr algn="ctr">
              <a:spcBef>
                <a:spcPts val="0"/>
              </a:spcBef>
              <a:spcAft>
                <a:spcPts val="400"/>
              </a:spcAft>
            </a:pPr>
            <a:r>
              <a:rPr sz="1400" b="1">
                <a:solidFill>
                  <a:srgbClr val="1F6FEB"/>
                </a:solidFill>
                <a:latin typeface="Arial"/>
              </a:rPr>
              <a:t>[ Title / Role ]</a:t>
            </a:r>
          </a:p>
        </p:txBody>
      </p:sp>
      <p:sp>
        <p:nvSpPr>
          <p:cNvPr id="12" name="Oval 11"/>
          <p:cNvSpPr/>
          <p:nvPr/>
        </p:nvSpPr>
        <p:spPr>
          <a:xfrm>
            <a:off x="4434840" y="18288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_laptop.png"/>
          <p:cNvPicPr>
            <a:picLocks noChangeAspect="1"/>
          </p:cNvPicPr>
          <p:nvPr/>
        </p:nvPicPr>
        <p:blipFill>
          <a:blip r:embed="rId3"/>
          <a:stretch>
            <a:fillRect/>
          </a:stretch>
        </p:blipFill>
        <p:spPr>
          <a:xfrm>
            <a:off x="4607661" y="2001621"/>
            <a:ext cx="294438" cy="294438"/>
          </a:xfrm>
          <a:prstGeom prst="rect">
            <a:avLst/>
          </a:prstGeom>
        </p:spPr>
      </p:pic>
      <p:sp>
        <p:nvSpPr>
          <p:cNvPr id="14" name="TextBox 13"/>
          <p:cNvSpPr txBox="1"/>
          <p:nvPr/>
        </p:nvSpPr>
        <p:spPr>
          <a:xfrm>
            <a:off x="5349240" y="18288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Qualifications:</a:t>
            </a:r>
          </a:p>
        </p:txBody>
      </p:sp>
      <p:sp>
        <p:nvSpPr>
          <p:cNvPr id="15" name="Rectangle 14"/>
          <p:cNvSpPr/>
          <p:nvPr/>
        </p:nvSpPr>
        <p:spPr>
          <a:xfrm>
            <a:off x="7360920" y="21361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4840" y="27432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_person.png"/>
          <p:cNvPicPr>
            <a:picLocks noChangeAspect="1"/>
          </p:cNvPicPr>
          <p:nvPr/>
        </p:nvPicPr>
        <p:blipFill>
          <a:blip r:embed="rId4"/>
          <a:stretch>
            <a:fillRect/>
          </a:stretch>
        </p:blipFill>
        <p:spPr>
          <a:xfrm>
            <a:off x="4607661" y="2916021"/>
            <a:ext cx="294438" cy="294438"/>
          </a:xfrm>
          <a:prstGeom prst="rect">
            <a:avLst/>
          </a:prstGeom>
        </p:spPr>
      </p:pic>
      <p:sp>
        <p:nvSpPr>
          <p:cNvPr id="18" name="TextBox 17"/>
          <p:cNvSpPr txBox="1"/>
          <p:nvPr/>
        </p:nvSpPr>
        <p:spPr>
          <a:xfrm>
            <a:off x="5349240" y="27432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Expertise:</a:t>
            </a:r>
          </a:p>
        </p:txBody>
      </p:sp>
      <p:sp>
        <p:nvSpPr>
          <p:cNvPr id="19" name="Rectangle 18"/>
          <p:cNvSpPr/>
          <p:nvPr/>
        </p:nvSpPr>
        <p:spPr>
          <a:xfrm>
            <a:off x="7360920" y="30505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434840" y="36576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_brief.png"/>
          <p:cNvPicPr>
            <a:picLocks noChangeAspect="1"/>
          </p:cNvPicPr>
          <p:nvPr/>
        </p:nvPicPr>
        <p:blipFill>
          <a:blip r:embed="rId5"/>
          <a:stretch>
            <a:fillRect/>
          </a:stretch>
        </p:blipFill>
        <p:spPr>
          <a:xfrm>
            <a:off x="4607661" y="3830421"/>
            <a:ext cx="294438" cy="294438"/>
          </a:xfrm>
          <a:prstGeom prst="rect">
            <a:avLst/>
          </a:prstGeom>
        </p:spPr>
      </p:pic>
      <p:sp>
        <p:nvSpPr>
          <p:cNvPr id="22" name="TextBox 21"/>
          <p:cNvSpPr txBox="1"/>
          <p:nvPr/>
        </p:nvSpPr>
        <p:spPr>
          <a:xfrm>
            <a:off x="5349240" y="36576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Experience:</a:t>
            </a:r>
          </a:p>
        </p:txBody>
      </p:sp>
      <p:sp>
        <p:nvSpPr>
          <p:cNvPr id="23" name="Rectangle 22"/>
          <p:cNvSpPr/>
          <p:nvPr/>
        </p:nvSpPr>
        <p:spPr>
          <a:xfrm>
            <a:off x="7360920" y="39649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434840" y="45720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c_link.png"/>
          <p:cNvPicPr>
            <a:picLocks noChangeAspect="1"/>
          </p:cNvPicPr>
          <p:nvPr/>
        </p:nvPicPr>
        <p:blipFill>
          <a:blip r:embed="rId6"/>
          <a:stretch>
            <a:fillRect/>
          </a:stretch>
        </p:blipFill>
        <p:spPr>
          <a:xfrm>
            <a:off x="4607661" y="4744821"/>
            <a:ext cx="294438" cy="294438"/>
          </a:xfrm>
          <a:prstGeom prst="rect">
            <a:avLst/>
          </a:prstGeom>
        </p:spPr>
      </p:pic>
      <p:sp>
        <p:nvSpPr>
          <p:cNvPr id="26" name="TextBox 25"/>
          <p:cNvSpPr txBox="1"/>
          <p:nvPr/>
        </p:nvSpPr>
        <p:spPr>
          <a:xfrm>
            <a:off x="5349240" y="45720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Contact / Profile:</a:t>
            </a:r>
          </a:p>
        </p:txBody>
      </p:sp>
      <p:sp>
        <p:nvSpPr>
          <p:cNvPr id="27" name="Rectangle 26"/>
          <p:cNvSpPr/>
          <p:nvPr/>
        </p:nvSpPr>
        <p:spPr>
          <a:xfrm>
            <a:off x="7360920" y="48793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9" name="TextBox 2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0" name="TextBox 2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ICE-BREAKER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Let's Know Each Other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81328"/>
            <a:ext cx="10607040" cy="310896"/>
          </a:xfrm>
          <a:prstGeom prst="rect">
            <a:avLst/>
          </a:prstGeom>
          <a:noFill/>
        </p:spPr>
        <p:txBody>
          <a:bodyPr wrap="square" anchor="t" lIns="0" rIns="0" tIns="0" bIns="0">
            <a:spAutoFit/>
          </a:bodyPr>
          <a:lstStyle/>
          <a:p>
            <a:pPr algn="l">
              <a:spcBef>
                <a:spcPts val="0"/>
              </a:spcBef>
              <a:spcAft>
                <a:spcPts val="400"/>
              </a:spcAft>
            </a:pPr>
            <a:r>
              <a:rPr sz="1500" b="0">
                <a:solidFill>
                  <a:srgbClr val="5B6372"/>
                </a:solidFill>
                <a:latin typeface="Arial"/>
              </a:rPr>
              <a:t>Take a minute to introduce yourself to the class:</a:t>
            </a:r>
          </a:p>
        </p:txBody>
      </p:sp>
      <p:sp>
        <p:nvSpPr>
          <p:cNvPr id="8" name="Rounded Rectangle 7"/>
          <p:cNvSpPr/>
          <p:nvPr/>
        </p:nvSpPr>
        <p:spPr>
          <a:xfrm>
            <a:off x="77724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4063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person2.png"/>
          <p:cNvPicPr>
            <a:picLocks noChangeAspect="1"/>
          </p:cNvPicPr>
          <p:nvPr/>
        </p:nvPicPr>
        <p:blipFill>
          <a:blip r:embed="rId2"/>
          <a:stretch>
            <a:fillRect/>
          </a:stretch>
        </p:blipFill>
        <p:spPr>
          <a:xfrm>
            <a:off x="2267772" y="2439984"/>
            <a:ext cx="386976" cy="386976"/>
          </a:xfrm>
          <a:prstGeom prst="rect">
            <a:avLst/>
          </a:prstGeom>
        </p:spPr>
      </p:pic>
      <p:sp>
        <p:nvSpPr>
          <p:cNvPr id="11" name="TextBox 10"/>
          <p:cNvSpPr txBox="1"/>
          <p:nvPr/>
        </p:nvSpPr>
        <p:spPr>
          <a:xfrm>
            <a:off x="96012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role</a:t>
            </a:r>
          </a:p>
        </p:txBody>
      </p:sp>
      <p:sp>
        <p:nvSpPr>
          <p:cNvPr id="12" name="TextBox 11"/>
          <p:cNvSpPr txBox="1"/>
          <p:nvPr/>
        </p:nvSpPr>
        <p:spPr>
          <a:xfrm>
            <a:off x="103327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Your name and organisation / role.</a:t>
            </a:r>
          </a:p>
        </p:txBody>
      </p:sp>
      <p:sp>
        <p:nvSpPr>
          <p:cNvPr id="13" name="Rounded Rectangle 12"/>
          <p:cNvSpPr/>
          <p:nvPr/>
        </p:nvSpPr>
        <p:spPr>
          <a:xfrm>
            <a:off x="441960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8299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code.png"/>
          <p:cNvPicPr>
            <a:picLocks noChangeAspect="1"/>
          </p:cNvPicPr>
          <p:nvPr/>
        </p:nvPicPr>
        <p:blipFill>
          <a:blip r:embed="rId3"/>
          <a:stretch>
            <a:fillRect/>
          </a:stretch>
        </p:blipFill>
        <p:spPr>
          <a:xfrm>
            <a:off x="5910132" y="2439984"/>
            <a:ext cx="386976" cy="386976"/>
          </a:xfrm>
          <a:prstGeom prst="rect">
            <a:avLst/>
          </a:prstGeom>
        </p:spPr>
      </p:pic>
      <p:sp>
        <p:nvSpPr>
          <p:cNvPr id="16" name="TextBox 15"/>
          <p:cNvSpPr txBox="1"/>
          <p:nvPr/>
        </p:nvSpPr>
        <p:spPr>
          <a:xfrm>
            <a:off x="460248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experience</a:t>
            </a:r>
          </a:p>
        </p:txBody>
      </p:sp>
      <p:sp>
        <p:nvSpPr>
          <p:cNvPr id="17" name="TextBox 16"/>
          <p:cNvSpPr txBox="1"/>
          <p:nvPr/>
        </p:nvSpPr>
        <p:spPr>
          <a:xfrm>
            <a:off x="467563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Any experience with Docker, Kubernetes or Linux administration.</a:t>
            </a:r>
          </a:p>
        </p:txBody>
      </p:sp>
      <p:sp>
        <p:nvSpPr>
          <p:cNvPr id="18" name="Rounded Rectangle 17"/>
          <p:cNvSpPr/>
          <p:nvPr/>
        </p:nvSpPr>
        <p:spPr>
          <a:xfrm>
            <a:off x="806196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535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c_target.png"/>
          <p:cNvPicPr>
            <a:picLocks noChangeAspect="1"/>
          </p:cNvPicPr>
          <p:nvPr/>
        </p:nvPicPr>
        <p:blipFill>
          <a:blip r:embed="rId4"/>
          <a:stretch>
            <a:fillRect/>
          </a:stretch>
        </p:blipFill>
        <p:spPr>
          <a:xfrm>
            <a:off x="9552492" y="2439984"/>
            <a:ext cx="386976" cy="386976"/>
          </a:xfrm>
          <a:prstGeom prst="rect">
            <a:avLst/>
          </a:prstGeom>
        </p:spPr>
      </p:pic>
      <p:sp>
        <p:nvSpPr>
          <p:cNvPr id="21" name="TextBox 20"/>
          <p:cNvSpPr txBox="1"/>
          <p:nvPr/>
        </p:nvSpPr>
        <p:spPr>
          <a:xfrm>
            <a:off x="824484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goal</a:t>
            </a:r>
          </a:p>
        </p:txBody>
      </p:sp>
      <p:sp>
        <p:nvSpPr>
          <p:cNvPr id="22" name="TextBox 21"/>
          <p:cNvSpPr txBox="1"/>
          <p:nvPr/>
        </p:nvSpPr>
        <p:spPr>
          <a:xfrm>
            <a:off x="831799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Whether you are targeting the CKA exam or production cluster skills.</a:t>
            </a:r>
          </a:p>
        </p:txBody>
      </p:sp>
      <p:sp>
        <p:nvSpPr>
          <p:cNvPr id="23" name="TextBox 2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HOUSE RULES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Ground Rules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1.png"/>
          <p:cNvPicPr>
            <a:picLocks noChangeAspect="1"/>
          </p:cNvPicPr>
          <p:nvPr/>
        </p:nvPicPr>
        <p:blipFill>
          <a:blip r:embed="rId2"/>
          <a:stretch>
            <a:fillRect/>
          </a:stretch>
        </p:blipFill>
        <p:spPr>
          <a:xfrm>
            <a:off x="1177198" y="2137318"/>
            <a:ext cx="260788" cy="260788"/>
          </a:xfrm>
          <a:prstGeom prst="rect">
            <a:avLst/>
          </a:prstGeom>
        </p:spPr>
      </p:pic>
      <p:sp>
        <p:nvSpPr>
          <p:cNvPr id="10" name="TextBox 9"/>
          <p:cNvSpPr txBox="1"/>
          <p:nvPr/>
        </p:nvSpPr>
        <p:spPr>
          <a:xfrm>
            <a:off x="175564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Phones on silent</a:t>
            </a:r>
          </a:p>
        </p:txBody>
      </p:sp>
      <p:sp>
        <p:nvSpPr>
          <p:cNvPr id="11" name="TextBox 10"/>
          <p:cNvSpPr txBox="1"/>
          <p:nvPr/>
        </p:nvSpPr>
        <p:spPr>
          <a:xfrm>
            <a:off x="102412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Set your phone to silent mode.</a:t>
            </a:r>
          </a:p>
        </p:txBody>
      </p:sp>
      <p:sp>
        <p:nvSpPr>
          <p:cNvPr id="12" name="Rounded Rectangle 11"/>
          <p:cNvSpPr/>
          <p:nvPr/>
        </p:nvSpPr>
        <p:spPr>
          <a:xfrm>
            <a:off x="441960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648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gr2.png"/>
          <p:cNvPicPr>
            <a:picLocks noChangeAspect="1"/>
          </p:cNvPicPr>
          <p:nvPr/>
        </p:nvPicPr>
        <p:blipFill>
          <a:blip r:embed="rId3"/>
          <a:stretch>
            <a:fillRect/>
          </a:stretch>
        </p:blipFill>
        <p:spPr>
          <a:xfrm>
            <a:off x="4819558" y="2137318"/>
            <a:ext cx="260788" cy="260788"/>
          </a:xfrm>
          <a:prstGeom prst="rect">
            <a:avLst/>
          </a:prstGeom>
        </p:spPr>
      </p:pic>
      <p:sp>
        <p:nvSpPr>
          <p:cNvPr id="15" name="TextBox 14"/>
          <p:cNvSpPr txBox="1"/>
          <p:nvPr/>
        </p:nvSpPr>
        <p:spPr>
          <a:xfrm>
            <a:off x="539800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Participate actively</a:t>
            </a:r>
          </a:p>
        </p:txBody>
      </p:sp>
      <p:sp>
        <p:nvSpPr>
          <p:cNvPr id="16" name="TextBox 15"/>
          <p:cNvSpPr txBox="1"/>
          <p:nvPr/>
        </p:nvSpPr>
        <p:spPr>
          <a:xfrm>
            <a:off x="466648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question is too small — ask freely.</a:t>
            </a:r>
          </a:p>
        </p:txBody>
      </p:sp>
      <p:sp>
        <p:nvSpPr>
          <p:cNvPr id="17" name="Rounded Rectangle 16"/>
          <p:cNvSpPr/>
          <p:nvPr/>
        </p:nvSpPr>
        <p:spPr>
          <a:xfrm>
            <a:off x="806196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884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gr3.png"/>
          <p:cNvPicPr>
            <a:picLocks noChangeAspect="1"/>
          </p:cNvPicPr>
          <p:nvPr/>
        </p:nvPicPr>
        <p:blipFill>
          <a:blip r:embed="rId4"/>
          <a:stretch>
            <a:fillRect/>
          </a:stretch>
        </p:blipFill>
        <p:spPr>
          <a:xfrm>
            <a:off x="8461918" y="2137318"/>
            <a:ext cx="260788" cy="260788"/>
          </a:xfrm>
          <a:prstGeom prst="rect">
            <a:avLst/>
          </a:prstGeom>
        </p:spPr>
      </p:pic>
      <p:sp>
        <p:nvSpPr>
          <p:cNvPr id="20" name="TextBox 19"/>
          <p:cNvSpPr txBox="1"/>
          <p:nvPr/>
        </p:nvSpPr>
        <p:spPr>
          <a:xfrm>
            <a:off x="904036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Mutual respect</a:t>
            </a:r>
          </a:p>
        </p:txBody>
      </p:sp>
      <p:sp>
        <p:nvSpPr>
          <p:cNvPr id="21" name="TextBox 20"/>
          <p:cNvSpPr txBox="1"/>
          <p:nvPr/>
        </p:nvSpPr>
        <p:spPr>
          <a:xfrm>
            <a:off x="830884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One conversation at a time.</a:t>
            </a:r>
          </a:p>
        </p:txBody>
      </p:sp>
      <p:sp>
        <p:nvSpPr>
          <p:cNvPr id="22" name="Rounded Rectangle 21"/>
          <p:cNvSpPr/>
          <p:nvPr/>
        </p:nvSpPr>
        <p:spPr>
          <a:xfrm>
            <a:off x="77724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gr4.png"/>
          <p:cNvPicPr>
            <a:picLocks noChangeAspect="1"/>
          </p:cNvPicPr>
          <p:nvPr/>
        </p:nvPicPr>
        <p:blipFill>
          <a:blip r:embed="rId5"/>
          <a:stretch>
            <a:fillRect/>
          </a:stretch>
        </p:blipFill>
        <p:spPr>
          <a:xfrm>
            <a:off x="1177198" y="4167286"/>
            <a:ext cx="260788" cy="260788"/>
          </a:xfrm>
          <a:prstGeom prst="rect">
            <a:avLst/>
          </a:prstGeom>
        </p:spPr>
      </p:pic>
      <p:sp>
        <p:nvSpPr>
          <p:cNvPr id="25" name="TextBox 24"/>
          <p:cNvSpPr txBox="1"/>
          <p:nvPr/>
        </p:nvSpPr>
        <p:spPr>
          <a:xfrm>
            <a:off x="175564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Be punctual</a:t>
            </a:r>
          </a:p>
        </p:txBody>
      </p:sp>
      <p:sp>
        <p:nvSpPr>
          <p:cNvPr id="26" name="TextBox 25"/>
          <p:cNvSpPr txBox="1"/>
          <p:nvPr/>
        </p:nvSpPr>
        <p:spPr>
          <a:xfrm>
            <a:off x="102412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Return from breaks on time.</a:t>
            </a:r>
          </a:p>
        </p:txBody>
      </p:sp>
      <p:sp>
        <p:nvSpPr>
          <p:cNvPr id="27" name="Rounded Rectangle 26"/>
          <p:cNvSpPr/>
          <p:nvPr/>
        </p:nvSpPr>
        <p:spPr>
          <a:xfrm>
            <a:off x="441960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648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gr6.png"/>
          <p:cNvPicPr>
            <a:picLocks noChangeAspect="1"/>
          </p:cNvPicPr>
          <p:nvPr/>
        </p:nvPicPr>
        <p:blipFill>
          <a:blip r:embed="rId6"/>
          <a:stretch>
            <a:fillRect/>
          </a:stretch>
        </p:blipFill>
        <p:spPr>
          <a:xfrm>
            <a:off x="4819558" y="4167286"/>
            <a:ext cx="260788" cy="260788"/>
          </a:xfrm>
          <a:prstGeom prst="rect">
            <a:avLst/>
          </a:prstGeom>
        </p:spPr>
      </p:pic>
      <p:sp>
        <p:nvSpPr>
          <p:cNvPr id="30" name="TextBox 29"/>
          <p:cNvSpPr txBox="1"/>
          <p:nvPr/>
        </p:nvSpPr>
        <p:spPr>
          <a:xfrm>
            <a:off x="539800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Step out quietly</a:t>
            </a:r>
          </a:p>
        </p:txBody>
      </p:sp>
      <p:sp>
        <p:nvSpPr>
          <p:cNvPr id="31" name="TextBox 30"/>
          <p:cNvSpPr txBox="1"/>
          <p:nvPr/>
        </p:nvSpPr>
        <p:spPr>
          <a:xfrm>
            <a:off x="466648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For calls or short breaks.</a:t>
            </a:r>
          </a:p>
        </p:txBody>
      </p:sp>
      <p:sp>
        <p:nvSpPr>
          <p:cNvPr id="32" name="Rounded Rectangle 31"/>
          <p:cNvSpPr/>
          <p:nvPr/>
        </p:nvSpPr>
        <p:spPr>
          <a:xfrm>
            <a:off x="806196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884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_gr5.png"/>
          <p:cNvPicPr>
            <a:picLocks noChangeAspect="1"/>
          </p:cNvPicPr>
          <p:nvPr/>
        </p:nvPicPr>
        <p:blipFill>
          <a:blip r:embed="rId7"/>
          <a:stretch>
            <a:fillRect/>
          </a:stretch>
        </p:blipFill>
        <p:spPr>
          <a:xfrm>
            <a:off x="8461918" y="4167286"/>
            <a:ext cx="260788" cy="260788"/>
          </a:xfrm>
          <a:prstGeom prst="rect">
            <a:avLst/>
          </a:prstGeom>
        </p:spPr>
      </p:pic>
      <p:sp>
        <p:nvSpPr>
          <p:cNvPr id="35" name="TextBox 34"/>
          <p:cNvSpPr txBox="1"/>
          <p:nvPr/>
        </p:nvSpPr>
        <p:spPr>
          <a:xfrm>
            <a:off x="904036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75% attendance</a:t>
            </a:r>
          </a:p>
        </p:txBody>
      </p:sp>
      <p:sp>
        <p:nvSpPr>
          <p:cNvPr id="36" name="TextBox 35"/>
          <p:cNvSpPr txBox="1"/>
          <p:nvPr/>
        </p:nvSpPr>
        <p:spPr>
          <a:xfrm>
            <a:off x="830884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Required for funding eligibility.</a:t>
            </a: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Lesson Plan — 3½ Days, 8 hours/day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64208"/>
            <a:ext cx="5143500" cy="2084831"/>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20240"/>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Arial"/>
              </a:rPr>
              <a:t>1</a:t>
            </a:r>
          </a:p>
        </p:txBody>
      </p:sp>
      <p:sp>
        <p:nvSpPr>
          <p:cNvPr id="9" name="TextBox 8"/>
          <p:cNvSpPr txBox="1"/>
          <p:nvPr/>
        </p:nvSpPr>
        <p:spPr>
          <a:xfrm>
            <a:off x="1801368" y="1920240"/>
            <a:ext cx="39547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Day 1 · Domain 1</a:t>
            </a:r>
          </a:p>
        </p:txBody>
      </p:sp>
      <p:sp>
        <p:nvSpPr>
          <p:cNvPr id="10" name="TextBox 9"/>
          <p:cNvSpPr txBox="1"/>
          <p:nvPr/>
        </p:nvSpPr>
        <p:spPr>
          <a:xfrm>
            <a:off x="1051560" y="2651760"/>
            <a:ext cx="4594860" cy="1005840"/>
          </a:xfrm>
          <a:prstGeom prst="rect">
            <a:avLst/>
          </a:prstGeom>
          <a:noFill/>
        </p:spPr>
        <p:txBody>
          <a:bodyPr wrap="square" anchor="t" lIns="0" rIns="0" tIns="0" bIns="0">
            <a:spAutoFit/>
          </a:bodyPr>
          <a:lstStyle/>
          <a:p>
            <a:pPr algn="l">
              <a:spcBef>
                <a:spcPts val="0"/>
              </a:spcBef>
              <a:spcAft>
                <a:spcPts val="500"/>
              </a:spcAft>
            </a:pPr>
            <a:r>
              <a:rPr sz="1200" b="1">
                <a:solidFill>
                  <a:srgbClr val="161B26"/>
                </a:solidFill>
                <a:latin typeface="Arial"/>
              </a:rPr>
              <a:t>Cluster Architecture, Installation &amp; Configuration</a:t>
            </a:r>
          </a:p>
          <a:p>
            <a:pPr algn="l">
              <a:spcBef>
                <a:spcPts val="0"/>
              </a:spcBef>
              <a:spcAft>
                <a:spcPts val="500"/>
              </a:spcAft>
            </a:pPr>
            <a:r>
              <a:rPr sz="1200" b="0">
                <a:solidFill>
                  <a:srgbClr val="5B6372"/>
                </a:solidFill>
                <a:latin typeface="Arial"/>
              </a:rPr>
              <a:t>· kubeadm bootstrap, CNI, cluster upgrade (Labs 1–4)</a:t>
            </a:r>
          </a:p>
          <a:p>
            <a:pPr algn="l">
              <a:spcBef>
                <a:spcPts val="0"/>
              </a:spcBef>
              <a:spcAft>
                <a:spcPts val="500"/>
              </a:spcAft>
            </a:pPr>
            <a:r>
              <a:rPr sz="1200" b="0">
                <a:solidFill>
                  <a:srgbClr val="5B6372"/>
                </a:solidFill>
                <a:latin typeface="Arial"/>
              </a:rPr>
              <a:t>· HA etcd, Helm, Kustomize (Labs 5–7)</a:t>
            </a:r>
          </a:p>
          <a:p>
            <a:pPr algn="l">
              <a:spcBef>
                <a:spcPts val="0"/>
              </a:spcBef>
              <a:spcAft>
                <a:spcPts val="500"/>
              </a:spcAft>
            </a:pPr>
            <a:r>
              <a:rPr sz="1200" b="0">
                <a:solidFill>
                  <a:srgbClr val="5B6372"/>
                </a:solidFill>
                <a:latin typeface="Arial"/>
              </a:rPr>
              <a:t>· RBAC (Lab 8)</a:t>
            </a:r>
          </a:p>
        </p:txBody>
      </p:sp>
      <p:sp>
        <p:nvSpPr>
          <p:cNvPr id="11" name="Rounded Rectangle 10"/>
          <p:cNvSpPr/>
          <p:nvPr/>
        </p:nvSpPr>
        <p:spPr>
          <a:xfrm>
            <a:off x="6286500" y="1664208"/>
            <a:ext cx="5143500" cy="2084831"/>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42532" y="1920240"/>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Arial"/>
              </a:rPr>
              <a:t>2</a:t>
            </a:r>
          </a:p>
        </p:txBody>
      </p:sp>
      <p:sp>
        <p:nvSpPr>
          <p:cNvPr id="13" name="TextBox 12"/>
          <p:cNvSpPr txBox="1"/>
          <p:nvPr/>
        </p:nvSpPr>
        <p:spPr>
          <a:xfrm>
            <a:off x="7310628" y="1920240"/>
            <a:ext cx="39547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Day 2 · Domains 1+2+3</a:t>
            </a:r>
          </a:p>
        </p:txBody>
      </p:sp>
      <p:sp>
        <p:nvSpPr>
          <p:cNvPr id="14" name="TextBox 13"/>
          <p:cNvSpPr txBox="1"/>
          <p:nvPr/>
        </p:nvSpPr>
        <p:spPr>
          <a:xfrm>
            <a:off x="6560820" y="2651760"/>
            <a:ext cx="4594860" cy="1005840"/>
          </a:xfrm>
          <a:prstGeom prst="rect">
            <a:avLst/>
          </a:prstGeom>
          <a:noFill/>
        </p:spPr>
        <p:txBody>
          <a:bodyPr wrap="square" anchor="t" lIns="0" rIns="0" tIns="0" bIns="0">
            <a:spAutoFit/>
          </a:bodyPr>
          <a:lstStyle/>
          <a:p>
            <a:pPr algn="l">
              <a:spcBef>
                <a:spcPts val="0"/>
              </a:spcBef>
              <a:spcAft>
                <a:spcPts val="500"/>
              </a:spcAft>
            </a:pPr>
            <a:r>
              <a:rPr sz="1200" b="1">
                <a:solidFill>
                  <a:srgbClr val="161B26"/>
                </a:solidFill>
                <a:latin typeface="Arial"/>
              </a:rPr>
              <a:t>CRDs + Workloads &amp; Scheduling + Services start</a:t>
            </a:r>
          </a:p>
          <a:p>
            <a:pPr algn="l">
              <a:spcBef>
                <a:spcPts val="0"/>
              </a:spcBef>
              <a:spcAft>
                <a:spcPts val="500"/>
              </a:spcAft>
            </a:pPr>
            <a:r>
              <a:rPr sz="1200" b="0">
                <a:solidFill>
                  <a:srgbClr val="5B6372"/>
                </a:solidFill>
                <a:latin typeface="Arial"/>
              </a:rPr>
              <a:t>· CRDs, CRI/CNI/CSI, Deployments, ConfigMaps (Labs 9–13)</a:t>
            </a:r>
          </a:p>
          <a:p>
            <a:pPr algn="l">
              <a:spcBef>
                <a:spcPts val="0"/>
              </a:spcBef>
              <a:spcAft>
                <a:spcPts val="500"/>
              </a:spcAft>
            </a:pPr>
            <a:r>
              <a:rPr sz="1200" b="0">
                <a:solidFill>
                  <a:srgbClr val="5B6372"/>
                </a:solidFill>
                <a:latin typeface="Arial"/>
              </a:rPr>
              <a:t>· Secrets, HPA, self-healing, scheduling (Labs 14–16)</a:t>
            </a:r>
          </a:p>
          <a:p>
            <a:pPr algn="l">
              <a:spcBef>
                <a:spcPts val="0"/>
              </a:spcBef>
              <a:spcAft>
                <a:spcPts val="500"/>
              </a:spcAft>
            </a:pPr>
            <a:r>
              <a:rPr sz="1200" b="0">
                <a:solidFill>
                  <a:srgbClr val="5B6372"/>
                </a:solidFill>
                <a:latin typeface="Arial"/>
              </a:rPr>
              <a:t>· Pod connectivity, Service types (Labs 17–18)</a:t>
            </a:r>
          </a:p>
        </p:txBody>
      </p:sp>
      <p:sp>
        <p:nvSpPr>
          <p:cNvPr id="15" name="Rounded Rectangle 14"/>
          <p:cNvSpPr/>
          <p:nvPr/>
        </p:nvSpPr>
        <p:spPr>
          <a:xfrm>
            <a:off x="777240" y="3968495"/>
            <a:ext cx="5143500" cy="2084831"/>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33272" y="42245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Arial"/>
              </a:rPr>
              <a:t>3</a:t>
            </a:r>
          </a:p>
        </p:txBody>
      </p:sp>
      <p:sp>
        <p:nvSpPr>
          <p:cNvPr id="17" name="TextBox 16"/>
          <p:cNvSpPr txBox="1"/>
          <p:nvPr/>
        </p:nvSpPr>
        <p:spPr>
          <a:xfrm>
            <a:off x="1801368" y="4224527"/>
            <a:ext cx="39547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Day 3 · Domains 3+4+5</a:t>
            </a:r>
          </a:p>
        </p:txBody>
      </p:sp>
      <p:sp>
        <p:nvSpPr>
          <p:cNvPr id="18" name="TextBox 17"/>
          <p:cNvSpPr txBox="1"/>
          <p:nvPr/>
        </p:nvSpPr>
        <p:spPr>
          <a:xfrm>
            <a:off x="1051560" y="4956047"/>
            <a:ext cx="4594860" cy="1005840"/>
          </a:xfrm>
          <a:prstGeom prst="rect">
            <a:avLst/>
          </a:prstGeom>
          <a:noFill/>
        </p:spPr>
        <p:txBody>
          <a:bodyPr wrap="square" anchor="t" lIns="0" rIns="0" tIns="0" bIns="0">
            <a:spAutoFit/>
          </a:bodyPr>
          <a:lstStyle/>
          <a:p>
            <a:pPr algn="l">
              <a:spcBef>
                <a:spcPts val="0"/>
              </a:spcBef>
              <a:spcAft>
                <a:spcPts val="500"/>
              </a:spcAft>
            </a:pPr>
            <a:r>
              <a:rPr sz="1200" b="1">
                <a:solidFill>
                  <a:srgbClr val="161B26"/>
                </a:solidFill>
                <a:latin typeface="Arial"/>
              </a:rPr>
              <a:t>Networking + Storage + Troubleshooting</a:t>
            </a:r>
          </a:p>
          <a:p>
            <a:pPr algn="l">
              <a:spcBef>
                <a:spcPts val="0"/>
              </a:spcBef>
              <a:spcAft>
                <a:spcPts val="500"/>
              </a:spcAft>
            </a:pPr>
            <a:r>
              <a:rPr sz="1200" b="0">
                <a:solidFill>
                  <a:srgbClr val="5B6372"/>
                </a:solidFill>
                <a:latin typeface="Arial"/>
              </a:rPr>
              <a:t>· Ingress, Gateway API, NetworkPolicy, CoreDNS (Labs 19–22)</a:t>
            </a:r>
          </a:p>
          <a:p>
            <a:pPr algn="l">
              <a:spcBef>
                <a:spcPts val="0"/>
              </a:spcBef>
              <a:spcAft>
                <a:spcPts val="500"/>
              </a:spcAft>
            </a:pPr>
            <a:r>
              <a:rPr sz="1200" b="0">
                <a:solidFill>
                  <a:srgbClr val="5B6372"/>
                </a:solidFill>
                <a:latin typeface="Arial"/>
              </a:rPr>
              <a:t>· PV/PVC, StorageClass, volume types (Labs 23–25)</a:t>
            </a:r>
          </a:p>
          <a:p>
            <a:pPr algn="l">
              <a:spcBef>
                <a:spcPts val="0"/>
              </a:spcBef>
              <a:spcAft>
                <a:spcPts val="500"/>
              </a:spcAft>
            </a:pPr>
            <a:r>
              <a:rPr sz="1200" b="0">
                <a:solidFill>
                  <a:srgbClr val="5B6372"/>
                </a:solidFill>
                <a:latin typeface="Arial"/>
              </a:rPr>
              <a:t>· Cluster, node and application troubleshooting (Labs 26–28)</a:t>
            </a:r>
          </a:p>
        </p:txBody>
      </p:sp>
      <p:sp>
        <p:nvSpPr>
          <p:cNvPr id="19" name="Rounded Rectangle 18"/>
          <p:cNvSpPr/>
          <p:nvPr/>
        </p:nvSpPr>
        <p:spPr>
          <a:xfrm>
            <a:off x="6286500" y="3968495"/>
            <a:ext cx="5143500" cy="2084831"/>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42532" y="42245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Arial"/>
              </a:rPr>
              <a:t>4</a:t>
            </a:r>
          </a:p>
        </p:txBody>
      </p:sp>
      <p:sp>
        <p:nvSpPr>
          <p:cNvPr id="21" name="TextBox 20"/>
          <p:cNvSpPr txBox="1"/>
          <p:nvPr/>
        </p:nvSpPr>
        <p:spPr>
          <a:xfrm>
            <a:off x="7310628" y="4224527"/>
            <a:ext cx="39547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Day 4 (½ day) · Domain 5</a:t>
            </a:r>
          </a:p>
        </p:txBody>
      </p:sp>
      <p:sp>
        <p:nvSpPr>
          <p:cNvPr id="22" name="TextBox 21"/>
          <p:cNvSpPr txBox="1"/>
          <p:nvPr/>
        </p:nvSpPr>
        <p:spPr>
          <a:xfrm>
            <a:off x="6560820" y="4956047"/>
            <a:ext cx="4594860" cy="1005840"/>
          </a:xfrm>
          <a:prstGeom prst="rect">
            <a:avLst/>
          </a:prstGeom>
          <a:noFill/>
        </p:spPr>
        <p:txBody>
          <a:bodyPr wrap="square" anchor="t" lIns="0" rIns="0" tIns="0" bIns="0">
            <a:spAutoFit/>
          </a:bodyPr>
          <a:lstStyle/>
          <a:p>
            <a:pPr algn="l">
              <a:spcBef>
                <a:spcPts val="0"/>
              </a:spcBef>
              <a:spcAft>
                <a:spcPts val="500"/>
              </a:spcAft>
            </a:pPr>
            <a:r>
              <a:rPr sz="1200" b="1">
                <a:solidFill>
                  <a:srgbClr val="161B26"/>
                </a:solidFill>
                <a:latin typeface="Arial"/>
              </a:rPr>
              <a:t>Monitoring + Service triage + RBAC/scheduling debug</a:t>
            </a:r>
          </a:p>
          <a:p>
            <a:pPr algn="l">
              <a:spcBef>
                <a:spcPts val="0"/>
              </a:spcBef>
              <a:spcAft>
                <a:spcPts val="500"/>
              </a:spcAft>
            </a:pPr>
            <a:r>
              <a:rPr sz="1200" b="0">
                <a:solidFill>
                  <a:srgbClr val="5B6372"/>
                </a:solidFill>
                <a:latin typeface="Arial"/>
              </a:rPr>
              <a:t>· Monitoring, service networking, RBAC failures (Labs 29–31)</a:t>
            </a:r>
          </a:p>
          <a:p>
            <a:pPr algn="l">
              <a:spcBef>
                <a:spcPts val="0"/>
              </a:spcBef>
              <a:spcAft>
                <a:spcPts val="500"/>
              </a:spcAft>
            </a:pPr>
            <a:r>
              <a:rPr sz="1200" b="0">
                <a:solidFill>
                  <a:srgbClr val="5B6372"/>
                </a:solidFill>
                <a:latin typeface="Arial"/>
              </a:rPr>
              <a:t>· 12:00 PM lunch  ·  1:00 PM mock-exam practice</a:t>
            </a:r>
          </a:p>
          <a:p>
            <a:pPr algn="l">
              <a:spcBef>
                <a:spcPts val="0"/>
              </a:spcBef>
              <a:spcAft>
                <a:spcPts val="500"/>
              </a:spcAft>
            </a:pPr>
            <a:r>
              <a:rPr sz="1200" b="0">
                <a:solidFill>
                  <a:srgbClr val="5B6372"/>
                </a:solidFill>
                <a:latin typeface="Arial"/>
              </a:rPr>
              <a:t>· 3:30 PM tea  ·  3:45 PM final assessment</a:t>
            </a:r>
          </a:p>
        </p:txBody>
      </p:sp>
      <p:sp>
        <p:nvSpPr>
          <p:cNvPr id="23" name="Rounded Rectangle 22"/>
          <p:cNvSpPr/>
          <p:nvPr/>
        </p:nvSpPr>
        <p:spPr>
          <a:xfrm>
            <a:off x="777240" y="6089904"/>
            <a:ext cx="10652760" cy="384048"/>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6089904"/>
            <a:ext cx="10058400" cy="384048"/>
          </a:xfrm>
          <a:prstGeom prst="rect">
            <a:avLst/>
          </a:prstGeom>
          <a:noFill/>
        </p:spPr>
        <p:txBody>
          <a:bodyPr wrap="square" anchor="ctr" lIns="0" rIns="0" tIns="0" bIns="0">
            <a:spAutoFit/>
          </a:bodyPr>
          <a:lstStyle/>
          <a:p>
            <a:pPr algn="l">
              <a:spcBef>
                <a:spcPts val="0"/>
              </a:spcBef>
              <a:spcAft>
                <a:spcPts val="400"/>
              </a:spcAft>
            </a:pPr>
            <a:r>
              <a:rPr sz="1200" b="1">
                <a:solidFill>
                  <a:srgbClr val="1F6FEB"/>
                </a:solidFill>
                <a:latin typeface="Arial"/>
              </a:rPr>
              <a:t>Daily timing:   </a:t>
            </a:r>
            <a:r>
              <a:rPr sz="1200" b="0">
                <a:solidFill>
                  <a:srgbClr val="161B26"/>
                </a:solidFill>
                <a:latin typeface="Arial"/>
              </a:rPr>
              <a:t>9:00am – 6:00pm   ·   1-hour lunch   ·   short tea breaks within each day</a:t>
            </a:r>
          </a:p>
        </p:txBody>
      </p:sp>
      <p:sp>
        <p:nvSpPr>
          <p:cNvPr id="25" name="TextBox 2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6" name="TextBox 2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7" name="TextBox 2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WHAT YOU'LL ACHIEVE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Learning Outcomes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69164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1</a:t>
            </a:r>
          </a:p>
        </p:txBody>
      </p:sp>
      <p:sp>
        <p:nvSpPr>
          <p:cNvPr id="8" name="TextBox 7"/>
          <p:cNvSpPr txBox="1"/>
          <p:nvPr/>
        </p:nvSpPr>
        <p:spPr>
          <a:xfrm>
            <a:off x="1581912" y="1691640"/>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LO1   </a:t>
            </a:r>
            <a:r>
              <a:rPr sz="1500" b="0">
                <a:solidFill>
                  <a:srgbClr val="161B26"/>
                </a:solidFill>
                <a:latin typeface="Arial"/>
              </a:rPr>
              <a:t>Bootstrap a Kubernetes cluster with kubeadm, containerd, and a CNI plugin.</a:t>
            </a:r>
          </a:p>
        </p:txBody>
      </p:sp>
      <p:sp>
        <p:nvSpPr>
          <p:cNvPr id="9" name="Oval 8"/>
          <p:cNvSpPr/>
          <p:nvPr/>
        </p:nvSpPr>
        <p:spPr>
          <a:xfrm>
            <a:off x="777240" y="24048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2</a:t>
            </a:r>
          </a:p>
        </p:txBody>
      </p:sp>
      <p:sp>
        <p:nvSpPr>
          <p:cNvPr id="10" name="TextBox 9"/>
          <p:cNvSpPr txBox="1"/>
          <p:nvPr/>
        </p:nvSpPr>
        <p:spPr>
          <a:xfrm>
            <a:off x="1581912" y="2404872"/>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LO2   </a:t>
            </a:r>
            <a:r>
              <a:rPr sz="1500" b="0">
                <a:solidFill>
                  <a:srgbClr val="161B26"/>
                </a:solidFill>
                <a:latin typeface="Arial"/>
              </a:rPr>
              <a:t>Perform cluster upgrades, configure HA etcd, and back up/restore cluster state.</a:t>
            </a:r>
          </a:p>
        </p:txBody>
      </p:sp>
      <p:sp>
        <p:nvSpPr>
          <p:cNvPr id="11" name="Oval 10"/>
          <p:cNvSpPr/>
          <p:nvPr/>
        </p:nvSpPr>
        <p:spPr>
          <a:xfrm>
            <a:off x="777240" y="3118104"/>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3</a:t>
            </a:r>
          </a:p>
        </p:txBody>
      </p:sp>
      <p:sp>
        <p:nvSpPr>
          <p:cNvPr id="12" name="TextBox 11"/>
          <p:cNvSpPr txBox="1"/>
          <p:nvPr/>
        </p:nvSpPr>
        <p:spPr>
          <a:xfrm>
            <a:off x="1581912" y="3118104"/>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LO3   </a:t>
            </a:r>
            <a:r>
              <a:rPr sz="1500" b="0">
                <a:solidFill>
                  <a:srgbClr val="161B26"/>
                </a:solidFill>
                <a:latin typeface="Arial"/>
              </a:rPr>
              <a:t>Configure RBAC, Helm, Kustomize, CRDs, and the CNI/CSI/CRI extension interfaces.</a:t>
            </a:r>
          </a:p>
        </p:txBody>
      </p:sp>
      <p:sp>
        <p:nvSpPr>
          <p:cNvPr id="13" name="Oval 12"/>
          <p:cNvSpPr/>
          <p:nvPr/>
        </p:nvSpPr>
        <p:spPr>
          <a:xfrm>
            <a:off x="777240" y="383133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4</a:t>
            </a:r>
          </a:p>
        </p:txBody>
      </p:sp>
      <p:sp>
        <p:nvSpPr>
          <p:cNvPr id="14" name="TextBox 13"/>
          <p:cNvSpPr txBox="1"/>
          <p:nvPr/>
        </p:nvSpPr>
        <p:spPr>
          <a:xfrm>
            <a:off x="1581912" y="3831336"/>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LO4   </a:t>
            </a:r>
            <a:r>
              <a:rPr sz="1500" b="0">
                <a:solidFill>
                  <a:srgbClr val="161B26"/>
                </a:solidFill>
                <a:latin typeface="Arial"/>
              </a:rPr>
              <a:t>Deploy, scale, schedule, and self-heal workloads with HPA, taints, and affinity.</a:t>
            </a:r>
          </a:p>
        </p:txBody>
      </p:sp>
      <p:sp>
        <p:nvSpPr>
          <p:cNvPr id="15" name="Oval 14"/>
          <p:cNvSpPr/>
          <p:nvPr/>
        </p:nvSpPr>
        <p:spPr>
          <a:xfrm>
            <a:off x="777240" y="45445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5</a:t>
            </a:r>
          </a:p>
        </p:txBody>
      </p:sp>
      <p:sp>
        <p:nvSpPr>
          <p:cNvPr id="16" name="TextBox 15"/>
          <p:cNvSpPr txBox="1"/>
          <p:nvPr/>
        </p:nvSpPr>
        <p:spPr>
          <a:xfrm>
            <a:off x="1581912" y="4544568"/>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LO5   </a:t>
            </a:r>
            <a:r>
              <a:rPr sz="1500" b="0">
                <a:solidFill>
                  <a:srgbClr val="161B26"/>
                </a:solidFill>
                <a:latin typeface="Arial"/>
              </a:rPr>
              <a:t>Expose services with ClusterIP, NodePort, Ingress, and Gateway API; write NetworkPolicy.</a:t>
            </a:r>
          </a:p>
        </p:txBody>
      </p:sp>
      <p:sp>
        <p:nvSpPr>
          <p:cNvPr id="17" name="Oval 16"/>
          <p:cNvSpPr/>
          <p:nvPr/>
        </p:nvSpPr>
        <p:spPr>
          <a:xfrm>
            <a:off x="777240" y="525780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6</a:t>
            </a:r>
          </a:p>
        </p:txBody>
      </p:sp>
      <p:sp>
        <p:nvSpPr>
          <p:cNvPr id="18" name="TextBox 17"/>
          <p:cNvSpPr txBox="1"/>
          <p:nvPr/>
        </p:nvSpPr>
        <p:spPr>
          <a:xfrm>
            <a:off x="1581912" y="5257800"/>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LO6   </a:t>
            </a:r>
            <a:r>
              <a:rPr sz="1500" b="0">
                <a:solidFill>
                  <a:srgbClr val="161B26"/>
                </a:solidFill>
                <a:latin typeface="Arial"/>
              </a:rPr>
              <a:t>Provision persistent storage with PV/PVC, StorageClass, and troubleshoot the full cluster stack.</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257800" cy="36576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8136" y="20939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clip.png"/>
          <p:cNvPicPr>
            <a:picLocks noChangeAspect="1"/>
          </p:cNvPicPr>
          <p:nvPr/>
        </p:nvPicPr>
        <p:blipFill>
          <a:blip r:embed="rId2"/>
          <a:stretch>
            <a:fillRect/>
          </a:stretch>
        </p:blipFill>
        <p:spPr>
          <a:xfrm>
            <a:off x="1265895" y="2271735"/>
            <a:ext cx="302850" cy="302850"/>
          </a:xfrm>
          <a:prstGeom prst="rect">
            <a:avLst/>
          </a:prstGeom>
        </p:spPr>
      </p:pic>
      <p:sp>
        <p:nvSpPr>
          <p:cNvPr id="10" name="TextBox 9"/>
          <p:cNvSpPr txBox="1"/>
          <p:nvPr/>
        </p:nvSpPr>
        <p:spPr>
          <a:xfrm>
            <a:off x="196596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161B26"/>
                </a:solidFill>
                <a:latin typeface="Arial"/>
              </a:rPr>
              <a:t>Final Assessment</a:t>
            </a:r>
          </a:p>
        </p:txBody>
      </p:sp>
      <p:sp>
        <p:nvSpPr>
          <p:cNvPr id="11" name="TextBox 10"/>
          <p:cNvSpPr txBox="1"/>
          <p:nvPr/>
        </p:nvSpPr>
        <p:spPr>
          <a:xfrm>
            <a:off x="1088136" y="3063240"/>
            <a:ext cx="4636008" cy="2194560"/>
          </a:xfrm>
          <a:prstGeom prst="rect">
            <a:avLst/>
          </a:prstGeom>
          <a:noFill/>
        </p:spPr>
        <p:txBody>
          <a:bodyPr wrap="square" lIns="0" rIns="0">
            <a:spAutoFit/>
          </a:bodyPr>
          <a:lstStyle/>
          <a:p>
            <a:pPr>
              <a:spcBef>
                <a:spcPts val="0"/>
              </a:spcBef>
              <a:spcAft>
                <a:spcPts val="1000"/>
              </a:spcAft>
            </a:pPr>
            <a:r>
              <a:rPr sz="1300" b="1">
                <a:solidFill>
                  <a:srgbClr val="1F6FEB"/>
                </a:solidFill>
                <a:latin typeface="Arial"/>
              </a:rPr>
              <a:t>•  </a:t>
            </a:r>
            <a:r>
              <a:rPr sz="1300">
                <a:solidFill>
                  <a:srgbClr val="161B26"/>
                </a:solidFill>
                <a:latin typeface="Arial"/>
              </a:rPr>
              <a:t>Written / MCQ assessment on the LMS</a:t>
            </a:r>
          </a:p>
          <a:p>
            <a:pPr>
              <a:spcBef>
                <a:spcPts val="0"/>
              </a:spcBef>
              <a:spcAft>
                <a:spcPts val="1000"/>
              </a:spcAft>
            </a:pPr>
            <a:r>
              <a:rPr sz="1300" b="1">
                <a:solidFill>
                  <a:srgbClr val="1F6FEB"/>
                </a:solidFill>
                <a:latin typeface="Arial"/>
              </a:rPr>
              <a:t>•  </a:t>
            </a:r>
            <a:r>
              <a:rPr sz="1300">
                <a:solidFill>
                  <a:srgbClr val="161B26"/>
                </a:solidFill>
                <a:latin typeface="Arial"/>
              </a:rPr>
              <a:t>Mock-exam practice from 1:00 PM; final assessment from 3:45 PM</a:t>
            </a:r>
          </a:p>
          <a:p>
            <a:pPr>
              <a:spcBef>
                <a:spcPts val="0"/>
              </a:spcBef>
              <a:spcAft>
                <a:spcPts val="1000"/>
              </a:spcAft>
            </a:pPr>
            <a:r>
              <a:rPr sz="1300" b="1">
                <a:solidFill>
                  <a:srgbClr val="1F6FEB"/>
                </a:solidFill>
                <a:latin typeface="Arial"/>
              </a:rPr>
              <a:t>•  </a:t>
            </a:r>
            <a:r>
              <a:rPr sz="1300">
                <a:solidFill>
                  <a:srgbClr val="161B26"/>
                </a:solidFill>
                <a:latin typeface="Arial"/>
              </a:rPr>
              <a:t>Covers all five CKA domains and the hands-on labs</a:t>
            </a:r>
          </a:p>
          <a:p>
            <a:pPr>
              <a:spcBef>
                <a:spcPts val="0"/>
              </a:spcBef>
              <a:spcAft>
                <a:spcPts val="1000"/>
              </a:spcAft>
            </a:pPr>
            <a:r>
              <a:rPr sz="1300" b="1">
                <a:solidFill>
                  <a:srgbClr val="1F6FEB"/>
                </a:solidFill>
                <a:latin typeface="Arial"/>
              </a:rPr>
              <a:t>•  </a:t>
            </a:r>
            <a:r>
              <a:rPr sz="1300">
                <a:solidFill>
                  <a:srgbClr val="161B26"/>
                </a:solidFill>
                <a:latin typeface="Arial"/>
              </a:rPr>
              <a:t>Open book — slides, Learner Guide &amp; kubernetes.io</a:t>
            </a:r>
          </a:p>
          <a:p>
            <a:pPr>
              <a:spcBef>
                <a:spcPts val="0"/>
              </a:spcBef>
              <a:spcAft>
                <a:spcPts val="1000"/>
              </a:spcAft>
            </a:pPr>
            <a:r>
              <a:rPr sz="1300" b="1">
                <a:solidFill>
                  <a:srgbClr val="1F6FEB"/>
                </a:solidFill>
                <a:latin typeface="Arial"/>
              </a:rPr>
              <a:t>•  </a:t>
            </a:r>
            <a:r>
              <a:rPr sz="1300">
                <a:solidFill>
                  <a:srgbClr val="161B26"/>
                </a:solidFill>
                <a:latin typeface="Arial"/>
              </a:rPr>
              <a:t>Must be attempted for SSG funding</a:t>
            </a:r>
          </a:p>
        </p:txBody>
      </p:sp>
      <p:sp>
        <p:nvSpPr>
          <p:cNvPr id="12" name="Rounded Rectangle 11"/>
          <p:cNvSpPr/>
          <p:nvPr/>
        </p:nvSpPr>
        <p:spPr>
          <a:xfrm>
            <a:off x="6309360" y="1783080"/>
            <a:ext cx="5257800" cy="3657600"/>
          </a:xfrm>
          <a:prstGeom prst="roundRect">
            <a:avLst>
              <a:gd name="adj" fmla="val 5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20256" y="2093976"/>
            <a:ext cx="658368" cy="658368"/>
          </a:xfrm>
          <a:prstGeom prst="ellipse">
            <a:avLst/>
          </a:prstGeom>
          <a:solidFill>
            <a:srgbClr val="0B4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FFFFFF"/>
                </a:solidFill>
                <a:latin typeface="Arial"/>
              </a:rPr>
              <a:t>Funding &amp; Competency</a:t>
            </a:r>
          </a:p>
        </p:txBody>
      </p:sp>
      <p:sp>
        <p:nvSpPr>
          <p:cNvPr id="15" name="TextBox 14"/>
          <p:cNvSpPr txBox="1"/>
          <p:nvPr/>
        </p:nvSpPr>
        <p:spPr>
          <a:xfrm>
            <a:off x="6620256" y="310896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Minimum 75% attendance</a:t>
            </a:r>
          </a:p>
          <a:p>
            <a:pPr algn="l">
              <a:spcBef>
                <a:spcPts val="0"/>
              </a:spcBef>
              <a:spcAft>
                <a:spcPts val="600"/>
              </a:spcAft>
            </a:pPr>
            <a:r>
              <a:rPr sz="1300" b="0">
                <a:solidFill>
                  <a:srgbClr val="CFE0FB"/>
                </a:solidFill>
                <a:latin typeface="Arial"/>
              </a:rPr>
              <a:t>Based on SSG digital attendance records.</a:t>
            </a:r>
          </a:p>
        </p:txBody>
      </p:sp>
      <p:sp>
        <p:nvSpPr>
          <p:cNvPr id="16" name="TextBox 15"/>
          <p:cNvSpPr txBox="1"/>
          <p:nvPr/>
        </p:nvSpPr>
        <p:spPr>
          <a:xfrm>
            <a:off x="6620256" y="429768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Assessed as Competent</a:t>
            </a:r>
          </a:p>
          <a:p>
            <a:pPr algn="l">
              <a:spcBef>
                <a:spcPts val="0"/>
              </a:spcBef>
              <a:spcAft>
                <a:spcPts val="600"/>
              </a:spcAft>
            </a:pPr>
            <a:r>
              <a:rPr sz="1300" b="0">
                <a:solidFill>
                  <a:srgbClr val="CFE0FB"/>
                </a:solidFill>
                <a:latin typeface="Arial"/>
              </a:rPr>
              <a:t>Pass the written / MCQ assessment.</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ASSESSMENT RULES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Briefing for Assessment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br1.png"/>
          <p:cNvPicPr>
            <a:picLocks noChangeAspect="1"/>
          </p:cNvPicPr>
          <p:nvPr/>
        </p:nvPicPr>
        <p:blipFill>
          <a:blip r:embed="rId2"/>
          <a:stretch>
            <a:fillRect/>
          </a:stretch>
        </p:blipFill>
        <p:spPr>
          <a:xfrm>
            <a:off x="1177198" y="2137318"/>
            <a:ext cx="260788" cy="260788"/>
          </a:xfrm>
          <a:prstGeom prst="rect">
            <a:avLst/>
          </a:prstGeom>
        </p:spPr>
      </p:pic>
      <p:sp>
        <p:nvSpPr>
          <p:cNvPr id="10" name="TextBox 9"/>
          <p:cNvSpPr txBox="1"/>
          <p:nvPr/>
        </p:nvSpPr>
        <p:spPr>
          <a:xfrm>
            <a:off x="175564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Clear your space</a:t>
            </a:r>
          </a:p>
        </p:txBody>
      </p:sp>
      <p:sp>
        <p:nvSpPr>
          <p:cNvPr id="11" name="TextBox 10"/>
          <p:cNvSpPr txBox="1"/>
          <p:nvPr/>
        </p:nvSpPr>
        <p:spPr>
          <a:xfrm>
            <a:off x="102412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Keep only approved materials on the table.</a:t>
            </a:r>
          </a:p>
        </p:txBody>
      </p:sp>
      <p:sp>
        <p:nvSpPr>
          <p:cNvPr id="12" name="Rounded Rectangle 11"/>
          <p:cNvSpPr/>
          <p:nvPr/>
        </p:nvSpPr>
        <p:spPr>
          <a:xfrm>
            <a:off x="441960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648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br2.png"/>
          <p:cNvPicPr>
            <a:picLocks noChangeAspect="1"/>
          </p:cNvPicPr>
          <p:nvPr/>
        </p:nvPicPr>
        <p:blipFill>
          <a:blip r:embed="rId3"/>
          <a:stretch>
            <a:fillRect/>
          </a:stretch>
        </p:blipFill>
        <p:spPr>
          <a:xfrm>
            <a:off x="4819558" y="2137318"/>
            <a:ext cx="260788" cy="260788"/>
          </a:xfrm>
          <a:prstGeom prst="rect">
            <a:avLst/>
          </a:prstGeom>
        </p:spPr>
      </p:pic>
      <p:sp>
        <p:nvSpPr>
          <p:cNvPr id="15" name="TextBox 14"/>
          <p:cNvSpPr txBox="1"/>
          <p:nvPr/>
        </p:nvSpPr>
        <p:spPr>
          <a:xfrm>
            <a:off x="539800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No recording</a:t>
            </a:r>
          </a:p>
        </p:txBody>
      </p:sp>
      <p:sp>
        <p:nvSpPr>
          <p:cNvPr id="16" name="TextBox 15"/>
          <p:cNvSpPr txBox="1"/>
          <p:nvPr/>
        </p:nvSpPr>
        <p:spPr>
          <a:xfrm>
            <a:off x="466648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photos of the assessment.</a:t>
            </a:r>
          </a:p>
        </p:txBody>
      </p:sp>
      <p:sp>
        <p:nvSpPr>
          <p:cNvPr id="17" name="Rounded Rectangle 16"/>
          <p:cNvSpPr/>
          <p:nvPr/>
        </p:nvSpPr>
        <p:spPr>
          <a:xfrm>
            <a:off x="806196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884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br3.png"/>
          <p:cNvPicPr>
            <a:picLocks noChangeAspect="1"/>
          </p:cNvPicPr>
          <p:nvPr/>
        </p:nvPicPr>
        <p:blipFill>
          <a:blip r:embed="rId4"/>
          <a:stretch>
            <a:fillRect/>
          </a:stretch>
        </p:blipFill>
        <p:spPr>
          <a:xfrm>
            <a:off x="8461918" y="2137318"/>
            <a:ext cx="260788" cy="260788"/>
          </a:xfrm>
          <a:prstGeom prst="rect">
            <a:avLst/>
          </a:prstGeom>
        </p:spPr>
      </p:pic>
      <p:sp>
        <p:nvSpPr>
          <p:cNvPr id="20" name="TextBox 19"/>
          <p:cNvSpPr txBox="1"/>
          <p:nvPr/>
        </p:nvSpPr>
        <p:spPr>
          <a:xfrm>
            <a:off x="904036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Work individually</a:t>
            </a:r>
          </a:p>
        </p:txBody>
      </p:sp>
      <p:sp>
        <p:nvSpPr>
          <p:cNvPr id="21" name="TextBox 20"/>
          <p:cNvSpPr txBox="1"/>
          <p:nvPr/>
        </p:nvSpPr>
        <p:spPr>
          <a:xfrm>
            <a:off x="830884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discussion during the assessment.</a:t>
            </a:r>
          </a:p>
        </p:txBody>
      </p:sp>
      <p:sp>
        <p:nvSpPr>
          <p:cNvPr id="22" name="Rounded Rectangle 21"/>
          <p:cNvSpPr/>
          <p:nvPr/>
        </p:nvSpPr>
        <p:spPr>
          <a:xfrm>
            <a:off x="77724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br4.png"/>
          <p:cNvPicPr>
            <a:picLocks noChangeAspect="1"/>
          </p:cNvPicPr>
          <p:nvPr/>
        </p:nvPicPr>
        <p:blipFill>
          <a:blip r:embed="rId5"/>
          <a:stretch>
            <a:fillRect/>
          </a:stretch>
        </p:blipFill>
        <p:spPr>
          <a:xfrm>
            <a:off x="1177198" y="4167286"/>
            <a:ext cx="260788" cy="260788"/>
          </a:xfrm>
          <a:prstGeom prst="rect">
            <a:avLst/>
          </a:prstGeom>
        </p:spPr>
      </p:pic>
      <p:sp>
        <p:nvSpPr>
          <p:cNvPr id="25" name="TextBox 24"/>
          <p:cNvSpPr txBox="1"/>
          <p:nvPr/>
        </p:nvSpPr>
        <p:spPr>
          <a:xfrm>
            <a:off x="175564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Use the LMS</a:t>
            </a:r>
          </a:p>
        </p:txBody>
      </p:sp>
      <p:sp>
        <p:nvSpPr>
          <p:cNvPr id="26" name="TextBox 25"/>
          <p:cNvSpPr txBox="1"/>
          <p:nvPr/>
        </p:nvSpPr>
        <p:spPr>
          <a:xfrm>
            <a:off x="102412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The assessment is delivered online.</a:t>
            </a:r>
          </a:p>
        </p:txBody>
      </p:sp>
      <p:sp>
        <p:nvSpPr>
          <p:cNvPr id="27" name="Rounded Rectangle 26"/>
          <p:cNvSpPr/>
          <p:nvPr/>
        </p:nvSpPr>
        <p:spPr>
          <a:xfrm>
            <a:off x="441960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648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gr4.png"/>
          <p:cNvPicPr>
            <a:picLocks noChangeAspect="1"/>
          </p:cNvPicPr>
          <p:nvPr/>
        </p:nvPicPr>
        <p:blipFill>
          <a:blip r:embed="rId6"/>
          <a:stretch>
            <a:fillRect/>
          </a:stretch>
        </p:blipFill>
        <p:spPr>
          <a:xfrm>
            <a:off x="4819558" y="4167286"/>
            <a:ext cx="260788" cy="260788"/>
          </a:xfrm>
          <a:prstGeom prst="rect">
            <a:avLst/>
          </a:prstGeom>
        </p:spPr>
      </p:pic>
      <p:sp>
        <p:nvSpPr>
          <p:cNvPr id="30" name="TextBox 29"/>
          <p:cNvSpPr txBox="1"/>
          <p:nvPr/>
        </p:nvSpPr>
        <p:spPr>
          <a:xfrm>
            <a:off x="539800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Open book</a:t>
            </a:r>
          </a:p>
        </p:txBody>
      </p:sp>
      <p:sp>
        <p:nvSpPr>
          <p:cNvPr id="31" name="TextBox 30"/>
          <p:cNvSpPr txBox="1"/>
          <p:nvPr/>
        </p:nvSpPr>
        <p:spPr>
          <a:xfrm>
            <a:off x="466648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Slides, Learner Guide &amp; kubernetes.io are allowed.</a:t>
            </a:r>
          </a:p>
        </p:txBody>
      </p:sp>
      <p:sp>
        <p:nvSpPr>
          <p:cNvPr id="32" name="Rounded Rectangle 31"/>
          <p:cNvSpPr/>
          <p:nvPr/>
        </p:nvSpPr>
        <p:spPr>
          <a:xfrm>
            <a:off x="806196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884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_br6.png"/>
          <p:cNvPicPr>
            <a:picLocks noChangeAspect="1"/>
          </p:cNvPicPr>
          <p:nvPr/>
        </p:nvPicPr>
        <p:blipFill>
          <a:blip r:embed="rId7"/>
          <a:stretch>
            <a:fillRect/>
          </a:stretch>
        </p:blipFill>
        <p:spPr>
          <a:xfrm>
            <a:off x="8461918" y="4167286"/>
            <a:ext cx="260788" cy="260788"/>
          </a:xfrm>
          <a:prstGeom prst="rect">
            <a:avLst/>
          </a:prstGeom>
        </p:spPr>
      </p:pic>
      <p:sp>
        <p:nvSpPr>
          <p:cNvPr id="35" name="TextBox 34"/>
          <p:cNvSpPr txBox="1"/>
          <p:nvPr/>
        </p:nvSpPr>
        <p:spPr>
          <a:xfrm>
            <a:off x="904036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Time's up</a:t>
            </a:r>
          </a:p>
        </p:txBody>
      </p:sp>
      <p:sp>
        <p:nvSpPr>
          <p:cNvPr id="36" name="TextBox 35"/>
          <p:cNvSpPr txBox="1"/>
          <p:nvPr/>
        </p:nvSpPr>
        <p:spPr>
          <a:xfrm>
            <a:off x="830884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Submit when time is up.</a:t>
            </a: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Cluster Architecture, Installation &amp; Configuration</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Domain 1 (25%) — Labs 1–8  ·  kubeadm · CNI · upgrade · HA · Helm · Kustomize · RBAC</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01</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Kubernetes Architecture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The control plane, worker nodes and their components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CLUSTER ANATOMY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Makes a Kubernetes Cluster?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Kubernetes cluster is a set of nodes: one or more control-plane nodes and worker nodes.</a:t>
            </a:r>
          </a:p>
          <a:p>
            <a:pPr>
              <a:spcBef>
                <a:spcPts val="0"/>
              </a:spcBef>
              <a:spcAft>
                <a:spcPts val="1000"/>
              </a:spcAft>
            </a:pPr>
            <a:r>
              <a:rPr sz="1900" b="1">
                <a:solidFill>
                  <a:srgbClr val="1F6FEB"/>
                </a:solidFill>
                <a:latin typeface="Arial"/>
              </a:rPr>
              <a:t>•  </a:t>
            </a:r>
            <a:r>
              <a:rPr sz="1900">
                <a:solidFill>
                  <a:srgbClr val="161B26"/>
                </a:solidFill>
                <a:latin typeface="Arial"/>
              </a:rPr>
              <a:t>The control plane stores cluster state in etcd and runs the scheduler and controller loops.</a:t>
            </a:r>
          </a:p>
          <a:p>
            <a:pPr>
              <a:spcBef>
                <a:spcPts val="0"/>
              </a:spcBef>
              <a:spcAft>
                <a:spcPts val="1000"/>
              </a:spcAft>
            </a:pPr>
            <a:r>
              <a:rPr sz="1900" b="1">
                <a:solidFill>
                  <a:srgbClr val="1F6FEB"/>
                </a:solidFill>
                <a:latin typeface="Arial"/>
              </a:rPr>
              <a:t>•  </a:t>
            </a:r>
            <a:r>
              <a:rPr sz="1900">
                <a:solidFill>
                  <a:srgbClr val="161B26"/>
                </a:solidFill>
                <a:latin typeface="Arial"/>
              </a:rPr>
              <a:t>Worker nodes run the kubelet (node agent), kube-proxy (service routing), container runtime and CNI plugin.</a:t>
            </a:r>
          </a:p>
          <a:p>
            <a:pPr>
              <a:spcBef>
                <a:spcPts val="0"/>
              </a:spcBef>
              <a:spcAft>
                <a:spcPts val="1000"/>
              </a:spcAft>
            </a:pPr>
            <a:r>
              <a:rPr sz="1900" b="1">
                <a:solidFill>
                  <a:srgbClr val="1F6FEB"/>
                </a:solidFill>
                <a:latin typeface="Arial"/>
              </a:rPr>
              <a:t>•  </a:t>
            </a:r>
            <a:r>
              <a:rPr sz="1900">
                <a:solidFill>
                  <a:srgbClr val="161B26"/>
                </a:solidFill>
                <a:latin typeface="Arial"/>
              </a:rPr>
              <a:t>The kube-apiserver is the single entry point — all tools (kubectl, controllers, kubelets) talk to it.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BRAIN OF THE CLUSTER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Control Plane Components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kube-apiserver</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REST gateway to etcd</a:t>
            </a:r>
          </a:p>
          <a:p>
            <a:pPr>
              <a:spcBef>
                <a:spcPts val="0"/>
              </a:spcBef>
              <a:spcAft>
                <a:spcPts val="900"/>
              </a:spcAft>
            </a:pPr>
            <a:r>
              <a:rPr sz="1400" b="1">
                <a:solidFill>
                  <a:srgbClr val="1F6FEB"/>
                </a:solidFill>
                <a:latin typeface="Arial"/>
              </a:rPr>
              <a:t>•  </a:t>
            </a:r>
            <a:r>
              <a:rPr sz="1400">
                <a:solidFill>
                  <a:srgbClr val="161B26"/>
                </a:solidFill>
                <a:latin typeface="Arial"/>
              </a:rPr>
              <a:t>AuthN + AuthZ + admission</a:t>
            </a:r>
          </a:p>
          <a:p>
            <a:pPr>
              <a:spcBef>
                <a:spcPts val="0"/>
              </a:spcBef>
              <a:spcAft>
                <a:spcPts val="900"/>
              </a:spcAft>
            </a:pPr>
            <a:r>
              <a:rPr sz="1400" b="1">
                <a:solidFill>
                  <a:srgbClr val="1F6FEB"/>
                </a:solidFill>
                <a:latin typeface="Arial"/>
              </a:rPr>
              <a:t>•  </a:t>
            </a:r>
            <a:r>
              <a:rPr sz="1400">
                <a:solidFill>
                  <a:srgbClr val="161B26"/>
                </a:solidFill>
                <a:latin typeface="Arial"/>
              </a:rPr>
              <a:t>All state changes go here</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kube-scheduler</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Selects a node for each pod</a:t>
            </a:r>
          </a:p>
          <a:p>
            <a:pPr>
              <a:spcBef>
                <a:spcPts val="0"/>
              </a:spcBef>
              <a:spcAft>
                <a:spcPts val="900"/>
              </a:spcAft>
            </a:pPr>
            <a:r>
              <a:rPr sz="1400" b="1">
                <a:solidFill>
                  <a:srgbClr val="10B981"/>
                </a:solidFill>
                <a:latin typeface="Arial"/>
              </a:rPr>
              <a:t>•  </a:t>
            </a:r>
            <a:r>
              <a:rPr sz="1400">
                <a:solidFill>
                  <a:srgbClr val="161B26"/>
                </a:solidFill>
                <a:latin typeface="Arial"/>
              </a:rPr>
              <a:t>Evaluates resource requests</a:t>
            </a:r>
          </a:p>
          <a:p>
            <a:pPr>
              <a:spcBef>
                <a:spcPts val="0"/>
              </a:spcBef>
              <a:spcAft>
                <a:spcPts val="900"/>
              </a:spcAft>
            </a:pPr>
            <a:r>
              <a:rPr sz="1400" b="1">
                <a:solidFill>
                  <a:srgbClr val="10B981"/>
                </a:solidFill>
                <a:latin typeface="Arial"/>
              </a:rPr>
              <a:t>•  </a:t>
            </a:r>
            <a:r>
              <a:rPr sz="1400">
                <a:solidFill>
                  <a:srgbClr val="161B26"/>
                </a:solidFill>
                <a:latin typeface="Arial"/>
              </a:rPr>
              <a:t>taints, affinity, topology</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kube-controller-manager</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Reconciliation loops</a:t>
            </a:r>
          </a:p>
          <a:p>
            <a:pPr>
              <a:spcBef>
                <a:spcPts val="0"/>
              </a:spcBef>
              <a:spcAft>
                <a:spcPts val="900"/>
              </a:spcAft>
            </a:pPr>
            <a:r>
              <a:rPr sz="1400" b="1">
                <a:solidFill>
                  <a:srgbClr val="7C3AED"/>
                </a:solidFill>
                <a:latin typeface="Arial"/>
              </a:rPr>
              <a:t>•  </a:t>
            </a:r>
            <a:r>
              <a:rPr sz="1400">
                <a:solidFill>
                  <a:srgbClr val="161B26"/>
                </a:solidFill>
                <a:latin typeface="Arial"/>
              </a:rPr>
              <a:t>Node, ReplicaSet, Job</a:t>
            </a:r>
          </a:p>
          <a:p>
            <a:pPr>
              <a:spcBef>
                <a:spcPts val="0"/>
              </a:spcBef>
              <a:spcAft>
                <a:spcPts val="900"/>
              </a:spcAft>
            </a:pPr>
            <a:r>
              <a:rPr sz="1400" b="1">
                <a:solidFill>
                  <a:srgbClr val="7C3AED"/>
                </a:solidFill>
                <a:latin typeface="Arial"/>
              </a:rPr>
              <a:t>•  </a:t>
            </a:r>
            <a:r>
              <a:rPr sz="1400">
                <a:solidFill>
                  <a:srgbClr val="161B26"/>
                </a:solidFill>
                <a:latin typeface="Arial"/>
              </a:rPr>
              <a:t>Drives actual → desired state</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CLUSTER COMPONENTS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Architecture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91640"/>
            <a:ext cx="5303520" cy="347472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5303520" cy="292608"/>
          </a:xfrm>
          <a:prstGeom prst="rect">
            <a:avLst/>
          </a:prstGeom>
          <a:noFill/>
        </p:spPr>
        <p:txBody>
          <a:bodyPr wrap="square" anchor="ctr" lIns="0" rIns="0" tIns="0" bIns="0">
            <a:spAutoFit/>
          </a:bodyPr>
          <a:lstStyle/>
          <a:p>
            <a:pPr algn="ctr">
              <a:spcBef>
                <a:spcPts val="0"/>
              </a:spcBef>
              <a:spcAft>
                <a:spcPts val="400"/>
              </a:spcAft>
            </a:pPr>
            <a:r>
              <a:rPr sz="1400" b="1">
                <a:solidFill>
                  <a:srgbClr val="1F6FEB"/>
                </a:solidFill>
                <a:latin typeface="Arial"/>
              </a:rPr>
              <a:t>Control Plane</a:t>
            </a:r>
          </a:p>
        </p:txBody>
      </p:sp>
      <p:sp>
        <p:nvSpPr>
          <p:cNvPr id="9" name="Rounded Rectangle 8"/>
          <p:cNvSpPr/>
          <p:nvPr/>
        </p:nvSpPr>
        <p:spPr>
          <a:xfrm>
            <a:off x="1005840" y="2148840"/>
            <a:ext cx="4846320" cy="585216"/>
          </a:xfrm>
          <a:prstGeom prst="roundRect">
            <a:avLst>
              <a:gd name="adj" fmla="val 5000"/>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5568" y="2148840"/>
            <a:ext cx="462686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F6FEB"/>
                </a:solidFill>
                <a:latin typeface="Arial"/>
              </a:rPr>
              <a:t>kube-apiserver</a:t>
            </a:r>
          </a:p>
          <a:p>
            <a:pPr algn="ctr">
              <a:spcBef>
                <a:spcPts val="0"/>
              </a:spcBef>
              <a:spcAft>
                <a:spcPts val="300"/>
              </a:spcAft>
            </a:pPr>
            <a:r>
              <a:rPr sz="1000" b="0">
                <a:solidFill>
                  <a:srgbClr val="5B6372"/>
                </a:solidFill>
                <a:latin typeface="Arial"/>
              </a:rPr>
              <a:t>REST gateway, auth, admission</a:t>
            </a:r>
          </a:p>
        </p:txBody>
      </p:sp>
      <p:sp>
        <p:nvSpPr>
          <p:cNvPr id="11" name="Rounded Rectangle 10"/>
          <p:cNvSpPr/>
          <p:nvPr/>
        </p:nvSpPr>
        <p:spPr>
          <a:xfrm>
            <a:off x="1005840" y="2843784"/>
            <a:ext cx="4846320" cy="585216"/>
          </a:xfrm>
          <a:prstGeom prst="roundRect">
            <a:avLst>
              <a:gd name="adj" fmla="val 5000"/>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5568" y="2843784"/>
            <a:ext cx="462686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F6FEB"/>
                </a:solidFill>
                <a:latin typeface="Arial"/>
              </a:rPr>
              <a:t>kube-scheduler</a:t>
            </a:r>
          </a:p>
          <a:p>
            <a:pPr algn="ctr">
              <a:spcBef>
                <a:spcPts val="0"/>
              </a:spcBef>
              <a:spcAft>
                <a:spcPts val="300"/>
              </a:spcAft>
            </a:pPr>
            <a:r>
              <a:rPr sz="1000" b="0">
                <a:solidFill>
                  <a:srgbClr val="5B6372"/>
                </a:solidFill>
                <a:latin typeface="Arial"/>
              </a:rPr>
              <a:t>chooses which node for each pod</a:t>
            </a:r>
          </a:p>
        </p:txBody>
      </p:sp>
      <p:sp>
        <p:nvSpPr>
          <p:cNvPr id="13" name="Rounded Rectangle 12"/>
          <p:cNvSpPr/>
          <p:nvPr/>
        </p:nvSpPr>
        <p:spPr>
          <a:xfrm>
            <a:off x="1005840" y="3538728"/>
            <a:ext cx="4846320" cy="585216"/>
          </a:xfrm>
          <a:prstGeom prst="roundRect">
            <a:avLst>
              <a:gd name="adj" fmla="val 5000"/>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5568" y="3538728"/>
            <a:ext cx="462686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F6FEB"/>
                </a:solidFill>
                <a:latin typeface="Arial"/>
              </a:rPr>
              <a:t>kube-controller-manager</a:t>
            </a:r>
          </a:p>
          <a:p>
            <a:pPr algn="ctr">
              <a:spcBef>
                <a:spcPts val="0"/>
              </a:spcBef>
              <a:spcAft>
                <a:spcPts val="300"/>
              </a:spcAft>
            </a:pPr>
            <a:r>
              <a:rPr sz="1000" b="0">
                <a:solidFill>
                  <a:srgbClr val="5B6372"/>
                </a:solidFill>
                <a:latin typeface="Arial"/>
              </a:rPr>
              <a:t>reconciliation loops</a:t>
            </a:r>
          </a:p>
        </p:txBody>
      </p:sp>
      <p:sp>
        <p:nvSpPr>
          <p:cNvPr id="15" name="Rounded Rectangle 14"/>
          <p:cNvSpPr/>
          <p:nvPr/>
        </p:nvSpPr>
        <p:spPr>
          <a:xfrm>
            <a:off x="1005840" y="4233672"/>
            <a:ext cx="4846320" cy="585216"/>
          </a:xfrm>
          <a:prstGeom prst="roundRect">
            <a:avLst>
              <a:gd name="adj" fmla="val 5000"/>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5568" y="4233672"/>
            <a:ext cx="462686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F6FEB"/>
                </a:solidFill>
                <a:latin typeface="Arial"/>
              </a:rPr>
              <a:t>etcd</a:t>
            </a:r>
          </a:p>
          <a:p>
            <a:pPr algn="ctr">
              <a:spcBef>
                <a:spcPts val="0"/>
              </a:spcBef>
              <a:spcAft>
                <a:spcPts val="300"/>
              </a:spcAft>
            </a:pPr>
            <a:r>
              <a:rPr sz="1000" b="0">
                <a:solidFill>
                  <a:srgbClr val="5B6372"/>
                </a:solidFill>
                <a:latin typeface="Arial"/>
              </a:rPr>
              <a:t>key-value store — cluster state</a:t>
            </a:r>
          </a:p>
        </p:txBody>
      </p:sp>
      <p:sp>
        <p:nvSpPr>
          <p:cNvPr id="17" name="Rounded Rectangle 16"/>
          <p:cNvSpPr/>
          <p:nvPr/>
        </p:nvSpPr>
        <p:spPr>
          <a:xfrm>
            <a:off x="6492240" y="1691640"/>
            <a:ext cx="4937760" cy="347472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691640"/>
            <a:ext cx="4937760" cy="292608"/>
          </a:xfrm>
          <a:prstGeom prst="rect">
            <a:avLst/>
          </a:prstGeom>
          <a:noFill/>
        </p:spPr>
        <p:txBody>
          <a:bodyPr wrap="square" anchor="ctr" lIns="0" rIns="0" tIns="0" bIns="0">
            <a:spAutoFit/>
          </a:bodyPr>
          <a:lstStyle/>
          <a:p>
            <a:pPr algn="ctr">
              <a:spcBef>
                <a:spcPts val="0"/>
              </a:spcBef>
              <a:spcAft>
                <a:spcPts val="400"/>
              </a:spcAft>
            </a:pPr>
            <a:r>
              <a:rPr sz="1400" b="1">
                <a:solidFill>
                  <a:srgbClr val="10B981"/>
                </a:solidFill>
                <a:latin typeface="Arial"/>
              </a:rPr>
              <a:t>Worker Node</a:t>
            </a:r>
          </a:p>
        </p:txBody>
      </p:sp>
      <p:sp>
        <p:nvSpPr>
          <p:cNvPr id="19" name="Rounded Rectangle 18"/>
          <p:cNvSpPr/>
          <p:nvPr/>
        </p:nvSpPr>
        <p:spPr>
          <a:xfrm>
            <a:off x="6720840" y="2148840"/>
            <a:ext cx="4480560" cy="585216"/>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0568" y="2148840"/>
            <a:ext cx="426110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kubelet</a:t>
            </a:r>
          </a:p>
          <a:p>
            <a:pPr algn="ctr">
              <a:spcBef>
                <a:spcPts val="0"/>
              </a:spcBef>
              <a:spcAft>
                <a:spcPts val="300"/>
              </a:spcAft>
            </a:pPr>
            <a:r>
              <a:rPr sz="1000" b="0">
                <a:solidFill>
                  <a:srgbClr val="5B6372"/>
                </a:solidFill>
                <a:latin typeface="Arial"/>
              </a:rPr>
              <a:t>manages pods on this node</a:t>
            </a:r>
          </a:p>
        </p:txBody>
      </p:sp>
      <p:sp>
        <p:nvSpPr>
          <p:cNvPr id="21" name="Rounded Rectangle 20"/>
          <p:cNvSpPr/>
          <p:nvPr/>
        </p:nvSpPr>
        <p:spPr>
          <a:xfrm>
            <a:off x="6720840" y="2843784"/>
            <a:ext cx="4480560" cy="585216"/>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30568" y="2843784"/>
            <a:ext cx="426110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kube-proxy</a:t>
            </a:r>
          </a:p>
          <a:p>
            <a:pPr algn="ctr">
              <a:spcBef>
                <a:spcPts val="0"/>
              </a:spcBef>
              <a:spcAft>
                <a:spcPts val="300"/>
              </a:spcAft>
            </a:pPr>
            <a:r>
              <a:rPr sz="1000" b="0">
                <a:solidFill>
                  <a:srgbClr val="5B6372"/>
                </a:solidFill>
                <a:latin typeface="Arial"/>
              </a:rPr>
              <a:t>iptables / IPVS service routing</a:t>
            </a:r>
          </a:p>
        </p:txBody>
      </p:sp>
      <p:sp>
        <p:nvSpPr>
          <p:cNvPr id="23" name="Rounded Rectangle 22"/>
          <p:cNvSpPr/>
          <p:nvPr/>
        </p:nvSpPr>
        <p:spPr>
          <a:xfrm>
            <a:off x="6720840" y="3538728"/>
            <a:ext cx="4480560" cy="585216"/>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30568" y="3538728"/>
            <a:ext cx="426110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container runtime</a:t>
            </a:r>
          </a:p>
          <a:p>
            <a:pPr algn="ctr">
              <a:spcBef>
                <a:spcPts val="0"/>
              </a:spcBef>
              <a:spcAft>
                <a:spcPts val="300"/>
              </a:spcAft>
            </a:pPr>
            <a:r>
              <a:rPr sz="1000" b="0">
                <a:solidFill>
                  <a:srgbClr val="5B6372"/>
                </a:solidFill>
                <a:latin typeface="Arial"/>
              </a:rPr>
              <a:t>containerd / CRI-O</a:t>
            </a:r>
          </a:p>
        </p:txBody>
      </p:sp>
      <p:sp>
        <p:nvSpPr>
          <p:cNvPr id="25" name="Rounded Rectangle 24"/>
          <p:cNvSpPr/>
          <p:nvPr/>
        </p:nvSpPr>
        <p:spPr>
          <a:xfrm>
            <a:off x="6720840" y="4233672"/>
            <a:ext cx="4480560" cy="585216"/>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0568" y="4233672"/>
            <a:ext cx="426110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CNI plugin</a:t>
            </a:r>
          </a:p>
          <a:p>
            <a:pPr algn="ctr">
              <a:spcBef>
                <a:spcPts val="0"/>
              </a:spcBef>
              <a:spcAft>
                <a:spcPts val="300"/>
              </a:spcAft>
            </a:pPr>
            <a:r>
              <a:rPr sz="1000" b="0">
                <a:solidFill>
                  <a:srgbClr val="5B6372"/>
                </a:solidFill>
                <a:latin typeface="Arial"/>
              </a:rPr>
              <a:t>pod networking (Calico, Cilium)</a:t>
            </a:r>
          </a:p>
        </p:txBody>
      </p:sp>
      <p:sp>
        <p:nvSpPr>
          <p:cNvPr id="27" name="Right Arrow 26"/>
          <p:cNvSpPr/>
          <p:nvPr/>
        </p:nvSpPr>
        <p:spPr>
          <a:xfrm>
            <a:off x="2880360" y="5440680"/>
            <a:ext cx="1371600" cy="384048"/>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0" y="5166360"/>
            <a:ext cx="1645920" cy="292608"/>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kubectl</a:t>
            </a:r>
          </a:p>
        </p:txBody>
      </p:sp>
      <p:sp>
        <p:nvSpPr>
          <p:cNvPr id="29" name="TextBox 28"/>
          <p:cNvSpPr txBox="1"/>
          <p:nvPr/>
        </p:nvSpPr>
        <p:spPr>
          <a:xfrm>
            <a:off x="777240" y="5349240"/>
            <a:ext cx="2011680" cy="457200"/>
          </a:xfrm>
          <a:prstGeom prst="rect">
            <a:avLst/>
          </a:prstGeom>
          <a:noFill/>
        </p:spPr>
        <p:txBody>
          <a:bodyPr wrap="square" anchor="t" lIns="0" rIns="0" tIns="0" bIns="0">
            <a:spAutoFit/>
          </a:bodyPr>
          <a:lstStyle/>
          <a:p>
            <a:pPr algn="ctr">
              <a:spcBef>
                <a:spcPts val="0"/>
              </a:spcBef>
              <a:spcAft>
                <a:spcPts val="400"/>
              </a:spcAft>
            </a:pPr>
            <a:r>
              <a:rPr sz="1400" b="1">
                <a:solidFill>
                  <a:srgbClr val="161B26"/>
                </a:solidFill>
                <a:latin typeface="Arial"/>
              </a:rPr>
              <a:t>client</a:t>
            </a:r>
          </a:p>
        </p:txBody>
      </p:sp>
      <p:sp>
        <p:nvSpPr>
          <p:cNvPr id="30" name="TextBox 29"/>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1" name="TextBox 3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2" name="TextBox 3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CLUSTER ANATOMY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Architecture — Control Plane &amp; Worker Nodes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a_s004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WHERE WORKLOADS RUN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Worker Node Components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kubelet: the node agent — watches the API server for pods assigned to this node and starts/stops containers.</a:t>
            </a:r>
          </a:p>
          <a:p>
            <a:pPr>
              <a:spcBef>
                <a:spcPts val="0"/>
              </a:spcBef>
              <a:spcAft>
                <a:spcPts val="1000"/>
              </a:spcAft>
            </a:pPr>
            <a:r>
              <a:rPr sz="1900" b="1">
                <a:solidFill>
                  <a:srgbClr val="1F6FEB"/>
                </a:solidFill>
                <a:latin typeface="Arial"/>
              </a:rPr>
              <a:t>•  </a:t>
            </a:r>
            <a:r>
              <a:rPr sz="1900">
                <a:solidFill>
                  <a:srgbClr val="161B26"/>
                </a:solidFill>
                <a:latin typeface="Arial"/>
              </a:rPr>
              <a:t>kube-proxy: programs iptables or IPVS rules to implement Service ClusterIP and NodePort routing.</a:t>
            </a:r>
          </a:p>
          <a:p>
            <a:pPr>
              <a:spcBef>
                <a:spcPts val="0"/>
              </a:spcBef>
              <a:spcAft>
                <a:spcPts val="1000"/>
              </a:spcAft>
            </a:pPr>
            <a:r>
              <a:rPr sz="1900" b="1">
                <a:solidFill>
                  <a:srgbClr val="1F6FEB"/>
                </a:solidFill>
                <a:latin typeface="Arial"/>
              </a:rPr>
              <a:t>•  </a:t>
            </a:r>
            <a:r>
              <a:rPr sz="1900">
                <a:solidFill>
                  <a:srgbClr val="161B26"/>
                </a:solidFill>
                <a:latin typeface="Arial"/>
              </a:rPr>
              <a:t>Container runtime: containerd (default) or CRI-O; communicates with kubelet via the CRI gRPC interface.</a:t>
            </a:r>
          </a:p>
          <a:p>
            <a:pPr>
              <a:spcBef>
                <a:spcPts val="0"/>
              </a:spcBef>
              <a:spcAft>
                <a:spcPts val="1000"/>
              </a:spcAft>
            </a:pPr>
            <a:r>
              <a:rPr sz="1900" b="1">
                <a:solidFill>
                  <a:srgbClr val="1F6FEB"/>
                </a:solidFill>
                <a:latin typeface="Arial"/>
              </a:rPr>
              <a:t>•  </a:t>
            </a:r>
            <a:r>
              <a:rPr sz="1900">
                <a:solidFill>
                  <a:srgbClr val="161B26"/>
                </a:solidFill>
                <a:latin typeface="Arial"/>
              </a:rPr>
              <a:t>CNI plugin: called on every pod create/delete to assign an IP; Calico and Cilium are the most common CKA choices.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kubeadm Installation</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Bootstrap a production-grade cluster in minutes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BY STEP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Install Sequence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Pre-flight: load overlay + br_netfilter kernel modules; set net.ipv4.ip_forward=1 sysctl; swap off.</a:t>
            </a:r>
          </a:p>
          <a:p>
            <a:pPr>
              <a:spcBef>
                <a:spcPts val="0"/>
              </a:spcBef>
              <a:spcAft>
                <a:spcPts val="1000"/>
              </a:spcAft>
            </a:pPr>
            <a:r>
              <a:rPr sz="1900" b="1">
                <a:solidFill>
                  <a:srgbClr val="1F6FEB"/>
                </a:solidFill>
                <a:latin typeface="Arial"/>
              </a:rPr>
              <a:t>•  </a:t>
            </a:r>
            <a:r>
              <a:rPr sz="1900">
                <a:solidFill>
                  <a:srgbClr val="161B26"/>
                </a:solidFill>
                <a:latin typeface="Arial"/>
              </a:rPr>
              <a:t>Install containerd with SystemdCgroup=true; then install kubeadm, kubelet and kubectl from pkgs.k8s.io.</a:t>
            </a:r>
          </a:p>
          <a:p>
            <a:pPr>
              <a:spcBef>
                <a:spcPts val="0"/>
              </a:spcBef>
              <a:spcAft>
                <a:spcPts val="1000"/>
              </a:spcAft>
            </a:pPr>
            <a:r>
              <a:rPr sz="1900" b="1">
                <a:solidFill>
                  <a:srgbClr val="1F6FEB"/>
                </a:solidFill>
                <a:latin typeface="Arial"/>
              </a:rPr>
              <a:t>•  </a:t>
            </a:r>
            <a:r>
              <a:rPr sz="1900">
                <a:solidFill>
                  <a:srgbClr val="161B26"/>
                </a:solidFill>
                <a:latin typeface="Arial"/>
              </a:rPr>
              <a:t>kubeadm init generates the PKI under /etc/kubernetes/pki/, writes static pod manifests and prints the join command.</a:t>
            </a:r>
          </a:p>
          <a:p>
            <a:pPr>
              <a:spcBef>
                <a:spcPts val="0"/>
              </a:spcBef>
              <a:spcAft>
                <a:spcPts val="1000"/>
              </a:spcAft>
            </a:pPr>
            <a:r>
              <a:rPr sz="1900" b="1">
                <a:solidFill>
                  <a:srgbClr val="1F6FEB"/>
                </a:solidFill>
                <a:latin typeface="Arial"/>
              </a:rPr>
              <a:t>•  </a:t>
            </a:r>
            <a:r>
              <a:rPr sz="1900">
                <a:solidFill>
                  <a:srgbClr val="161B26"/>
                </a:solidFill>
                <a:latin typeface="Arial"/>
              </a:rPr>
              <a:t>Copy /etc/kubernetes/admin.conf to ~/.kube/config; apply a CNI manifest (Calico/Cilium); then kubeadm join on workers.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KUBEADM INIT THEN JOIN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Flow</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64592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53619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kubeadm init</a:t>
            </a:r>
          </a:p>
          <a:p>
            <a:pPr algn="ctr">
              <a:spcBef>
                <a:spcPts val="0"/>
              </a:spcBef>
              <a:spcAft>
                <a:spcPts val="300"/>
              </a:spcAft>
            </a:pPr>
            <a:r>
              <a:rPr sz="1100" b="0">
                <a:solidFill>
                  <a:srgbClr val="5B6372"/>
                </a:solidFill>
                <a:latin typeface="Arial"/>
              </a:rPr>
              <a:t>generates PKI (pki/)</a:t>
            </a:r>
          </a:p>
          <a:p>
            <a:pPr algn="ctr">
              <a:spcBef>
                <a:spcPts val="0"/>
              </a:spcBef>
              <a:spcAft>
                <a:spcPts val="300"/>
              </a:spcAft>
            </a:pPr>
            <a:r>
              <a:rPr sz="1100" b="0">
                <a:solidFill>
                  <a:srgbClr val="5B6372"/>
                </a:solidFill>
                <a:latin typeface="Arial"/>
              </a:rPr>
              <a:t>writes static pod manifests</a:t>
            </a:r>
          </a:p>
          <a:p>
            <a:pPr algn="ctr">
              <a:spcBef>
                <a:spcPts val="0"/>
              </a:spcBef>
              <a:spcAft>
                <a:spcPts val="300"/>
              </a:spcAft>
            </a:pPr>
            <a:r>
              <a:rPr sz="1100" b="0">
                <a:solidFill>
                  <a:srgbClr val="5B6372"/>
                </a:solidFill>
                <a:latin typeface="Arial"/>
              </a:rPr>
              <a:t>prints bootstrap token</a:t>
            </a:r>
          </a:p>
        </p:txBody>
      </p:sp>
      <p:sp>
        <p:nvSpPr>
          <p:cNvPr id="10" name="Right Arrow 9"/>
          <p:cNvSpPr/>
          <p:nvPr/>
        </p:nvSpPr>
        <p:spPr>
          <a:xfrm>
            <a:off x="3840480" y="3090672"/>
            <a:ext cx="731520" cy="402336"/>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control plane ready</a:t>
            </a:r>
          </a:p>
        </p:txBody>
      </p:sp>
      <p:sp>
        <p:nvSpPr>
          <p:cNvPr id="12" name="Rounded Rectangle 11"/>
          <p:cNvSpPr/>
          <p:nvPr/>
        </p:nvSpPr>
        <p:spPr>
          <a:xfrm>
            <a:off x="4572000" y="2468880"/>
            <a:ext cx="3063240" cy="164592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1728" y="2468880"/>
            <a:ext cx="2843784" cy="1645920"/>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kubectl apply CNI</a:t>
            </a:r>
          </a:p>
          <a:p>
            <a:pPr algn="ctr">
              <a:spcBef>
                <a:spcPts val="0"/>
              </a:spcBef>
              <a:spcAft>
                <a:spcPts val="300"/>
              </a:spcAft>
            </a:pPr>
            <a:r>
              <a:rPr sz="1100" b="0">
                <a:solidFill>
                  <a:srgbClr val="5B6372"/>
                </a:solidFill>
                <a:latin typeface="Arial"/>
              </a:rPr>
              <a:t>e.g. Calico or Cilium</a:t>
            </a:r>
          </a:p>
          <a:p>
            <a:pPr algn="ctr">
              <a:spcBef>
                <a:spcPts val="0"/>
              </a:spcBef>
              <a:spcAft>
                <a:spcPts val="300"/>
              </a:spcAft>
            </a:pPr>
            <a:r>
              <a:rPr sz="1100" b="0">
                <a:solidFill>
                  <a:srgbClr val="5B6372"/>
                </a:solidFill>
                <a:latin typeface="Arial"/>
              </a:rPr>
              <a:t>nodes go Ready</a:t>
            </a:r>
          </a:p>
        </p:txBody>
      </p:sp>
      <p:sp>
        <p:nvSpPr>
          <p:cNvPr id="14" name="Right Arrow 13"/>
          <p:cNvSpPr/>
          <p:nvPr/>
        </p:nvSpPr>
        <p:spPr>
          <a:xfrm>
            <a:off x="7635240" y="3090672"/>
            <a:ext cx="731520" cy="402336"/>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cluster usable</a:t>
            </a:r>
          </a:p>
        </p:txBody>
      </p:sp>
      <p:sp>
        <p:nvSpPr>
          <p:cNvPr id="16" name="Rounded Rectangle 15"/>
          <p:cNvSpPr/>
          <p:nvPr/>
        </p:nvSpPr>
        <p:spPr>
          <a:xfrm>
            <a:off x="8366760" y="2468880"/>
            <a:ext cx="3063240" cy="164592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6676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578608"/>
            <a:ext cx="2843784" cy="153619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kubeadm join</a:t>
            </a:r>
          </a:p>
          <a:p>
            <a:pPr algn="ctr">
              <a:spcBef>
                <a:spcPts val="0"/>
              </a:spcBef>
              <a:spcAft>
                <a:spcPts val="300"/>
              </a:spcAft>
            </a:pPr>
            <a:r>
              <a:rPr sz="1100" b="0">
                <a:solidFill>
                  <a:srgbClr val="5B6372"/>
                </a:solidFill>
                <a:latin typeface="Arial"/>
              </a:rPr>
              <a:t>worker uses token + CA hash</a:t>
            </a:r>
          </a:p>
          <a:p>
            <a:pPr algn="ctr">
              <a:spcBef>
                <a:spcPts val="0"/>
              </a:spcBef>
              <a:spcAft>
                <a:spcPts val="300"/>
              </a:spcAft>
            </a:pPr>
            <a:r>
              <a:rPr sz="1100" b="0">
                <a:solidFill>
                  <a:srgbClr val="5B6372"/>
                </a:solidFill>
                <a:latin typeface="Arial"/>
              </a:rPr>
              <a:t>kubelet registers node</a:t>
            </a:r>
          </a:p>
        </p:txBody>
      </p:sp>
      <p:sp>
        <p:nvSpPr>
          <p:cNvPr id="19" name="Rounded Rectangle 18"/>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Manifests: </a:t>
            </a:r>
            <a:r>
              <a:rPr sz="1300" b="1">
                <a:solidFill>
                  <a:srgbClr val="161B26"/>
                </a:solidFill>
                <a:latin typeface="Arial"/>
              </a:rPr>
              <a:t>/etc/kubernetes/manifests/</a:t>
            </a:r>
            <a:r>
              <a:rPr sz="1300" b="0">
                <a:solidFill>
                  <a:srgbClr val="5B6372"/>
                </a:solidFill>
                <a:latin typeface="Arial"/>
              </a:rPr>
              <a:t>  ·  PKI: </a:t>
            </a:r>
            <a:r>
              <a:rPr sz="1300" b="1">
                <a:solidFill>
                  <a:srgbClr val="161B26"/>
                </a:solidFill>
                <a:latin typeface="Arial"/>
              </a:rPr>
              <a:t>/etc/kubernetes/pki/</a:t>
            </a:r>
            <a:r>
              <a:rPr sz="1300" b="0">
                <a:solidFill>
                  <a:srgbClr val="5B6372"/>
                </a:solidFill>
                <a:latin typeface="Arial"/>
              </a:rPr>
              <a:t>  ·  kubeconfig: ~/.kube/config</a:t>
            </a:r>
          </a:p>
        </p:txBody>
      </p:sp>
      <p:sp>
        <p:nvSpPr>
          <p:cNvPr id="21" name="TextBox 2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2" name="TextBox 2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3" name="TextBox 2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CLUSTER ARCHITECTURE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Prerequisites and Container Runtime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Cluster installation</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Prepare two clean Ubuntu nodes for a Kubernetes cluster install: load kernel modules, configure sysctls, install containerd as the CRI, and install kubeadm/kubelet/kubectl from the official pkgs.k8s.io repository. CKA tests this sequence in troubleshooting questions where a node is NotReady due to a misconfigured runtime.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Configure kernel modules, sysctls, containerd (SystemdCgroup=true), and install pinned Kubernetes packages on both nodes.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sudo swapoff · sudo apt · » SystemdCgroup · kubeadm version</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Prerequisites and Container Runtime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Load kernel modules</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sudo tee /etc/modules-load.d/k8s.conf</a:t>
            </a:r>
          </a:p>
          <a:p>
            <a:pPr>
              <a:spcBef>
                <a:spcPts val="0"/>
              </a:spcBef>
              <a:spcAft>
                <a:spcPts val="0"/>
              </a:spcAft>
            </a:pPr>
            <a:r>
              <a:rPr sz="1050">
                <a:solidFill>
                  <a:srgbClr val="161B26"/>
                </a:solidFill>
                <a:latin typeface="Consolas"/>
              </a:rPr>
              <a:t>overlay</a:t>
            </a:r>
          </a:p>
          <a:p>
            <a:pPr>
              <a:spcBef>
                <a:spcPts val="0"/>
              </a:spcBef>
              <a:spcAft>
                <a:spcPts val="0"/>
              </a:spcAft>
            </a:pPr>
            <a:r>
              <a:rPr sz="1050">
                <a:solidFill>
                  <a:srgbClr val="161B26"/>
                </a:solidFill>
                <a:latin typeface="Consolas"/>
              </a:rPr>
              <a:t>br_netfilter</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sudo modprobe overlay</a:t>
            </a:r>
          </a:p>
          <a:p>
            <a:pPr>
              <a:spcBef>
                <a:spcPts val="0"/>
              </a:spcBef>
              <a:spcAft>
                <a:spcPts val="0"/>
              </a:spcAft>
            </a:pPr>
            <a:r>
              <a:rPr sz="1050">
                <a:solidFill>
                  <a:srgbClr val="161B26"/>
                </a:solidFill>
                <a:latin typeface="Consolas"/>
              </a:rPr>
              <a:t>sudo modprobe br_netfilter</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Set required sysctls</a:t>
            </a:r>
          </a:p>
        </p:txBody>
      </p:sp>
      <p:sp>
        <p:nvSpPr>
          <p:cNvPr id="12" name="Rounded Rectangle 11"/>
          <p:cNvSpPr/>
          <p:nvPr/>
        </p:nvSpPr>
        <p:spPr>
          <a:xfrm>
            <a:off x="777240" y="3913632"/>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sudo tee /etc/sysctl.d/k8s.conf</a:t>
            </a:r>
          </a:p>
          <a:p>
            <a:pPr>
              <a:spcBef>
                <a:spcPts val="0"/>
              </a:spcBef>
              <a:spcAft>
                <a:spcPts val="0"/>
              </a:spcAft>
            </a:pPr>
            <a:r>
              <a:rPr sz="1050">
                <a:solidFill>
                  <a:srgbClr val="161B26"/>
                </a:solidFill>
                <a:latin typeface="Consolas"/>
              </a:rPr>
              <a:t>net.bridge.bridge-nf-call-iptables  = 1</a:t>
            </a:r>
          </a:p>
          <a:p>
            <a:pPr>
              <a:spcBef>
                <a:spcPts val="0"/>
              </a:spcBef>
              <a:spcAft>
                <a:spcPts val="0"/>
              </a:spcAft>
            </a:pPr>
            <a:r>
              <a:rPr sz="1050">
                <a:solidFill>
                  <a:srgbClr val="161B26"/>
                </a:solidFill>
                <a:latin typeface="Consolas"/>
              </a:rPr>
              <a:t>net.bridge.bridge-nf-call-ip6tables = 1</a:t>
            </a:r>
          </a:p>
          <a:p>
            <a:pPr>
              <a:spcBef>
                <a:spcPts val="0"/>
              </a:spcBef>
              <a:spcAft>
                <a:spcPts val="0"/>
              </a:spcAft>
            </a:pPr>
            <a:r>
              <a:rPr sz="1050">
                <a:solidFill>
                  <a:srgbClr val="161B26"/>
                </a:solidFill>
                <a:latin typeface="Consolas"/>
              </a:rPr>
              <a:t>net.ipv4.ip_forward                 = 1</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sudo sysctl --system</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Prerequisites and Container Runtime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Disable swap</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sudo swapoff -a</a:t>
            </a:r>
          </a:p>
          <a:p>
            <a:pPr>
              <a:spcBef>
                <a:spcPts val="0"/>
              </a:spcBef>
              <a:spcAft>
                <a:spcPts val="0"/>
              </a:spcAft>
            </a:pPr>
            <a:r>
              <a:rPr sz="1050">
                <a:solidFill>
                  <a:srgbClr val="161B26"/>
                </a:solidFill>
                <a:latin typeface="Consolas"/>
              </a:rPr>
              <a:t>sudo sed -i '/ swap / s/^(.*)$/#\1/g' /etc/fstab</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Install containerd</a:t>
            </a:r>
          </a:p>
        </p:txBody>
      </p:sp>
      <p:sp>
        <p:nvSpPr>
          <p:cNvPr id="12" name="Rounded Rectangle 11"/>
          <p:cNvSpPr/>
          <p:nvPr/>
        </p:nvSpPr>
        <p:spPr>
          <a:xfrm>
            <a:off x="777240" y="3163823"/>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sudo apt update &amp;&amp; sudo apt install -y containerd</a:t>
            </a:r>
          </a:p>
          <a:p>
            <a:pPr>
              <a:spcBef>
                <a:spcPts val="0"/>
              </a:spcBef>
              <a:spcAft>
                <a:spcPts val="0"/>
              </a:spcAft>
            </a:pPr>
            <a:r>
              <a:rPr sz="1050">
                <a:solidFill>
                  <a:srgbClr val="161B26"/>
                </a:solidFill>
                <a:latin typeface="Consolas"/>
              </a:rPr>
              <a:t>sudo mkdir -p /etc/containerd</a:t>
            </a:r>
          </a:p>
          <a:p>
            <a:pPr>
              <a:spcBef>
                <a:spcPts val="0"/>
              </a:spcBef>
              <a:spcAft>
                <a:spcPts val="0"/>
              </a:spcAft>
            </a:pPr>
            <a:r>
              <a:rPr sz="1050">
                <a:solidFill>
                  <a:srgbClr val="161B26"/>
                </a:solidFill>
                <a:latin typeface="Consolas"/>
              </a:rPr>
              <a:t>containerd config default | sudo tee /etc/containerd/config.toml</a:t>
            </a:r>
          </a:p>
          <a:p>
            <a:pPr>
              <a:spcBef>
                <a:spcPts val="0"/>
              </a:spcBef>
              <a:spcAft>
                <a:spcPts val="0"/>
              </a:spcAft>
            </a:pPr>
            <a:r>
              <a:rPr sz="1050">
                <a:solidFill>
                  <a:srgbClr val="161B26"/>
                </a:solidFill>
                <a:latin typeface="Consolas"/>
              </a:rPr>
              <a:t>sudo sed -i 's/SystemdCgroup = false/SystemdCgroup = true/' /etc/containerd/config.toml</a:t>
            </a:r>
          </a:p>
          <a:p>
            <a:pPr>
              <a:spcBef>
                <a:spcPts val="0"/>
              </a:spcBef>
              <a:spcAft>
                <a:spcPts val="0"/>
              </a:spcAft>
            </a:pPr>
            <a:r>
              <a:rPr sz="1050">
                <a:solidFill>
                  <a:srgbClr val="161B26"/>
                </a:solidFill>
                <a:latin typeface="Consolas"/>
              </a:rPr>
              <a:t>sudo systemctl restart containerd &amp;&amp; sudo systemctl enable containerd</a:t>
            </a:r>
          </a:p>
        </p:txBody>
      </p:sp>
      <p:sp>
        <p:nvSpPr>
          <p:cNvPr id="15" name="TextBox 14"/>
          <p:cNvSpPr txBox="1"/>
          <p:nvPr/>
        </p:nvSpPr>
        <p:spPr>
          <a:xfrm>
            <a:off x="777240" y="4430266"/>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SystemdCgroup = true aligns containerd's cgroup driver with kubelet. A mismatch is the #1 cause of 'node NotReady' in fresh clusters.</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Prerequisites and Container Runtime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Install kubeadm, kubelet, kubectl</a:t>
            </a:r>
          </a:p>
        </p:txBody>
      </p:sp>
      <p:sp>
        <p:nvSpPr>
          <p:cNvPr id="8" name="Rounded Rectangle 7"/>
          <p:cNvSpPr/>
          <p:nvPr/>
        </p:nvSpPr>
        <p:spPr>
          <a:xfrm>
            <a:off x="777240" y="2075688"/>
            <a:ext cx="10652760" cy="1645919"/>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6459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554479"/>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sudo apt install -y apt-transport-https ca-certificates curl gpg</a:t>
            </a:r>
          </a:p>
          <a:p>
            <a:pPr>
              <a:spcBef>
                <a:spcPts val="0"/>
              </a:spcBef>
              <a:spcAft>
                <a:spcPts val="0"/>
              </a:spcAft>
            </a:pPr>
            <a:r>
              <a:rPr sz="1050">
                <a:solidFill>
                  <a:srgbClr val="161B26"/>
                </a:solidFill>
                <a:latin typeface="Consolas"/>
              </a:rPr>
              <a:t>sudo mkdir -p /etc/apt/keyrings</a:t>
            </a:r>
          </a:p>
          <a:p>
            <a:pPr>
              <a:spcBef>
                <a:spcPts val="0"/>
              </a:spcBef>
              <a:spcAft>
                <a:spcPts val="0"/>
              </a:spcAft>
            </a:pPr>
            <a:r>
              <a:rPr sz="1050">
                <a:solidFill>
                  <a:srgbClr val="161B26"/>
                </a:solidFill>
                <a:latin typeface="Consolas"/>
              </a:rPr>
              <a:t>curl -fsSL https://pkgs.k8s.io/core:/stable:/v1.31/deb/Release.key | \</a:t>
            </a:r>
          </a:p>
          <a:p>
            <a:pPr>
              <a:spcBef>
                <a:spcPts val="0"/>
              </a:spcBef>
              <a:spcAft>
                <a:spcPts val="0"/>
              </a:spcAft>
            </a:pPr>
            <a:r>
              <a:rPr sz="1050">
                <a:solidFill>
                  <a:srgbClr val="161B26"/>
                </a:solidFill>
                <a:latin typeface="Consolas"/>
              </a:rPr>
              <a:t>  sudo gpg --dearmor -o /etc/apt/keyrings/kubernetes-apt-keyring.gpg</a:t>
            </a:r>
          </a:p>
          <a:p>
            <a:pPr>
              <a:spcBef>
                <a:spcPts val="0"/>
              </a:spcBef>
              <a:spcAft>
                <a:spcPts val="0"/>
              </a:spcAft>
            </a:pPr>
            <a:r>
              <a:rPr sz="1050">
                <a:solidFill>
                  <a:srgbClr val="161B26"/>
                </a:solidFill>
                <a:latin typeface="Consolas"/>
              </a:rPr>
              <a:t>echo 'deb [signed-by=/etc/apt/keyrings/kubernetes-apt-keyring.gpg] https://pkgs.k8s.io/core:/stable:/v1.31/deb/ /' | \</a:t>
            </a:r>
          </a:p>
          <a:p>
            <a:pPr>
              <a:spcBef>
                <a:spcPts val="0"/>
              </a:spcBef>
              <a:spcAft>
                <a:spcPts val="0"/>
              </a:spcAft>
            </a:pPr>
            <a:r>
              <a:rPr sz="1050">
                <a:solidFill>
                  <a:srgbClr val="161B26"/>
                </a:solidFill>
                <a:latin typeface="Consolas"/>
              </a:rPr>
              <a:t>  sudo tee /etc/apt/sources.list.d/kubernetes.list</a:t>
            </a:r>
          </a:p>
          <a:p>
            <a:pPr>
              <a:spcBef>
                <a:spcPts val="0"/>
              </a:spcBef>
              <a:spcAft>
                <a:spcPts val="0"/>
              </a:spcAft>
            </a:pPr>
            <a:r>
              <a:rPr sz="1050">
                <a:solidFill>
                  <a:srgbClr val="161B26"/>
                </a:solidFill>
                <a:latin typeface="Consolas"/>
              </a:rPr>
              <a:t>sudo apt update &amp;&amp; sudo apt install -y kubelet kubeadm kubectl</a:t>
            </a:r>
          </a:p>
          <a:p>
            <a:pPr>
              <a:spcBef>
                <a:spcPts val="0"/>
              </a:spcBef>
              <a:spcAft>
                <a:spcPts val="0"/>
              </a:spcAft>
            </a:pPr>
            <a:r>
              <a:rPr sz="1050">
                <a:solidFill>
                  <a:srgbClr val="161B26"/>
                </a:solidFill>
                <a:latin typeface="Consolas"/>
              </a:rPr>
              <a:t>sudo apt-mark hold kubelet kubeadm kubectl</a:t>
            </a:r>
          </a:p>
        </p:txBody>
      </p:sp>
      <p:sp>
        <p:nvSpPr>
          <p:cNvPr id="11" name="TextBox 10"/>
          <p:cNvSpPr txBox="1"/>
          <p:nvPr/>
        </p:nvSpPr>
        <p:spPr>
          <a:xfrm>
            <a:off x="777240" y="3904487"/>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6 -- Verify</a:t>
            </a:r>
          </a:p>
        </p:txBody>
      </p:sp>
      <p:sp>
        <p:nvSpPr>
          <p:cNvPr id="12" name="Rounded Rectangle 11"/>
          <p:cNvSpPr/>
          <p:nvPr/>
        </p:nvSpPr>
        <p:spPr>
          <a:xfrm>
            <a:off x="777240" y="4288535"/>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88535"/>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352543"/>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kubeadm version</a:t>
            </a:r>
          </a:p>
          <a:p>
            <a:pPr>
              <a:spcBef>
                <a:spcPts val="0"/>
              </a:spcBef>
              <a:spcAft>
                <a:spcPts val="0"/>
              </a:spcAft>
            </a:pPr>
            <a:r>
              <a:rPr sz="1050">
                <a:solidFill>
                  <a:srgbClr val="161B26"/>
                </a:solidFill>
                <a:latin typeface="Consolas"/>
              </a:rPr>
              <a:t>kubectl version --client</a:t>
            </a:r>
          </a:p>
          <a:p>
            <a:pPr>
              <a:spcBef>
                <a:spcPts val="0"/>
              </a:spcBef>
              <a:spcAft>
                <a:spcPts val="0"/>
              </a:spcAft>
            </a:pPr>
            <a:r>
              <a:rPr sz="1050">
                <a:solidFill>
                  <a:srgbClr val="161B26"/>
                </a:solidFill>
                <a:latin typeface="Consolas"/>
              </a:rPr>
              <a:t>sudo systemctl status containerd --no-pager | head</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Prerequisites and Container Runtime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kubeadm version shows v1.31.x, containerd is active, and crictl reports the runtime version.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CLUSTER ARCHITECTURE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init, kubeconfig, Worker Join, Cluster PKI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Cluster installation</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Run kubeadm init to create the control plane, configure kubectl access via kubeconfig, join a worker node using the bootstrap token, explore the PKI certificates under /etc/kubernetes/pki/, take an etcd snapshot, and inspect static pod manifests. The CKA exam always includes an etcd backup/restore question.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kubeadm init, copy admin.conf, join worker, explore PKI, take etcd snapshot with etcdctl.</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kubeadm init · mkdir -p · ls /etc/kubernetes/manifests/ · ls /etc/kubernetes/pki/ · export ETCDCTL_API=3 · » Always · kubeadm toke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init, kubeconfig, Worker Join, Cluster PKI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Initialize the control plane</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kubeadm init \</a:t>
            </a:r>
          </a:p>
          <a:p>
            <a:pPr>
              <a:spcBef>
                <a:spcPts val="0"/>
              </a:spcBef>
              <a:spcAft>
                <a:spcPts val="0"/>
              </a:spcAft>
            </a:pPr>
            <a:r>
              <a:rPr sz="1050">
                <a:solidFill>
                  <a:srgbClr val="161B26"/>
                </a:solidFill>
                <a:latin typeface="Consolas"/>
              </a:rPr>
              <a:t>  --kubernetes-version=v1.35.0 \</a:t>
            </a:r>
          </a:p>
          <a:p>
            <a:pPr>
              <a:spcBef>
                <a:spcPts val="0"/>
              </a:spcBef>
              <a:spcAft>
                <a:spcPts val="0"/>
              </a:spcAft>
            </a:pPr>
            <a:r>
              <a:rPr sz="1050">
                <a:solidFill>
                  <a:srgbClr val="161B26"/>
                </a:solidFill>
                <a:latin typeface="Consolas"/>
              </a:rPr>
              <a:t>  --pod-network-cidr=192.168.0.0/16 \</a:t>
            </a:r>
          </a:p>
          <a:p>
            <a:pPr>
              <a:spcBef>
                <a:spcPts val="0"/>
              </a:spcBef>
              <a:spcAft>
                <a:spcPts val="0"/>
              </a:spcAft>
            </a:pPr>
            <a:r>
              <a:rPr sz="1050">
                <a:solidFill>
                  <a:srgbClr val="161B26"/>
                </a:solidFill>
                <a:latin typeface="Consolas"/>
              </a:rPr>
              <a:t>  --service-cidr=10.96.0.0/12 \</a:t>
            </a:r>
          </a:p>
          <a:p>
            <a:pPr>
              <a:spcBef>
                <a:spcPts val="0"/>
              </a:spcBef>
              <a:spcAft>
                <a:spcPts val="0"/>
              </a:spcAft>
            </a:pPr>
            <a:r>
              <a:rPr sz="1050">
                <a:solidFill>
                  <a:srgbClr val="161B26"/>
                </a:solidFill>
                <a:latin typeface="Consolas"/>
              </a:rPr>
              <a:t>  --apiserver-advertise-address=$(hostname -I | awk '{print $1}')</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Configure kubectl</a:t>
            </a:r>
          </a:p>
        </p:txBody>
      </p:sp>
      <p:sp>
        <p:nvSpPr>
          <p:cNvPr id="12" name="Rounded Rectangle 11"/>
          <p:cNvSpPr/>
          <p:nvPr/>
        </p:nvSpPr>
        <p:spPr>
          <a:xfrm>
            <a:off x="777240" y="3726179"/>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mkdir -p $HOME/.kube</a:t>
            </a:r>
          </a:p>
          <a:p>
            <a:pPr>
              <a:spcBef>
                <a:spcPts val="0"/>
              </a:spcBef>
              <a:spcAft>
                <a:spcPts val="0"/>
              </a:spcAft>
            </a:pPr>
            <a:r>
              <a:rPr sz="1050">
                <a:solidFill>
                  <a:srgbClr val="161B26"/>
                </a:solidFill>
                <a:latin typeface="Consolas"/>
              </a:rPr>
              <a:t>cp -i /etc/kubernetes/admin.conf $HOME/.kube/config</a:t>
            </a:r>
          </a:p>
          <a:p>
            <a:pPr>
              <a:spcBef>
                <a:spcPts val="0"/>
              </a:spcBef>
              <a:spcAft>
                <a:spcPts val="0"/>
              </a:spcAft>
            </a:pPr>
            <a:r>
              <a:rPr sz="1050">
                <a:solidFill>
                  <a:srgbClr val="161B26"/>
                </a:solidFill>
                <a:latin typeface="Consolas"/>
              </a:rPr>
              <a:t>chown $(id -u):$(id -g) $HOME/.kube/config</a:t>
            </a:r>
          </a:p>
          <a:p>
            <a:pPr>
              <a:spcBef>
                <a:spcPts val="0"/>
              </a:spcBef>
              <a:spcAft>
                <a:spcPts val="0"/>
              </a:spcAft>
            </a:pPr>
            <a:r>
              <a:rPr sz="1050">
                <a:solidFill>
                  <a:srgbClr val="161B26"/>
                </a:solidFill>
                <a:latin typeface="Consolas"/>
              </a:rPr>
              <a:t>kubectl get nodes</a:t>
            </a:r>
          </a:p>
        </p:txBody>
      </p:sp>
      <p:sp>
        <p:nvSpPr>
          <p:cNvPr id="15" name="TextBox 14"/>
          <p:cNvSpPr txBox="1"/>
          <p:nvPr/>
        </p:nvSpPr>
        <p:spPr>
          <a:xfrm>
            <a:off x="777240" y="480517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Explore static pod manifests</a:t>
            </a:r>
          </a:p>
        </p:txBody>
      </p:sp>
      <p:sp>
        <p:nvSpPr>
          <p:cNvPr id="16" name="Rounded Rectangle 15"/>
          <p:cNvSpPr/>
          <p:nvPr/>
        </p:nvSpPr>
        <p:spPr>
          <a:xfrm>
            <a:off x="777240" y="5189219"/>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19"/>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7"/>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/etc/kubernetes/manifests/</a:t>
            </a:r>
          </a:p>
          <a:p>
            <a:pPr>
              <a:spcBef>
                <a:spcPts val="0"/>
              </a:spcBef>
              <a:spcAft>
                <a:spcPts val="0"/>
              </a:spcAft>
            </a:pPr>
            <a:r>
              <a:rPr sz="1050">
                <a:solidFill>
                  <a:srgbClr val="161B26"/>
                </a:solidFill>
                <a:latin typeface="Consolas"/>
              </a:rPr>
              <a:t>grep 'image:' /etc/kubernetes/manifests/kube-apiserver.yaml</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init, kubeconfig, Worker Join, Cluster PKI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Explore cluster PKI</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/etc/kubernetes/pki/</a:t>
            </a:r>
          </a:p>
          <a:p>
            <a:pPr>
              <a:spcBef>
                <a:spcPts val="0"/>
              </a:spcBef>
              <a:spcAft>
                <a:spcPts val="0"/>
              </a:spcAft>
            </a:pPr>
            <a:r>
              <a:rPr sz="1050">
                <a:solidFill>
                  <a:srgbClr val="161B26"/>
                </a:solidFill>
                <a:latin typeface="Consolas"/>
              </a:rPr>
              <a:t>kubeadm certs check-expiration</a:t>
            </a:r>
          </a:p>
          <a:p>
            <a:pPr>
              <a:spcBef>
                <a:spcPts val="0"/>
              </a:spcBef>
              <a:spcAft>
                <a:spcPts val="0"/>
              </a:spcAft>
            </a:pPr>
            <a:r>
              <a:rPr sz="1050">
                <a:solidFill>
                  <a:srgbClr val="161B26"/>
                </a:solidFill>
                <a:latin typeface="Consolas"/>
              </a:rPr>
              <a:t>openssl x509 -in /etc/kubernetes/pki/ca.crt -noout -dates</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Take an etcd snapshot</a:t>
            </a:r>
          </a:p>
        </p:txBody>
      </p:sp>
      <p:sp>
        <p:nvSpPr>
          <p:cNvPr id="12" name="Rounded Rectangle 11"/>
          <p:cNvSpPr/>
          <p:nvPr/>
        </p:nvSpPr>
        <p:spPr>
          <a:xfrm>
            <a:off x="777240" y="3351276"/>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export ETCDCTL_API=3</a:t>
            </a:r>
          </a:p>
          <a:p>
            <a:pPr>
              <a:spcBef>
                <a:spcPts val="0"/>
              </a:spcBef>
              <a:spcAft>
                <a:spcPts val="0"/>
              </a:spcAft>
            </a:pPr>
            <a:r>
              <a:rPr sz="1050">
                <a:solidFill>
                  <a:srgbClr val="161B26"/>
                </a:solidFill>
                <a:latin typeface="Consolas"/>
              </a:rPr>
              <a:t>export ETCDCTL_ENDPOINTS=https://127.0.0.1:2379</a:t>
            </a:r>
          </a:p>
          <a:p>
            <a:pPr>
              <a:spcBef>
                <a:spcPts val="0"/>
              </a:spcBef>
              <a:spcAft>
                <a:spcPts val="0"/>
              </a:spcAft>
            </a:pPr>
            <a:r>
              <a:rPr sz="1050">
                <a:solidFill>
                  <a:srgbClr val="161B26"/>
                </a:solidFill>
                <a:latin typeface="Consolas"/>
              </a:rPr>
              <a:t>export ETCDCTL_CACERT=/etc/kubernetes/pki/etcd/ca.crt</a:t>
            </a:r>
          </a:p>
          <a:p>
            <a:pPr>
              <a:spcBef>
                <a:spcPts val="0"/>
              </a:spcBef>
              <a:spcAft>
                <a:spcPts val="0"/>
              </a:spcAft>
            </a:pPr>
            <a:r>
              <a:rPr sz="1050">
                <a:solidFill>
                  <a:srgbClr val="161B26"/>
                </a:solidFill>
                <a:latin typeface="Consolas"/>
              </a:rPr>
              <a:t>export ETCDCTL_CERT=/etc/kubernetes/pki/etcd/server.crt</a:t>
            </a:r>
          </a:p>
          <a:p>
            <a:pPr>
              <a:spcBef>
                <a:spcPts val="0"/>
              </a:spcBef>
              <a:spcAft>
                <a:spcPts val="0"/>
              </a:spcAft>
            </a:pPr>
            <a:r>
              <a:rPr sz="1050">
                <a:solidFill>
                  <a:srgbClr val="161B26"/>
                </a:solidFill>
                <a:latin typeface="Consolas"/>
              </a:rPr>
              <a:t>export ETCDCTL_KEY=/etc/kubernetes/pki/etcd/server.key</a:t>
            </a:r>
          </a:p>
          <a:p>
            <a:pPr>
              <a:spcBef>
                <a:spcPts val="0"/>
              </a:spcBef>
              <a:spcAft>
                <a:spcPts val="0"/>
              </a:spcAft>
            </a:pPr>
            <a:r>
              <a:rPr sz="1050">
                <a:solidFill>
                  <a:srgbClr val="161B26"/>
                </a:solidFill>
                <a:latin typeface="Consolas"/>
              </a:rPr>
              <a:t>etcdctl snapshot save /opt/etcd-backup-$(date +%Y%m%d).db</a:t>
            </a:r>
          </a:p>
          <a:p>
            <a:pPr>
              <a:spcBef>
                <a:spcPts val="0"/>
              </a:spcBef>
              <a:spcAft>
                <a:spcPts val="0"/>
              </a:spcAft>
            </a:pPr>
            <a:r>
              <a:rPr sz="1050">
                <a:solidFill>
                  <a:srgbClr val="161B26"/>
                </a:solidFill>
                <a:latin typeface="Consolas"/>
              </a:rPr>
              <a:t>etcdctl snapshot status /opt/etcd-backup-$(date +%Y%m%d).db --write-out=table</a:t>
            </a:r>
          </a:p>
        </p:txBody>
      </p:sp>
      <p:sp>
        <p:nvSpPr>
          <p:cNvPr id="15" name="TextBox 14"/>
          <p:cNvSpPr txBox="1"/>
          <p:nvPr/>
        </p:nvSpPr>
        <p:spPr>
          <a:xfrm>
            <a:off x="777240" y="4992623"/>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Always set ETCDCTL_API=3. etcd backup/restore is guaranteed to appear on the CKA exam.</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init, kubeconfig, Worker Join, Cluster PKI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6 -- Join worker node</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On control plane -- generate join command</a:t>
            </a:r>
          </a:p>
          <a:p>
            <a:pPr>
              <a:spcBef>
                <a:spcPts val="0"/>
              </a:spcBef>
              <a:spcAft>
                <a:spcPts val="0"/>
              </a:spcAft>
            </a:pPr>
            <a:r>
              <a:rPr sz="1050">
                <a:solidFill>
                  <a:srgbClr val="161B26"/>
                </a:solidFill>
                <a:latin typeface="Consolas"/>
              </a:rPr>
              <a:t>kubeadm token create --print-join-command</a:t>
            </a:r>
          </a:p>
          <a:p>
            <a:pPr>
              <a:spcBef>
                <a:spcPts val="0"/>
              </a:spcBef>
              <a:spcAft>
                <a:spcPts val="0"/>
              </a:spcAft>
            </a:pPr>
            <a:r>
              <a:rPr sz="1050">
                <a:solidFill>
                  <a:srgbClr val="161B26"/>
                </a:solidFill>
                <a:latin typeface="Consolas"/>
              </a:rPr>
              <a:t># Run the output on WORKER NODE</a:t>
            </a:r>
          </a:p>
          <a:p>
            <a:pPr>
              <a:spcBef>
                <a:spcPts val="0"/>
              </a:spcBef>
              <a:spcAft>
                <a:spcPts val="0"/>
              </a:spcAft>
            </a:pPr>
            <a:r>
              <a:rPr sz="1050">
                <a:solidFill>
                  <a:srgbClr val="161B26"/>
                </a:solidFill>
                <a:latin typeface="Consolas"/>
              </a:rPr>
              <a:t># Back on control plane:</a:t>
            </a:r>
          </a:p>
          <a:p>
            <a:pPr>
              <a:spcBef>
                <a:spcPts val="0"/>
              </a:spcBef>
              <a:spcAft>
                <a:spcPts val="0"/>
              </a:spcAft>
            </a:pPr>
            <a:r>
              <a:rPr sz="1050">
                <a:solidFill>
                  <a:srgbClr val="161B26"/>
                </a:solidFill>
                <a:latin typeface="Consolas"/>
              </a:rPr>
              <a:t>kubectl get nodes -o wide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init, kubeconfig, Worker Join, Cluster PKI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nodes shows both nodes (NotReady until CNI installed). etcd snapshot file exists at /opt/.</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CNI — Container Network Interface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Pod networking with Calico and Cilium</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POD NETWORKING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How Pods Get IPs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CNI is called by the kubelet on every pod creation — the plugin assigns an IP from the pod CIDR.</a:t>
            </a:r>
          </a:p>
          <a:p>
            <a:pPr>
              <a:spcBef>
                <a:spcPts val="0"/>
              </a:spcBef>
              <a:spcAft>
                <a:spcPts val="1000"/>
              </a:spcAft>
            </a:pPr>
            <a:r>
              <a:rPr sz="1900" b="1">
                <a:solidFill>
                  <a:srgbClr val="1F6FEB"/>
                </a:solidFill>
                <a:latin typeface="Arial"/>
              </a:rPr>
              <a:t>•  </a:t>
            </a:r>
            <a:r>
              <a:rPr sz="1900">
                <a:solidFill>
                  <a:srgbClr val="161B26"/>
                </a:solidFill>
                <a:latin typeface="Arial"/>
              </a:rPr>
              <a:t>Calico uses BGP or VXLAN; Cilium uses eBPF for high-performance networking and advanced observability.</a:t>
            </a:r>
          </a:p>
          <a:p>
            <a:pPr>
              <a:spcBef>
                <a:spcPts val="0"/>
              </a:spcBef>
              <a:spcAft>
                <a:spcPts val="1000"/>
              </a:spcAft>
            </a:pPr>
            <a:r>
              <a:rPr sz="1900" b="1">
                <a:solidFill>
                  <a:srgbClr val="1F6FEB"/>
                </a:solidFill>
                <a:latin typeface="Arial"/>
              </a:rPr>
              <a:t>•  </a:t>
            </a:r>
            <a:r>
              <a:rPr sz="1900">
                <a:solidFill>
                  <a:srgbClr val="161B26"/>
                </a:solidFill>
                <a:latin typeface="Arial"/>
              </a:rPr>
              <a:t>CNI binaries live in /opt/cni/bin/; configuration files live in /etc/cni/net.d/.</a:t>
            </a:r>
          </a:p>
          <a:p>
            <a:pPr>
              <a:spcBef>
                <a:spcPts val="0"/>
              </a:spcBef>
              <a:spcAft>
                <a:spcPts val="1000"/>
              </a:spcAft>
            </a:pPr>
            <a:r>
              <a:rPr sz="1900" b="1">
                <a:solidFill>
                  <a:srgbClr val="1F6FEB"/>
                </a:solidFill>
                <a:latin typeface="Arial"/>
              </a:rPr>
              <a:t>•  </a:t>
            </a:r>
            <a:r>
              <a:rPr sz="1900">
                <a:solidFill>
                  <a:srgbClr val="161B26"/>
                </a:solidFill>
                <a:latin typeface="Arial"/>
              </a:rPr>
              <a:t>Without a CNI plugin nodes stay NotReady — applying the CNI manifest is a mandatory post-init step.</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PICK YOUR CNI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CNI Plugin Choices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Calico</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BGP or VXLAN</a:t>
            </a:r>
          </a:p>
          <a:p>
            <a:pPr>
              <a:spcBef>
                <a:spcPts val="0"/>
              </a:spcBef>
              <a:spcAft>
                <a:spcPts val="900"/>
              </a:spcAft>
            </a:pPr>
            <a:r>
              <a:rPr sz="1400" b="1">
                <a:solidFill>
                  <a:srgbClr val="1F6FEB"/>
                </a:solidFill>
                <a:latin typeface="Arial"/>
              </a:rPr>
              <a:t>•  </a:t>
            </a:r>
            <a:r>
              <a:rPr sz="1400">
                <a:solidFill>
                  <a:srgbClr val="161B26"/>
                </a:solidFill>
                <a:latin typeface="Arial"/>
              </a:rPr>
              <a:t>NetworkPolicy support</a:t>
            </a:r>
          </a:p>
          <a:p>
            <a:pPr>
              <a:spcBef>
                <a:spcPts val="0"/>
              </a:spcBef>
              <a:spcAft>
                <a:spcPts val="900"/>
              </a:spcAft>
            </a:pPr>
            <a:r>
              <a:rPr sz="1400" b="1">
                <a:solidFill>
                  <a:srgbClr val="1F6FEB"/>
                </a:solidFill>
                <a:latin typeface="Arial"/>
              </a:rPr>
              <a:t>•  </a:t>
            </a:r>
            <a:r>
              <a:rPr sz="1400">
                <a:solidFill>
                  <a:srgbClr val="161B26"/>
                </a:solidFill>
                <a:latin typeface="Arial"/>
              </a:rPr>
              <a:t>Most popular CKA choice</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Cilium</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eBPF dataplane</a:t>
            </a:r>
          </a:p>
          <a:p>
            <a:pPr>
              <a:spcBef>
                <a:spcPts val="0"/>
              </a:spcBef>
              <a:spcAft>
                <a:spcPts val="900"/>
              </a:spcAft>
            </a:pPr>
            <a:r>
              <a:rPr sz="1400" b="1">
                <a:solidFill>
                  <a:srgbClr val="10B981"/>
                </a:solidFill>
                <a:latin typeface="Arial"/>
              </a:rPr>
              <a:t>•  </a:t>
            </a:r>
            <a:r>
              <a:rPr sz="1400">
                <a:solidFill>
                  <a:srgbClr val="161B26"/>
                </a:solidFill>
                <a:latin typeface="Arial"/>
              </a:rPr>
              <a:t>Advanced observability</a:t>
            </a:r>
          </a:p>
          <a:p>
            <a:pPr>
              <a:spcBef>
                <a:spcPts val="0"/>
              </a:spcBef>
              <a:spcAft>
                <a:spcPts val="900"/>
              </a:spcAft>
            </a:pPr>
            <a:r>
              <a:rPr sz="1400" b="1">
                <a:solidFill>
                  <a:srgbClr val="10B981"/>
                </a:solidFill>
                <a:latin typeface="Arial"/>
              </a:rPr>
              <a:t>•  </a:t>
            </a:r>
            <a:r>
              <a:rPr sz="1400">
                <a:solidFill>
                  <a:srgbClr val="161B26"/>
                </a:solidFill>
                <a:latin typeface="Arial"/>
              </a:rPr>
              <a:t>Kubernetes 1.21+ native</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Flannel</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VXLAN overlay</a:t>
            </a:r>
          </a:p>
          <a:p>
            <a:pPr>
              <a:spcBef>
                <a:spcPts val="0"/>
              </a:spcBef>
              <a:spcAft>
                <a:spcPts val="900"/>
              </a:spcAft>
            </a:pPr>
            <a:r>
              <a:rPr sz="1400" b="1">
                <a:solidFill>
                  <a:srgbClr val="7C3AED"/>
                </a:solidFill>
                <a:latin typeface="Arial"/>
              </a:rPr>
              <a:t>•  </a:t>
            </a:r>
            <a:r>
              <a:rPr sz="1400">
                <a:solidFill>
                  <a:srgbClr val="161B26"/>
                </a:solidFill>
                <a:latin typeface="Arial"/>
              </a:rPr>
              <a:t>Simple, no NetworkPolicy</a:t>
            </a:r>
          </a:p>
          <a:p>
            <a:pPr>
              <a:spcBef>
                <a:spcPts val="0"/>
              </a:spcBef>
              <a:spcAft>
                <a:spcPts val="900"/>
              </a:spcAft>
            </a:pPr>
            <a:r>
              <a:rPr sz="1400" b="1">
                <a:solidFill>
                  <a:srgbClr val="7C3AED"/>
                </a:solidFill>
                <a:latin typeface="Arial"/>
              </a:rPr>
              <a:t>•  </a:t>
            </a:r>
            <a:r>
              <a:rPr sz="1400">
                <a:solidFill>
                  <a:srgbClr val="161B26"/>
                </a:solidFill>
                <a:latin typeface="Arial"/>
              </a:rPr>
              <a:t>Development / lab only</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CONTAINER NETWORK INTERFACE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CNI — How Pods Get Their IP</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kubelet</a:t>
            </a:r>
          </a:p>
          <a:p>
            <a:pPr algn="ctr">
              <a:spcBef>
                <a:spcPts val="0"/>
              </a:spcBef>
              <a:spcAft>
                <a:spcPts val="300"/>
              </a:spcAft>
            </a:pPr>
            <a:r>
              <a:rPr sz="1100" b="0">
                <a:solidFill>
                  <a:srgbClr val="5B6372"/>
                </a:solidFill>
                <a:latin typeface="Arial"/>
              </a:rPr>
              <a:t>Pod assigned to node</a:t>
            </a:r>
          </a:p>
          <a:p>
            <a:pPr algn="ctr">
              <a:spcBef>
                <a:spcPts val="0"/>
              </a:spcBef>
              <a:spcAft>
                <a:spcPts val="300"/>
              </a:spcAft>
            </a:pPr>
            <a:r>
              <a:rPr sz="1100" b="0">
                <a:solidFill>
                  <a:srgbClr val="5B6372"/>
                </a:solidFill>
                <a:latin typeface="Arial"/>
              </a:rPr>
              <a:t>calls CNI plugin via gRPC socket</a:t>
            </a:r>
          </a:p>
        </p:txBody>
      </p:sp>
      <p:sp>
        <p:nvSpPr>
          <p:cNvPr id="10" name="Right Arrow 9"/>
          <p:cNvSpPr/>
          <p:nvPr/>
        </p:nvSpPr>
        <p:spPr>
          <a:xfrm>
            <a:off x="384048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CNI ADD call</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CNI plugin</a:t>
            </a:r>
          </a:p>
          <a:p>
            <a:pPr algn="ctr">
              <a:spcBef>
                <a:spcPts val="0"/>
              </a:spcBef>
              <a:spcAft>
                <a:spcPts val="300"/>
              </a:spcAft>
            </a:pPr>
            <a:r>
              <a:rPr sz="1100" b="0">
                <a:solidFill>
                  <a:srgbClr val="5B6372"/>
                </a:solidFill>
                <a:latin typeface="Arial"/>
              </a:rPr>
              <a:t>/opt/cni/bin/ · /etc/cni/net.d/</a:t>
            </a:r>
          </a:p>
          <a:p>
            <a:pPr algn="ctr">
              <a:spcBef>
                <a:spcPts val="0"/>
              </a:spcBef>
              <a:spcAft>
                <a:spcPts val="300"/>
              </a:spcAft>
            </a:pPr>
            <a:r>
              <a:rPr sz="1100" b="0">
                <a:solidFill>
                  <a:srgbClr val="5B6372"/>
                </a:solidFill>
                <a:latin typeface="Arial"/>
              </a:rPr>
              <a:t>Calico · Cilium · Flannel</a:t>
            </a:r>
          </a:p>
        </p:txBody>
      </p:sp>
      <p:sp>
        <p:nvSpPr>
          <p:cNvPr id="15" name="Right Arrow 14"/>
          <p:cNvSpPr/>
          <p:nvPr/>
        </p:nvSpPr>
        <p:spPr>
          <a:xfrm>
            <a:off x="763524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IP assigned</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Pod</a:t>
            </a:r>
          </a:p>
          <a:p>
            <a:pPr algn="ctr">
              <a:spcBef>
                <a:spcPts val="0"/>
              </a:spcBef>
              <a:spcAft>
                <a:spcPts val="300"/>
              </a:spcAft>
            </a:pPr>
            <a:r>
              <a:rPr sz="1100" b="0">
                <a:solidFill>
                  <a:srgbClr val="5B6372"/>
                </a:solidFill>
                <a:latin typeface="Arial"/>
              </a:rPr>
              <a:t>IP from pod CIDR</a:t>
            </a:r>
          </a:p>
          <a:p>
            <a:pPr algn="ctr">
              <a:spcBef>
                <a:spcPts val="0"/>
              </a:spcBef>
              <a:spcAft>
                <a:spcPts val="300"/>
              </a:spcAft>
            </a:pPr>
            <a:r>
              <a:rPr sz="1100" b="0">
                <a:solidFill>
                  <a:srgbClr val="5B6372"/>
                </a:solidFill>
                <a:latin typeface="Arial"/>
              </a:rPr>
              <a:t>veth pair to node bridge</a:t>
            </a:r>
          </a:p>
          <a:p>
            <a:pPr algn="ctr">
              <a:spcBef>
                <a:spcPts val="0"/>
              </a:spcBef>
              <a:spcAft>
                <a:spcPts val="300"/>
              </a:spcAft>
            </a:pPr>
            <a:r>
              <a:rPr sz="1100" b="0">
                <a:solidFill>
                  <a:srgbClr val="5B6372"/>
                </a:solidFill>
                <a:latin typeface="Arial"/>
              </a:rPr>
              <a:t>flat L3 — no NAT</a:t>
            </a:r>
          </a:p>
        </p:txBody>
      </p:sp>
      <p:sp>
        <p:nvSpPr>
          <p:cNvPr id="19" name="Rounded Rectangle 18"/>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Without a CNI manifest the node stays </a:t>
            </a:r>
            <a:r>
              <a:rPr sz="1300" b="1">
                <a:solidFill>
                  <a:srgbClr val="DC2626"/>
                </a:solidFill>
                <a:latin typeface="Arial"/>
              </a:rPr>
              <a:t>NotReady</a:t>
            </a:r>
            <a:r>
              <a:rPr sz="1300" b="0">
                <a:solidFill>
                  <a:srgbClr val="5B6372"/>
                </a:solidFill>
                <a:latin typeface="Arial"/>
              </a:rPr>
              <a:t> — applying it is mandatory after kubeadm init.</a:t>
            </a:r>
          </a:p>
        </p:txBody>
      </p:sp>
      <p:sp>
        <p:nvSpPr>
          <p:cNvPr id="21" name="TextBox 2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2" name="TextBox 2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3" name="TextBox 2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CNI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Install Calico CNI and Verify Cross-Node Pod Ping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CNI networking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Install Calico as the CNI plugin using the Tigera Operator pattern, watch nodes transition to Ready, deploy test pods on different nodes, and validate cross-node pod-to-pod communication. The pod CIDR in Calico must match the --pod-network-cidr from kubeadm init.</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Apply tigera-operator.yaml + custom-resources.yaml, watch nodes go Ready, ping across nodes.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get · curl -O · kubectl run · » Kubernetes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Install Calico CNI and Verify Cross-Node Pod Ping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Confirm nodes are NotReady before CNI</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nodes -o wide</a:t>
            </a:r>
          </a:p>
          <a:p>
            <a:pPr>
              <a:spcBef>
                <a:spcPts val="0"/>
              </a:spcBef>
              <a:spcAft>
                <a:spcPts val="0"/>
              </a:spcAft>
            </a:pPr>
            <a:r>
              <a:rPr sz="1050">
                <a:solidFill>
                  <a:srgbClr val="161B26"/>
                </a:solidFill>
                <a:latin typeface="Consolas"/>
              </a:rPr>
              <a:t>kubectl get pods -n kube-system</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Install Calico Operator</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curl -O https://raw.githubusercontent.com/projectcalico/calico/v3.29.0/manifests/tigera-operator.yaml</a:t>
            </a:r>
          </a:p>
          <a:p>
            <a:pPr>
              <a:spcBef>
                <a:spcPts val="0"/>
              </a:spcBef>
              <a:spcAft>
                <a:spcPts val="0"/>
              </a:spcAft>
            </a:pPr>
            <a:r>
              <a:rPr sz="1050">
                <a:solidFill>
                  <a:srgbClr val="161B26"/>
                </a:solidFill>
                <a:latin typeface="Consolas"/>
              </a:rPr>
              <a:t>curl -O https://raw.githubusercontent.com/projectcalico/calico/v3.29.0/manifests/custom-resources.yaml</a:t>
            </a:r>
          </a:p>
          <a:p>
            <a:pPr>
              <a:spcBef>
                <a:spcPts val="0"/>
              </a:spcBef>
              <a:spcAft>
                <a:spcPts val="0"/>
              </a:spcAft>
            </a:pPr>
            <a:r>
              <a:rPr sz="1050">
                <a:solidFill>
                  <a:srgbClr val="161B26"/>
                </a:solidFill>
                <a:latin typeface="Consolas"/>
              </a:rPr>
              <a:t>kubectl apply -f tigera-operator.yaml</a:t>
            </a:r>
          </a:p>
          <a:p>
            <a:pPr>
              <a:spcBef>
                <a:spcPts val="0"/>
              </a:spcBef>
              <a:spcAft>
                <a:spcPts val="0"/>
              </a:spcAft>
            </a:pPr>
            <a:r>
              <a:rPr sz="1050">
                <a:solidFill>
                  <a:srgbClr val="161B26"/>
                </a:solidFill>
                <a:latin typeface="Consolas"/>
              </a:rPr>
              <a:t>kubectl apply -f custom-resources.yaml</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Watch nodes transition to Ready</a:t>
            </a:r>
          </a:p>
        </p:txBody>
      </p:sp>
      <p:sp>
        <p:nvSpPr>
          <p:cNvPr id="16" name="Rounded Rectangle 15"/>
          <p:cNvSpPr/>
          <p:nvPr/>
        </p:nvSpPr>
        <p:spPr>
          <a:xfrm>
            <a:off x="777240" y="462686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nodes -w</a:t>
            </a:r>
          </a:p>
          <a:p>
            <a:pPr>
              <a:spcBef>
                <a:spcPts val="0"/>
              </a:spcBef>
              <a:spcAft>
                <a:spcPts val="0"/>
              </a:spcAft>
            </a:pPr>
            <a:r>
              <a:rPr sz="1050">
                <a:solidFill>
                  <a:srgbClr val="161B26"/>
                </a:solidFill>
                <a:latin typeface="Consolas"/>
              </a:rPr>
              <a:t>kubectl get pods -n calico-system</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Install Calico CNI and Verify Cross-Node Pod Ping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Test cross-node pod ping</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pod-cp --image=nicolaka/netshoot -- sleep infinity</a:t>
            </a:r>
          </a:p>
          <a:p>
            <a:pPr>
              <a:spcBef>
                <a:spcPts val="0"/>
              </a:spcBef>
              <a:spcAft>
                <a:spcPts val="0"/>
              </a:spcAft>
            </a:pPr>
            <a:r>
              <a:rPr sz="1050">
                <a:solidFill>
                  <a:srgbClr val="161B26"/>
                </a:solidFill>
                <a:latin typeface="Consolas"/>
              </a:rPr>
              <a:t>kubectl run pod-worker --image=nicolaka/netshoot -- sleep infinity</a:t>
            </a:r>
          </a:p>
          <a:p>
            <a:pPr>
              <a:spcBef>
                <a:spcPts val="0"/>
              </a:spcBef>
              <a:spcAft>
                <a:spcPts val="0"/>
              </a:spcAft>
            </a:pPr>
            <a:r>
              <a:rPr sz="1050">
                <a:solidFill>
                  <a:srgbClr val="161B26"/>
                </a:solidFill>
                <a:latin typeface="Consolas"/>
              </a:rPr>
              <a:t>kubectl get pods -o wide</a:t>
            </a:r>
          </a:p>
          <a:p>
            <a:pPr>
              <a:spcBef>
                <a:spcPts val="0"/>
              </a:spcBef>
              <a:spcAft>
                <a:spcPts val="0"/>
              </a:spcAft>
            </a:pPr>
            <a:r>
              <a:rPr sz="1050">
                <a:solidFill>
                  <a:srgbClr val="161B26"/>
                </a:solidFill>
                <a:latin typeface="Consolas"/>
              </a:rPr>
              <a:t>POD_WORKER_IP=$(kubectl get pod pod-worker -o jsonpath='{.status.podIP}')</a:t>
            </a:r>
          </a:p>
          <a:p>
            <a:pPr>
              <a:spcBef>
                <a:spcPts val="0"/>
              </a:spcBef>
              <a:spcAft>
                <a:spcPts val="0"/>
              </a:spcAft>
            </a:pPr>
            <a:r>
              <a:rPr sz="1050">
                <a:solidFill>
                  <a:srgbClr val="161B26"/>
                </a:solidFill>
                <a:latin typeface="Consolas"/>
              </a:rPr>
              <a:t>kubectl exec pod-cp -- ping -c 4 $POD_WORKER_IP</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Kubernetes requires a flat pod network -- cross-node pod-to-pod communication without NAT. A failed ping indicates CNI misconfiguration.</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Install Calico CNI and Verify Cross-Node Pod Ping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Both nodes are Ready. Cross-node ping returns 0% packet loss. coredns pods are Running.</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Cluster Upgrade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Upgrade control plane then workers with kubeadm</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UPGRADE STRATEGY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Upgrade Strategy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Upgrades are one minor version at a time — you cannot skip from 1.29 to 1.31 directly.</a:t>
            </a:r>
          </a:p>
          <a:p>
            <a:pPr>
              <a:spcBef>
                <a:spcPts val="0"/>
              </a:spcBef>
              <a:spcAft>
                <a:spcPts val="1000"/>
              </a:spcAft>
            </a:pPr>
            <a:r>
              <a:rPr sz="1900" b="1">
                <a:solidFill>
                  <a:srgbClr val="1F6FEB"/>
                </a:solidFill>
                <a:latin typeface="Arial"/>
              </a:rPr>
              <a:t>•  </a:t>
            </a:r>
            <a:r>
              <a:rPr sz="1900">
                <a:solidFill>
                  <a:srgbClr val="161B26"/>
                </a:solidFill>
                <a:latin typeface="Arial"/>
              </a:rPr>
              <a:t>Always upgrade the control plane first; then drain, upgrade and uncordon each worker node.</a:t>
            </a:r>
          </a:p>
          <a:p>
            <a:pPr>
              <a:spcBef>
                <a:spcPts val="0"/>
              </a:spcBef>
              <a:spcAft>
                <a:spcPts val="1000"/>
              </a:spcAft>
            </a:pPr>
            <a:r>
              <a:rPr sz="1900" b="1">
                <a:solidFill>
                  <a:srgbClr val="1F6FEB"/>
                </a:solidFill>
                <a:latin typeface="Arial"/>
              </a:rPr>
              <a:t>•  </a:t>
            </a:r>
            <a:r>
              <a:rPr sz="1900">
                <a:solidFill>
                  <a:srgbClr val="161B26"/>
                </a:solidFill>
                <a:latin typeface="Arial"/>
              </a:rPr>
              <a:t>Use apt-mark unhold / hold around the install step to manage package pins.</a:t>
            </a:r>
          </a:p>
          <a:p>
            <a:pPr>
              <a:spcBef>
                <a:spcPts val="0"/>
              </a:spcBef>
              <a:spcAft>
                <a:spcPts val="1000"/>
              </a:spcAft>
            </a:pPr>
            <a:r>
              <a:rPr sz="1900" b="1">
                <a:solidFill>
                  <a:srgbClr val="1F6FEB"/>
                </a:solidFill>
                <a:latin typeface="Arial"/>
              </a:rPr>
              <a:t>•  </a:t>
            </a:r>
            <a:r>
              <a:rPr sz="1900">
                <a:solidFill>
                  <a:srgbClr val="161B26"/>
                </a:solidFill>
                <a:latin typeface="Arial"/>
              </a:rPr>
              <a:t>kubeadm upgrade apply for the control plane; kubeadm upgrade node for each worker.</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CLUSTER UPGRADE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 Step by Step</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74519"/>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109728"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874519"/>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F59E0B"/>
                </a:solidFill>
                <a:latin typeface="Arial"/>
              </a:rPr>
              <a:t>drain the node</a:t>
            </a:r>
          </a:p>
          <a:p>
            <a:pPr algn="l">
              <a:spcBef>
                <a:spcPts val="0"/>
              </a:spcBef>
              <a:spcAft>
                <a:spcPts val="300"/>
              </a:spcAft>
            </a:pPr>
            <a:r>
              <a:rPr sz="1200" b="0">
                <a:solidFill>
                  <a:srgbClr val="5B6372"/>
                </a:solidFill>
                <a:latin typeface="Arial"/>
              </a:rPr>
              <a:t>kubectl drain &lt;node&gt; --ignore-daemonsets --delete-emptydir-data</a:t>
            </a:r>
          </a:p>
        </p:txBody>
      </p:sp>
      <p:sp>
        <p:nvSpPr>
          <p:cNvPr id="10" name="Right Arrow 9"/>
          <p:cNvSpPr/>
          <p:nvPr/>
        </p:nvSpPr>
        <p:spPr>
          <a:xfrm>
            <a:off x="5074920" y="2130551"/>
            <a:ext cx="640080" cy="329184"/>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874519"/>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Cordons the node (no new pods) and evicts existing pods safely before upgrade.</a:t>
            </a:r>
          </a:p>
        </p:txBody>
      </p:sp>
      <p:sp>
        <p:nvSpPr>
          <p:cNvPr id="12" name="Rounded Rectangle 11"/>
          <p:cNvSpPr/>
          <p:nvPr/>
        </p:nvSpPr>
        <p:spPr>
          <a:xfrm>
            <a:off x="777240" y="2807207"/>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07207"/>
            <a:ext cx="109728"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807207"/>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1F6FEB"/>
                </a:solidFill>
                <a:latin typeface="Arial"/>
              </a:rPr>
              <a:t>upgrade kubeadm</a:t>
            </a:r>
          </a:p>
          <a:p>
            <a:pPr algn="l">
              <a:spcBef>
                <a:spcPts val="0"/>
              </a:spcBef>
              <a:spcAft>
                <a:spcPts val="300"/>
              </a:spcAft>
            </a:pPr>
            <a:r>
              <a:rPr sz="1200" b="0">
                <a:solidFill>
                  <a:srgbClr val="5B6372"/>
                </a:solidFill>
                <a:latin typeface="Arial"/>
              </a:rPr>
              <a:t>apt-mark unhold kubeadm &amp;&amp; apt install kubeadm=v1.31.0-1.1</a:t>
            </a:r>
          </a:p>
        </p:txBody>
      </p:sp>
      <p:sp>
        <p:nvSpPr>
          <p:cNvPr id="15" name="Right Arrow 14"/>
          <p:cNvSpPr/>
          <p:nvPr/>
        </p:nvSpPr>
        <p:spPr>
          <a:xfrm>
            <a:off x="5074920" y="3063239"/>
            <a:ext cx="640080" cy="329184"/>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2807207"/>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Run kubeadm upgrade apply v1.31.0 on the control plane; kubeadm upgrade node on workers.</a:t>
            </a:r>
          </a:p>
        </p:txBody>
      </p:sp>
      <p:sp>
        <p:nvSpPr>
          <p:cNvPr id="17" name="Rounded Rectangle 16"/>
          <p:cNvSpPr/>
          <p:nvPr/>
        </p:nvSpPr>
        <p:spPr>
          <a:xfrm>
            <a:off x="777240" y="3739895"/>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739895"/>
            <a:ext cx="109728"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739895"/>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10B981"/>
                </a:solidFill>
                <a:latin typeface="Arial"/>
              </a:rPr>
              <a:t>upgrade kubelet + kubectl</a:t>
            </a:r>
          </a:p>
          <a:p>
            <a:pPr algn="l">
              <a:spcBef>
                <a:spcPts val="0"/>
              </a:spcBef>
              <a:spcAft>
                <a:spcPts val="300"/>
              </a:spcAft>
            </a:pPr>
            <a:r>
              <a:rPr sz="1200" b="0">
                <a:solidFill>
                  <a:srgbClr val="5B6372"/>
                </a:solidFill>
                <a:latin typeface="Arial"/>
              </a:rPr>
              <a:t>apt install kubelet=v1.31.0-1.1 kubectl=v1.31.0-1.1 &amp;&amp; systemctl restart kubelet</a:t>
            </a:r>
          </a:p>
        </p:txBody>
      </p:sp>
      <p:sp>
        <p:nvSpPr>
          <p:cNvPr id="20" name="Right Arrow 19"/>
          <p:cNvSpPr/>
          <p:nvPr/>
        </p:nvSpPr>
        <p:spPr>
          <a:xfrm>
            <a:off x="5074920" y="3995927"/>
            <a:ext cx="640080" cy="32918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3739895"/>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Verify: kubectl get nodes — the node shows the new version after kubelet restart.</a:t>
            </a:r>
          </a:p>
        </p:txBody>
      </p:sp>
      <p:sp>
        <p:nvSpPr>
          <p:cNvPr id="22" name="Rounded Rectangle 21"/>
          <p:cNvSpPr/>
          <p:nvPr/>
        </p:nvSpPr>
        <p:spPr>
          <a:xfrm>
            <a:off x="777240" y="4672583"/>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672583"/>
            <a:ext cx="109728"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4672583"/>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uncordon</a:t>
            </a:r>
          </a:p>
          <a:p>
            <a:pPr algn="l">
              <a:spcBef>
                <a:spcPts val="0"/>
              </a:spcBef>
              <a:spcAft>
                <a:spcPts val="300"/>
              </a:spcAft>
            </a:pPr>
            <a:r>
              <a:rPr sz="1200" b="0">
                <a:solidFill>
                  <a:srgbClr val="5B6372"/>
                </a:solidFill>
                <a:latin typeface="Arial"/>
              </a:rPr>
              <a:t>kubectl uncordon &lt;node&gt;</a:t>
            </a:r>
          </a:p>
        </p:txBody>
      </p:sp>
      <p:sp>
        <p:nvSpPr>
          <p:cNvPr id="25" name="Right Arrow 24"/>
          <p:cNvSpPr/>
          <p:nvPr/>
        </p:nvSpPr>
        <p:spPr>
          <a:xfrm>
            <a:off x="5074920" y="4928615"/>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9320" y="4672583"/>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Restores scheduling. Repeat drain → upgrade → uncordon for each worker node in turn.</a:t>
            </a:r>
          </a:p>
        </p:txBody>
      </p:sp>
      <p:sp>
        <p:nvSpPr>
          <p:cNvPr id="27" name="Rounded Rectangle 26"/>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Upgrade </a:t>
            </a:r>
            <a:r>
              <a:rPr sz="1300" b="1">
                <a:solidFill>
                  <a:srgbClr val="161B26"/>
                </a:solidFill>
                <a:latin typeface="Arial"/>
              </a:rPr>
              <a:t>control plane first</a:t>
            </a:r>
            <a:r>
              <a:rPr sz="1300" b="0">
                <a:solidFill>
                  <a:srgbClr val="5B6372"/>
                </a:solidFill>
                <a:latin typeface="Arial"/>
              </a:rPr>
              <a:t>, then each worker. apt-mark hold/unhold kubeadm kubelet kubectl around each step.</a:t>
            </a:r>
          </a:p>
        </p:txBody>
      </p:sp>
      <p:sp>
        <p:nvSpPr>
          <p:cNvPr id="29" name="TextBox 2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CLUSTER UPGRADE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v1.34 to v1.35 with kubeadm drain/uncordon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Cluster upgrade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Upgrade a two-node cluster from v1.34 to v1.35 following the official kubeadm upgrade procedure. The exact sequence: unhold, install kubeadm, upgrade plan, upgrade apply, drain, upgrade kubelet/kubectl, uncordon. Missing any step is a common exam mistake.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Upgrade control plane with kubeadm upgrade apply, drain node, upgrade kubelet, uncordon. Repeat for worker.</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curl -fsSL · apt-mark unhold · kubeadm upgrade · kubectl drain · » The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v1.34 to v1.35 with kubeadm drain/uncordon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Add v1.35 apt repository</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curl -fsSL https://pkgs.k8s.io/core:/stable:/v1.35/deb/Release.key | \</a:t>
            </a:r>
          </a:p>
          <a:p>
            <a:pPr>
              <a:spcBef>
                <a:spcPts val="0"/>
              </a:spcBef>
              <a:spcAft>
                <a:spcPts val="0"/>
              </a:spcAft>
            </a:pPr>
            <a:r>
              <a:rPr sz="1050">
                <a:solidFill>
                  <a:srgbClr val="161B26"/>
                </a:solidFill>
                <a:latin typeface="Consolas"/>
              </a:rPr>
              <a:t>  gpg --dearmor -o /etc/apt/keyrings/kubernetes-apt-keyring.gpg</a:t>
            </a:r>
          </a:p>
          <a:p>
            <a:pPr>
              <a:spcBef>
                <a:spcPts val="0"/>
              </a:spcBef>
              <a:spcAft>
                <a:spcPts val="0"/>
              </a:spcAft>
            </a:pPr>
            <a:r>
              <a:rPr sz="1050">
                <a:solidFill>
                  <a:srgbClr val="161B26"/>
                </a:solidFill>
                <a:latin typeface="Consolas"/>
              </a:rPr>
              <a:t>apt-get update</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Upgrade kubeadm on control plane</a:t>
            </a:r>
          </a:p>
        </p:txBody>
      </p:sp>
      <p:sp>
        <p:nvSpPr>
          <p:cNvPr id="12" name="Rounded Rectangle 11"/>
          <p:cNvSpPr/>
          <p:nvPr/>
        </p:nvSpPr>
        <p:spPr>
          <a:xfrm>
            <a:off x="777240" y="335127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apt-mark unhold kubeadm</a:t>
            </a:r>
          </a:p>
          <a:p>
            <a:pPr>
              <a:spcBef>
                <a:spcPts val="0"/>
              </a:spcBef>
              <a:spcAft>
                <a:spcPts val="0"/>
              </a:spcAft>
            </a:pPr>
            <a:r>
              <a:rPr sz="1050">
                <a:solidFill>
                  <a:srgbClr val="161B26"/>
                </a:solidFill>
                <a:latin typeface="Consolas"/>
              </a:rPr>
              <a:t>apt-get install -y kubeadm=1.35.0-*</a:t>
            </a:r>
          </a:p>
          <a:p>
            <a:pPr>
              <a:spcBef>
                <a:spcPts val="0"/>
              </a:spcBef>
              <a:spcAft>
                <a:spcPts val="0"/>
              </a:spcAft>
            </a:pPr>
            <a:r>
              <a:rPr sz="1050">
                <a:solidFill>
                  <a:srgbClr val="161B26"/>
                </a:solidFill>
                <a:latin typeface="Consolas"/>
              </a:rPr>
              <a:t>apt-mark hold kubeadm</a:t>
            </a:r>
          </a:p>
          <a:p>
            <a:pPr>
              <a:spcBef>
                <a:spcPts val="0"/>
              </a:spcBef>
              <a:spcAft>
                <a:spcPts val="0"/>
              </a:spcAft>
            </a:pPr>
            <a:r>
              <a:rPr sz="1050">
                <a:solidFill>
                  <a:srgbClr val="161B26"/>
                </a:solidFill>
                <a:latin typeface="Consolas"/>
              </a:rPr>
              <a:t>kubeadm version</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Run upgrade plan and apply</a:t>
            </a:r>
          </a:p>
        </p:txBody>
      </p:sp>
      <p:sp>
        <p:nvSpPr>
          <p:cNvPr id="16" name="Rounded Rectangle 15"/>
          <p:cNvSpPr/>
          <p:nvPr/>
        </p:nvSpPr>
        <p:spPr>
          <a:xfrm>
            <a:off x="777240" y="4814316"/>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kubeadm upgrade plan</a:t>
            </a:r>
          </a:p>
          <a:p>
            <a:pPr>
              <a:spcBef>
                <a:spcPts val="0"/>
              </a:spcBef>
              <a:spcAft>
                <a:spcPts val="0"/>
              </a:spcAft>
            </a:pPr>
            <a:r>
              <a:rPr sz="1050">
                <a:solidFill>
                  <a:srgbClr val="161B26"/>
                </a:solidFill>
                <a:latin typeface="Consolas"/>
              </a:rPr>
              <a:t>kubeadm upgrade apply v1.35.0</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v1.34 to v1.35 with kubeadm drain/uncordon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Drain, upgrade kubelet, uncordon control plane</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drain controlplane --ignore-daemonsets --delete-emptydir-data</a:t>
            </a:r>
          </a:p>
          <a:p>
            <a:pPr>
              <a:spcBef>
                <a:spcPts val="0"/>
              </a:spcBef>
              <a:spcAft>
                <a:spcPts val="0"/>
              </a:spcAft>
            </a:pPr>
            <a:r>
              <a:rPr sz="1050">
                <a:solidFill>
                  <a:srgbClr val="161B26"/>
                </a:solidFill>
                <a:latin typeface="Consolas"/>
              </a:rPr>
              <a:t>apt-mark unhold kubelet kubectl</a:t>
            </a:r>
          </a:p>
          <a:p>
            <a:pPr>
              <a:spcBef>
                <a:spcPts val="0"/>
              </a:spcBef>
              <a:spcAft>
                <a:spcPts val="0"/>
              </a:spcAft>
            </a:pPr>
            <a:r>
              <a:rPr sz="1050">
                <a:solidFill>
                  <a:srgbClr val="161B26"/>
                </a:solidFill>
                <a:latin typeface="Consolas"/>
              </a:rPr>
              <a:t>apt-get install -y kubelet=1.35.0-* kubectl=1.35.0-*</a:t>
            </a:r>
          </a:p>
          <a:p>
            <a:pPr>
              <a:spcBef>
                <a:spcPts val="0"/>
              </a:spcBef>
              <a:spcAft>
                <a:spcPts val="0"/>
              </a:spcAft>
            </a:pPr>
            <a:r>
              <a:rPr sz="1050">
                <a:solidFill>
                  <a:srgbClr val="161B26"/>
                </a:solidFill>
                <a:latin typeface="Consolas"/>
              </a:rPr>
              <a:t>apt-mark hold kubelet kubectl</a:t>
            </a:r>
          </a:p>
          <a:p>
            <a:pPr>
              <a:spcBef>
                <a:spcPts val="0"/>
              </a:spcBef>
              <a:spcAft>
                <a:spcPts val="0"/>
              </a:spcAft>
            </a:pPr>
            <a:r>
              <a:rPr sz="1050">
                <a:solidFill>
                  <a:srgbClr val="161B26"/>
                </a:solidFill>
                <a:latin typeface="Consolas"/>
              </a:rPr>
              <a:t>systemctl daemon-reload &amp;&amp; systemctl restart kubelet</a:t>
            </a:r>
          </a:p>
          <a:p>
            <a:pPr>
              <a:spcBef>
                <a:spcPts val="0"/>
              </a:spcBef>
              <a:spcAft>
                <a:spcPts val="0"/>
              </a:spcAft>
            </a:pPr>
            <a:r>
              <a:rPr sz="1050">
                <a:solidFill>
                  <a:srgbClr val="161B26"/>
                </a:solidFill>
                <a:latin typeface="Consolas"/>
              </a:rPr>
              <a:t>kubectl uncordon controlplane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v1.34 to v1.35 with kubeadm drain/uncordon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Upgrade worker node</a:t>
            </a:r>
          </a:p>
        </p:txBody>
      </p:sp>
      <p:sp>
        <p:nvSpPr>
          <p:cNvPr id="8" name="Rounded Rectangle 7"/>
          <p:cNvSpPr/>
          <p:nvPr/>
        </p:nvSpPr>
        <p:spPr>
          <a:xfrm>
            <a:off x="777240" y="2075688"/>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On WORKER NODE:</a:t>
            </a:r>
          </a:p>
          <a:p>
            <a:pPr>
              <a:spcBef>
                <a:spcPts val="0"/>
              </a:spcBef>
              <a:spcAft>
                <a:spcPts val="0"/>
              </a:spcAft>
            </a:pPr>
            <a:r>
              <a:rPr sz="1050">
                <a:solidFill>
                  <a:srgbClr val="161B26"/>
                </a:solidFill>
                <a:latin typeface="Consolas"/>
              </a:rPr>
              <a:t>apt-mark unhold kubeadm &amp;&amp; apt-get install -y kubeadm=1.35.0-*</a:t>
            </a:r>
          </a:p>
          <a:p>
            <a:pPr>
              <a:spcBef>
                <a:spcPts val="0"/>
              </a:spcBef>
              <a:spcAft>
                <a:spcPts val="0"/>
              </a:spcAft>
            </a:pPr>
            <a:r>
              <a:rPr sz="1050">
                <a:solidFill>
                  <a:srgbClr val="161B26"/>
                </a:solidFill>
                <a:latin typeface="Consolas"/>
              </a:rPr>
              <a:t>kubeadm upgrade node</a:t>
            </a:r>
          </a:p>
          <a:p>
            <a:pPr>
              <a:spcBef>
                <a:spcPts val="0"/>
              </a:spcBef>
              <a:spcAft>
                <a:spcPts val="0"/>
              </a:spcAft>
            </a:pPr>
            <a:r>
              <a:rPr sz="1050">
                <a:solidFill>
                  <a:srgbClr val="161B26"/>
                </a:solidFill>
                <a:latin typeface="Consolas"/>
              </a:rPr>
              <a:t># On CONTROL PLANE:</a:t>
            </a:r>
          </a:p>
          <a:p>
            <a:pPr>
              <a:spcBef>
                <a:spcPts val="0"/>
              </a:spcBef>
              <a:spcAft>
                <a:spcPts val="0"/>
              </a:spcAft>
            </a:pPr>
            <a:r>
              <a:rPr sz="1050">
                <a:solidFill>
                  <a:srgbClr val="161B26"/>
                </a:solidFill>
                <a:latin typeface="Consolas"/>
              </a:rPr>
              <a:t>kubectl drain worker01 --ignore-daemonsets --delete-emptydir-data</a:t>
            </a:r>
          </a:p>
          <a:p>
            <a:pPr>
              <a:spcBef>
                <a:spcPts val="0"/>
              </a:spcBef>
              <a:spcAft>
                <a:spcPts val="0"/>
              </a:spcAft>
            </a:pPr>
            <a:r>
              <a:rPr sz="1050">
                <a:solidFill>
                  <a:srgbClr val="161B26"/>
                </a:solidFill>
                <a:latin typeface="Consolas"/>
              </a:rPr>
              <a:t># Back on WORKER:</a:t>
            </a:r>
          </a:p>
          <a:p>
            <a:pPr>
              <a:spcBef>
                <a:spcPts val="0"/>
              </a:spcBef>
              <a:spcAft>
                <a:spcPts val="0"/>
              </a:spcAft>
            </a:pPr>
            <a:r>
              <a:rPr sz="1050">
                <a:solidFill>
                  <a:srgbClr val="161B26"/>
                </a:solidFill>
                <a:latin typeface="Consolas"/>
              </a:rPr>
              <a:t>apt-mark unhold kubelet kubectl</a:t>
            </a:r>
          </a:p>
          <a:p>
            <a:pPr>
              <a:spcBef>
                <a:spcPts val="0"/>
              </a:spcBef>
              <a:spcAft>
                <a:spcPts val="0"/>
              </a:spcAft>
            </a:pPr>
            <a:r>
              <a:rPr sz="1050">
                <a:solidFill>
                  <a:srgbClr val="161B26"/>
                </a:solidFill>
                <a:latin typeface="Consolas"/>
              </a:rPr>
              <a:t>apt-get install -y kubelet=1.35.0-* kubectl=1.35.0-*</a:t>
            </a:r>
          </a:p>
          <a:p>
            <a:pPr>
              <a:spcBef>
                <a:spcPts val="0"/>
              </a:spcBef>
              <a:spcAft>
                <a:spcPts val="0"/>
              </a:spcAft>
            </a:pPr>
            <a:r>
              <a:rPr sz="1050">
                <a:solidFill>
                  <a:srgbClr val="161B26"/>
                </a:solidFill>
                <a:latin typeface="Consolas"/>
              </a:rPr>
              <a:t>systemctl daemon-reload &amp;&amp; systemctl restart kubelet</a:t>
            </a:r>
          </a:p>
          <a:p>
            <a:pPr>
              <a:spcBef>
                <a:spcPts val="0"/>
              </a:spcBef>
              <a:spcAft>
                <a:spcPts val="0"/>
              </a:spcAft>
            </a:pPr>
            <a:r>
              <a:rPr sz="1050">
                <a:solidFill>
                  <a:srgbClr val="161B26"/>
                </a:solidFill>
                <a:latin typeface="Consolas"/>
              </a:rPr>
              <a:t># On CONTROL PLANE:</a:t>
            </a:r>
          </a:p>
          <a:p>
            <a:pPr>
              <a:spcBef>
                <a:spcPts val="0"/>
              </a:spcBef>
              <a:spcAft>
                <a:spcPts val="0"/>
              </a:spcAft>
            </a:pPr>
            <a:r>
              <a:rPr sz="1050">
                <a:solidFill>
                  <a:srgbClr val="161B26"/>
                </a:solidFill>
                <a:latin typeface="Consolas"/>
              </a:rPr>
              <a:t>kubectl uncordon worker01 &amp;&amp; kubectl get nodes</a:t>
            </a:r>
          </a:p>
        </p:txBody>
      </p:sp>
      <p:sp>
        <p:nvSpPr>
          <p:cNvPr id="11" name="TextBox 10"/>
          <p:cNvSpPr txBox="1"/>
          <p:nvPr/>
        </p:nvSpPr>
        <p:spPr>
          <a:xfrm>
            <a:off x="777240" y="446684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The VERSION column in 'kubectl get nodes' shows kubelet version, not API server version. systemctl daemon-reload is required after binary update before restarting kubelet.</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v1.34 to v1.35 with kubeadm drain/uncordon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nodes shows both nodes as Ready at v1.35.0. kubectl version shows Server v1.35.0.</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High Availability — etcd</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Stacked etcd topology and backup/restore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HA CLUSTERS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Cluster Design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Stacked etcd: each control-plane node runs its own etcd member — simplest HA topology.</a:t>
            </a:r>
          </a:p>
          <a:p>
            <a:pPr>
              <a:spcBef>
                <a:spcPts val="0"/>
              </a:spcBef>
              <a:spcAft>
                <a:spcPts val="1000"/>
              </a:spcAft>
            </a:pPr>
            <a:r>
              <a:rPr sz="1900" b="1">
                <a:solidFill>
                  <a:srgbClr val="1F6FEB"/>
                </a:solidFill>
                <a:latin typeface="Arial"/>
              </a:rPr>
              <a:t>•  </a:t>
            </a:r>
            <a:r>
              <a:rPr sz="1900">
                <a:solidFill>
                  <a:srgbClr val="161B26"/>
                </a:solidFill>
                <a:latin typeface="Arial"/>
              </a:rPr>
              <a:t>External etcd: separate etcd cluster decoupled from control-plane nodes — more resilient but more infra.</a:t>
            </a:r>
          </a:p>
          <a:p>
            <a:pPr>
              <a:spcBef>
                <a:spcPts val="0"/>
              </a:spcBef>
              <a:spcAft>
                <a:spcPts val="1000"/>
              </a:spcAft>
            </a:pPr>
            <a:r>
              <a:rPr sz="1900" b="1">
                <a:solidFill>
                  <a:srgbClr val="1F6FEB"/>
                </a:solidFill>
                <a:latin typeface="Arial"/>
              </a:rPr>
              <a:t>•  </a:t>
            </a:r>
            <a:r>
              <a:rPr sz="1900">
                <a:solidFill>
                  <a:srgbClr val="161B26"/>
                </a:solidFill>
                <a:latin typeface="Arial"/>
              </a:rPr>
              <a:t>All CP nodes must point to the same load-balancer endpoint (--control-plane-endpoint).</a:t>
            </a:r>
          </a:p>
          <a:p>
            <a:pPr>
              <a:spcBef>
                <a:spcPts val="0"/>
              </a:spcBef>
              <a:spcAft>
                <a:spcPts val="1000"/>
              </a:spcAft>
            </a:pPr>
            <a:r>
              <a:rPr sz="1900" b="1">
                <a:solidFill>
                  <a:srgbClr val="1F6FEB"/>
                </a:solidFill>
                <a:latin typeface="Arial"/>
              </a:rPr>
              <a:t>•  </a:t>
            </a:r>
            <a:r>
              <a:rPr sz="1900">
                <a:solidFill>
                  <a:srgbClr val="161B26"/>
                </a:solidFill>
                <a:latin typeface="Arial"/>
              </a:rPr>
              <a:t>Quorum: (N-1)/2 failures tolerated — 3 nodes survive 1; 5 nodes survive 2. Always use odd numbers.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HIGH AVAILABILITY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Stacked etcd Topology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2103120" cy="182880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21031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212848"/>
            <a:ext cx="188366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Load Balancer</a:t>
            </a:r>
          </a:p>
          <a:p>
            <a:pPr algn="ctr">
              <a:spcBef>
                <a:spcPts val="0"/>
              </a:spcBef>
              <a:spcAft>
                <a:spcPts val="300"/>
              </a:spcAft>
            </a:pPr>
            <a:r>
              <a:rPr sz="1100" b="0">
                <a:solidFill>
                  <a:srgbClr val="5B6372"/>
                </a:solidFill>
                <a:latin typeface="Arial"/>
              </a:rPr>
              <a:t>HAProxy / cloud LB</a:t>
            </a:r>
          </a:p>
          <a:p>
            <a:pPr algn="ctr">
              <a:spcBef>
                <a:spcPts val="0"/>
              </a:spcBef>
              <a:spcAft>
                <a:spcPts val="300"/>
              </a:spcAft>
            </a:pPr>
            <a:r>
              <a:rPr sz="1100" b="0">
                <a:solidFill>
                  <a:srgbClr val="5B6372"/>
                </a:solidFill>
                <a:latin typeface="Arial"/>
              </a:rPr>
              <a:t>endpoint :6443</a:t>
            </a:r>
          </a:p>
          <a:p>
            <a:pPr algn="ctr">
              <a:spcBef>
                <a:spcPts val="0"/>
              </a:spcBef>
              <a:spcAft>
                <a:spcPts val="300"/>
              </a:spcAft>
            </a:pPr>
            <a:r>
              <a:rPr sz="1100" b="0">
                <a:solidFill>
                  <a:srgbClr val="5B6372"/>
                </a:solidFill>
                <a:latin typeface="Arial"/>
              </a:rPr>
              <a:t>DNS or VIP</a:t>
            </a:r>
          </a:p>
        </p:txBody>
      </p:sp>
      <p:sp>
        <p:nvSpPr>
          <p:cNvPr id="10" name="Right Arrow 9"/>
          <p:cNvSpPr/>
          <p:nvPr/>
        </p:nvSpPr>
        <p:spPr>
          <a:xfrm>
            <a:off x="2971800" y="2834640"/>
            <a:ext cx="731520" cy="402336"/>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94760" y="1691640"/>
            <a:ext cx="7772400" cy="3611880"/>
          </a:xfrm>
          <a:prstGeom prst="roundRect">
            <a:avLst>
              <a:gd name="adj" fmla="val 5000"/>
            </a:avLst>
          </a:prstGeom>
          <a:solidFill>
            <a:srgbClr val="F8FB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94760" y="1691640"/>
            <a:ext cx="7772400" cy="292608"/>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Control-Plane Nodes (×3)  +  Stacked etcd</a:t>
            </a:r>
          </a:p>
        </p:txBody>
      </p:sp>
      <p:sp>
        <p:nvSpPr>
          <p:cNvPr id="13" name="Rounded Rectangle 12"/>
          <p:cNvSpPr/>
          <p:nvPr/>
        </p:nvSpPr>
        <p:spPr>
          <a:xfrm>
            <a:off x="4023360" y="2011680"/>
            <a:ext cx="3749039" cy="777240"/>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23360" y="2011680"/>
            <a:ext cx="37490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0" y="2103120"/>
            <a:ext cx="3749039" cy="292608"/>
          </a:xfrm>
          <a:prstGeom prst="rect">
            <a:avLst/>
          </a:prstGeom>
          <a:noFill/>
        </p:spPr>
        <p:txBody>
          <a:bodyPr wrap="square" anchor="ctr" lIns="0" rIns="0" tIns="0" bIns="0">
            <a:spAutoFit/>
          </a:bodyPr>
          <a:lstStyle/>
          <a:p>
            <a:pPr algn="ctr">
              <a:spcBef>
                <a:spcPts val="0"/>
              </a:spcBef>
              <a:spcAft>
                <a:spcPts val="400"/>
              </a:spcAft>
            </a:pPr>
            <a:r>
              <a:rPr sz="1100" b="1">
                <a:solidFill>
                  <a:srgbClr val="10B981"/>
                </a:solidFill>
                <a:latin typeface="Arial"/>
              </a:rPr>
              <a:t>CP 1  ·  kube-apiserver · scheduler · controller-mgr</a:t>
            </a:r>
          </a:p>
        </p:txBody>
      </p:sp>
      <p:sp>
        <p:nvSpPr>
          <p:cNvPr id="16" name="Can 15"/>
          <p:cNvSpPr/>
          <p:nvPr/>
        </p:nvSpPr>
        <p:spPr>
          <a:xfrm>
            <a:off x="7909560" y="2084832"/>
            <a:ext cx="1554480" cy="630936"/>
          </a:xfrm>
          <a:prstGeom prst="can">
            <a:avLst/>
          </a:prstGeom>
          <a:solidFill>
            <a:srgbClr val="EAF1FE"/>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2487168"/>
            <a:ext cx="155448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etcd</a:t>
            </a:r>
          </a:p>
        </p:txBody>
      </p:sp>
      <p:sp>
        <p:nvSpPr>
          <p:cNvPr id="18" name="Rounded Rectangle 17"/>
          <p:cNvSpPr/>
          <p:nvPr/>
        </p:nvSpPr>
        <p:spPr>
          <a:xfrm>
            <a:off x="4023360" y="2898648"/>
            <a:ext cx="3749039" cy="777240"/>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023360" y="2898648"/>
            <a:ext cx="37490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23360" y="2990088"/>
            <a:ext cx="3749039" cy="292608"/>
          </a:xfrm>
          <a:prstGeom prst="rect">
            <a:avLst/>
          </a:prstGeom>
          <a:noFill/>
        </p:spPr>
        <p:txBody>
          <a:bodyPr wrap="square" anchor="ctr" lIns="0" rIns="0" tIns="0" bIns="0">
            <a:spAutoFit/>
          </a:bodyPr>
          <a:lstStyle/>
          <a:p>
            <a:pPr algn="ctr">
              <a:spcBef>
                <a:spcPts val="0"/>
              </a:spcBef>
              <a:spcAft>
                <a:spcPts val="400"/>
              </a:spcAft>
            </a:pPr>
            <a:r>
              <a:rPr sz="1100" b="1">
                <a:solidFill>
                  <a:srgbClr val="10B981"/>
                </a:solidFill>
                <a:latin typeface="Arial"/>
              </a:rPr>
              <a:t>CP 2  ·  kube-apiserver · scheduler · controller-mgr</a:t>
            </a:r>
          </a:p>
        </p:txBody>
      </p:sp>
      <p:sp>
        <p:nvSpPr>
          <p:cNvPr id="21" name="Can 20"/>
          <p:cNvSpPr/>
          <p:nvPr/>
        </p:nvSpPr>
        <p:spPr>
          <a:xfrm>
            <a:off x="7909560" y="2971800"/>
            <a:ext cx="1554480" cy="630936"/>
          </a:xfrm>
          <a:prstGeom prst="can">
            <a:avLst/>
          </a:prstGeom>
          <a:solidFill>
            <a:srgbClr val="EAF1FE"/>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3374136"/>
            <a:ext cx="155448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etcd</a:t>
            </a:r>
          </a:p>
        </p:txBody>
      </p:sp>
      <p:sp>
        <p:nvSpPr>
          <p:cNvPr id="23" name="Rounded Rectangle 22"/>
          <p:cNvSpPr/>
          <p:nvPr/>
        </p:nvSpPr>
        <p:spPr>
          <a:xfrm>
            <a:off x="4023360" y="3785616"/>
            <a:ext cx="3749039" cy="777240"/>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023360" y="3785616"/>
            <a:ext cx="37490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23360" y="3877056"/>
            <a:ext cx="3749039" cy="292608"/>
          </a:xfrm>
          <a:prstGeom prst="rect">
            <a:avLst/>
          </a:prstGeom>
          <a:noFill/>
        </p:spPr>
        <p:txBody>
          <a:bodyPr wrap="square" anchor="ctr" lIns="0" rIns="0" tIns="0" bIns="0">
            <a:spAutoFit/>
          </a:bodyPr>
          <a:lstStyle/>
          <a:p>
            <a:pPr algn="ctr">
              <a:spcBef>
                <a:spcPts val="0"/>
              </a:spcBef>
              <a:spcAft>
                <a:spcPts val="400"/>
              </a:spcAft>
            </a:pPr>
            <a:r>
              <a:rPr sz="1100" b="1">
                <a:solidFill>
                  <a:srgbClr val="10B981"/>
                </a:solidFill>
                <a:latin typeface="Arial"/>
              </a:rPr>
              <a:t>CP 3  ·  kube-apiserver · scheduler · controller-mgr</a:t>
            </a:r>
          </a:p>
        </p:txBody>
      </p:sp>
      <p:sp>
        <p:nvSpPr>
          <p:cNvPr id="26" name="Can 25"/>
          <p:cNvSpPr/>
          <p:nvPr/>
        </p:nvSpPr>
        <p:spPr>
          <a:xfrm>
            <a:off x="7909560" y="3858768"/>
            <a:ext cx="1554480" cy="630936"/>
          </a:xfrm>
          <a:prstGeom prst="can">
            <a:avLst/>
          </a:prstGeom>
          <a:solidFill>
            <a:srgbClr val="EAF1FE"/>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9560" y="4261104"/>
            <a:ext cx="155448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etcd</a:t>
            </a:r>
          </a:p>
        </p:txBody>
      </p:sp>
      <p:sp>
        <p:nvSpPr>
          <p:cNvPr id="28" name="Rectangle 27"/>
          <p:cNvSpPr/>
          <p:nvPr/>
        </p:nvSpPr>
        <p:spPr>
          <a:xfrm>
            <a:off x="8641080" y="2788920"/>
            <a:ext cx="19050" cy="10972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80" y="3675888"/>
            <a:ext cx="19050" cy="10972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3920" y="3730752"/>
            <a:ext cx="1280160" cy="292608"/>
          </a:xfrm>
          <a:prstGeom prst="rect">
            <a:avLst/>
          </a:prstGeom>
          <a:noFill/>
        </p:spPr>
        <p:txBody>
          <a:bodyPr wrap="square" anchor="ctr" lIns="0" rIns="0" tIns="0" bIns="0">
            <a:spAutoFit/>
          </a:bodyPr>
          <a:lstStyle/>
          <a:p>
            <a:pPr algn="ctr">
              <a:spcBef>
                <a:spcPts val="0"/>
              </a:spcBef>
              <a:spcAft>
                <a:spcPts val="400"/>
              </a:spcAft>
            </a:pPr>
            <a:r>
              <a:rPr sz="900" b="1">
                <a:solidFill>
                  <a:srgbClr val="5B6372"/>
                </a:solidFill>
                <a:latin typeface="Arial"/>
              </a:rPr>
              <a:t>Raft sync</a:t>
            </a:r>
          </a:p>
        </p:txBody>
      </p:sp>
      <p:sp>
        <p:nvSpPr>
          <p:cNvPr id="31" name="Rounded Rectangle 30"/>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Stacked etcd: </a:t>
            </a:r>
            <a:r>
              <a:rPr sz="1300" b="1">
                <a:solidFill>
                  <a:srgbClr val="161B26"/>
                </a:solidFill>
                <a:latin typeface="Arial"/>
              </a:rPr>
              <a:t>each CP node runs its own etcd member — state replicated via Raft</a:t>
            </a:r>
            <a:r>
              <a:rPr sz="1300" b="0">
                <a:solidFill>
                  <a:srgbClr val="5B6372"/>
                </a:solidFill>
                <a:latin typeface="Arial"/>
              </a:rPr>
              <a:t>. 3 CPs tolerate 1 failure (quorum = 2).</a:t>
            </a:r>
          </a:p>
        </p:txBody>
      </p:sp>
      <p:sp>
        <p:nvSpPr>
          <p:cNvPr id="33" name="TextBox 3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4" name="TextBox 3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5" name="TextBox 3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HA CLUSTERS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Stacked etcd — HA Control Plane Topology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a_s013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HA CLUSTERS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External etcd Cluster — Dedicated Topology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a_s015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ETCD BACKUP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etcd Backup and Restore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n 6"/>
          <p:cNvSpPr/>
          <p:nvPr/>
        </p:nvSpPr>
        <p:spPr>
          <a:xfrm>
            <a:off x="777240" y="2194560"/>
            <a:ext cx="2103120" cy="1828800"/>
          </a:xfrm>
          <a:prstGeom prst="can">
            <a:avLst/>
          </a:prstGeom>
          <a:solidFill>
            <a:srgbClr val="EAF1FE"/>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114800"/>
            <a:ext cx="2103120" cy="292608"/>
          </a:xfrm>
          <a:prstGeom prst="rect">
            <a:avLst/>
          </a:prstGeom>
          <a:noFill/>
        </p:spPr>
        <p:txBody>
          <a:bodyPr wrap="square" anchor="ctr" lIns="0" rIns="0" tIns="0" bIns="0">
            <a:spAutoFit/>
          </a:bodyPr>
          <a:lstStyle/>
          <a:p>
            <a:pPr algn="ctr">
              <a:spcBef>
                <a:spcPts val="0"/>
              </a:spcBef>
              <a:spcAft>
                <a:spcPts val="400"/>
              </a:spcAft>
            </a:pPr>
            <a:r>
              <a:rPr sz="1400" b="1">
                <a:solidFill>
                  <a:srgbClr val="1F6FEB"/>
                </a:solidFill>
                <a:latin typeface="Arial"/>
              </a:rPr>
              <a:t>etcd</a:t>
            </a:r>
          </a:p>
        </p:txBody>
      </p:sp>
      <p:sp>
        <p:nvSpPr>
          <p:cNvPr id="9" name="Right Arrow 8"/>
          <p:cNvSpPr/>
          <p:nvPr/>
        </p:nvSpPr>
        <p:spPr>
          <a:xfrm>
            <a:off x="3017520" y="2578608"/>
            <a:ext cx="128016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16352" y="2286000"/>
            <a:ext cx="169164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snapshot save</a:t>
            </a:r>
          </a:p>
        </p:txBody>
      </p:sp>
      <p:sp>
        <p:nvSpPr>
          <p:cNvPr id="11" name="Left Arrow 10"/>
          <p:cNvSpPr/>
          <p:nvPr/>
        </p:nvSpPr>
        <p:spPr>
          <a:xfrm>
            <a:off x="3017520" y="3218688"/>
            <a:ext cx="1280160" cy="402336"/>
          </a:xfrm>
          <a:prstGeom prst="lef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16352" y="3675888"/>
            <a:ext cx="1691640" cy="292608"/>
          </a:xfrm>
          <a:prstGeom prst="rect">
            <a:avLst/>
          </a:prstGeom>
          <a:noFill/>
        </p:spPr>
        <p:txBody>
          <a:bodyPr wrap="square" anchor="ctr" lIns="0" rIns="0" tIns="0" bIns="0">
            <a:spAutoFit/>
          </a:bodyPr>
          <a:lstStyle/>
          <a:p>
            <a:pPr algn="ctr">
              <a:spcBef>
                <a:spcPts val="0"/>
              </a:spcBef>
              <a:spcAft>
                <a:spcPts val="400"/>
              </a:spcAft>
            </a:pPr>
            <a:r>
              <a:rPr sz="1000" b="1">
                <a:solidFill>
                  <a:srgbClr val="F59E0B"/>
                </a:solidFill>
                <a:latin typeface="Arial"/>
              </a:rPr>
              <a:t>snapshot restore</a:t>
            </a:r>
          </a:p>
        </p:txBody>
      </p:sp>
      <p:sp>
        <p:nvSpPr>
          <p:cNvPr id="13" name="Rounded Rectangle 12"/>
          <p:cNvSpPr/>
          <p:nvPr/>
        </p:nvSpPr>
        <p:spPr>
          <a:xfrm>
            <a:off x="4434840" y="2194560"/>
            <a:ext cx="2743200" cy="182880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2450592"/>
            <a:ext cx="2743200" cy="292608"/>
          </a:xfrm>
          <a:prstGeom prst="rect">
            <a:avLst/>
          </a:prstGeom>
          <a:noFill/>
        </p:spPr>
        <p:txBody>
          <a:bodyPr wrap="square" anchor="ctr" lIns="0" rIns="0" tIns="0" bIns="0">
            <a:spAutoFit/>
          </a:bodyPr>
          <a:lstStyle/>
          <a:p>
            <a:pPr algn="ctr">
              <a:spcBef>
                <a:spcPts val="0"/>
              </a:spcBef>
              <a:spcAft>
                <a:spcPts val="400"/>
              </a:spcAft>
            </a:pPr>
            <a:r>
              <a:rPr sz="1600" b="1">
                <a:solidFill>
                  <a:srgbClr val="10B981"/>
                </a:solidFill>
                <a:latin typeface="Arial"/>
              </a:rPr>
              <a:t>snapshot.db</a:t>
            </a:r>
          </a:p>
        </p:txBody>
      </p:sp>
      <p:sp>
        <p:nvSpPr>
          <p:cNvPr id="15" name="TextBox 14"/>
          <p:cNvSpPr txBox="1"/>
          <p:nvPr/>
        </p:nvSpPr>
        <p:spPr>
          <a:xfrm>
            <a:off x="4434840" y="2880360"/>
            <a:ext cx="2743200" cy="292608"/>
          </a:xfrm>
          <a:prstGeom prst="rect">
            <a:avLst/>
          </a:prstGeom>
          <a:noFill/>
        </p:spPr>
        <p:txBody>
          <a:bodyPr wrap="square" anchor="ctr" lIns="0" rIns="0" tIns="0" bIns="0">
            <a:spAutoFit/>
          </a:bodyPr>
          <a:lstStyle/>
          <a:p>
            <a:pPr algn="ctr">
              <a:spcBef>
                <a:spcPts val="0"/>
              </a:spcBef>
              <a:spcAft>
                <a:spcPts val="400"/>
              </a:spcAft>
            </a:pPr>
            <a:r>
              <a:rPr sz="1100" b="0">
                <a:solidFill>
                  <a:srgbClr val="161B26"/>
                </a:solidFill>
                <a:latin typeface="Arial"/>
              </a:rPr>
              <a:t>/backup/etcd.db</a:t>
            </a:r>
          </a:p>
        </p:txBody>
      </p:sp>
      <p:sp>
        <p:nvSpPr>
          <p:cNvPr id="16" name="TextBox 15"/>
          <p:cNvSpPr txBox="1"/>
          <p:nvPr/>
        </p:nvSpPr>
        <p:spPr>
          <a:xfrm>
            <a:off x="4434840" y="3218688"/>
            <a:ext cx="2743200" cy="292608"/>
          </a:xfrm>
          <a:prstGeom prst="rect">
            <a:avLst/>
          </a:prstGeom>
          <a:noFill/>
        </p:spPr>
        <p:txBody>
          <a:bodyPr wrap="square" anchor="ctr" lIns="0" rIns="0" tIns="0" bIns="0">
            <a:spAutoFit/>
          </a:bodyPr>
          <a:lstStyle/>
          <a:p>
            <a:pPr algn="ctr">
              <a:spcBef>
                <a:spcPts val="0"/>
              </a:spcBef>
              <a:spcAft>
                <a:spcPts val="400"/>
              </a:spcAft>
            </a:pPr>
            <a:r>
              <a:rPr sz="1000" b="0">
                <a:solidFill>
                  <a:srgbClr val="5B6372"/>
                </a:solidFill>
                <a:latin typeface="Arial"/>
              </a:rPr>
              <a:t>etcdctl snapshot status</a:t>
            </a:r>
          </a:p>
        </p:txBody>
      </p:sp>
      <p:sp>
        <p:nvSpPr>
          <p:cNvPr id="17" name="TextBox 16"/>
          <p:cNvSpPr txBox="1"/>
          <p:nvPr/>
        </p:nvSpPr>
        <p:spPr>
          <a:xfrm>
            <a:off x="4434840" y="3520440"/>
            <a:ext cx="2743200" cy="292608"/>
          </a:xfrm>
          <a:prstGeom prst="rect">
            <a:avLst/>
          </a:prstGeom>
          <a:noFill/>
        </p:spPr>
        <p:txBody>
          <a:bodyPr wrap="square" anchor="ctr" lIns="0" rIns="0" tIns="0" bIns="0">
            <a:spAutoFit/>
          </a:bodyPr>
          <a:lstStyle/>
          <a:p>
            <a:pPr algn="ctr">
              <a:spcBef>
                <a:spcPts val="0"/>
              </a:spcBef>
              <a:spcAft>
                <a:spcPts val="400"/>
              </a:spcAft>
            </a:pPr>
            <a:r>
              <a:rPr sz="1000" b="0">
                <a:solidFill>
                  <a:srgbClr val="5B6372"/>
                </a:solidFill>
                <a:latin typeface="Arial"/>
              </a:rPr>
              <a:t>snapshot restore --data-dir ...</a:t>
            </a:r>
          </a:p>
        </p:txBody>
      </p:sp>
      <p:sp>
        <p:nvSpPr>
          <p:cNvPr id="18" name="Rounded Rectangle 17"/>
          <p:cNvSpPr/>
          <p:nvPr/>
        </p:nvSpPr>
        <p:spPr>
          <a:xfrm>
            <a:off x="7452360" y="2194560"/>
            <a:ext cx="4434840" cy="18288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2304288"/>
            <a:ext cx="4206240" cy="1609344"/>
          </a:xfrm>
          <a:prstGeom prst="rect">
            <a:avLst/>
          </a:prstGeom>
          <a:noFill/>
        </p:spPr>
        <p:txBody>
          <a:bodyPr wrap="square" anchor="t" lIns="0" rIns="0" tIns="0" bIns="0">
            <a:spAutoFit/>
          </a:bodyPr>
          <a:lstStyle/>
          <a:p>
            <a:pPr algn="l">
              <a:spcBef>
                <a:spcPts val="0"/>
              </a:spcBef>
              <a:spcAft>
                <a:spcPts val="300"/>
              </a:spcAft>
            </a:pPr>
            <a:r>
              <a:rPr sz="1200" b="1">
                <a:solidFill>
                  <a:srgbClr val="1F6FEB"/>
                </a:solidFill>
                <a:latin typeface="Arial"/>
              </a:rPr>
              <a:t>Required etcdctl flags:</a:t>
            </a:r>
          </a:p>
          <a:p>
            <a:pPr algn="l">
              <a:spcBef>
                <a:spcPts val="0"/>
              </a:spcBef>
              <a:spcAft>
                <a:spcPts val="300"/>
              </a:spcAft>
            </a:pPr>
            <a:r>
              <a:rPr sz="1100" b="0">
                <a:solidFill>
                  <a:srgbClr val="161B26"/>
                </a:solidFill>
                <a:latin typeface="Arial"/>
              </a:rPr>
              <a:t>--endpoints=https://127.0.0.1:2379</a:t>
            </a:r>
          </a:p>
          <a:p>
            <a:pPr algn="l">
              <a:spcBef>
                <a:spcPts val="0"/>
              </a:spcBef>
              <a:spcAft>
                <a:spcPts val="300"/>
              </a:spcAft>
            </a:pPr>
            <a:r>
              <a:rPr sz="1100" b="0">
                <a:solidFill>
                  <a:srgbClr val="161B26"/>
                </a:solidFill>
                <a:latin typeface="Arial"/>
              </a:rPr>
              <a:t>--cacert  /etc/kubernetes/pki/etcd/ca.crt</a:t>
            </a:r>
          </a:p>
          <a:p>
            <a:pPr algn="l">
              <a:spcBef>
                <a:spcPts val="0"/>
              </a:spcBef>
              <a:spcAft>
                <a:spcPts val="300"/>
              </a:spcAft>
            </a:pPr>
            <a:r>
              <a:rPr sz="1100" b="0">
                <a:solidFill>
                  <a:srgbClr val="161B26"/>
                </a:solidFill>
                <a:latin typeface="Arial"/>
              </a:rPr>
              <a:t>--cert    /etc/kubernetes/pki/etcd/server.crt</a:t>
            </a:r>
          </a:p>
          <a:p>
            <a:pPr algn="l">
              <a:spcBef>
                <a:spcPts val="0"/>
              </a:spcBef>
              <a:spcAft>
                <a:spcPts val="300"/>
              </a:spcAft>
            </a:pPr>
            <a:r>
              <a:rPr sz="1100" b="0">
                <a:solidFill>
                  <a:srgbClr val="161B26"/>
                </a:solidFill>
                <a:latin typeface="Arial"/>
              </a:rPr>
              <a:t>--key     /etc/kubernetes/pki/etcd/server.key</a:t>
            </a:r>
          </a:p>
        </p:txBody>
      </p:sp>
      <p:sp>
        <p:nvSpPr>
          <p:cNvPr id="20" name="Rounded Rectangle 19"/>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After restore: </a:t>
            </a:r>
            <a:r>
              <a:rPr sz="1300" b="1">
                <a:solidFill>
                  <a:srgbClr val="161B26"/>
                </a:solidFill>
                <a:latin typeface="Arial"/>
              </a:rPr>
              <a:t>update etcd static pod --data-dir</a:t>
            </a:r>
            <a:r>
              <a:rPr sz="1300" b="0">
                <a:solidFill>
                  <a:srgbClr val="5B6372"/>
                </a:solidFill>
                <a:latin typeface="Arial"/>
              </a:rPr>
              <a:t> → kubelet auto-restarts etcd. Set </a:t>
            </a:r>
            <a:r>
              <a:rPr sz="1300" b="1">
                <a:solidFill>
                  <a:srgbClr val="161B26"/>
                </a:solidFill>
                <a:latin typeface="Arial"/>
              </a:rPr>
              <a:t>ETCDCTL_API=3</a:t>
            </a:r>
            <a:r>
              <a:rPr sz="1300" b="0">
                <a:solidFill>
                  <a:srgbClr val="5B6372"/>
                </a:solidFill>
                <a:latin typeface="Arial"/>
              </a:rPr>
              <a:t> before all etcdctl commands.</a:t>
            </a:r>
          </a:p>
        </p:txBody>
      </p:sp>
      <p:sp>
        <p:nvSpPr>
          <p:cNvPr id="22" name="TextBox 2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3" name="TextBox 2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4" name="TextBox 2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HIGH AVAILABILITY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Control Plane: HAProxy + Keepalived VIP and --upload-certs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High availability</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Set up a highly available control plane topology using HAProxy as a TCP load balancer and Keepalived to provide a floating VIP. Initialize the first control plane with --control-plane-endpoint pointing to the VIP and --upload-certs to share certs. CKA tests etcd quorum and cluster resilience questions.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Configure HAProxy and Keepalived, run kubeadm init with --control-plane-endpoint and --upload-certs, join additional control plane nodes, verify etcd member list.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apt-get install · kubeadm init · » --control-plane-endpoint · kubeadm join · kubectl -n</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Control Plane: HAProxy + Keepalived VIP and --upload-certs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and configure HAProxy</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apt-get install -y haproxy</a:t>
            </a:r>
          </a:p>
          <a:p>
            <a:pPr>
              <a:spcBef>
                <a:spcPts val="0"/>
              </a:spcBef>
              <a:spcAft>
                <a:spcPts val="0"/>
              </a:spcAft>
            </a:pPr>
            <a:r>
              <a:rPr sz="1050">
                <a:solidFill>
                  <a:srgbClr val="161B26"/>
                </a:solidFill>
                <a:latin typeface="Consolas"/>
              </a:rPr>
              <a:t>systemctl restart haproxy &amp;&amp; systemctl enable haproxy</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Configure Keepalived with VIP</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apt-get install -y keepalived</a:t>
            </a:r>
          </a:p>
          <a:p>
            <a:pPr>
              <a:spcBef>
                <a:spcPts val="0"/>
              </a:spcBef>
              <a:spcAft>
                <a:spcPts val="0"/>
              </a:spcAft>
            </a:pPr>
            <a:r>
              <a:rPr sz="1050">
                <a:solidFill>
                  <a:srgbClr val="161B26"/>
                </a:solidFill>
                <a:latin typeface="Consolas"/>
              </a:rPr>
              <a:t># MASTER: state MASTER, priority 101</a:t>
            </a:r>
          </a:p>
          <a:p>
            <a:pPr>
              <a:spcBef>
                <a:spcPts val="0"/>
              </a:spcBef>
              <a:spcAft>
                <a:spcPts val="0"/>
              </a:spcAft>
            </a:pPr>
            <a:r>
              <a:rPr sz="1050">
                <a:solidFill>
                  <a:srgbClr val="161B26"/>
                </a:solidFill>
                <a:latin typeface="Consolas"/>
              </a:rPr>
              <a:t># BACKUP: state BACKUP, priority 100</a:t>
            </a:r>
          </a:p>
          <a:p>
            <a:pPr>
              <a:spcBef>
                <a:spcPts val="0"/>
              </a:spcBef>
              <a:spcAft>
                <a:spcPts val="0"/>
              </a:spcAft>
            </a:pPr>
            <a:r>
              <a:rPr sz="1050">
                <a:solidFill>
                  <a:srgbClr val="161B26"/>
                </a:solidFill>
                <a:latin typeface="Consolas"/>
              </a:rPr>
              <a:t>systemctl restart keepalived &amp;&amp; systemctl enable keepalived</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Initialize first control plane with VIP</a:t>
            </a:r>
          </a:p>
        </p:txBody>
      </p:sp>
      <p:sp>
        <p:nvSpPr>
          <p:cNvPr id="16" name="Rounded Rectangle 15"/>
          <p:cNvSpPr/>
          <p:nvPr/>
        </p:nvSpPr>
        <p:spPr>
          <a:xfrm>
            <a:off x="777240" y="4626863"/>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kubeadm init \</a:t>
            </a:r>
          </a:p>
          <a:p>
            <a:pPr>
              <a:spcBef>
                <a:spcPts val="0"/>
              </a:spcBef>
              <a:spcAft>
                <a:spcPts val="0"/>
              </a:spcAft>
            </a:pPr>
            <a:r>
              <a:rPr sz="1050">
                <a:solidFill>
                  <a:srgbClr val="161B26"/>
                </a:solidFill>
                <a:latin typeface="Consolas"/>
              </a:rPr>
              <a:t>  --kubernetes-version=v1.35.0 \</a:t>
            </a:r>
          </a:p>
          <a:p>
            <a:pPr>
              <a:spcBef>
                <a:spcPts val="0"/>
              </a:spcBef>
              <a:spcAft>
                <a:spcPts val="0"/>
              </a:spcAft>
            </a:pPr>
            <a:r>
              <a:rPr sz="1050">
                <a:solidFill>
                  <a:srgbClr val="161B26"/>
                </a:solidFill>
                <a:latin typeface="Consolas"/>
              </a:rPr>
              <a:t>  --control-plane-endpoint='192.168.1.100:6443' \</a:t>
            </a:r>
          </a:p>
          <a:p>
            <a:pPr>
              <a:spcBef>
                <a:spcPts val="0"/>
              </a:spcBef>
              <a:spcAft>
                <a:spcPts val="0"/>
              </a:spcAft>
            </a:pPr>
            <a:r>
              <a:rPr sz="1050">
                <a:solidFill>
                  <a:srgbClr val="161B26"/>
                </a:solidFill>
                <a:latin typeface="Consolas"/>
              </a:rPr>
              <a:t>  --pod-network-cidr=192.168.0.0/16 \</a:t>
            </a:r>
          </a:p>
          <a:p>
            <a:pPr>
              <a:spcBef>
                <a:spcPts val="0"/>
              </a:spcBef>
              <a:spcAft>
                <a:spcPts val="0"/>
              </a:spcAft>
            </a:pPr>
            <a:r>
              <a:rPr sz="1050">
                <a:solidFill>
                  <a:srgbClr val="161B26"/>
                </a:solidFill>
                <a:latin typeface="Consolas"/>
              </a:rPr>
              <a:t>  --upload-certs</a:t>
            </a:r>
          </a:p>
          <a:p>
            <a:pPr>
              <a:spcBef>
                <a:spcPts val="0"/>
              </a:spcBef>
              <a:spcAft>
                <a:spcPts val="0"/>
              </a:spcAft>
            </a:pPr>
            <a:r>
              <a:rPr sz="1050">
                <a:solidFill>
                  <a:srgbClr val="161B26"/>
                </a:solidFill>
                <a:latin typeface="Consolas"/>
              </a:rPr>
              <a:t>mkdir -p $HOME/.kube &amp;&amp; cp /etc/kubernetes/admin.conf $HOME/.kube/config</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Control Plane: HAProxy + Keepalived VIP and --upload-certs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--control-plane-endpoint must point to the VIP address and is baked into all certs/kubeconfigs. --upload-certs stores encrypted certs in a Secret. The --certificate-key expires after 2 hours.</a:t>
            </a:r>
          </a:p>
        </p:txBody>
      </p:sp>
      <p:sp>
        <p:nvSpPr>
          <p:cNvPr id="8" name="TextBox 7"/>
          <p:cNvSpPr txBox="1"/>
          <p:nvPr/>
        </p:nvSpPr>
        <p:spPr>
          <a:xfrm>
            <a:off x="777240" y="289864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Join additional control plane nodes</a:t>
            </a:r>
          </a:p>
        </p:txBody>
      </p:sp>
      <p:sp>
        <p:nvSpPr>
          <p:cNvPr id="9" name="Rounded Rectangle 8"/>
          <p:cNvSpPr/>
          <p:nvPr/>
        </p:nvSpPr>
        <p:spPr>
          <a:xfrm>
            <a:off x="777240" y="3282696"/>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282696"/>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3346704"/>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kubeadm join 192.168.1.100:6443 \</a:t>
            </a:r>
          </a:p>
          <a:p>
            <a:pPr>
              <a:spcBef>
                <a:spcPts val="0"/>
              </a:spcBef>
              <a:spcAft>
                <a:spcPts val="0"/>
              </a:spcAft>
            </a:pPr>
            <a:r>
              <a:rPr sz="1050">
                <a:solidFill>
                  <a:srgbClr val="161B26"/>
                </a:solidFill>
                <a:latin typeface="Consolas"/>
              </a:rPr>
              <a:t>  --token &lt;token&gt; \</a:t>
            </a:r>
          </a:p>
          <a:p>
            <a:pPr>
              <a:spcBef>
                <a:spcPts val="0"/>
              </a:spcBef>
              <a:spcAft>
                <a:spcPts val="0"/>
              </a:spcAft>
            </a:pPr>
            <a:r>
              <a:rPr sz="1050">
                <a:solidFill>
                  <a:srgbClr val="161B26"/>
                </a:solidFill>
                <a:latin typeface="Consolas"/>
              </a:rPr>
              <a:t>  --discovery-token-ca-cert-hash sha256:&lt;hash&gt; \</a:t>
            </a:r>
          </a:p>
          <a:p>
            <a:pPr>
              <a:spcBef>
                <a:spcPts val="0"/>
              </a:spcBef>
              <a:spcAft>
                <a:spcPts val="0"/>
              </a:spcAft>
            </a:pPr>
            <a:r>
              <a:rPr sz="1050">
                <a:solidFill>
                  <a:srgbClr val="161B26"/>
                </a:solidFill>
                <a:latin typeface="Consolas"/>
              </a:rPr>
              <a:t>  --control-plane \</a:t>
            </a:r>
          </a:p>
          <a:p>
            <a:pPr>
              <a:spcBef>
                <a:spcPts val="0"/>
              </a:spcBef>
              <a:spcAft>
                <a:spcPts val="0"/>
              </a:spcAft>
            </a:pPr>
            <a:r>
              <a:rPr sz="1050">
                <a:solidFill>
                  <a:srgbClr val="161B26"/>
                </a:solidFill>
                <a:latin typeface="Consolas"/>
              </a:rPr>
              <a:t>  --certificate-key &lt;cert-key&gt;</a:t>
            </a:r>
          </a:p>
        </p:txBody>
      </p:sp>
      <p:sp>
        <p:nvSpPr>
          <p:cNvPr id="12" name="TextBox 11"/>
          <p:cNvSpPr txBox="1"/>
          <p:nvPr/>
        </p:nvSpPr>
        <p:spPr>
          <a:xfrm>
            <a:off x="777240" y="4549139"/>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Verify etcd HA cluster</a:t>
            </a:r>
          </a:p>
        </p:txBody>
      </p:sp>
      <p:sp>
        <p:nvSpPr>
          <p:cNvPr id="13" name="Rounded Rectangle 12"/>
          <p:cNvSpPr/>
          <p:nvPr/>
        </p:nvSpPr>
        <p:spPr>
          <a:xfrm>
            <a:off x="777240" y="4933187"/>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933187"/>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4997195"/>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kube-system exec -it etcd-control-plane-01 -- \</a:t>
            </a:r>
          </a:p>
          <a:p>
            <a:pPr>
              <a:spcBef>
                <a:spcPts val="0"/>
              </a:spcBef>
              <a:spcAft>
                <a:spcPts val="0"/>
              </a:spcAft>
            </a:pPr>
            <a:r>
              <a:rPr sz="1050">
                <a:solidFill>
                  <a:srgbClr val="161B26"/>
                </a:solidFill>
                <a:latin typeface="Consolas"/>
              </a:rPr>
              <a:t>  etcdctl --endpoints=https://127.0.0.1:2379 \</a:t>
            </a:r>
          </a:p>
          <a:p>
            <a:pPr>
              <a:spcBef>
                <a:spcPts val="0"/>
              </a:spcBef>
              <a:spcAft>
                <a:spcPts val="0"/>
              </a:spcAft>
            </a:pPr>
            <a:r>
              <a:rPr sz="1050">
                <a:solidFill>
                  <a:srgbClr val="161B26"/>
                </a:solidFill>
                <a:latin typeface="Consolas"/>
              </a:rPr>
              <a:t>  --cacert=/etc/kubernetes/pki/etcd/ca.crt \</a:t>
            </a:r>
          </a:p>
          <a:p>
            <a:pPr>
              <a:spcBef>
                <a:spcPts val="0"/>
              </a:spcBef>
              <a:spcAft>
                <a:spcPts val="0"/>
              </a:spcAft>
            </a:pPr>
            <a:r>
              <a:rPr sz="1050">
                <a:solidFill>
                  <a:srgbClr val="161B26"/>
                </a:solidFill>
                <a:latin typeface="Consolas"/>
              </a:rPr>
              <a:t>  --cert=/etc/kubernetes/pki/etcd/server.crt \</a:t>
            </a:r>
          </a:p>
          <a:p>
            <a:pPr>
              <a:spcBef>
                <a:spcPts val="0"/>
              </a:spcBef>
              <a:spcAft>
                <a:spcPts val="0"/>
              </a:spcAft>
            </a:pPr>
            <a:r>
              <a:rPr sz="1050">
                <a:solidFill>
                  <a:srgbClr val="161B26"/>
                </a:solidFill>
                <a:latin typeface="Consolas"/>
              </a:rPr>
              <a:t>  --key=/etc/kubernetes/pki/etcd/server.key member list</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Control Plane: HAProxy + Keepalived VIP and --upload-certs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etcdctl member list shows all control plane nodes as healthy. kubectl get nodes shows 3+ nodes. VIP migrates to secondary when primary API server is stopped.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Helm &amp; Kustomize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Package management and configuration overlays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HELM</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 The Package Manager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Helm chart is a bundle of templated YAML; a release is one deployed instance of a chart.</a:t>
            </a:r>
          </a:p>
          <a:p>
            <a:pPr>
              <a:spcBef>
                <a:spcPts val="0"/>
              </a:spcBef>
              <a:spcAft>
                <a:spcPts val="1000"/>
              </a:spcAft>
            </a:pPr>
            <a:r>
              <a:rPr sz="1900" b="1">
                <a:solidFill>
                  <a:srgbClr val="1F6FEB"/>
                </a:solidFill>
                <a:latin typeface="Arial"/>
              </a:rPr>
              <a:t>•  </a:t>
            </a:r>
            <a:r>
              <a:rPr sz="1900">
                <a:solidFill>
                  <a:srgbClr val="161B26"/>
                </a:solidFill>
                <a:latin typeface="Arial"/>
              </a:rPr>
              <a:t>Workflow: helm repo add → helm install → helm upgrade → helm rollback → helm uninstall.</a:t>
            </a:r>
          </a:p>
          <a:p>
            <a:pPr>
              <a:spcBef>
                <a:spcPts val="0"/>
              </a:spcBef>
              <a:spcAft>
                <a:spcPts val="1000"/>
              </a:spcAft>
            </a:pPr>
            <a:r>
              <a:rPr sz="1900" b="1">
                <a:solidFill>
                  <a:srgbClr val="1F6FEB"/>
                </a:solidFill>
                <a:latin typeface="Arial"/>
              </a:rPr>
              <a:t>•  </a:t>
            </a:r>
            <a:r>
              <a:rPr sz="1900">
                <a:solidFill>
                  <a:srgbClr val="161B26"/>
                </a:solidFill>
                <a:latin typeface="Arial"/>
              </a:rPr>
              <a:t>--set key=value overrides chart values at install/upgrade time.</a:t>
            </a:r>
          </a:p>
          <a:p>
            <a:pPr>
              <a:spcBef>
                <a:spcPts val="0"/>
              </a:spcBef>
              <a:spcAft>
                <a:spcPts val="1000"/>
              </a:spcAft>
            </a:pPr>
            <a:r>
              <a:rPr sz="1900" b="1">
                <a:solidFill>
                  <a:srgbClr val="1F6FEB"/>
                </a:solidFill>
                <a:latin typeface="Arial"/>
              </a:rPr>
              <a:t>•  </a:t>
            </a:r>
            <a:r>
              <a:rPr sz="1900">
                <a:solidFill>
                  <a:srgbClr val="161B26"/>
                </a:solidFill>
                <a:latin typeface="Arial"/>
              </a:rPr>
              <a:t>helm history &lt;release&gt; lists every revision; helm get manifest shows what was applied.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EXAM-TESTED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Commands to Know</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Install &amp; Upgrade</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helm repo add &lt;name&gt; &lt;url&gt;</a:t>
            </a:r>
          </a:p>
          <a:p>
            <a:pPr>
              <a:spcBef>
                <a:spcPts val="0"/>
              </a:spcBef>
              <a:spcAft>
                <a:spcPts val="900"/>
              </a:spcAft>
            </a:pPr>
            <a:r>
              <a:rPr sz="1400" b="1">
                <a:solidFill>
                  <a:srgbClr val="1F6FEB"/>
                </a:solidFill>
                <a:latin typeface="Arial"/>
              </a:rPr>
              <a:t>•  </a:t>
            </a:r>
            <a:r>
              <a:rPr sz="1400">
                <a:solidFill>
                  <a:srgbClr val="161B26"/>
                </a:solidFill>
                <a:latin typeface="Arial"/>
              </a:rPr>
              <a:t>helm install &lt;rel&gt; &lt;chart&gt;</a:t>
            </a:r>
          </a:p>
          <a:p>
            <a:pPr>
              <a:spcBef>
                <a:spcPts val="0"/>
              </a:spcBef>
              <a:spcAft>
                <a:spcPts val="900"/>
              </a:spcAft>
            </a:pPr>
            <a:r>
              <a:rPr sz="1400" b="1">
                <a:solidFill>
                  <a:srgbClr val="1F6FEB"/>
                </a:solidFill>
                <a:latin typeface="Arial"/>
              </a:rPr>
              <a:t>•  </a:t>
            </a:r>
            <a:r>
              <a:rPr sz="1400">
                <a:solidFill>
                  <a:srgbClr val="161B26"/>
                </a:solidFill>
                <a:latin typeface="Arial"/>
              </a:rPr>
              <a:t>helm upgrade &lt;rel&gt; &lt;chart&gt; --set</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Inspect &amp; Debug</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helm list / helm history</a:t>
            </a:r>
          </a:p>
          <a:p>
            <a:pPr>
              <a:spcBef>
                <a:spcPts val="0"/>
              </a:spcBef>
              <a:spcAft>
                <a:spcPts val="900"/>
              </a:spcAft>
            </a:pPr>
            <a:r>
              <a:rPr sz="1400" b="1">
                <a:solidFill>
                  <a:srgbClr val="10B981"/>
                </a:solidFill>
                <a:latin typeface="Arial"/>
              </a:rPr>
              <a:t>•  </a:t>
            </a:r>
            <a:r>
              <a:rPr sz="1400">
                <a:solidFill>
                  <a:srgbClr val="161B26"/>
                </a:solidFill>
                <a:latin typeface="Arial"/>
              </a:rPr>
              <a:t>helm get manifest &lt;rel&gt;</a:t>
            </a:r>
          </a:p>
          <a:p>
            <a:pPr>
              <a:spcBef>
                <a:spcPts val="0"/>
              </a:spcBef>
              <a:spcAft>
                <a:spcPts val="900"/>
              </a:spcAft>
            </a:pPr>
            <a:r>
              <a:rPr sz="1400" b="1">
                <a:solidFill>
                  <a:srgbClr val="10B981"/>
                </a:solidFill>
                <a:latin typeface="Arial"/>
              </a:rPr>
              <a:t>•  </a:t>
            </a:r>
            <a:r>
              <a:rPr sz="1400">
                <a:solidFill>
                  <a:srgbClr val="161B26"/>
                </a:solidFill>
                <a:latin typeface="Arial"/>
              </a:rPr>
              <a:t>helm get values &lt;rel&gt;</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Rollback &amp; Remove</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helm rollback &lt;rel&gt; &lt;rev&gt;</a:t>
            </a:r>
          </a:p>
          <a:p>
            <a:pPr>
              <a:spcBef>
                <a:spcPts val="0"/>
              </a:spcBef>
              <a:spcAft>
                <a:spcPts val="900"/>
              </a:spcAft>
            </a:pPr>
            <a:r>
              <a:rPr sz="1400" b="1">
                <a:solidFill>
                  <a:srgbClr val="7C3AED"/>
                </a:solidFill>
                <a:latin typeface="Arial"/>
              </a:rPr>
              <a:t>•  </a:t>
            </a:r>
            <a:r>
              <a:rPr sz="1400">
                <a:solidFill>
                  <a:srgbClr val="161B26"/>
                </a:solidFill>
                <a:latin typeface="Arial"/>
              </a:rPr>
              <a:t>helm uninstall &lt;rel&gt;</a:t>
            </a:r>
          </a:p>
          <a:p>
            <a:pPr>
              <a:spcBef>
                <a:spcPts val="0"/>
              </a:spcBef>
              <a:spcAft>
                <a:spcPts val="900"/>
              </a:spcAft>
            </a:pPr>
            <a:r>
              <a:rPr sz="1400" b="1">
                <a:solidFill>
                  <a:srgbClr val="7C3AED"/>
                </a:solidFill>
                <a:latin typeface="Arial"/>
              </a:rPr>
              <a:t>•  </a:t>
            </a:r>
            <a:r>
              <a:rPr sz="1400">
                <a:solidFill>
                  <a:srgbClr val="161B26"/>
                </a:solidFill>
                <a:latin typeface="Arial"/>
              </a:rPr>
              <a:t>--dry-run for testing</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THE KUBERNETES PACKAGE MANAGER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 Chart, Release, Revisions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82880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719072"/>
          </a:xfrm>
          <a:prstGeom prst="rect">
            <a:avLst/>
          </a:prstGeom>
          <a:noFill/>
        </p:spPr>
        <p:txBody>
          <a:bodyPr wrap="square" anchor="ctr" lIns="0" rIns="0" tIns="0" bIns="0">
            <a:spAutoFit/>
          </a:bodyPr>
          <a:lstStyle/>
          <a:p>
            <a:pPr algn="ctr">
              <a:spcBef>
                <a:spcPts val="0"/>
              </a:spcBef>
              <a:spcAft>
                <a:spcPts val="300"/>
              </a:spcAft>
            </a:pPr>
            <a:r>
              <a:rPr sz="1600" b="1">
                <a:solidFill>
                  <a:srgbClr val="161B26"/>
                </a:solidFill>
                <a:latin typeface="Arial"/>
              </a:rPr>
              <a:t>Chart</a:t>
            </a:r>
          </a:p>
          <a:p>
            <a:pPr algn="ctr">
              <a:spcBef>
                <a:spcPts val="0"/>
              </a:spcBef>
              <a:spcAft>
                <a:spcPts val="300"/>
              </a:spcAft>
            </a:pPr>
            <a:r>
              <a:rPr sz="1100" b="0">
                <a:solidFill>
                  <a:srgbClr val="5B6372"/>
                </a:solidFill>
                <a:latin typeface="Arial"/>
              </a:rPr>
              <a:t>templates/*.yaml</a:t>
            </a:r>
          </a:p>
          <a:p>
            <a:pPr algn="ctr">
              <a:spcBef>
                <a:spcPts val="0"/>
              </a:spcBef>
              <a:spcAft>
                <a:spcPts val="300"/>
              </a:spcAft>
            </a:pPr>
            <a:r>
              <a:rPr sz="1100" b="0">
                <a:solidFill>
                  <a:srgbClr val="5B6372"/>
                </a:solidFill>
                <a:latin typeface="Arial"/>
              </a:rPr>
              <a:t>values.yaml</a:t>
            </a:r>
          </a:p>
          <a:p>
            <a:pPr algn="ctr">
              <a:spcBef>
                <a:spcPts val="0"/>
              </a:spcBef>
              <a:spcAft>
                <a:spcPts val="300"/>
              </a:spcAft>
            </a:pPr>
            <a:r>
              <a:rPr sz="1100" b="0">
                <a:solidFill>
                  <a:srgbClr val="5B6372"/>
                </a:solidFill>
                <a:latin typeface="Arial"/>
              </a:rPr>
              <a:t>Chart.yaml</a:t>
            </a:r>
          </a:p>
        </p:txBody>
      </p:sp>
      <p:sp>
        <p:nvSpPr>
          <p:cNvPr id="10" name="Right Arrow 9"/>
          <p:cNvSpPr/>
          <p:nvPr/>
        </p:nvSpPr>
        <p:spPr>
          <a:xfrm>
            <a:off x="3840480" y="318211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helm install --set</a:t>
            </a:r>
          </a:p>
        </p:txBody>
      </p:sp>
      <p:sp>
        <p:nvSpPr>
          <p:cNvPr id="12" name="Rounded Rectangle 11"/>
          <p:cNvSpPr/>
          <p:nvPr/>
        </p:nvSpPr>
        <p:spPr>
          <a:xfrm>
            <a:off x="4572000" y="2468880"/>
            <a:ext cx="3063240" cy="182880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71907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Release: myapp</a:t>
            </a:r>
          </a:p>
          <a:p>
            <a:pPr algn="ctr">
              <a:spcBef>
                <a:spcPts val="0"/>
              </a:spcBef>
              <a:spcAft>
                <a:spcPts val="300"/>
              </a:spcAft>
            </a:pPr>
            <a:r>
              <a:rPr sz="1100" b="0">
                <a:solidFill>
                  <a:srgbClr val="5B6372"/>
                </a:solidFill>
                <a:latin typeface="Arial"/>
              </a:rPr>
              <a:t>rev 1 · rev 2 · rev 3</a:t>
            </a:r>
          </a:p>
          <a:p>
            <a:pPr algn="ctr">
              <a:spcBef>
                <a:spcPts val="0"/>
              </a:spcBef>
              <a:spcAft>
                <a:spcPts val="300"/>
              </a:spcAft>
            </a:pPr>
            <a:r>
              <a:rPr sz="1100" b="0">
                <a:solidFill>
                  <a:srgbClr val="5B6372"/>
                </a:solidFill>
                <a:latin typeface="Arial"/>
              </a:rPr>
              <a:t>helm history</a:t>
            </a:r>
          </a:p>
        </p:txBody>
      </p:sp>
      <p:sp>
        <p:nvSpPr>
          <p:cNvPr id="15" name="Right Arrow 14"/>
          <p:cNvSpPr/>
          <p:nvPr/>
        </p:nvSpPr>
        <p:spPr>
          <a:xfrm>
            <a:off x="7635240" y="318211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renders &amp; applies</a:t>
            </a:r>
          </a:p>
        </p:txBody>
      </p:sp>
      <p:sp>
        <p:nvSpPr>
          <p:cNvPr id="17" name="Rounded Rectangle 16"/>
          <p:cNvSpPr/>
          <p:nvPr/>
        </p:nvSpPr>
        <p:spPr>
          <a:xfrm>
            <a:off x="8366760" y="2468880"/>
            <a:ext cx="3063240" cy="1828800"/>
          </a:xfrm>
          <a:prstGeom prst="roundRect">
            <a:avLst>
              <a:gd name="adj" fmla="val 5000"/>
            </a:avLst>
          </a:prstGeom>
          <a:solidFill>
            <a:srgbClr val="FFFFFF"/>
          </a:solidFill>
          <a:ln w="12700">
            <a:solidFill>
              <a:srgbClr val="161B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66760" y="2468880"/>
            <a:ext cx="3063240" cy="9144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76488" y="2578608"/>
            <a:ext cx="2843784" cy="171907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Kubernetes</a:t>
            </a:r>
          </a:p>
          <a:p>
            <a:pPr algn="ctr">
              <a:spcBef>
                <a:spcPts val="0"/>
              </a:spcBef>
              <a:spcAft>
                <a:spcPts val="300"/>
              </a:spcAft>
            </a:pPr>
            <a:r>
              <a:rPr sz="1100" b="0">
                <a:solidFill>
                  <a:srgbClr val="5B6372"/>
                </a:solidFill>
                <a:latin typeface="Arial"/>
              </a:rPr>
              <a:t>Deployment</a:t>
            </a:r>
          </a:p>
          <a:p>
            <a:pPr algn="ctr">
              <a:spcBef>
                <a:spcPts val="0"/>
              </a:spcBef>
              <a:spcAft>
                <a:spcPts val="300"/>
              </a:spcAft>
            </a:pPr>
            <a:r>
              <a:rPr sz="1100" b="0">
                <a:solidFill>
                  <a:srgbClr val="5B6372"/>
                </a:solidFill>
                <a:latin typeface="Arial"/>
              </a:rPr>
              <a:t>Service · ConfigMap</a:t>
            </a:r>
          </a:p>
        </p:txBody>
      </p:sp>
      <p:sp>
        <p:nvSpPr>
          <p:cNvPr id="20" name="Left Arrow 19"/>
          <p:cNvSpPr/>
          <p:nvPr/>
        </p:nvSpPr>
        <p:spPr>
          <a:xfrm>
            <a:off x="6949440" y="4434840"/>
            <a:ext cx="914400" cy="384048"/>
          </a:xfrm>
          <a:prstGeom prst="lef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4389120"/>
            <a:ext cx="3657600" cy="292608"/>
          </a:xfrm>
          <a:prstGeom prst="rect">
            <a:avLst/>
          </a:prstGeom>
          <a:noFill/>
        </p:spPr>
        <p:txBody>
          <a:bodyPr wrap="square" anchor="ctr" lIns="0" rIns="0" tIns="0" bIns="0">
            <a:spAutoFit/>
          </a:bodyPr>
          <a:lstStyle/>
          <a:p>
            <a:pPr algn="ctr">
              <a:spcBef>
                <a:spcPts val="0"/>
              </a:spcBef>
              <a:spcAft>
                <a:spcPts val="400"/>
              </a:spcAft>
            </a:pPr>
            <a:r>
              <a:rPr sz="1100" b="1">
                <a:solidFill>
                  <a:srgbClr val="F59E0B"/>
                </a:solidFill>
                <a:latin typeface="Arial"/>
              </a:rPr>
              <a:t>helm rollback myapp 1  ·  helm upgrade</a:t>
            </a:r>
          </a:p>
        </p:txBody>
      </p:sp>
      <p:sp>
        <p:nvSpPr>
          <p:cNvPr id="22" name="Rounded Rectangle 21"/>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1">
                <a:solidFill>
                  <a:srgbClr val="161B26"/>
                </a:solidFill>
                <a:latin typeface="Arial"/>
              </a:rPr>
              <a:t>install → upgrade → rollback → uninstall.  </a:t>
            </a:r>
            <a:r>
              <a:rPr sz="1300" b="0">
                <a:solidFill>
                  <a:srgbClr val="5B6372"/>
                </a:solidFill>
                <a:latin typeface="Arial"/>
              </a:rPr>
              <a:t>--set</a:t>
            </a:r>
            <a:r>
              <a:rPr sz="1300" b="0">
                <a:solidFill>
                  <a:srgbClr val="5B6372"/>
                </a:solidFill>
                <a:latin typeface="Arial"/>
              </a:rPr>
              <a:t> overrides values; </a:t>
            </a:r>
            <a:r>
              <a:rPr sz="1300" b="0">
                <a:solidFill>
                  <a:srgbClr val="5B6372"/>
                </a:solidFill>
                <a:latin typeface="Arial"/>
              </a:rPr>
              <a:t>helm history</a:t>
            </a:r>
            <a:r>
              <a:rPr sz="1300" b="0">
                <a:solidFill>
                  <a:srgbClr val="5B6372"/>
                </a:solidFill>
                <a:latin typeface="Arial"/>
              </a:rPr>
              <a:t>  shows every revision.</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HELM</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Install, Upgrade, Rollback, --set, -f values.yaml, helm template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Helm package manager</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Master the complete Helm workflow: adding repos, installing charts, overriding values with --set and -f, upgrading releases, rollbacks, and using helm template to render manifests. Helm is explicitly allowed as a reference during the CKA exam at helm.sh/docs.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Add bitnami repo, install nginx chart with custom values, upgrade, rollback, use helm template for GitOps-style rendering.</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curl https://raw.githubusercontent.com/helm/helm/main/scripts/get-helm-3 · helm install · cat &lt;&lt;'EOF' · helm rollback · helm templ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Install, Upgrade, Rollback, --set, -f values.yaml, helm template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Helm and add repos</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curl https://raw.githubusercontent.com/helm/helm/main/scripts/get-helm-3 | bash</a:t>
            </a:r>
          </a:p>
          <a:p>
            <a:pPr>
              <a:spcBef>
                <a:spcPts val="0"/>
              </a:spcBef>
              <a:spcAft>
                <a:spcPts val="0"/>
              </a:spcAft>
            </a:pPr>
            <a:r>
              <a:rPr sz="1050">
                <a:solidFill>
                  <a:srgbClr val="161B26"/>
                </a:solidFill>
                <a:latin typeface="Consolas"/>
              </a:rPr>
              <a:t>helm version</a:t>
            </a:r>
          </a:p>
          <a:p>
            <a:pPr>
              <a:spcBef>
                <a:spcPts val="0"/>
              </a:spcBef>
              <a:spcAft>
                <a:spcPts val="0"/>
              </a:spcAft>
            </a:pPr>
            <a:r>
              <a:rPr sz="1050">
                <a:solidFill>
                  <a:srgbClr val="161B26"/>
                </a:solidFill>
                <a:latin typeface="Consolas"/>
              </a:rPr>
              <a:t>helm repo add bitnami https://charts.bitnami.com/bitnami</a:t>
            </a:r>
          </a:p>
          <a:p>
            <a:pPr>
              <a:spcBef>
                <a:spcPts val="0"/>
              </a:spcBef>
              <a:spcAft>
                <a:spcPts val="0"/>
              </a:spcAft>
            </a:pPr>
            <a:r>
              <a:rPr sz="1050">
                <a:solidFill>
                  <a:srgbClr val="161B26"/>
                </a:solidFill>
                <a:latin typeface="Consolas"/>
              </a:rPr>
              <a:t>helm repo update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Install a chart with value overrides</a:t>
            </a:r>
          </a:p>
        </p:txBody>
      </p:sp>
      <p:sp>
        <p:nvSpPr>
          <p:cNvPr id="12" name="Rounded Rectangle 11"/>
          <p:cNvSpPr/>
          <p:nvPr/>
        </p:nvSpPr>
        <p:spPr>
          <a:xfrm>
            <a:off x="777240" y="353872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helm install my-nginx bitnami/nginx \</a:t>
            </a:r>
          </a:p>
          <a:p>
            <a:pPr>
              <a:spcBef>
                <a:spcPts val="0"/>
              </a:spcBef>
              <a:spcAft>
                <a:spcPts val="0"/>
              </a:spcAft>
            </a:pPr>
            <a:r>
              <a:rPr sz="1050">
                <a:solidFill>
                  <a:srgbClr val="161B26"/>
                </a:solidFill>
                <a:latin typeface="Consolas"/>
              </a:rPr>
              <a:t>  --namespace web --create-namespace \</a:t>
            </a:r>
          </a:p>
          <a:p>
            <a:pPr>
              <a:spcBef>
                <a:spcPts val="0"/>
              </a:spcBef>
              <a:spcAft>
                <a:spcPts val="0"/>
              </a:spcAft>
            </a:pPr>
            <a:r>
              <a:rPr sz="1050">
                <a:solidFill>
                  <a:srgbClr val="161B26"/>
                </a:solidFill>
                <a:latin typeface="Consolas"/>
              </a:rPr>
              <a:t>  --set service.type=NodePort \</a:t>
            </a:r>
          </a:p>
          <a:p>
            <a:pPr>
              <a:spcBef>
                <a:spcPts val="0"/>
              </a:spcBef>
              <a:spcAft>
                <a:spcPts val="0"/>
              </a:spcAft>
            </a:pPr>
            <a:r>
              <a:rPr sz="1050">
                <a:solidFill>
                  <a:srgbClr val="161B26"/>
                </a:solidFill>
                <a:latin typeface="Consolas"/>
              </a:rPr>
              <a:t>  --set replicaCount=2</a:t>
            </a:r>
          </a:p>
          <a:p>
            <a:pPr>
              <a:spcBef>
                <a:spcPts val="0"/>
              </a:spcBef>
              <a:spcAft>
                <a:spcPts val="0"/>
              </a:spcAft>
            </a:pPr>
            <a:r>
              <a:rPr sz="1050">
                <a:solidFill>
                  <a:srgbClr val="161B26"/>
                </a:solidFill>
                <a:latin typeface="Consolas"/>
              </a:rPr>
              <a:t>helm list -n web</a:t>
            </a:r>
          </a:p>
          <a:p>
            <a:pPr>
              <a:spcBef>
                <a:spcPts val="0"/>
              </a:spcBef>
              <a:spcAft>
                <a:spcPts val="0"/>
              </a:spcAft>
            </a:pPr>
            <a:r>
              <a:rPr sz="1050">
                <a:solidFill>
                  <a:srgbClr val="161B26"/>
                </a:solidFill>
                <a:latin typeface="Consolas"/>
              </a:rPr>
              <a:t>helm status my-nginx -n web</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Install, Upgrade, Rollback, --set, -f values.yaml, helm template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Upgrade with -f values.yaml</a:t>
            </a:r>
          </a:p>
        </p:txBody>
      </p:sp>
      <p:sp>
        <p:nvSpPr>
          <p:cNvPr id="8" name="Rounded Rectangle 7"/>
          <p:cNvSpPr/>
          <p:nvPr/>
        </p:nvSpPr>
        <p:spPr>
          <a:xfrm>
            <a:off x="777240" y="207568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&gt; my-values.yaml</a:t>
            </a:r>
          </a:p>
          <a:p>
            <a:pPr>
              <a:spcBef>
                <a:spcPts val="0"/>
              </a:spcBef>
              <a:spcAft>
                <a:spcPts val="0"/>
              </a:spcAft>
            </a:pPr>
            <a:r>
              <a:rPr sz="1050">
                <a:solidFill>
                  <a:srgbClr val="161B26"/>
                </a:solidFill>
                <a:latin typeface="Consolas"/>
              </a:rPr>
              <a:t>replicaCount: 3</a:t>
            </a:r>
          </a:p>
          <a:p>
            <a:pPr>
              <a:spcBef>
                <a:spcPts val="0"/>
              </a:spcBef>
              <a:spcAft>
                <a:spcPts val="0"/>
              </a:spcAft>
            </a:pPr>
            <a:r>
              <a:rPr sz="1050">
                <a:solidFill>
                  <a:srgbClr val="161B26"/>
                </a:solidFill>
                <a:latin typeface="Consolas"/>
              </a:rPr>
              <a:t>service:</a:t>
            </a:r>
          </a:p>
          <a:p>
            <a:pPr>
              <a:spcBef>
                <a:spcPts val="0"/>
              </a:spcBef>
              <a:spcAft>
                <a:spcPts val="0"/>
              </a:spcAft>
            </a:pPr>
            <a:r>
              <a:rPr sz="1050">
                <a:solidFill>
                  <a:srgbClr val="161B26"/>
                </a:solidFill>
                <a:latin typeface="Consolas"/>
              </a:rPr>
              <a:t>  type: ClusterIP</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helm upgrade my-nginx bitnami/nginx -n web -f my-values.yaml</a:t>
            </a:r>
          </a:p>
          <a:p>
            <a:pPr>
              <a:spcBef>
                <a:spcPts val="0"/>
              </a:spcBef>
              <a:spcAft>
                <a:spcPts val="0"/>
              </a:spcAft>
            </a:pPr>
            <a:r>
              <a:rPr sz="1050">
                <a:solidFill>
                  <a:srgbClr val="161B26"/>
                </a:solidFill>
                <a:latin typeface="Consolas"/>
              </a:rPr>
              <a:t>helm history my-nginx -n web</a:t>
            </a:r>
          </a:p>
        </p:txBody>
      </p:sp>
      <p:sp>
        <p:nvSpPr>
          <p:cNvPr id="11" name="TextBox 10"/>
          <p:cNvSpPr txBox="1"/>
          <p:nvPr/>
        </p:nvSpPr>
        <p:spPr>
          <a:xfrm>
            <a:off x="777240" y="371703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Roll back a release</a:t>
            </a:r>
          </a:p>
        </p:txBody>
      </p:sp>
      <p:sp>
        <p:nvSpPr>
          <p:cNvPr id="12" name="Rounded Rectangle 11"/>
          <p:cNvSpPr/>
          <p:nvPr/>
        </p:nvSpPr>
        <p:spPr>
          <a:xfrm>
            <a:off x="777240" y="410108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10108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16509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helm rollback my-nginx -n web</a:t>
            </a:r>
          </a:p>
          <a:p>
            <a:pPr>
              <a:spcBef>
                <a:spcPts val="0"/>
              </a:spcBef>
              <a:spcAft>
                <a:spcPts val="0"/>
              </a:spcAft>
            </a:pPr>
            <a:r>
              <a:rPr sz="1050">
                <a:solidFill>
                  <a:srgbClr val="161B26"/>
                </a:solidFill>
                <a:latin typeface="Consolas"/>
              </a:rPr>
              <a:t>helm history my-nginx -n web</a:t>
            </a:r>
          </a:p>
        </p:txBody>
      </p:sp>
      <p:sp>
        <p:nvSpPr>
          <p:cNvPr id="15" name="TextBox 14"/>
          <p:cNvSpPr txBox="1"/>
          <p:nvPr/>
        </p:nvSpPr>
        <p:spPr>
          <a:xfrm>
            <a:off x="777240" y="480517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Render manifests without installing</a:t>
            </a:r>
          </a:p>
        </p:txBody>
      </p:sp>
      <p:sp>
        <p:nvSpPr>
          <p:cNvPr id="16" name="Rounded Rectangle 15"/>
          <p:cNvSpPr/>
          <p:nvPr/>
        </p:nvSpPr>
        <p:spPr>
          <a:xfrm>
            <a:off x="777240" y="518921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1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helm template my-nginx bitnami/nginx --set replicaCount=2</a:t>
            </a:r>
          </a:p>
          <a:p>
            <a:pPr>
              <a:spcBef>
                <a:spcPts val="0"/>
              </a:spcBef>
              <a:spcAft>
                <a:spcPts val="0"/>
              </a:spcAft>
            </a:pPr>
            <a:r>
              <a:rPr sz="1050">
                <a:solidFill>
                  <a:srgbClr val="161B26"/>
                </a:solidFill>
                <a:latin typeface="Consolas"/>
              </a:rPr>
              <a:t>helm template my-nginx bitnami/nginx -f my-values.yaml &gt; rendered.yaml</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Install, Upgrade, Rollback, --set, -f values.yaml, helm template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helm template is used in GitOps workflows. -f values override defaults; --set overrides -f when both are specified.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Install, Upgrade, Rollback, --set, -f values.yaml, helm template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helm list -n web shows my-nginx deployed. helm history shows at least 2 revisions. helm rollback reverts to the previous version.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KUSTOMIZE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 Overlays Without Templates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Kustomize reuses a base set of manifests and applies environment-specific patches on top.</a:t>
            </a:r>
          </a:p>
          <a:p>
            <a:pPr>
              <a:spcBef>
                <a:spcPts val="0"/>
              </a:spcBef>
              <a:spcAft>
                <a:spcPts val="1000"/>
              </a:spcAft>
            </a:pPr>
            <a:r>
              <a:rPr sz="1900" b="1">
                <a:solidFill>
                  <a:srgbClr val="1F6FEB"/>
                </a:solidFill>
                <a:latin typeface="Arial"/>
              </a:rPr>
              <a:t>•  </a:t>
            </a:r>
            <a:r>
              <a:rPr sz="1900">
                <a:solidFill>
                  <a:srgbClr val="161B26"/>
                </a:solidFill>
                <a:latin typeface="Arial"/>
              </a:rPr>
              <a:t>namePrefix and commonLabels modify every resource in an overlay without touching the base.</a:t>
            </a:r>
          </a:p>
          <a:p>
            <a:pPr>
              <a:spcBef>
                <a:spcPts val="0"/>
              </a:spcBef>
              <a:spcAft>
                <a:spcPts val="1000"/>
              </a:spcAft>
            </a:pPr>
            <a:r>
              <a:rPr sz="1900" b="1">
                <a:solidFill>
                  <a:srgbClr val="1F6FEB"/>
                </a:solidFill>
                <a:latin typeface="Arial"/>
              </a:rPr>
              <a:t>•  </a:t>
            </a:r>
            <a:r>
              <a:rPr sz="1900">
                <a:solidFill>
                  <a:srgbClr val="161B26"/>
                </a:solidFill>
                <a:latin typeface="Arial"/>
              </a:rPr>
              <a:t>The images block overrides image tags; strategic-merge patches fine-tune individual fields.</a:t>
            </a:r>
          </a:p>
          <a:p>
            <a:pPr>
              <a:spcBef>
                <a:spcPts val="0"/>
              </a:spcBef>
              <a:spcAft>
                <a:spcPts val="1000"/>
              </a:spcAft>
            </a:pPr>
            <a:r>
              <a:rPr sz="1900" b="1">
                <a:solidFill>
                  <a:srgbClr val="1F6FEB"/>
                </a:solidFill>
                <a:latin typeface="Arial"/>
              </a:rPr>
              <a:t>•  </a:t>
            </a:r>
            <a:r>
              <a:rPr sz="1900">
                <a:solidFill>
                  <a:srgbClr val="161B26"/>
                </a:solidFill>
                <a:latin typeface="Arial"/>
              </a:rPr>
              <a:t>Built into kubectl: kubectl apply -k and kubectl kustomize — no extra binary required.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 vs APPLY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kubectl apply -k vs kubectl kustomize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apply -k</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kustomize (print only)</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kubectl apply -k ./overlay/</a:t>
            </a:r>
          </a:p>
          <a:p>
            <a:pPr>
              <a:spcBef>
                <a:spcPts val="0"/>
              </a:spcBef>
              <a:spcAft>
                <a:spcPts val="1000"/>
              </a:spcAft>
            </a:pPr>
            <a:r>
              <a:rPr sz="1600" b="1">
                <a:solidFill>
                  <a:srgbClr val="1F6FEB"/>
                </a:solidFill>
                <a:latin typeface="Arial"/>
              </a:rPr>
              <a:t>•  </a:t>
            </a:r>
            <a:r>
              <a:rPr sz="1600">
                <a:solidFill>
                  <a:srgbClr val="161B26"/>
                </a:solidFill>
                <a:latin typeface="Arial"/>
              </a:rPr>
              <a:t>Builds the manifest AND applies it in one step</a:t>
            </a:r>
          </a:p>
          <a:p>
            <a:pPr>
              <a:spcBef>
                <a:spcPts val="0"/>
              </a:spcBef>
              <a:spcAft>
                <a:spcPts val="1000"/>
              </a:spcAft>
            </a:pPr>
            <a:r>
              <a:rPr sz="1600" b="1">
                <a:solidFill>
                  <a:srgbClr val="1F6FEB"/>
                </a:solidFill>
                <a:latin typeface="Arial"/>
              </a:rPr>
              <a:t>•  </a:t>
            </a:r>
            <a:r>
              <a:rPr sz="1600">
                <a:solidFill>
                  <a:srgbClr val="161B26"/>
                </a:solidFill>
                <a:latin typeface="Arial"/>
              </a:rPr>
              <a:t>Use for deploying to the cluster</a:t>
            </a:r>
          </a:p>
          <a:p>
            <a:pPr>
              <a:spcBef>
                <a:spcPts val="0"/>
              </a:spcBef>
              <a:spcAft>
                <a:spcPts val="1000"/>
              </a:spcAft>
            </a:pPr>
            <a:r>
              <a:rPr sz="1600" b="1">
                <a:solidFill>
                  <a:srgbClr val="1F6FEB"/>
                </a:solidFill>
                <a:latin typeface="Arial"/>
              </a:rPr>
              <a:t>•  </a:t>
            </a:r>
            <a:r>
              <a:rPr sz="1600">
                <a:solidFill>
                  <a:srgbClr val="161B26"/>
                </a:solidFill>
                <a:latin typeface="Arial"/>
              </a:rPr>
              <a:t>Equivalent to: kustomize build | kubectl apply -f -</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600" b="1">
                <a:solidFill>
                  <a:srgbClr val="10B981"/>
                </a:solidFill>
                <a:latin typeface="Arial"/>
              </a:rPr>
              <a:t>•  </a:t>
            </a:r>
            <a:r>
              <a:rPr sz="1600">
                <a:solidFill>
                  <a:srgbClr val="161B26"/>
                </a:solidFill>
                <a:latin typeface="Arial"/>
              </a:rPr>
              <a:t>kubectl kustomize ./overlay/</a:t>
            </a:r>
          </a:p>
          <a:p>
            <a:pPr>
              <a:spcBef>
                <a:spcPts val="0"/>
              </a:spcBef>
              <a:spcAft>
                <a:spcPts val="1000"/>
              </a:spcAft>
            </a:pPr>
            <a:r>
              <a:rPr sz="1600" b="1">
                <a:solidFill>
                  <a:srgbClr val="10B981"/>
                </a:solidFill>
                <a:latin typeface="Arial"/>
              </a:rPr>
              <a:t>•  </a:t>
            </a:r>
            <a:r>
              <a:rPr sz="1600">
                <a:solidFill>
                  <a:srgbClr val="161B26"/>
                </a:solidFill>
                <a:latin typeface="Arial"/>
              </a:rPr>
              <a:t>Prints the rendered YAML to stdout only</a:t>
            </a:r>
          </a:p>
          <a:p>
            <a:pPr>
              <a:spcBef>
                <a:spcPts val="0"/>
              </a:spcBef>
              <a:spcAft>
                <a:spcPts val="1000"/>
              </a:spcAft>
            </a:pPr>
            <a:r>
              <a:rPr sz="1600" b="1">
                <a:solidFill>
                  <a:srgbClr val="10B981"/>
                </a:solidFill>
                <a:latin typeface="Arial"/>
              </a:rPr>
              <a:t>•  </a:t>
            </a:r>
            <a:r>
              <a:rPr sz="1600">
                <a:solidFill>
                  <a:srgbClr val="161B26"/>
                </a:solidFill>
                <a:latin typeface="Arial"/>
              </a:rPr>
              <a:t>Use to inspect the merged manifest</a:t>
            </a:r>
          </a:p>
          <a:p>
            <a:pPr>
              <a:spcBef>
                <a:spcPts val="0"/>
              </a:spcBef>
              <a:spcAft>
                <a:spcPts val="1000"/>
              </a:spcAft>
            </a:pPr>
            <a:r>
              <a:rPr sz="1600" b="1">
                <a:solidFill>
                  <a:srgbClr val="10B981"/>
                </a:solidFill>
                <a:latin typeface="Arial"/>
              </a:rPr>
              <a:t>•  </a:t>
            </a:r>
            <a:r>
              <a:rPr sz="1600">
                <a:solidFill>
                  <a:srgbClr val="161B26"/>
                </a:solidFill>
                <a:latin typeface="Arial"/>
              </a:rPr>
              <a:t>Redirect to a file for review or diff</a:t>
            </a:r>
          </a:p>
        </p:txBody>
      </p:sp>
      <p:sp>
        <p:nvSpPr>
          <p:cNvPr id="13" name="TextBox 1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REUSE WITHOUT TEMPLATING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 Base + Overlays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331720"/>
            <a:ext cx="2743200" cy="1920240"/>
          </a:xfrm>
          <a:prstGeom prst="roundRect">
            <a:avLst>
              <a:gd name="adj" fmla="val 5000"/>
            </a:avLst>
          </a:prstGeom>
          <a:solidFill>
            <a:srgbClr val="FFFFFF"/>
          </a:solidFill>
          <a:ln w="12700">
            <a:solidFill>
              <a:srgbClr val="161B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743200" cy="9144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441448"/>
            <a:ext cx="2523744" cy="1810512"/>
          </a:xfrm>
          <a:prstGeom prst="rect">
            <a:avLst/>
          </a:prstGeom>
          <a:noFill/>
        </p:spPr>
        <p:txBody>
          <a:bodyPr wrap="square" anchor="ctr" lIns="0" rIns="0" tIns="0" bIns="0">
            <a:spAutoFit/>
          </a:bodyPr>
          <a:lstStyle/>
          <a:p>
            <a:pPr algn="ctr">
              <a:spcBef>
                <a:spcPts val="0"/>
              </a:spcBef>
              <a:spcAft>
                <a:spcPts val="300"/>
              </a:spcAft>
            </a:pPr>
            <a:r>
              <a:rPr sz="1600" b="1">
                <a:solidFill>
                  <a:srgbClr val="161B26"/>
                </a:solidFill>
                <a:latin typeface="Arial"/>
              </a:rPr>
              <a:t>base/</a:t>
            </a:r>
          </a:p>
          <a:p>
            <a:pPr algn="ctr">
              <a:spcBef>
                <a:spcPts val="0"/>
              </a:spcBef>
              <a:spcAft>
                <a:spcPts val="300"/>
              </a:spcAft>
            </a:pPr>
            <a:r>
              <a:rPr sz="1200" b="0">
                <a:solidFill>
                  <a:srgbClr val="5B6372"/>
                </a:solidFill>
                <a:latin typeface="Arial"/>
              </a:rPr>
              <a:t>deployment.yaml</a:t>
            </a:r>
          </a:p>
          <a:p>
            <a:pPr algn="ctr">
              <a:spcBef>
                <a:spcPts val="0"/>
              </a:spcBef>
              <a:spcAft>
                <a:spcPts val="300"/>
              </a:spcAft>
            </a:pPr>
            <a:r>
              <a:rPr sz="1200" b="0">
                <a:solidFill>
                  <a:srgbClr val="5B6372"/>
                </a:solidFill>
                <a:latin typeface="Arial"/>
              </a:rPr>
              <a:t>service.yaml</a:t>
            </a:r>
          </a:p>
          <a:p>
            <a:pPr algn="ctr">
              <a:spcBef>
                <a:spcPts val="0"/>
              </a:spcBef>
              <a:spcAft>
                <a:spcPts val="300"/>
              </a:spcAft>
            </a:pPr>
            <a:r>
              <a:rPr sz="1200" b="0">
                <a:solidFill>
                  <a:srgbClr val="5B6372"/>
                </a:solidFill>
                <a:latin typeface="Arial"/>
              </a:rPr>
              <a:t>kustomization.yaml</a:t>
            </a:r>
          </a:p>
        </p:txBody>
      </p:sp>
      <p:sp>
        <p:nvSpPr>
          <p:cNvPr id="10" name="Right Arrow 9"/>
          <p:cNvSpPr/>
          <p:nvPr/>
        </p:nvSpPr>
        <p:spPr>
          <a:xfrm>
            <a:off x="3611880" y="3063240"/>
            <a:ext cx="868680" cy="45720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2331720"/>
            <a:ext cx="2926080" cy="192024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33172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1728" y="2441448"/>
            <a:ext cx="2706624" cy="1810512"/>
          </a:xfrm>
          <a:prstGeom prst="rect">
            <a:avLst/>
          </a:prstGeom>
          <a:noFill/>
        </p:spPr>
        <p:txBody>
          <a:bodyPr wrap="square" anchor="ctr" lIns="0" rIns="0" tIns="0" bIns="0">
            <a:spAutoFit/>
          </a:bodyPr>
          <a:lstStyle/>
          <a:p>
            <a:pPr algn="ctr">
              <a:spcBef>
                <a:spcPts val="0"/>
              </a:spcBef>
              <a:spcAft>
                <a:spcPts val="300"/>
              </a:spcAft>
            </a:pPr>
            <a:r>
              <a:rPr sz="1600" b="1">
                <a:solidFill>
                  <a:srgbClr val="161B26"/>
                </a:solidFill>
                <a:latin typeface="Arial"/>
              </a:rPr>
              <a:t>overlay</a:t>
            </a:r>
          </a:p>
          <a:p>
            <a:pPr algn="ctr">
              <a:spcBef>
                <a:spcPts val="0"/>
              </a:spcBef>
              <a:spcAft>
                <a:spcPts val="300"/>
              </a:spcAft>
            </a:pPr>
            <a:r>
              <a:rPr sz="1200" b="0">
                <a:solidFill>
                  <a:srgbClr val="5B6372"/>
                </a:solidFill>
                <a:latin typeface="Arial"/>
              </a:rPr>
              <a:t>namePrefix</a:t>
            </a:r>
          </a:p>
          <a:p>
            <a:pPr algn="ctr">
              <a:spcBef>
                <a:spcPts val="0"/>
              </a:spcBef>
              <a:spcAft>
                <a:spcPts val="300"/>
              </a:spcAft>
            </a:pPr>
            <a:r>
              <a:rPr sz="1200" b="0">
                <a:solidFill>
                  <a:srgbClr val="5B6372"/>
                </a:solidFill>
                <a:latin typeface="Arial"/>
              </a:rPr>
              <a:t>commonLabels</a:t>
            </a:r>
          </a:p>
          <a:p>
            <a:pPr algn="ctr">
              <a:spcBef>
                <a:spcPts val="0"/>
              </a:spcBef>
              <a:spcAft>
                <a:spcPts val="300"/>
              </a:spcAft>
            </a:pPr>
            <a:r>
              <a:rPr sz="1200" b="0">
                <a:solidFill>
                  <a:srgbClr val="5B6372"/>
                </a:solidFill>
                <a:latin typeface="Arial"/>
              </a:rPr>
              <a:t>images (newTag)</a:t>
            </a:r>
          </a:p>
          <a:p>
            <a:pPr algn="ctr">
              <a:spcBef>
                <a:spcPts val="0"/>
              </a:spcBef>
              <a:spcAft>
                <a:spcPts val="300"/>
              </a:spcAft>
            </a:pPr>
            <a:r>
              <a:rPr sz="1200" b="0">
                <a:solidFill>
                  <a:srgbClr val="5B6372"/>
                </a:solidFill>
                <a:latin typeface="Arial"/>
              </a:rPr>
              <a:t>patches</a:t>
            </a:r>
          </a:p>
        </p:txBody>
      </p:sp>
      <p:sp>
        <p:nvSpPr>
          <p:cNvPr id="14" name="Right Arrow 13"/>
          <p:cNvSpPr/>
          <p:nvPr/>
        </p:nvSpPr>
        <p:spPr>
          <a:xfrm>
            <a:off x="7589520" y="3063240"/>
            <a:ext cx="868680" cy="457200"/>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549640" y="2331720"/>
            <a:ext cx="2880360" cy="86868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49640" y="2331720"/>
            <a:ext cx="28803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59368" y="2441448"/>
            <a:ext cx="2660904" cy="75895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dev-web</a:t>
            </a:r>
          </a:p>
          <a:p>
            <a:pPr algn="ctr">
              <a:spcBef>
                <a:spcPts val="0"/>
              </a:spcBef>
              <a:spcAft>
                <a:spcPts val="300"/>
              </a:spcAft>
            </a:pPr>
            <a:r>
              <a:rPr sz="1100" b="0">
                <a:solidFill>
                  <a:srgbClr val="5B6372"/>
                </a:solidFill>
                <a:latin typeface="Arial"/>
              </a:rPr>
              <a:t>nginx:1.25 · ×1</a:t>
            </a:r>
          </a:p>
        </p:txBody>
      </p:sp>
      <p:sp>
        <p:nvSpPr>
          <p:cNvPr id="18" name="Rounded Rectangle 17"/>
          <p:cNvSpPr/>
          <p:nvPr/>
        </p:nvSpPr>
        <p:spPr>
          <a:xfrm>
            <a:off x="8549640" y="3383280"/>
            <a:ext cx="2880360" cy="86868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49640" y="3383280"/>
            <a:ext cx="28803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59368" y="3493008"/>
            <a:ext cx="2660904" cy="75895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prod-web</a:t>
            </a:r>
          </a:p>
          <a:p>
            <a:pPr algn="ctr">
              <a:spcBef>
                <a:spcPts val="0"/>
              </a:spcBef>
              <a:spcAft>
                <a:spcPts val="300"/>
              </a:spcAft>
            </a:pPr>
            <a:r>
              <a:rPr sz="1100" b="0">
                <a:solidFill>
                  <a:srgbClr val="5B6372"/>
                </a:solidFill>
                <a:latin typeface="Arial"/>
              </a:rPr>
              <a:t>nginx:1.26 · ×5</a:t>
            </a:r>
          </a:p>
        </p:txBody>
      </p:sp>
      <p:sp>
        <p:nvSpPr>
          <p:cNvPr id="21" name="TextBox 20"/>
          <p:cNvSpPr txBox="1"/>
          <p:nvPr/>
        </p:nvSpPr>
        <p:spPr>
          <a:xfrm>
            <a:off x="7589520" y="4343400"/>
            <a:ext cx="868680" cy="292608"/>
          </a:xfrm>
          <a:prstGeom prst="rect">
            <a:avLst/>
          </a:prstGeom>
          <a:noFill/>
        </p:spPr>
        <p:txBody>
          <a:bodyPr wrap="square" anchor="ctr" lIns="0" rIns="0" tIns="0" bIns="0">
            <a:spAutoFit/>
          </a:bodyPr>
          <a:lstStyle/>
          <a:p>
            <a:pPr algn="ctr">
              <a:spcBef>
                <a:spcPts val="0"/>
              </a:spcBef>
              <a:spcAft>
                <a:spcPts val="400"/>
              </a:spcAft>
            </a:pPr>
            <a:r>
              <a:rPr sz="900" b="1">
                <a:solidFill>
                  <a:srgbClr val="5B6372"/>
                </a:solidFill>
                <a:latin typeface="Arial"/>
              </a:rPr>
              <a:t>kubectl apply -k</a:t>
            </a:r>
          </a:p>
        </p:txBody>
      </p:sp>
      <p:sp>
        <p:nvSpPr>
          <p:cNvPr id="22" name="Rounded Rectangle 21"/>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One </a:t>
            </a:r>
            <a:r>
              <a:rPr sz="1300" b="1">
                <a:solidFill>
                  <a:srgbClr val="161B26"/>
                </a:solidFill>
                <a:latin typeface="Arial"/>
              </a:rPr>
              <a:t>base</a:t>
            </a:r>
            <a:r>
              <a:rPr sz="1300" b="0">
                <a:solidFill>
                  <a:srgbClr val="5B6372"/>
                </a:solidFill>
                <a:latin typeface="Arial"/>
              </a:rPr>
              <a:t>, many </a:t>
            </a:r>
            <a:r>
              <a:rPr sz="1300" b="1">
                <a:solidFill>
                  <a:srgbClr val="161B26"/>
                </a:solidFill>
                <a:latin typeface="Arial"/>
              </a:rPr>
              <a:t>overlays</a:t>
            </a:r>
            <a:r>
              <a:rPr sz="1300" b="0">
                <a:solidFill>
                  <a:srgbClr val="5B6372"/>
                </a:solidFill>
                <a:latin typeface="Arial"/>
              </a:rPr>
              <a:t>. apply -k and kubectl kustomize are built into kubectl — no extra binary.</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KUSTOMIZE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Base + Overlays, namePrefix, images, patches, kubectl apply -k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Kustomize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Kustomize (built into kubectl) to manage base manifests and environment-specific overlays without file duplication. CKA tests kubectl apply -k, namePrefix, image overrides, and strategic merge patches.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base (deployment + service + kustomization.yaml), dev overlay with namePrefix and image override, production overlay with replica patch. Apply with kubectl apply -k.</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kustomize · mkdir -p · cat &lt;&lt;'EOF' · kubectl create · kubectl diff · » namePrefix</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Base + Overlays, namePrefix, images, patches, kubectl apply -k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Verify kustomize is built into kubectl</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kustomize --help</a:t>
            </a:r>
          </a:p>
          <a:p>
            <a:pPr>
              <a:spcBef>
                <a:spcPts val="0"/>
              </a:spcBef>
              <a:spcAft>
                <a:spcPts val="0"/>
              </a:spcAft>
            </a:pPr>
            <a:r>
              <a:rPr sz="1050">
                <a:solidFill>
                  <a:srgbClr val="161B26"/>
                </a:solidFill>
                <a:latin typeface="Consolas"/>
              </a:rPr>
              <a:t>kubectl version --client -o yaml | grep -i kustomize</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base layer</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mkdir -p ~/kustomize-lab/base ~/kustomize-lab/overlays/dev</a:t>
            </a:r>
          </a:p>
          <a:p>
            <a:pPr>
              <a:spcBef>
                <a:spcPts val="0"/>
              </a:spcBef>
              <a:spcAft>
                <a:spcPts val="0"/>
              </a:spcAft>
            </a:pPr>
            <a:r>
              <a:rPr sz="1050">
                <a:solidFill>
                  <a:srgbClr val="161B26"/>
                </a:solidFill>
                <a:latin typeface="Consolas"/>
              </a:rPr>
              <a:t># Create base/deployment.yaml, base/service.yaml</a:t>
            </a:r>
          </a:p>
          <a:p>
            <a:pPr>
              <a:spcBef>
                <a:spcPts val="0"/>
              </a:spcBef>
              <a:spcAft>
                <a:spcPts val="0"/>
              </a:spcAft>
            </a:pPr>
            <a:r>
              <a:rPr sz="1050">
                <a:solidFill>
                  <a:srgbClr val="161B26"/>
                </a:solidFill>
                <a:latin typeface="Consolas"/>
              </a:rPr>
              <a:t># Create base/kustomization.yaml with resources list</a:t>
            </a:r>
          </a:p>
          <a:p>
            <a:pPr>
              <a:spcBef>
                <a:spcPts val="0"/>
              </a:spcBef>
              <a:spcAft>
                <a:spcPts val="0"/>
              </a:spcAft>
            </a:pPr>
            <a:r>
              <a:rPr sz="1050">
                <a:solidFill>
                  <a:srgbClr val="161B26"/>
                </a:solidFill>
                <a:latin typeface="Consolas"/>
              </a:rPr>
              <a:t>kubectl kustomize ~/kustomize-lab/base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Base + Overlays, namePrefix, images, patches, kubectl apply -k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Dev overlay with namePrefix</a:t>
            </a:r>
          </a:p>
        </p:txBody>
      </p:sp>
      <p:sp>
        <p:nvSpPr>
          <p:cNvPr id="8" name="Rounded Rectangle 7"/>
          <p:cNvSpPr/>
          <p:nvPr/>
        </p:nvSpPr>
        <p:spPr>
          <a:xfrm>
            <a:off x="777240" y="2075688"/>
            <a:ext cx="10652760" cy="20208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020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9293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&gt; ~/kustomize-lab/overlays/dev/kustomization.yaml</a:t>
            </a:r>
          </a:p>
          <a:p>
            <a:pPr>
              <a:spcBef>
                <a:spcPts val="0"/>
              </a:spcBef>
              <a:spcAft>
                <a:spcPts val="0"/>
              </a:spcAft>
            </a:pPr>
            <a:r>
              <a:rPr sz="1050">
                <a:solidFill>
                  <a:srgbClr val="161B26"/>
                </a:solidFill>
                <a:latin typeface="Consolas"/>
              </a:rPr>
              <a:t>bases:</a:t>
            </a:r>
          </a:p>
          <a:p>
            <a:pPr>
              <a:spcBef>
                <a:spcPts val="0"/>
              </a:spcBef>
              <a:spcAft>
                <a:spcPts val="0"/>
              </a:spcAft>
            </a:pPr>
            <a:r>
              <a:rPr sz="1050">
                <a:solidFill>
                  <a:srgbClr val="161B26"/>
                </a:solidFill>
                <a:latin typeface="Consolas"/>
              </a:rPr>
              <a:t>  - ../../base</a:t>
            </a:r>
          </a:p>
          <a:p>
            <a:pPr>
              <a:spcBef>
                <a:spcPts val="0"/>
              </a:spcBef>
              <a:spcAft>
                <a:spcPts val="0"/>
              </a:spcAft>
            </a:pPr>
            <a:r>
              <a:rPr sz="1050">
                <a:solidFill>
                  <a:srgbClr val="161B26"/>
                </a:solidFill>
                <a:latin typeface="Consolas"/>
              </a:rPr>
              <a:t>namePrefix: dev-</a:t>
            </a:r>
          </a:p>
          <a:p>
            <a:pPr>
              <a:spcBef>
                <a:spcPts val="0"/>
              </a:spcBef>
              <a:spcAft>
                <a:spcPts val="0"/>
              </a:spcAft>
            </a:pPr>
            <a:r>
              <a:rPr sz="1050">
                <a:solidFill>
                  <a:srgbClr val="161B26"/>
                </a:solidFill>
                <a:latin typeface="Consolas"/>
              </a:rPr>
              <a:t>namespace: dev</a:t>
            </a:r>
          </a:p>
          <a:p>
            <a:pPr>
              <a:spcBef>
                <a:spcPts val="0"/>
              </a:spcBef>
              <a:spcAft>
                <a:spcPts val="0"/>
              </a:spcAft>
            </a:pPr>
            <a:r>
              <a:rPr sz="1050">
                <a:solidFill>
                  <a:srgbClr val="161B26"/>
                </a:solidFill>
                <a:latin typeface="Consolas"/>
              </a:rPr>
              <a:t>images:</a:t>
            </a:r>
          </a:p>
          <a:p>
            <a:pPr>
              <a:spcBef>
                <a:spcPts val="0"/>
              </a:spcBef>
              <a:spcAft>
                <a:spcPts val="0"/>
              </a:spcAft>
            </a:pPr>
            <a:r>
              <a:rPr sz="1050">
                <a:solidFill>
                  <a:srgbClr val="161B26"/>
                </a:solidFill>
                <a:latin typeface="Consolas"/>
              </a:rPr>
              <a:t>  - name: nginx</a:t>
            </a:r>
          </a:p>
          <a:p>
            <a:pPr>
              <a:spcBef>
                <a:spcPts val="0"/>
              </a:spcBef>
              <a:spcAft>
                <a:spcPts val="0"/>
              </a:spcAft>
            </a:pPr>
            <a:r>
              <a:rPr sz="1050">
                <a:solidFill>
                  <a:srgbClr val="161B26"/>
                </a:solidFill>
                <a:latin typeface="Consolas"/>
              </a:rPr>
              <a:t>    newTag: '1.25-alpine'</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kustomize ~/kustomize-lab/overlays/dev</a:t>
            </a:r>
          </a:p>
        </p:txBody>
      </p:sp>
      <p:sp>
        <p:nvSpPr>
          <p:cNvPr id="11" name="TextBox 10"/>
          <p:cNvSpPr txBox="1"/>
          <p:nvPr/>
        </p:nvSpPr>
        <p:spPr>
          <a:xfrm>
            <a:off x="777240" y="4279392"/>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Apply overlays</a:t>
            </a:r>
          </a:p>
        </p:txBody>
      </p:sp>
      <p:sp>
        <p:nvSpPr>
          <p:cNvPr id="12" name="Rounded Rectangle 11"/>
          <p:cNvSpPr/>
          <p:nvPr/>
        </p:nvSpPr>
        <p:spPr>
          <a:xfrm>
            <a:off x="777240" y="4663440"/>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663440"/>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727448"/>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namespace dev</a:t>
            </a:r>
          </a:p>
          <a:p>
            <a:pPr>
              <a:spcBef>
                <a:spcPts val="0"/>
              </a:spcBef>
              <a:spcAft>
                <a:spcPts val="0"/>
              </a:spcAft>
            </a:pPr>
            <a:r>
              <a:rPr sz="1050">
                <a:solidFill>
                  <a:srgbClr val="161B26"/>
                </a:solidFill>
                <a:latin typeface="Consolas"/>
              </a:rPr>
              <a:t>kubectl apply -k ~/kustomize-lab/overlays/dev</a:t>
            </a:r>
          </a:p>
          <a:p>
            <a:pPr>
              <a:spcBef>
                <a:spcPts val="0"/>
              </a:spcBef>
              <a:spcAft>
                <a:spcPts val="0"/>
              </a:spcAft>
            </a:pPr>
            <a:r>
              <a:rPr sz="1050">
                <a:solidFill>
                  <a:srgbClr val="161B26"/>
                </a:solidFill>
                <a:latin typeface="Consolas"/>
              </a:rPr>
              <a:t>kubectl get deployment -n dev</a:t>
            </a:r>
          </a:p>
          <a:p>
            <a:pPr>
              <a:spcBef>
                <a:spcPts val="0"/>
              </a:spcBef>
              <a:spcAft>
                <a:spcPts val="0"/>
              </a:spcAft>
            </a:pPr>
            <a:r>
              <a:rPr sz="1050">
                <a:solidFill>
                  <a:srgbClr val="161B26"/>
                </a:solidFill>
                <a:latin typeface="Consolas"/>
              </a:rPr>
              <a:t># NAME: dev-webapp</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Base + Overlays, namePrefix, images, patches, kubectl apply -k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Preview changes before applying</a:t>
            </a:r>
          </a:p>
        </p:txBody>
      </p:sp>
      <p:sp>
        <p:nvSpPr>
          <p:cNvPr id="8" name="Rounded Rectangle 7"/>
          <p:cNvSpPr/>
          <p:nvPr/>
        </p:nvSpPr>
        <p:spPr>
          <a:xfrm>
            <a:off x="777240" y="2075688"/>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diff -k ~/kustomize-lab/overlays/dev</a:t>
            </a:r>
          </a:p>
        </p:txBody>
      </p:sp>
      <p:sp>
        <p:nvSpPr>
          <p:cNvPr id="11" name="TextBox 10"/>
          <p:cNvSpPr txBox="1"/>
          <p:nvPr/>
        </p:nvSpPr>
        <p:spPr>
          <a:xfrm>
            <a:off x="777240" y="259232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namePrefix automatically updates all cross-references (selectors, labels). kubectl diff -k previews changes before applying -- essential for safe production.</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Base + Overlays, namePrefix, images, patches, kubectl apply -k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deployment -n dev shows dev-webapp (namePrefix applied). kubectl diff -k shows planned changes without modifying the cluster.</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7</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RBAC — Role-Based Access Control</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Who can do what, where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AUTHORIZATION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Authorisation in Kubernetes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Role (namespace) or ClusterRole (cluster-wide) lists allowed verbs on resources.</a:t>
            </a:r>
          </a:p>
          <a:p>
            <a:pPr>
              <a:spcBef>
                <a:spcPts val="0"/>
              </a:spcBef>
              <a:spcAft>
                <a:spcPts val="1000"/>
              </a:spcAft>
            </a:pPr>
            <a:r>
              <a:rPr sz="1900" b="1">
                <a:solidFill>
                  <a:srgbClr val="1F6FEB"/>
                </a:solidFill>
                <a:latin typeface="Arial"/>
              </a:rPr>
              <a:t>•  </a:t>
            </a:r>
            <a:r>
              <a:rPr sz="1900">
                <a:solidFill>
                  <a:srgbClr val="161B26"/>
                </a:solidFill>
                <a:latin typeface="Arial"/>
              </a:rPr>
              <a:t>A RoleBinding or ClusterRoleBinding ties a Role to a subject: ServiceAccount, user or group.</a:t>
            </a:r>
          </a:p>
          <a:p>
            <a:pPr>
              <a:spcBef>
                <a:spcPts val="0"/>
              </a:spcBef>
              <a:spcAft>
                <a:spcPts val="1000"/>
              </a:spcAft>
            </a:pPr>
            <a:r>
              <a:rPr sz="1900" b="1">
                <a:solidFill>
                  <a:srgbClr val="1F6FEB"/>
                </a:solidFill>
                <a:latin typeface="Arial"/>
              </a:rPr>
              <a:t>•  </a:t>
            </a:r>
            <a:r>
              <a:rPr sz="1900">
                <a:solidFill>
                  <a:srgbClr val="161B26"/>
                </a:solidFill>
                <a:latin typeface="Arial"/>
              </a:rPr>
              <a:t>ClusterRole + RoleBinding restricts cluster-level role verbs to a single namespace.</a:t>
            </a:r>
          </a:p>
          <a:p>
            <a:pPr>
              <a:spcBef>
                <a:spcPts val="0"/>
              </a:spcBef>
              <a:spcAft>
                <a:spcPts val="1000"/>
              </a:spcAft>
            </a:pPr>
            <a:r>
              <a:rPr sz="1900" b="1">
                <a:solidFill>
                  <a:srgbClr val="1F6FEB"/>
                </a:solidFill>
                <a:latin typeface="Arial"/>
              </a:rPr>
              <a:t>•  </a:t>
            </a:r>
            <a:r>
              <a:rPr sz="1900">
                <a:solidFill>
                  <a:srgbClr val="161B26"/>
                </a:solidFill>
                <a:latin typeface="Arial"/>
              </a:rPr>
              <a:t>Validate without impersonation: kubectl auth can-i &lt;verb&gt; &lt;resource&gt; --as=&lt;identity&gt;.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ROLE-BASED ACCESS CONTROL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 Role, Binding, Subject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286000"/>
            <a:ext cx="3200400" cy="182880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86000"/>
            <a:ext cx="320040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395728"/>
            <a:ext cx="298094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Role / ClusterRole</a:t>
            </a:r>
          </a:p>
          <a:p>
            <a:pPr algn="ctr">
              <a:spcBef>
                <a:spcPts val="0"/>
              </a:spcBef>
              <a:spcAft>
                <a:spcPts val="300"/>
              </a:spcAft>
            </a:pPr>
            <a:r>
              <a:rPr sz="1200" b="0">
                <a:solidFill>
                  <a:srgbClr val="5B6372"/>
                </a:solidFill>
                <a:latin typeface="Arial"/>
              </a:rPr>
              <a:t>verbs: get, list, create</a:t>
            </a:r>
          </a:p>
          <a:p>
            <a:pPr algn="ctr">
              <a:spcBef>
                <a:spcPts val="0"/>
              </a:spcBef>
              <a:spcAft>
                <a:spcPts val="300"/>
              </a:spcAft>
            </a:pPr>
            <a:r>
              <a:rPr sz="1200" b="0">
                <a:solidFill>
                  <a:srgbClr val="5B6372"/>
                </a:solidFill>
                <a:latin typeface="Arial"/>
              </a:rPr>
              <a:t>resources: pods, deployments</a:t>
            </a:r>
          </a:p>
        </p:txBody>
      </p:sp>
      <p:sp>
        <p:nvSpPr>
          <p:cNvPr id="10" name="Right Arrow 9"/>
          <p:cNvSpPr/>
          <p:nvPr/>
        </p:nvSpPr>
        <p:spPr>
          <a:xfrm>
            <a:off x="3977640" y="3017520"/>
            <a:ext cx="548640" cy="36576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26279" y="2286000"/>
            <a:ext cx="3200400" cy="182880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79" y="2286000"/>
            <a:ext cx="320040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2395728"/>
            <a:ext cx="298094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RoleBinding / ClusterRoleBinding</a:t>
            </a:r>
          </a:p>
          <a:p>
            <a:pPr algn="ctr">
              <a:spcBef>
                <a:spcPts val="0"/>
              </a:spcBef>
              <a:spcAft>
                <a:spcPts val="300"/>
              </a:spcAft>
            </a:pPr>
            <a:r>
              <a:rPr sz="1200" b="0">
                <a:solidFill>
                  <a:srgbClr val="5B6372"/>
                </a:solidFill>
                <a:latin typeface="Arial"/>
              </a:rPr>
              <a:t>binds role to subject</a:t>
            </a:r>
          </a:p>
          <a:p>
            <a:pPr algn="ctr">
              <a:spcBef>
                <a:spcPts val="0"/>
              </a:spcBef>
              <a:spcAft>
                <a:spcPts val="300"/>
              </a:spcAft>
            </a:pPr>
            <a:r>
              <a:rPr sz="1200" b="0">
                <a:solidFill>
                  <a:srgbClr val="5B6372"/>
                </a:solidFill>
                <a:latin typeface="Arial"/>
              </a:rPr>
              <a:t>ns or cluster scope</a:t>
            </a:r>
          </a:p>
        </p:txBody>
      </p:sp>
      <p:sp>
        <p:nvSpPr>
          <p:cNvPr id="14" name="Right Arrow 13"/>
          <p:cNvSpPr/>
          <p:nvPr/>
        </p:nvSpPr>
        <p:spPr>
          <a:xfrm>
            <a:off x="7726679" y="3017520"/>
            <a:ext cx="548640" cy="36576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75318" y="2286000"/>
            <a:ext cx="3200400" cy="18288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5046" y="2286000"/>
            <a:ext cx="2980944" cy="1828800"/>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Subject</a:t>
            </a:r>
          </a:p>
          <a:p>
            <a:pPr algn="ctr">
              <a:spcBef>
                <a:spcPts val="0"/>
              </a:spcBef>
              <a:spcAft>
                <a:spcPts val="300"/>
              </a:spcAft>
            </a:pPr>
            <a:r>
              <a:rPr sz="1200" b="0">
                <a:solidFill>
                  <a:srgbClr val="5B6372"/>
                </a:solidFill>
                <a:latin typeface="Arial"/>
              </a:rPr>
              <a:t>ServiceAccount</a:t>
            </a:r>
          </a:p>
          <a:p>
            <a:pPr algn="ctr">
              <a:spcBef>
                <a:spcPts val="0"/>
              </a:spcBef>
              <a:spcAft>
                <a:spcPts val="300"/>
              </a:spcAft>
            </a:pPr>
            <a:r>
              <a:rPr sz="1200" b="0">
                <a:solidFill>
                  <a:srgbClr val="5B6372"/>
                </a:solidFill>
                <a:latin typeface="Arial"/>
              </a:rPr>
              <a:t>User / Group</a:t>
            </a:r>
          </a:p>
        </p:txBody>
      </p:sp>
      <p:sp>
        <p:nvSpPr>
          <p:cNvPr id="17" name="Rounded Rectangle 16"/>
          <p:cNvSpPr/>
          <p:nvPr/>
        </p:nvSpPr>
        <p:spPr>
          <a:xfrm>
            <a:off x="777240" y="4617720"/>
            <a:ext cx="10652760" cy="713232"/>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617720"/>
            <a:ext cx="10058400" cy="71323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kubectl auth can-i list pods --as=system:serviceaccount:ns:sa</a:t>
            </a:r>
          </a:p>
          <a:p>
            <a:pPr algn="l">
              <a:spcBef>
                <a:spcPts val="0"/>
              </a:spcBef>
              <a:spcAft>
                <a:spcPts val="400"/>
              </a:spcAft>
            </a:pPr>
            <a:r>
              <a:rPr sz="1400" b="1">
                <a:solidFill>
                  <a:srgbClr val="10B981"/>
                </a:solidFill>
                <a:latin typeface="Arial"/>
              </a:rPr>
              <a:t>→ yes | no</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AUTHORIZATION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 Subject, API Resources and Verbs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a_s033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RBAC</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Roles, RoleBindings, ServiceAccounts, ClusterRole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RBAC</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a ServiceAccount for a read-only viewer persona, define a namespaced Role that allows only get/list/watch on Pods, bind the role to the SA, and prove that the SA can read but cannot write. Then extend to ClusterRole for cluster-scoped resources.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SA + Role + RoleBinding in rbac-demo namespace, test with kubectl auth can-i --as, verify from inside a pod, add ClusterRole for node access.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-n · » Identity</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Roles, RoleBindings, ServiceAccounts, ClusterRole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namespace and ServiceAccount</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ns rbac-demo</a:t>
            </a:r>
          </a:p>
          <a:p>
            <a:pPr>
              <a:spcBef>
                <a:spcPts val="0"/>
              </a:spcBef>
              <a:spcAft>
                <a:spcPts val="0"/>
              </a:spcAft>
            </a:pPr>
            <a:r>
              <a:rPr sz="1050">
                <a:solidFill>
                  <a:srgbClr val="161B26"/>
                </a:solidFill>
                <a:latin typeface="Consolas"/>
              </a:rPr>
              <a:t>kubectl -n rbac-demo create serviceaccount viewer</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a namespaced Role</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rbac-demo create role pod-viewer \</a:t>
            </a:r>
          </a:p>
          <a:p>
            <a:pPr>
              <a:spcBef>
                <a:spcPts val="0"/>
              </a:spcBef>
              <a:spcAft>
                <a:spcPts val="0"/>
              </a:spcAft>
            </a:pPr>
            <a:r>
              <a:rPr sz="1050">
                <a:solidFill>
                  <a:srgbClr val="161B26"/>
                </a:solidFill>
                <a:latin typeface="Consolas"/>
              </a:rPr>
              <a:t>  --verb=get,list,watch \</a:t>
            </a:r>
          </a:p>
          <a:p>
            <a:pPr>
              <a:spcBef>
                <a:spcPts val="0"/>
              </a:spcBef>
              <a:spcAft>
                <a:spcPts val="0"/>
              </a:spcAft>
            </a:pPr>
            <a:r>
              <a:rPr sz="1050">
                <a:solidFill>
                  <a:srgbClr val="161B26"/>
                </a:solidFill>
                <a:latin typeface="Consolas"/>
              </a:rPr>
              <a:t>  --resource=pods</a:t>
            </a:r>
          </a:p>
          <a:p>
            <a:pPr>
              <a:spcBef>
                <a:spcPts val="0"/>
              </a:spcBef>
              <a:spcAft>
                <a:spcPts val="0"/>
              </a:spcAft>
            </a:pPr>
            <a:r>
              <a:rPr sz="1050">
                <a:solidFill>
                  <a:srgbClr val="161B26"/>
                </a:solidFill>
                <a:latin typeface="Consolas"/>
              </a:rPr>
              <a:t>kubectl -n rbac-demo get role pod-viewer -o yaml</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Bind Role to ServiceAccount</a:t>
            </a:r>
          </a:p>
        </p:txBody>
      </p:sp>
      <p:sp>
        <p:nvSpPr>
          <p:cNvPr id="16" name="Rounded Rectangle 15"/>
          <p:cNvSpPr/>
          <p:nvPr/>
        </p:nvSpPr>
        <p:spPr>
          <a:xfrm>
            <a:off x="777240" y="4626863"/>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rbac-demo create rolebinding viewer-binding \</a:t>
            </a:r>
          </a:p>
          <a:p>
            <a:pPr>
              <a:spcBef>
                <a:spcPts val="0"/>
              </a:spcBef>
              <a:spcAft>
                <a:spcPts val="0"/>
              </a:spcAft>
            </a:pPr>
            <a:r>
              <a:rPr sz="1050">
                <a:solidFill>
                  <a:srgbClr val="161B26"/>
                </a:solidFill>
                <a:latin typeface="Consolas"/>
              </a:rPr>
              <a:t>  --role=pod-viewer \</a:t>
            </a:r>
          </a:p>
          <a:p>
            <a:pPr>
              <a:spcBef>
                <a:spcPts val="0"/>
              </a:spcBef>
              <a:spcAft>
                <a:spcPts val="0"/>
              </a:spcAft>
            </a:pPr>
            <a:r>
              <a:rPr sz="1050">
                <a:solidFill>
                  <a:srgbClr val="161B26"/>
                </a:solidFill>
                <a:latin typeface="Consolas"/>
              </a:rPr>
              <a:t>  --serviceaccount=rbac-demo:viewer</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Roles, RoleBindings, ServiceAccounts, ClusterRole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Test with kubectl auth can-i</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rbac-demo auth can-i list pods \</a:t>
            </a:r>
          </a:p>
          <a:p>
            <a:pPr>
              <a:spcBef>
                <a:spcPts val="0"/>
              </a:spcBef>
              <a:spcAft>
                <a:spcPts val="0"/>
              </a:spcAft>
            </a:pPr>
            <a:r>
              <a:rPr sz="1050">
                <a:solidFill>
                  <a:srgbClr val="161B26"/>
                </a:solidFill>
                <a:latin typeface="Consolas"/>
              </a:rPr>
              <a:t>  --as=system:serviceaccount:rbac-demo:viewer</a:t>
            </a:r>
          </a:p>
          <a:p>
            <a:pPr>
              <a:spcBef>
                <a:spcPts val="0"/>
              </a:spcBef>
              <a:spcAft>
                <a:spcPts val="0"/>
              </a:spcAft>
            </a:pPr>
            <a:r>
              <a:rPr sz="1050">
                <a:solidFill>
                  <a:srgbClr val="161B26"/>
                </a:solidFill>
                <a:latin typeface="Consolas"/>
              </a:rPr>
              <a:t>kubectl -n rbac-demo auth can-i create pods \</a:t>
            </a:r>
          </a:p>
          <a:p>
            <a:pPr>
              <a:spcBef>
                <a:spcPts val="0"/>
              </a:spcBef>
              <a:spcAft>
                <a:spcPts val="0"/>
              </a:spcAft>
            </a:pPr>
            <a:r>
              <a:rPr sz="1050">
                <a:solidFill>
                  <a:srgbClr val="161B26"/>
                </a:solidFill>
                <a:latin typeface="Consolas"/>
              </a:rPr>
              <a:t>  --as=system:serviceaccount:rbac-demo:viewer</a:t>
            </a:r>
          </a:p>
          <a:p>
            <a:pPr>
              <a:spcBef>
                <a:spcPts val="0"/>
              </a:spcBef>
              <a:spcAft>
                <a:spcPts val="0"/>
              </a:spcAft>
            </a:pPr>
            <a:r>
              <a:rPr sz="1050">
                <a:solidFill>
                  <a:srgbClr val="161B26"/>
                </a:solidFill>
                <a:latin typeface="Consolas"/>
              </a:rPr>
              <a:t># Expected: yes, no</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ClusterRole for cluster-scoped resources</a:t>
            </a:r>
          </a:p>
        </p:txBody>
      </p:sp>
      <p:sp>
        <p:nvSpPr>
          <p:cNvPr id="12" name="Rounded Rectangle 11"/>
          <p:cNvSpPr/>
          <p:nvPr/>
        </p:nvSpPr>
        <p:spPr>
          <a:xfrm>
            <a:off x="777240" y="3726179"/>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clusterrole node-reader --verb=get,list,watch --resource=nodes</a:t>
            </a:r>
          </a:p>
          <a:p>
            <a:pPr>
              <a:spcBef>
                <a:spcPts val="0"/>
              </a:spcBef>
              <a:spcAft>
                <a:spcPts val="0"/>
              </a:spcAft>
            </a:pPr>
            <a:r>
              <a:rPr sz="1050">
                <a:solidFill>
                  <a:srgbClr val="161B26"/>
                </a:solidFill>
                <a:latin typeface="Consolas"/>
              </a:rPr>
              <a:t>kubectl create clusterrolebinding viewer-nodes \</a:t>
            </a:r>
          </a:p>
          <a:p>
            <a:pPr>
              <a:spcBef>
                <a:spcPts val="0"/>
              </a:spcBef>
              <a:spcAft>
                <a:spcPts val="0"/>
              </a:spcAft>
            </a:pPr>
            <a:r>
              <a:rPr sz="1050">
                <a:solidFill>
                  <a:srgbClr val="161B26"/>
                </a:solidFill>
                <a:latin typeface="Consolas"/>
              </a:rPr>
              <a:t>  --clusterrole=node-reader \</a:t>
            </a:r>
          </a:p>
          <a:p>
            <a:pPr>
              <a:spcBef>
                <a:spcPts val="0"/>
              </a:spcBef>
              <a:spcAft>
                <a:spcPts val="0"/>
              </a:spcAft>
            </a:pPr>
            <a:r>
              <a:rPr sz="1050">
                <a:solidFill>
                  <a:srgbClr val="161B26"/>
                </a:solidFill>
                <a:latin typeface="Consolas"/>
              </a:rPr>
              <a:t>  --serviceaccount=rbac-demo:viewer</a:t>
            </a:r>
          </a:p>
        </p:txBody>
      </p:sp>
      <p:sp>
        <p:nvSpPr>
          <p:cNvPr id="15" name="TextBox 14"/>
          <p:cNvSpPr txBox="1"/>
          <p:nvPr/>
        </p:nvSpPr>
        <p:spPr>
          <a:xfrm>
            <a:off x="777240" y="480517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Identity format for SA: system:serviceaccount:&lt;namespace&gt;:&lt;name&gt;. ClusterRole is for cluster-scoped resources (nodes, PVs); Role is namespace-scoped.</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Roles, RoleBindings, ServiceAccounts, ClusterRole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auth can-i list pods --as=SA returns yes; create pods returns no. ClusterRole allows viewer SA to list nodes across all namespaces.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WRAP-UP</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Day 1 done — you can build and administer a Kubernetes cluster.</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Tomorrow: CRDs, workloads, scheduling, services and networking.</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6" name="TextBox 5"/>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Certified Kubernetes Administrator (CKA)</a:t>
            </a:r>
          </a:p>
        </p:txBody>
      </p:sp>
      <p:sp>
        <p:nvSpPr>
          <p:cNvPr id="7" name="Rectangle 6"/>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TGS-2025054612</a:t>
            </a:r>
          </a:p>
          <a:p>
            <a:pPr algn="l">
              <a:spcBef>
                <a:spcPts val="0"/>
              </a:spcBef>
              <a:spcAft>
                <a:spcPts val="600"/>
              </a:spcAft>
            </a:pPr>
            <a:r>
              <a:rPr sz="1400" b="0">
                <a:solidFill>
                  <a:srgbClr val="5B6372"/>
                </a:solidFill>
                <a:latin typeface="Arial"/>
              </a:rPr>
              <a:t>Conducted by Tertiary Infotech Academy Pte Ltd  ·  UEN 201200696W</a:t>
            </a:r>
          </a:p>
        </p:txBody>
      </p:sp>
      <p:sp>
        <p:nvSpPr>
          <p:cNvPr id="9" name="TextBox 8"/>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Workloads, Scheduling &amp; Services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Domain 1 tools + Domains 2 &amp; 3 start — Labs 9–18</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02</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86</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87</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DAY 2 OBJECTIVES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Recap &amp; Today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Yesterday (Domain 1): kubeadm cluster bootstrap, CNI, cluster upgrade, HA etcd, Helm, Kustomize and RBAC.</a:t>
            </a:r>
          </a:p>
          <a:p>
            <a:pPr>
              <a:spcBef>
                <a:spcPts val="0"/>
              </a:spcBef>
              <a:spcAft>
                <a:spcPts val="1000"/>
              </a:spcAft>
            </a:pPr>
            <a:r>
              <a:rPr sz="1900" b="1">
                <a:solidFill>
                  <a:srgbClr val="1F6FEB"/>
                </a:solidFill>
                <a:latin typeface="Arial"/>
              </a:rPr>
              <a:t>•  </a:t>
            </a:r>
            <a:r>
              <a:rPr sz="1900">
                <a:solidFill>
                  <a:srgbClr val="161B26"/>
                </a:solidFill>
                <a:latin typeface="Arial"/>
              </a:rPr>
              <a:t>This morning — Domain 1 tools: CRDs, Operators and the CRI/CNI/CSI extension interfaces.</a:t>
            </a:r>
          </a:p>
          <a:p>
            <a:pPr>
              <a:spcBef>
                <a:spcPts val="0"/>
              </a:spcBef>
              <a:spcAft>
                <a:spcPts val="1000"/>
              </a:spcAft>
            </a:pPr>
            <a:r>
              <a:rPr sz="1900" b="1">
                <a:solidFill>
                  <a:srgbClr val="1F6FEB"/>
                </a:solidFill>
                <a:latin typeface="Arial"/>
              </a:rPr>
              <a:t>•  </a:t>
            </a:r>
            <a:r>
              <a:rPr sz="1900">
                <a:solidFill>
                  <a:srgbClr val="161B26"/>
                </a:solidFill>
                <a:latin typeface="Arial"/>
              </a:rPr>
              <a:t>Then Domain 2 (15%): Deployments, ConfigMaps, Secrets, HPA, self-healing and pod scheduling.</a:t>
            </a:r>
          </a:p>
          <a:p>
            <a:pPr>
              <a:spcBef>
                <a:spcPts val="0"/>
              </a:spcBef>
              <a:spcAft>
                <a:spcPts val="1000"/>
              </a:spcAft>
            </a:pPr>
            <a:r>
              <a:rPr sz="1900" b="1">
                <a:solidFill>
                  <a:srgbClr val="1F6FEB"/>
                </a:solidFill>
                <a:latin typeface="Arial"/>
              </a:rPr>
              <a:t>•  </a:t>
            </a:r>
            <a:r>
              <a:rPr sz="1900">
                <a:solidFill>
                  <a:srgbClr val="161B26"/>
                </a:solidFill>
                <a:latin typeface="Arial"/>
              </a:rPr>
              <a:t>Late afternoon — Domain 3 start (20%): pod connectivity, Service types.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88</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CRDs, Operators &amp; Extension Interfaces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Extend Kubernetes without patching it</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89</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API EXTENSIBILITY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Custom Resource Definitions (CRDs)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CRD registers a new object kind with the API server — creating, listing and deleting it just like built-in resources.</a:t>
            </a:r>
          </a:p>
          <a:p>
            <a:pPr>
              <a:spcBef>
                <a:spcPts val="0"/>
              </a:spcBef>
              <a:spcAft>
                <a:spcPts val="1000"/>
              </a:spcAft>
            </a:pPr>
            <a:r>
              <a:rPr sz="1900" b="1">
                <a:solidFill>
                  <a:srgbClr val="1F6FEB"/>
                </a:solidFill>
                <a:latin typeface="Arial"/>
              </a:rPr>
              <a:t>•  </a:t>
            </a:r>
            <a:r>
              <a:rPr sz="1900">
                <a:solidFill>
                  <a:srgbClr val="161B26"/>
                </a:solidFill>
                <a:latin typeface="Arial"/>
              </a:rPr>
              <a:t>openAPIV3Schema in the CRD spec validates the custom resource at admission time.</a:t>
            </a:r>
          </a:p>
          <a:p>
            <a:pPr>
              <a:spcBef>
                <a:spcPts val="0"/>
              </a:spcBef>
              <a:spcAft>
                <a:spcPts val="1000"/>
              </a:spcAft>
            </a:pPr>
            <a:r>
              <a:rPr sz="1900" b="1">
                <a:solidFill>
                  <a:srgbClr val="1F6FEB"/>
                </a:solidFill>
                <a:latin typeface="Arial"/>
              </a:rPr>
              <a:t>•  </a:t>
            </a:r>
            <a:r>
              <a:rPr sz="1900">
                <a:solidFill>
                  <a:srgbClr val="161B26"/>
                </a:solidFill>
                <a:latin typeface="Arial"/>
              </a:rPr>
              <a:t>kubectl api-resources lists all resources including custom ones (shows APIVERSION column).</a:t>
            </a:r>
          </a:p>
          <a:p>
            <a:pPr>
              <a:spcBef>
                <a:spcPts val="0"/>
              </a:spcBef>
              <a:spcAft>
                <a:spcPts val="1000"/>
              </a:spcAft>
            </a:pPr>
            <a:r>
              <a:rPr sz="1900" b="1">
                <a:solidFill>
                  <a:srgbClr val="1F6FEB"/>
                </a:solidFill>
                <a:latin typeface="Arial"/>
              </a:rPr>
              <a:t>•  </a:t>
            </a:r>
            <a:r>
              <a:rPr sz="1900">
                <a:solidFill>
                  <a:srgbClr val="161B26"/>
                </a:solidFill>
                <a:latin typeface="Arial"/>
              </a:rPr>
              <a:t>An Operator pairs a CRD with a controller that encodes operational knowledge (install, upgrade, backup).</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PLUGIN INTERFACES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CRI, CNI, CSI — The Plugin Interfaces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CRI (Container Runtime Interface): kubelet talks to containerd or CRI-O via a gRPC socket.</a:t>
            </a:r>
          </a:p>
          <a:p>
            <a:pPr>
              <a:spcBef>
                <a:spcPts val="0"/>
              </a:spcBef>
              <a:spcAft>
                <a:spcPts val="1000"/>
              </a:spcAft>
            </a:pPr>
            <a:r>
              <a:rPr sz="1900" b="1">
                <a:solidFill>
                  <a:srgbClr val="1F6FEB"/>
                </a:solidFill>
                <a:latin typeface="Arial"/>
              </a:rPr>
              <a:t>•  </a:t>
            </a:r>
            <a:r>
              <a:rPr sz="1900">
                <a:solidFill>
                  <a:srgbClr val="161B26"/>
                </a:solidFill>
                <a:latin typeface="Arial"/>
              </a:rPr>
              <a:t>crictl is the low-level CRI client — use it when kubectl is unavailable because the API server is down.</a:t>
            </a:r>
          </a:p>
          <a:p>
            <a:pPr>
              <a:spcBef>
                <a:spcPts val="0"/>
              </a:spcBef>
              <a:spcAft>
                <a:spcPts val="1000"/>
              </a:spcAft>
            </a:pPr>
            <a:r>
              <a:rPr sz="1900" b="1">
                <a:solidFill>
                  <a:srgbClr val="1F6FEB"/>
                </a:solidFill>
                <a:latin typeface="Arial"/>
              </a:rPr>
              <a:t>•  </a:t>
            </a:r>
            <a:r>
              <a:rPr sz="1900">
                <a:solidFill>
                  <a:srgbClr val="161B26"/>
                </a:solidFill>
                <a:latin typeface="Arial"/>
              </a:rPr>
              <a:t>CNI (Container Network Interface): /etc/cni/net.d/ configs + /opt/cni/bin/ binaries; called on every pod lifecycle event.</a:t>
            </a:r>
          </a:p>
          <a:p>
            <a:pPr>
              <a:spcBef>
                <a:spcPts val="0"/>
              </a:spcBef>
              <a:spcAft>
                <a:spcPts val="1000"/>
              </a:spcAft>
            </a:pPr>
            <a:r>
              <a:rPr sz="1900" b="1">
                <a:solidFill>
                  <a:srgbClr val="1F6FEB"/>
                </a:solidFill>
                <a:latin typeface="Arial"/>
              </a:rPr>
              <a:t>•  </a:t>
            </a:r>
            <a:r>
              <a:rPr sz="1900">
                <a:solidFill>
                  <a:srgbClr val="161B26"/>
                </a:solidFill>
                <a:latin typeface="Arial"/>
              </a:rPr>
              <a:t>CSI (Container Storage Interface): kubectl get csidrivers and csinodes; StorageClass references a CSI provisioner.</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91</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CRDs &amp; OPERATORS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Operator Pattern — CRD + Controller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4_s041_i1.jpg"/>
          <p:cNvPicPr>
            <a:picLocks noChangeAspect="1"/>
          </p:cNvPicPr>
          <p:nvPr/>
        </p:nvPicPr>
        <p:blipFill>
          <a:blip r:embed="rId2"/>
          <a:stretch>
            <a:fillRect/>
          </a:stretch>
        </p:blipFill>
        <p:spPr>
          <a:xfrm>
            <a:off x="2129582" y="1627632"/>
            <a:ext cx="7948075"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92</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CRDS &amp; OPERATORS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CRDs and Operators: Schema Validation, cert-manager, Certificate Lifecycle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CRDs and Operators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Define a CRD with OpenAPI schema validation, create custom resources, install the cert-manager operator via Helm, and walk through the TLS certificate lifecycle. CKA tests working with CRDs and operator-managed resources.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AppDatabase CRD with enum/pattern/required validation, install cert-manager, create self-signed ClusterIssuer, request TLS Certificate, inspect resulting Secret.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kubectl apply · helm repo · » CRDs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93</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CRDs and Operators: Schema Validation, cert-manager, Certificate Lifecycle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Define a CRD with schema validation</a:t>
            </a:r>
          </a:p>
        </p:txBody>
      </p:sp>
      <p:sp>
        <p:nvSpPr>
          <p:cNvPr id="8" name="Rounded Rectangle 7"/>
          <p:cNvSpPr/>
          <p:nvPr/>
        </p:nvSpPr>
        <p:spPr>
          <a:xfrm>
            <a:off x="777240" y="2075688"/>
            <a:ext cx="10652760" cy="5394959"/>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39495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5303519"/>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apiextensions.k8s.io/v1</a:t>
            </a:r>
          </a:p>
          <a:p>
            <a:pPr>
              <a:spcBef>
                <a:spcPts val="0"/>
              </a:spcBef>
              <a:spcAft>
                <a:spcPts val="0"/>
              </a:spcAft>
            </a:pPr>
            <a:r>
              <a:rPr sz="1050">
                <a:solidFill>
                  <a:srgbClr val="161B26"/>
                </a:solidFill>
                <a:latin typeface="Consolas"/>
              </a:rPr>
              <a:t>kind: CustomResourceDefinition</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appdatabases.storage.example.com</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group: storage.example.com</a:t>
            </a:r>
          </a:p>
          <a:p>
            <a:pPr>
              <a:spcBef>
                <a:spcPts val="0"/>
              </a:spcBef>
              <a:spcAft>
                <a:spcPts val="0"/>
              </a:spcAft>
            </a:pPr>
            <a:r>
              <a:rPr sz="1050">
                <a:solidFill>
                  <a:srgbClr val="161B26"/>
                </a:solidFill>
                <a:latin typeface="Consolas"/>
              </a:rPr>
              <a:t>  versions:</a:t>
            </a:r>
          </a:p>
          <a:p>
            <a:pPr>
              <a:spcBef>
                <a:spcPts val="0"/>
              </a:spcBef>
              <a:spcAft>
                <a:spcPts val="0"/>
              </a:spcAft>
            </a:pPr>
            <a:r>
              <a:rPr sz="1050">
                <a:solidFill>
                  <a:srgbClr val="161B26"/>
                </a:solidFill>
                <a:latin typeface="Consolas"/>
              </a:rPr>
              <a:t>  - name: v1</a:t>
            </a:r>
          </a:p>
          <a:p>
            <a:pPr>
              <a:spcBef>
                <a:spcPts val="0"/>
              </a:spcBef>
              <a:spcAft>
                <a:spcPts val="0"/>
              </a:spcAft>
            </a:pPr>
            <a:r>
              <a:rPr sz="1050">
                <a:solidFill>
                  <a:srgbClr val="161B26"/>
                </a:solidFill>
                <a:latin typeface="Consolas"/>
              </a:rPr>
              <a:t>    served: true</a:t>
            </a:r>
          </a:p>
          <a:p>
            <a:pPr>
              <a:spcBef>
                <a:spcPts val="0"/>
              </a:spcBef>
              <a:spcAft>
                <a:spcPts val="0"/>
              </a:spcAft>
            </a:pPr>
            <a:r>
              <a:rPr sz="1050">
                <a:solidFill>
                  <a:srgbClr val="161B26"/>
                </a:solidFill>
                <a:latin typeface="Consolas"/>
              </a:rPr>
              <a:t>    storage: true</a:t>
            </a:r>
          </a:p>
          <a:p>
            <a:pPr>
              <a:spcBef>
                <a:spcPts val="0"/>
              </a:spcBef>
              <a:spcAft>
                <a:spcPts val="0"/>
              </a:spcAft>
            </a:pPr>
            <a:r>
              <a:rPr sz="1050">
                <a:solidFill>
                  <a:srgbClr val="161B26"/>
                </a:solidFill>
                <a:latin typeface="Consolas"/>
              </a:rPr>
              <a:t>    schema:</a:t>
            </a:r>
          </a:p>
          <a:p>
            <a:pPr>
              <a:spcBef>
                <a:spcPts val="0"/>
              </a:spcBef>
              <a:spcAft>
                <a:spcPts val="0"/>
              </a:spcAft>
            </a:pPr>
            <a:r>
              <a:rPr sz="1050">
                <a:solidFill>
                  <a:srgbClr val="161B26"/>
                </a:solidFill>
                <a:latin typeface="Consolas"/>
              </a:rPr>
              <a:t>      openAPIV3Schema:</a:t>
            </a:r>
          </a:p>
          <a:p>
            <a:pPr>
              <a:spcBef>
                <a:spcPts val="0"/>
              </a:spcBef>
              <a:spcAft>
                <a:spcPts val="0"/>
              </a:spcAft>
            </a:pPr>
            <a:r>
              <a:rPr sz="1050">
                <a:solidFill>
                  <a:srgbClr val="161B26"/>
                </a:solidFill>
                <a:latin typeface="Consolas"/>
              </a:rPr>
              <a:t>        type: object</a:t>
            </a:r>
          </a:p>
          <a:p>
            <a:pPr>
              <a:spcBef>
                <a:spcPts val="0"/>
              </a:spcBef>
              <a:spcAft>
                <a:spcPts val="0"/>
              </a:spcAft>
            </a:pPr>
            <a:r>
              <a:rPr sz="1050">
                <a:solidFill>
                  <a:srgbClr val="161B26"/>
                </a:solidFill>
                <a:latin typeface="Consolas"/>
              </a:rPr>
              <a:t>        properties:</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type: object</a:t>
            </a:r>
          </a:p>
          <a:p>
            <a:pPr>
              <a:spcBef>
                <a:spcPts val="0"/>
              </a:spcBef>
              <a:spcAft>
                <a:spcPts val="0"/>
              </a:spcAft>
            </a:pPr>
            <a:r>
              <a:rPr sz="1050">
                <a:solidFill>
                  <a:srgbClr val="161B26"/>
                </a:solidFill>
                <a:latin typeface="Consolas"/>
              </a:rPr>
              <a:t>            required: ['engine', 'storage']</a:t>
            </a:r>
          </a:p>
          <a:p>
            <a:pPr>
              <a:spcBef>
                <a:spcPts val="0"/>
              </a:spcBef>
              <a:spcAft>
                <a:spcPts val="0"/>
              </a:spcAft>
            </a:pPr>
            <a:r>
              <a:rPr sz="1050">
                <a:solidFill>
                  <a:srgbClr val="161B26"/>
                </a:solidFill>
                <a:latin typeface="Consolas"/>
              </a:rPr>
              <a:t>            properties:</a:t>
            </a:r>
          </a:p>
          <a:p>
            <a:pPr>
              <a:spcBef>
                <a:spcPts val="0"/>
              </a:spcBef>
              <a:spcAft>
                <a:spcPts val="0"/>
              </a:spcAft>
            </a:pPr>
            <a:r>
              <a:rPr sz="1050">
                <a:solidFill>
                  <a:srgbClr val="161B26"/>
                </a:solidFill>
                <a:latin typeface="Consolas"/>
              </a:rPr>
              <a:t>              engine:</a:t>
            </a:r>
          </a:p>
          <a:p>
            <a:pPr>
              <a:spcBef>
                <a:spcPts val="0"/>
              </a:spcBef>
              <a:spcAft>
                <a:spcPts val="0"/>
              </a:spcAft>
            </a:pPr>
            <a:r>
              <a:rPr sz="1050">
                <a:solidFill>
                  <a:srgbClr val="161B26"/>
                </a:solidFill>
                <a:latin typeface="Consolas"/>
              </a:rPr>
              <a:t>                type: string</a:t>
            </a:r>
          </a:p>
          <a:p>
            <a:pPr>
              <a:spcBef>
                <a:spcPts val="0"/>
              </a:spcBef>
              <a:spcAft>
                <a:spcPts val="0"/>
              </a:spcAft>
            </a:pPr>
            <a:r>
              <a:rPr sz="1050">
                <a:solidFill>
                  <a:srgbClr val="161B26"/>
                </a:solidFill>
                <a:latin typeface="Consolas"/>
              </a:rPr>
              <a:t>                enum: ['postgresql', 'mysql', 'redis']</a:t>
            </a:r>
          </a:p>
          <a:p>
            <a:pPr>
              <a:spcBef>
                <a:spcPts val="0"/>
              </a:spcBef>
              <a:spcAft>
                <a:spcPts val="0"/>
              </a:spcAft>
            </a:pPr>
            <a:r>
              <a:rPr sz="1050">
                <a:solidFill>
                  <a:srgbClr val="161B26"/>
                </a:solidFill>
                <a:latin typeface="Consolas"/>
              </a:rPr>
              <a:t>  scope: Namespaced</a:t>
            </a:r>
          </a:p>
          <a:p>
            <a:pPr>
              <a:spcBef>
                <a:spcPts val="0"/>
              </a:spcBef>
              <a:spcAft>
                <a:spcPts val="0"/>
              </a:spcAft>
            </a:pPr>
            <a:r>
              <a:rPr sz="1050">
                <a:solidFill>
                  <a:srgbClr val="161B26"/>
                </a:solidFill>
                <a:latin typeface="Consolas"/>
              </a:rPr>
              <a:t>  names:</a:t>
            </a:r>
          </a:p>
          <a:p>
            <a:pPr>
              <a:spcBef>
                <a:spcPts val="0"/>
              </a:spcBef>
              <a:spcAft>
                <a:spcPts val="0"/>
              </a:spcAft>
            </a:pPr>
            <a:r>
              <a:rPr sz="1050">
                <a:solidFill>
                  <a:srgbClr val="161B26"/>
                </a:solidFill>
                <a:latin typeface="Consolas"/>
              </a:rPr>
              <a:t>    plural: appdatabases</a:t>
            </a:r>
          </a:p>
          <a:p>
            <a:pPr>
              <a:spcBef>
                <a:spcPts val="0"/>
              </a:spcBef>
              <a:spcAft>
                <a:spcPts val="0"/>
              </a:spcAft>
            </a:pPr>
            <a:r>
              <a:rPr sz="1050">
                <a:solidFill>
                  <a:srgbClr val="161B26"/>
                </a:solidFill>
                <a:latin typeface="Consolas"/>
              </a:rPr>
              <a:t>    singular: appdatabase</a:t>
            </a:r>
          </a:p>
          <a:p>
            <a:pPr>
              <a:spcBef>
                <a:spcPts val="0"/>
              </a:spcBef>
              <a:spcAft>
                <a:spcPts val="0"/>
              </a:spcAft>
            </a:pPr>
            <a:r>
              <a:rPr sz="1050">
                <a:solidFill>
                  <a:srgbClr val="161B26"/>
                </a:solidFill>
                <a:latin typeface="Consolas"/>
              </a:rPr>
              <a:t>    kind: AppDatabase</a:t>
            </a:r>
          </a:p>
          <a:p>
            <a:pPr>
              <a:spcBef>
                <a:spcPts val="0"/>
              </a:spcBef>
              <a:spcAft>
                <a:spcPts val="0"/>
              </a:spcAft>
            </a:pPr>
            <a:r>
              <a:rPr sz="1050">
                <a:solidFill>
                  <a:srgbClr val="161B26"/>
                </a:solidFill>
                <a:latin typeface="Consolas"/>
              </a:rPr>
              <a:t>EOF</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94</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CRDs and Operators: Schema Validation, cert-manager, Certificate Lifecycle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and query custom resources</a:t>
            </a:r>
          </a:p>
        </p:txBody>
      </p:sp>
      <p:sp>
        <p:nvSpPr>
          <p:cNvPr id="8" name="Rounded Rectangle 7"/>
          <p:cNvSpPr/>
          <p:nvPr/>
        </p:nvSpPr>
        <p:spPr>
          <a:xfrm>
            <a:off x="777240" y="2075688"/>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 &lt;&lt;'EOF'</a:t>
            </a:r>
          </a:p>
          <a:p>
            <a:pPr>
              <a:spcBef>
                <a:spcPts val="0"/>
              </a:spcBef>
              <a:spcAft>
                <a:spcPts val="0"/>
              </a:spcAft>
            </a:pPr>
            <a:r>
              <a:rPr sz="1050">
                <a:solidFill>
                  <a:srgbClr val="161B26"/>
                </a:solidFill>
                <a:latin typeface="Consolas"/>
              </a:rPr>
              <a:t>apiVersion: storage.example.com/v1</a:t>
            </a:r>
          </a:p>
          <a:p>
            <a:pPr>
              <a:spcBef>
                <a:spcPts val="0"/>
              </a:spcBef>
              <a:spcAft>
                <a:spcPts val="0"/>
              </a:spcAft>
            </a:pPr>
            <a:r>
              <a:rPr sz="1050">
                <a:solidFill>
                  <a:srgbClr val="161B26"/>
                </a:solidFill>
                <a:latin typeface="Consolas"/>
              </a:rPr>
              <a:t>kind: AppDatabase</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my-postgres</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engine: postgresql</a:t>
            </a:r>
          </a:p>
          <a:p>
            <a:pPr>
              <a:spcBef>
                <a:spcPts val="0"/>
              </a:spcBef>
              <a:spcAft>
                <a:spcPts val="0"/>
              </a:spcAft>
            </a:pPr>
            <a:r>
              <a:rPr sz="1050">
                <a:solidFill>
                  <a:srgbClr val="161B26"/>
                </a:solidFill>
                <a:latin typeface="Consolas"/>
              </a:rPr>
              <a:t>  storage: 20Gi</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appdatabases</a:t>
            </a:r>
          </a:p>
          <a:p>
            <a:pPr>
              <a:spcBef>
                <a:spcPts val="0"/>
              </a:spcBef>
              <a:spcAft>
                <a:spcPts val="0"/>
              </a:spcAft>
            </a:pPr>
            <a:r>
              <a:rPr sz="1050">
                <a:solidFill>
                  <a:srgbClr val="161B26"/>
                </a:solidFill>
                <a:latin typeface="Consolas"/>
              </a:rPr>
              <a:t>kubectl describe adb my-postgres</a:t>
            </a:r>
          </a:p>
        </p:txBody>
      </p:sp>
      <p:sp>
        <p:nvSpPr>
          <p:cNvPr id="11" name="TextBox 10"/>
          <p:cNvSpPr txBox="1"/>
          <p:nvPr/>
        </p:nvSpPr>
        <p:spPr>
          <a:xfrm>
            <a:off x="777240" y="446684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Install cert-manager via Helm</a:t>
            </a:r>
          </a:p>
        </p:txBody>
      </p:sp>
      <p:sp>
        <p:nvSpPr>
          <p:cNvPr id="12" name="Rounded Rectangle 11"/>
          <p:cNvSpPr/>
          <p:nvPr/>
        </p:nvSpPr>
        <p:spPr>
          <a:xfrm>
            <a:off x="777240" y="4850892"/>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850892"/>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914900"/>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helm repo add jetstack https://charts.jetstack.io &amp;&amp; helm repo update</a:t>
            </a:r>
          </a:p>
          <a:p>
            <a:pPr>
              <a:spcBef>
                <a:spcPts val="0"/>
              </a:spcBef>
              <a:spcAft>
                <a:spcPts val="0"/>
              </a:spcAft>
            </a:pPr>
            <a:r>
              <a:rPr sz="1050">
                <a:solidFill>
                  <a:srgbClr val="161B26"/>
                </a:solidFill>
                <a:latin typeface="Consolas"/>
              </a:rPr>
              <a:t>helm install cert-manager jetstack/cert-manager \</a:t>
            </a:r>
          </a:p>
          <a:p>
            <a:pPr>
              <a:spcBef>
                <a:spcPts val="0"/>
              </a:spcBef>
              <a:spcAft>
                <a:spcPts val="0"/>
              </a:spcAft>
            </a:pPr>
            <a:r>
              <a:rPr sz="1050">
                <a:solidFill>
                  <a:srgbClr val="161B26"/>
                </a:solidFill>
                <a:latin typeface="Consolas"/>
              </a:rPr>
              <a:t>  --namespace cert-manager --create-namespace \</a:t>
            </a:r>
          </a:p>
          <a:p>
            <a:pPr>
              <a:spcBef>
                <a:spcPts val="0"/>
              </a:spcBef>
              <a:spcAft>
                <a:spcPts val="0"/>
              </a:spcAft>
            </a:pPr>
            <a:r>
              <a:rPr sz="1050">
                <a:solidFill>
                  <a:srgbClr val="161B26"/>
                </a:solidFill>
                <a:latin typeface="Consolas"/>
              </a:rPr>
              <a:t>  --version v1.15.0 --set installCRDs=true</a:t>
            </a:r>
          </a:p>
          <a:p>
            <a:pPr>
              <a:spcBef>
                <a:spcPts val="0"/>
              </a:spcBef>
              <a:spcAft>
                <a:spcPts val="0"/>
              </a:spcAft>
            </a:pPr>
            <a:r>
              <a:rPr sz="1050">
                <a:solidFill>
                  <a:srgbClr val="161B26"/>
                </a:solidFill>
                <a:latin typeface="Consolas"/>
              </a:rPr>
              <a:t>kubectl get pods -n cert-manager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95</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CRDs and Operators: Schema Validation, cert-manager, Certificate Lifecycle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Create ClusterIssuer and request certificate</a:t>
            </a:r>
          </a:p>
        </p:txBody>
      </p:sp>
      <p:sp>
        <p:nvSpPr>
          <p:cNvPr id="8" name="Rounded Rectangle 7"/>
          <p:cNvSpPr/>
          <p:nvPr/>
        </p:nvSpPr>
        <p:spPr>
          <a:xfrm>
            <a:off x="777240" y="2075688"/>
            <a:ext cx="10652760" cy="183337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8333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74193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 &lt;&lt;'EOF'</a:t>
            </a:r>
          </a:p>
          <a:p>
            <a:pPr>
              <a:spcBef>
                <a:spcPts val="0"/>
              </a:spcBef>
              <a:spcAft>
                <a:spcPts val="0"/>
              </a:spcAft>
            </a:pPr>
            <a:r>
              <a:rPr sz="1050">
                <a:solidFill>
                  <a:srgbClr val="161B26"/>
                </a:solidFill>
                <a:latin typeface="Consolas"/>
              </a:rPr>
              <a:t>apiVersion: cert-manager.io/v1</a:t>
            </a:r>
          </a:p>
          <a:p>
            <a:pPr>
              <a:spcBef>
                <a:spcPts val="0"/>
              </a:spcBef>
              <a:spcAft>
                <a:spcPts val="0"/>
              </a:spcAft>
            </a:pPr>
            <a:r>
              <a:rPr sz="1050">
                <a:solidFill>
                  <a:srgbClr val="161B26"/>
                </a:solidFill>
                <a:latin typeface="Consolas"/>
              </a:rPr>
              <a:t>kind: ClusterIssuer</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selfsigned-issuer</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selfSigned: {}</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wait --for=condition=Ready clusterissuer/selfsigned-issuer</a:t>
            </a:r>
          </a:p>
        </p:txBody>
      </p:sp>
      <p:sp>
        <p:nvSpPr>
          <p:cNvPr id="11" name="TextBox 10"/>
          <p:cNvSpPr txBox="1"/>
          <p:nvPr/>
        </p:nvSpPr>
        <p:spPr>
          <a:xfrm>
            <a:off x="777240" y="40919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CRDs extend the Kubernetes API with custom resource types. OpenAPI schema validation rejects invalid resources at the API server before they reach etcd.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CRDs and Operators: Schema Validation, cert-manager, Certificate Lifecycle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appdatabases shows my-postgres. cert-manager pods are Running. ClusterIssuer is Ready. Invalid engine value (e.g. 'oracle') is rejected by the API server.</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97</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CRI/CNI/CSI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Extension Interfaces: CRI (crictl), CNI (/etc/cni/net.d), CSI (kubectl get csidrivers)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10</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CRI/CNI/CSI extension interfaces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Explore the three Kubernetes extension interfaces using native debugging tools: crictl for CRI, config file inspection for CNI, and kubectl for CSI drivers. Critical for troubleshooting pods stuck in ContainerCreating or volume mount failures.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Configure crictl.yaml, list containers/images with crictl, inspect CNI config, list CSI drivers, trace a pod network setup with veth pairs.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POD_ID=$(crictl pods · ls -la · kubectl get · » crictl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98</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Extension Interfaces: CRI (crictl), CNI (/etc/cni/net.d), CSI (kubectl get csidrivers)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Configure and use crictl</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&gt; /etc/crictl.yaml</a:t>
            </a:r>
          </a:p>
          <a:p>
            <a:pPr>
              <a:spcBef>
                <a:spcPts val="0"/>
              </a:spcBef>
              <a:spcAft>
                <a:spcPts val="0"/>
              </a:spcAft>
            </a:pPr>
            <a:r>
              <a:rPr sz="1050">
                <a:solidFill>
                  <a:srgbClr val="161B26"/>
                </a:solidFill>
                <a:latin typeface="Consolas"/>
              </a:rPr>
              <a:t>runtime-endpoint: unix:///run/containerd/containerd.sock</a:t>
            </a:r>
          </a:p>
          <a:p>
            <a:pPr>
              <a:spcBef>
                <a:spcPts val="0"/>
              </a:spcBef>
              <a:spcAft>
                <a:spcPts val="0"/>
              </a:spcAft>
            </a:pPr>
            <a:r>
              <a:rPr sz="1050">
                <a:solidFill>
                  <a:srgbClr val="161B26"/>
                </a:solidFill>
                <a:latin typeface="Consolas"/>
              </a:rPr>
              <a:t>image-endpoint: unix:///run/containerd/containerd.sock</a:t>
            </a:r>
          </a:p>
          <a:p>
            <a:pPr>
              <a:spcBef>
                <a:spcPts val="0"/>
              </a:spcBef>
              <a:spcAft>
                <a:spcPts val="0"/>
              </a:spcAft>
            </a:pPr>
            <a:r>
              <a:rPr sz="1050">
                <a:solidFill>
                  <a:srgbClr val="161B26"/>
                </a:solidFill>
                <a:latin typeface="Consolas"/>
              </a:rPr>
              <a:t>timeout: 10</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crictl info &amp;&amp; crictl pods &amp;&amp; crictl ps &amp;&amp; crictl images</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Get container logs with crictl</a:t>
            </a:r>
          </a:p>
        </p:txBody>
      </p:sp>
      <p:sp>
        <p:nvSpPr>
          <p:cNvPr id="12" name="Rounded Rectangle 11"/>
          <p:cNvSpPr/>
          <p:nvPr/>
        </p:nvSpPr>
        <p:spPr>
          <a:xfrm>
            <a:off x="777240" y="3913632"/>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POD_ID=$(crictl pods --name coredns -q | head -1)</a:t>
            </a:r>
          </a:p>
          <a:p>
            <a:pPr>
              <a:spcBef>
                <a:spcPts val="0"/>
              </a:spcBef>
              <a:spcAft>
                <a:spcPts val="0"/>
              </a:spcAft>
            </a:pPr>
            <a:r>
              <a:rPr sz="1050">
                <a:solidFill>
                  <a:srgbClr val="161B26"/>
                </a:solidFill>
                <a:latin typeface="Consolas"/>
              </a:rPr>
              <a:t>CONTAINER_ID=$(crictl ps --pod $POD_ID -q | head -1)</a:t>
            </a:r>
          </a:p>
          <a:p>
            <a:pPr>
              <a:spcBef>
                <a:spcPts val="0"/>
              </a:spcBef>
              <a:spcAft>
                <a:spcPts val="0"/>
              </a:spcAft>
            </a:pPr>
            <a:r>
              <a:rPr sz="1050">
                <a:solidFill>
                  <a:srgbClr val="161B26"/>
                </a:solidFill>
                <a:latin typeface="Consolas"/>
              </a:rPr>
              <a:t>crictl logs --tail=20 $CONTAINER_ID</a:t>
            </a:r>
          </a:p>
        </p:txBody>
      </p:sp>
      <p:sp>
        <p:nvSpPr>
          <p:cNvPr id="15" name="TextBox 14"/>
          <p:cNvSpPr txBox="1"/>
          <p:nvPr/>
        </p:nvSpPr>
        <p:spPr>
          <a:xfrm>
            <a:off x="777240" y="4805172"/>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Inspect CNI configuration</a:t>
            </a:r>
          </a:p>
        </p:txBody>
      </p:sp>
      <p:sp>
        <p:nvSpPr>
          <p:cNvPr id="16" name="Rounded Rectangle 15"/>
          <p:cNvSpPr/>
          <p:nvPr/>
        </p:nvSpPr>
        <p:spPr>
          <a:xfrm>
            <a:off x="777240" y="5189220"/>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20"/>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8"/>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-la /etc/cni/net.d/</a:t>
            </a:r>
          </a:p>
          <a:p>
            <a:pPr>
              <a:spcBef>
                <a:spcPts val="0"/>
              </a:spcBef>
              <a:spcAft>
                <a:spcPts val="0"/>
              </a:spcAft>
            </a:pPr>
            <a:r>
              <a:rPr sz="1050">
                <a:solidFill>
                  <a:srgbClr val="161B26"/>
                </a:solidFill>
                <a:latin typeface="Consolas"/>
              </a:rPr>
              <a:t>cat /etc/cni/net.d/10-calico.conflist</a:t>
            </a:r>
          </a:p>
          <a:p>
            <a:pPr>
              <a:spcBef>
                <a:spcPts val="0"/>
              </a:spcBef>
              <a:spcAft>
                <a:spcPts val="0"/>
              </a:spcAft>
            </a:pPr>
            <a:r>
              <a:rPr sz="1050">
                <a:solidFill>
                  <a:srgbClr val="161B26"/>
                </a:solidFill>
                <a:latin typeface="Consolas"/>
              </a:rPr>
              <a:t>ls /opt/cni/bin/</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99</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Extension Interfaces: CRI (crictl), CNI (/etc/cni/net.d), CSI (kubectl get csidrivers)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Inspect CSI drivers</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csidrivers</a:t>
            </a:r>
          </a:p>
          <a:p>
            <a:pPr>
              <a:spcBef>
                <a:spcPts val="0"/>
              </a:spcBef>
              <a:spcAft>
                <a:spcPts val="0"/>
              </a:spcAft>
            </a:pPr>
            <a:r>
              <a:rPr sz="1050">
                <a:solidFill>
                  <a:srgbClr val="161B26"/>
                </a:solidFill>
                <a:latin typeface="Consolas"/>
              </a:rPr>
              <a:t>kubectl get csinodes</a:t>
            </a:r>
          </a:p>
          <a:p>
            <a:pPr>
              <a:spcBef>
                <a:spcPts val="0"/>
              </a:spcBef>
              <a:spcAft>
                <a:spcPts val="0"/>
              </a:spcAft>
            </a:pPr>
            <a:r>
              <a:rPr sz="1050">
                <a:solidFill>
                  <a:srgbClr val="161B26"/>
                </a:solidFill>
                <a:latin typeface="Consolas"/>
              </a:rPr>
              <a:t>kubectl get volumeattachments</a:t>
            </a:r>
          </a:p>
        </p:txBody>
      </p:sp>
      <p:sp>
        <p:nvSpPr>
          <p:cNvPr id="11" name="TextBox 10"/>
          <p:cNvSpPr txBox="1"/>
          <p:nvPr/>
        </p:nvSpPr>
        <p:spPr>
          <a:xfrm>
            <a:off x="777240" y="2967228"/>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crictl logs works even when kubectl is unavailable (API server down). CNI config: lowest-numbered file in /etc/cni/net.d/ is used. Missing CNI binary in /opt/cni/bin/ causes ContainerCreating to hang indefinitely.</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Extension Interfaces: CRI (crictl), CNI (/etc/cni/net.d), CSI (kubectl get csidrivers)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crictl pods lists all running pods. CNI config file exists in /etc/cni/net.d/. kubectl get csidrivers returns available storage drivers.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101</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Deployments &amp; ReplicaSets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Desired-state workload management</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103</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DESIRED STATE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Deployments?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bare Pod is not rescheduled if it dies — you need a Deployment to maintain the desired count.</a:t>
            </a:r>
          </a:p>
          <a:p>
            <a:pPr>
              <a:spcBef>
                <a:spcPts val="0"/>
              </a:spcBef>
              <a:spcAft>
                <a:spcPts val="1000"/>
              </a:spcAft>
            </a:pPr>
            <a:r>
              <a:rPr sz="1900" b="1">
                <a:solidFill>
                  <a:srgbClr val="1F6FEB"/>
                </a:solidFill>
                <a:latin typeface="Arial"/>
              </a:rPr>
              <a:t>•  </a:t>
            </a:r>
            <a:r>
              <a:rPr sz="1900">
                <a:solidFill>
                  <a:srgbClr val="161B26"/>
                </a:solidFill>
                <a:latin typeface="Arial"/>
              </a:rPr>
              <a:t>A Deployment manages a ReplicaSet, which manages Pods — the three-tier ownership chain.</a:t>
            </a:r>
          </a:p>
          <a:p>
            <a:pPr>
              <a:spcBef>
                <a:spcPts val="0"/>
              </a:spcBef>
              <a:spcAft>
                <a:spcPts val="1000"/>
              </a:spcAft>
            </a:pPr>
            <a:r>
              <a:rPr sz="1900" b="1">
                <a:solidFill>
                  <a:srgbClr val="1F6FEB"/>
                </a:solidFill>
                <a:latin typeface="Arial"/>
              </a:rPr>
              <a:t>•  </a:t>
            </a:r>
            <a:r>
              <a:rPr sz="1900">
                <a:solidFill>
                  <a:srgbClr val="161B26"/>
                </a:solidFill>
                <a:latin typeface="Arial"/>
              </a:rPr>
              <a:t>kubectl scale changes replica count; kubectl set image triggers a rolling rollout.</a:t>
            </a:r>
          </a:p>
          <a:p>
            <a:pPr>
              <a:spcBef>
                <a:spcPts val="0"/>
              </a:spcBef>
              <a:spcAft>
                <a:spcPts val="1000"/>
              </a:spcAft>
            </a:pPr>
            <a:r>
              <a:rPr sz="1900" b="1">
                <a:solidFill>
                  <a:srgbClr val="1F6FEB"/>
                </a:solidFill>
                <a:latin typeface="Arial"/>
              </a:rPr>
              <a:t>•  </a:t>
            </a:r>
            <a:r>
              <a:rPr sz="1900">
                <a:solidFill>
                  <a:srgbClr val="161B26"/>
                </a:solidFill>
                <a:latin typeface="Arial"/>
              </a:rPr>
              <a:t>Old ReplicaSets are retained for rollback (revisionHistoryLimit default 10); rollout undo reverts in one command.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104</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OWNERSHIP CHAIN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 → ReplicaSet → Pod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Deployment</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You declare desired state</a:t>
            </a:r>
          </a:p>
          <a:p>
            <a:pPr>
              <a:spcBef>
                <a:spcPts val="0"/>
              </a:spcBef>
              <a:spcAft>
                <a:spcPts val="900"/>
              </a:spcAft>
            </a:pPr>
            <a:r>
              <a:rPr sz="1400" b="1">
                <a:solidFill>
                  <a:srgbClr val="1F6FEB"/>
                </a:solidFill>
                <a:latin typeface="Arial"/>
              </a:rPr>
              <a:t>•  </a:t>
            </a:r>
            <a:r>
              <a:rPr sz="1400">
                <a:solidFill>
                  <a:srgbClr val="161B26"/>
                </a:solidFill>
                <a:latin typeface="Arial"/>
              </a:rPr>
              <a:t>replicas + Pod template</a:t>
            </a:r>
          </a:p>
          <a:p>
            <a:pPr>
              <a:spcBef>
                <a:spcPts val="0"/>
              </a:spcBef>
              <a:spcAft>
                <a:spcPts val="900"/>
              </a:spcAft>
            </a:pPr>
            <a:r>
              <a:rPr sz="1400" b="1">
                <a:solidFill>
                  <a:srgbClr val="1F6FEB"/>
                </a:solidFill>
                <a:latin typeface="Arial"/>
              </a:rPr>
              <a:t>•  </a:t>
            </a:r>
            <a:r>
              <a:rPr sz="1400">
                <a:solidFill>
                  <a:srgbClr val="161B26"/>
                </a:solidFill>
                <a:latin typeface="Arial"/>
              </a:rPr>
              <a:t>Owns one active ReplicaSet</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ReplicaSet</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Keeps N Pods running</a:t>
            </a:r>
          </a:p>
          <a:p>
            <a:pPr>
              <a:spcBef>
                <a:spcPts val="0"/>
              </a:spcBef>
              <a:spcAft>
                <a:spcPts val="900"/>
              </a:spcAft>
            </a:pPr>
            <a:r>
              <a:rPr sz="1400" b="1">
                <a:solidFill>
                  <a:srgbClr val="10B981"/>
                </a:solidFill>
                <a:latin typeface="Arial"/>
              </a:rPr>
              <a:t>•  </a:t>
            </a:r>
            <a:r>
              <a:rPr sz="1400">
                <a:solidFill>
                  <a:srgbClr val="161B26"/>
                </a:solidFill>
                <a:latin typeface="Arial"/>
              </a:rPr>
              <a:t>Hash-suffixed name</a:t>
            </a:r>
          </a:p>
          <a:p>
            <a:pPr>
              <a:spcBef>
                <a:spcPts val="0"/>
              </a:spcBef>
              <a:spcAft>
                <a:spcPts val="900"/>
              </a:spcAft>
            </a:pPr>
            <a:r>
              <a:rPr sz="1400" b="1">
                <a:solidFill>
                  <a:srgbClr val="10B981"/>
                </a:solidFill>
                <a:latin typeface="Arial"/>
              </a:rPr>
              <a:t>•  </a:t>
            </a:r>
            <a:r>
              <a:rPr sz="1400">
                <a:solidFill>
                  <a:srgbClr val="161B26"/>
                </a:solidFill>
                <a:latin typeface="Arial"/>
              </a:rPr>
              <a:t>Self-heals deleted Pods</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Pod</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The running workload</a:t>
            </a:r>
          </a:p>
          <a:p>
            <a:pPr>
              <a:spcBef>
                <a:spcPts val="0"/>
              </a:spcBef>
              <a:spcAft>
                <a:spcPts val="900"/>
              </a:spcAft>
            </a:pPr>
            <a:r>
              <a:rPr sz="1400" b="1">
                <a:solidFill>
                  <a:srgbClr val="7C3AED"/>
                </a:solidFill>
                <a:latin typeface="Arial"/>
              </a:rPr>
              <a:t>•  </a:t>
            </a:r>
            <a:r>
              <a:rPr sz="1400">
                <a:solidFill>
                  <a:srgbClr val="161B26"/>
                </a:solidFill>
                <a:latin typeface="Arial"/>
              </a:rPr>
              <a:t>Recreated if it dies</a:t>
            </a:r>
          </a:p>
          <a:p>
            <a:pPr>
              <a:spcBef>
                <a:spcPts val="0"/>
              </a:spcBef>
              <a:spcAft>
                <a:spcPts val="900"/>
              </a:spcAft>
            </a:pPr>
            <a:r>
              <a:rPr sz="1400" b="1">
                <a:solidFill>
                  <a:srgbClr val="7C3AED"/>
                </a:solidFill>
                <a:latin typeface="Arial"/>
              </a:rPr>
              <a:t>•  </a:t>
            </a:r>
            <a:r>
              <a:rPr sz="1400">
                <a:solidFill>
                  <a:srgbClr val="161B26"/>
                </a:solidFill>
                <a:latin typeface="Arial"/>
              </a:rPr>
              <a:t>Never edited directly</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105</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2  ·  DEPLOYMENTS AND ROLLOUTS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 — Old RS to New RS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4663440" cy="21945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46634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304288"/>
            <a:ext cx="4443984" cy="20848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ReplicaSet v1 (old)</a:t>
            </a:r>
          </a:p>
          <a:p>
            <a:pPr algn="ctr">
              <a:spcBef>
                <a:spcPts val="0"/>
              </a:spcBef>
              <a:spcAft>
                <a:spcPts val="300"/>
              </a:spcAft>
            </a:pPr>
            <a:r>
              <a:rPr sz="1100" b="0">
                <a:solidFill>
                  <a:srgbClr val="5B6372"/>
                </a:solidFill>
                <a:latin typeface="Arial"/>
              </a:rPr>
              <a:t>nginx:1.24</a:t>
            </a:r>
          </a:p>
          <a:p>
            <a:pPr algn="ctr">
              <a:spcBef>
                <a:spcPts val="0"/>
              </a:spcBef>
              <a:spcAft>
                <a:spcPts val="300"/>
              </a:spcAft>
            </a:pPr>
            <a:r>
              <a:rPr sz="1100" b="0">
                <a:solidFill>
                  <a:srgbClr val="5B6372"/>
                </a:solidFill>
                <a:latin typeface="Arial"/>
              </a:rPr>
              <a:t>scales 3 to 0 gradually</a:t>
            </a:r>
          </a:p>
          <a:p>
            <a:pPr algn="ctr">
              <a:spcBef>
                <a:spcPts val="0"/>
              </a:spcBef>
              <a:spcAft>
                <a:spcPts val="300"/>
              </a:spcAft>
            </a:pPr>
            <a:r>
              <a:rPr sz="1100" b="0">
                <a:solidFill>
                  <a:srgbClr val="5B6372"/>
                </a:solidFill>
                <a:latin typeface="Arial"/>
              </a:rPr>
              <a:t>old pods terminate</a:t>
            </a:r>
          </a:p>
        </p:txBody>
      </p:sp>
      <p:sp>
        <p:nvSpPr>
          <p:cNvPr id="10" name="Rounded Rectangle 9"/>
          <p:cNvSpPr/>
          <p:nvPr/>
        </p:nvSpPr>
        <p:spPr>
          <a:xfrm>
            <a:off x="6766560" y="2194560"/>
            <a:ext cx="4663440" cy="21945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0" y="2194560"/>
            <a:ext cx="46634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76288" y="2304288"/>
            <a:ext cx="4443984" cy="20848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ReplicaSet v2 (new)</a:t>
            </a:r>
          </a:p>
          <a:p>
            <a:pPr algn="ctr">
              <a:spcBef>
                <a:spcPts val="0"/>
              </a:spcBef>
              <a:spcAft>
                <a:spcPts val="300"/>
              </a:spcAft>
            </a:pPr>
            <a:r>
              <a:rPr sz="1100" b="0">
                <a:solidFill>
                  <a:srgbClr val="5B6372"/>
                </a:solidFill>
                <a:latin typeface="Arial"/>
              </a:rPr>
              <a:t>nginx:1.25</a:t>
            </a:r>
          </a:p>
          <a:p>
            <a:pPr algn="ctr">
              <a:spcBef>
                <a:spcPts val="0"/>
              </a:spcBef>
              <a:spcAft>
                <a:spcPts val="300"/>
              </a:spcAft>
            </a:pPr>
            <a:r>
              <a:rPr sz="1100" b="0">
                <a:solidFill>
                  <a:srgbClr val="5B6372"/>
                </a:solidFill>
                <a:latin typeface="Arial"/>
              </a:rPr>
              <a:t>scales 0 to 3 gradually</a:t>
            </a:r>
          </a:p>
          <a:p>
            <a:pPr algn="ctr">
              <a:spcBef>
                <a:spcPts val="0"/>
              </a:spcBef>
              <a:spcAft>
                <a:spcPts val="300"/>
              </a:spcAft>
            </a:pPr>
            <a:r>
              <a:rPr sz="1100" b="0">
                <a:solidFill>
                  <a:srgbClr val="5B6372"/>
                </a:solidFill>
                <a:latin typeface="Arial"/>
              </a:rPr>
              <a:t>takes over traffic</a:t>
            </a:r>
          </a:p>
        </p:txBody>
      </p:sp>
      <p:sp>
        <p:nvSpPr>
          <p:cNvPr id="13" name="Right Arrow 12"/>
          <p:cNvSpPr/>
          <p:nvPr/>
        </p:nvSpPr>
        <p:spPr>
          <a:xfrm>
            <a:off x="5577840" y="3108960"/>
            <a:ext cx="1097280" cy="365760"/>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0" y="2103120"/>
            <a:ext cx="1645920" cy="292608"/>
          </a:xfrm>
          <a:prstGeom prst="rect">
            <a:avLst/>
          </a:prstGeom>
          <a:noFill/>
        </p:spPr>
        <p:txBody>
          <a:bodyPr wrap="square" anchor="ctr" lIns="0" rIns="0" tIns="0" bIns="0">
            <a:spAutoFit/>
          </a:bodyPr>
          <a:lstStyle/>
          <a:p>
            <a:pPr algn="ctr">
              <a:spcBef>
                <a:spcPts val="0"/>
              </a:spcBef>
              <a:spcAft>
                <a:spcPts val="400"/>
              </a:spcAft>
            </a:pPr>
            <a:r>
              <a:rPr sz="1100" b="1">
                <a:solidFill>
                  <a:srgbClr val="10B981"/>
                </a:solidFill>
                <a:latin typeface="Arial"/>
              </a:rPr>
              <a:t>kubectl set image</a:t>
            </a:r>
          </a:p>
        </p:txBody>
      </p:sp>
      <p:sp>
        <p:nvSpPr>
          <p:cNvPr id="15" name="Rounded Rectangle 14"/>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Old ReplicaSet scales down as the new one scales up — </a:t>
            </a:r>
            <a:r>
              <a:rPr sz="1300" b="1">
                <a:solidFill>
                  <a:srgbClr val="161B26"/>
                </a:solidFill>
                <a:latin typeface="Arial"/>
              </a:rPr>
              <a:t>maxSurge</a:t>
            </a:r>
            <a:r>
              <a:rPr sz="1300" b="0">
                <a:solidFill>
                  <a:srgbClr val="5B6372"/>
                </a:solidFill>
                <a:latin typeface="Arial"/>
              </a:rPr>
              <a:t> / </a:t>
            </a:r>
            <a:r>
              <a:rPr sz="1300" b="1">
                <a:solidFill>
                  <a:srgbClr val="161B26"/>
                </a:solidFill>
                <a:latin typeface="Arial"/>
              </a:rPr>
              <a:t>maxUnavailable</a:t>
            </a:r>
            <a:r>
              <a:rPr sz="1300" b="0">
                <a:solidFill>
                  <a:srgbClr val="5B6372"/>
                </a:solidFill>
                <a:latin typeface="Arial"/>
              </a:rPr>
              <a:t> control speed. rollout undo reverts in one step.</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106</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DESIRED STATE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 → ReplicaSet → Pod Hierarchy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b_s004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107</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DESIRED STATE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 and Rollback — Version Transition Over Time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b_s010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108</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DEPLOYMENTS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and Rollouts: Rolling Update, Bad Image, rollout undo, pause/resume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Deployments and rollouts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a Deployment, perform a rolling update, deliberately introduce a broken image to trigger a failed rollout, roll back using kubectl rollout undo, and use pause/resume to batch multiple changes. Mastering kubectl rollout subcommands is essential for the 15% Workloads &amp; Scheduling domain.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4-replica nginx Deployment, update to new image, break it with invalid tag, rollback, roll back to specific revision, pause/resume.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set · kubectl rollout · » Rolling</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109</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and Rollouts: Rolling Update, Bad Image, rollout undo, pause/resume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and expose Deployment</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webapp --image=nginx:1.25 --replicas=4 --port=80</a:t>
            </a:r>
          </a:p>
          <a:p>
            <a:pPr>
              <a:spcBef>
                <a:spcPts val="0"/>
              </a:spcBef>
              <a:spcAft>
                <a:spcPts val="0"/>
              </a:spcAft>
            </a:pPr>
            <a:r>
              <a:rPr sz="1050">
                <a:solidFill>
                  <a:srgbClr val="161B26"/>
                </a:solidFill>
                <a:latin typeface="Consolas"/>
              </a:rPr>
              <a:t>kubectl expose deployment webapp --port=80</a:t>
            </a:r>
          </a:p>
          <a:p>
            <a:pPr>
              <a:spcBef>
                <a:spcPts val="0"/>
              </a:spcBef>
              <a:spcAft>
                <a:spcPts val="0"/>
              </a:spcAft>
            </a:pPr>
            <a:r>
              <a:rPr sz="1050">
                <a:solidFill>
                  <a:srgbClr val="161B26"/>
                </a:solidFill>
                <a:latin typeface="Consolas"/>
              </a:rPr>
              <a:t>kubectl rollout history deployment webapp</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Perform a rolling update</a:t>
            </a:r>
          </a:p>
        </p:txBody>
      </p:sp>
      <p:sp>
        <p:nvSpPr>
          <p:cNvPr id="12" name="Rounded Rectangle 11"/>
          <p:cNvSpPr/>
          <p:nvPr/>
        </p:nvSpPr>
        <p:spPr>
          <a:xfrm>
            <a:off x="777240" y="335127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set image deployment/webapp webapp=nginx:1.27</a:t>
            </a:r>
          </a:p>
          <a:p>
            <a:pPr>
              <a:spcBef>
                <a:spcPts val="0"/>
              </a:spcBef>
              <a:spcAft>
                <a:spcPts val="0"/>
              </a:spcAft>
            </a:pPr>
            <a:r>
              <a:rPr sz="1050">
                <a:solidFill>
                  <a:srgbClr val="161B26"/>
                </a:solidFill>
                <a:latin typeface="Consolas"/>
              </a:rPr>
              <a:t>kubectl annotate deployment webapp kubernetes.io/change-cause='upgrade to nginx:1.27'</a:t>
            </a:r>
          </a:p>
          <a:p>
            <a:pPr>
              <a:spcBef>
                <a:spcPts val="0"/>
              </a:spcBef>
              <a:spcAft>
                <a:spcPts val="0"/>
              </a:spcAft>
            </a:pPr>
            <a:r>
              <a:rPr sz="1050">
                <a:solidFill>
                  <a:srgbClr val="161B26"/>
                </a:solidFill>
                <a:latin typeface="Consolas"/>
              </a:rPr>
              <a:t>kubectl rollout status deployment webapp</a:t>
            </a:r>
          </a:p>
        </p:txBody>
      </p:sp>
      <p:sp>
        <p:nvSpPr>
          <p:cNvPr id="15" name="TextBox 14"/>
          <p:cNvSpPr txBox="1"/>
          <p:nvPr/>
        </p:nvSpPr>
        <p:spPr>
          <a:xfrm>
            <a:off x="777240" y="4242816"/>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Simulate a broken rollout</a:t>
            </a:r>
          </a:p>
        </p:txBody>
      </p:sp>
      <p:sp>
        <p:nvSpPr>
          <p:cNvPr id="16" name="Rounded Rectangle 15"/>
          <p:cNvSpPr/>
          <p:nvPr/>
        </p:nvSpPr>
        <p:spPr>
          <a:xfrm>
            <a:off x="777240" y="4626864"/>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4"/>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2"/>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set image deployment/webapp webapp=nginx:does-not-exist-999</a:t>
            </a:r>
          </a:p>
          <a:p>
            <a:pPr>
              <a:spcBef>
                <a:spcPts val="0"/>
              </a:spcBef>
              <a:spcAft>
                <a:spcPts val="0"/>
              </a:spcAft>
            </a:pPr>
            <a:r>
              <a:rPr sz="1050">
                <a:solidFill>
                  <a:srgbClr val="161B26"/>
                </a:solidFill>
                <a:latin typeface="Consolas"/>
              </a:rPr>
              <a:t>kubectl get pods -l app=webapp</a:t>
            </a:r>
          </a:p>
          <a:p>
            <a:pPr>
              <a:spcBef>
                <a:spcPts val="0"/>
              </a:spcBef>
              <a:spcAft>
                <a:spcPts val="0"/>
              </a:spcAft>
            </a:pPr>
            <a:r>
              <a:rPr sz="1050">
                <a:solidFill>
                  <a:srgbClr val="161B26"/>
                </a:solidFill>
                <a:latin typeface="Consolas"/>
              </a:rPr>
              <a:t># Old pods Running; new pod ImagePullBackOff</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and Rollouts: Rolling Update, Bad Image, rollout undo, pause/resume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Roll back</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rollout undo deployment webapp</a:t>
            </a:r>
          </a:p>
          <a:p>
            <a:pPr>
              <a:spcBef>
                <a:spcPts val="0"/>
              </a:spcBef>
              <a:spcAft>
                <a:spcPts val="0"/>
              </a:spcAft>
            </a:pPr>
            <a:r>
              <a:rPr sz="1050">
                <a:solidFill>
                  <a:srgbClr val="161B26"/>
                </a:solidFill>
                <a:latin typeface="Consolas"/>
              </a:rPr>
              <a:t>kubectl rollout status deployment webapp</a:t>
            </a:r>
          </a:p>
          <a:p>
            <a:pPr>
              <a:spcBef>
                <a:spcPts val="0"/>
              </a:spcBef>
              <a:spcAft>
                <a:spcPts val="0"/>
              </a:spcAft>
            </a:pPr>
            <a:r>
              <a:rPr sz="1050">
                <a:solidFill>
                  <a:srgbClr val="161B26"/>
                </a:solidFill>
                <a:latin typeface="Consolas"/>
              </a:rPr>
              <a:t>kubectl rollout undo deployment webapp --to-revision=1</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Pause and resume a rollout</a:t>
            </a:r>
          </a:p>
        </p:txBody>
      </p:sp>
      <p:sp>
        <p:nvSpPr>
          <p:cNvPr id="12" name="Rounded Rectangle 11"/>
          <p:cNvSpPr/>
          <p:nvPr/>
        </p:nvSpPr>
        <p:spPr>
          <a:xfrm>
            <a:off x="777240" y="3351276"/>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set image deployment/webapp webapp=nginx:1.27</a:t>
            </a:r>
          </a:p>
          <a:p>
            <a:pPr>
              <a:spcBef>
                <a:spcPts val="0"/>
              </a:spcBef>
              <a:spcAft>
                <a:spcPts val="0"/>
              </a:spcAft>
            </a:pPr>
            <a:r>
              <a:rPr sz="1050">
                <a:solidFill>
                  <a:srgbClr val="161B26"/>
                </a:solidFill>
                <a:latin typeface="Consolas"/>
              </a:rPr>
              <a:t>kubectl rollout pause deployment webapp</a:t>
            </a:r>
          </a:p>
          <a:p>
            <a:pPr>
              <a:spcBef>
                <a:spcPts val="0"/>
              </a:spcBef>
              <a:spcAft>
                <a:spcPts val="0"/>
              </a:spcAft>
            </a:pPr>
            <a:r>
              <a:rPr sz="1050">
                <a:solidFill>
                  <a:srgbClr val="161B26"/>
                </a:solidFill>
                <a:latin typeface="Consolas"/>
              </a:rPr>
              <a:t>kubectl set resources deployment webapp --containers=webapp --requests=cpu=100m</a:t>
            </a:r>
          </a:p>
          <a:p>
            <a:pPr>
              <a:spcBef>
                <a:spcPts val="0"/>
              </a:spcBef>
              <a:spcAft>
                <a:spcPts val="0"/>
              </a:spcAft>
            </a:pPr>
            <a:r>
              <a:rPr sz="1050">
                <a:solidFill>
                  <a:srgbClr val="161B26"/>
                </a:solidFill>
                <a:latin typeface="Consolas"/>
              </a:rPr>
              <a:t>kubectl rollout resume deployment webapp</a:t>
            </a:r>
          </a:p>
          <a:p>
            <a:pPr>
              <a:spcBef>
                <a:spcPts val="0"/>
              </a:spcBef>
              <a:spcAft>
                <a:spcPts val="0"/>
              </a:spcAft>
            </a:pPr>
            <a:r>
              <a:rPr sz="1050">
                <a:solidFill>
                  <a:srgbClr val="161B26"/>
                </a:solidFill>
                <a:latin typeface="Consolas"/>
              </a:rPr>
              <a:t>kubectl rollout status deployment webapp</a:t>
            </a:r>
          </a:p>
        </p:txBody>
      </p:sp>
      <p:sp>
        <p:nvSpPr>
          <p:cNvPr id="15" name="TextBox 14"/>
          <p:cNvSpPr txBox="1"/>
          <p:nvPr/>
        </p:nvSpPr>
        <p:spPr>
          <a:xfrm>
            <a:off x="777240" y="4617719"/>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Rolling updates are safe: broken image stalls rollout without taking down healthy pods. kubectl rollout undo creates a NEW revision -- the counter always grows.</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111</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and Rollouts: Rolling Update, Bad Image, rollout undo, pause/resume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rollout history shows multiple revisions. After rollback all pods run previous image. Service continues responding during the bad image period.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112</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ConfigMaps &amp; Secrets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Decouple configuration from container images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114</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CONFIGURATION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 Non-secret Config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ConfigMap holds non-sensitive key/value data; create with --from-literal, --from-file or --from-env-file.</a:t>
            </a:r>
          </a:p>
          <a:p>
            <a:pPr>
              <a:spcBef>
                <a:spcPts val="0"/>
              </a:spcBef>
              <a:spcAft>
                <a:spcPts val="1000"/>
              </a:spcAft>
            </a:pPr>
            <a:r>
              <a:rPr sz="1900" b="1">
                <a:solidFill>
                  <a:srgbClr val="1F6FEB"/>
                </a:solidFill>
                <a:latin typeface="Arial"/>
              </a:rPr>
              <a:t>•  </a:t>
            </a:r>
            <a:r>
              <a:rPr sz="1900">
                <a:solidFill>
                  <a:srgbClr val="161B26"/>
                </a:solidFill>
                <a:latin typeface="Arial"/>
              </a:rPr>
              <a:t>Inject one key with configMapKeyRef, all keys with envFrom: configMapRef, or mount as a file volume.</a:t>
            </a:r>
          </a:p>
          <a:p>
            <a:pPr>
              <a:spcBef>
                <a:spcPts val="0"/>
              </a:spcBef>
              <a:spcAft>
                <a:spcPts val="1000"/>
              </a:spcAft>
            </a:pPr>
            <a:r>
              <a:rPr sz="1900" b="1">
                <a:solidFill>
                  <a:srgbClr val="1F6FEB"/>
                </a:solidFill>
                <a:latin typeface="Arial"/>
              </a:rPr>
              <a:t>•  </a:t>
            </a:r>
            <a:r>
              <a:rPr sz="1900">
                <a:solidFill>
                  <a:srgbClr val="161B26"/>
                </a:solidFill>
                <a:latin typeface="Arial"/>
              </a:rPr>
              <a:t>Volume-mounted ConfigMaps update live (~60 s); env-var injections are fixed at Pod startup.</a:t>
            </a:r>
          </a:p>
          <a:p>
            <a:pPr>
              <a:spcBef>
                <a:spcPts val="0"/>
              </a:spcBef>
              <a:spcAft>
                <a:spcPts val="1000"/>
              </a:spcAft>
            </a:pPr>
            <a:r>
              <a:rPr sz="1900" b="1">
                <a:solidFill>
                  <a:srgbClr val="1F6FEB"/>
                </a:solidFill>
                <a:latin typeface="Arial"/>
              </a:rPr>
              <a:t>•  </a:t>
            </a:r>
            <a:r>
              <a:rPr sz="1900">
                <a:solidFill>
                  <a:srgbClr val="161B26"/>
                </a:solidFill>
                <a:latin typeface="Arial"/>
              </a:rPr>
              <a:t>Keep configuration out of the image so the same image runs unchanged in every environment.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115</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SECRETS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Secrets — Sensitive Data</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Secrets work like ConfigMaps but values are base64-encoded and access is gated by RBAC.</a:t>
            </a:r>
          </a:p>
          <a:p>
            <a:pPr>
              <a:spcBef>
                <a:spcPts val="0"/>
              </a:spcBef>
              <a:spcAft>
                <a:spcPts val="1000"/>
              </a:spcAft>
            </a:pPr>
            <a:r>
              <a:rPr sz="1900" b="1">
                <a:solidFill>
                  <a:srgbClr val="1F6FEB"/>
                </a:solidFill>
                <a:latin typeface="Arial"/>
              </a:rPr>
              <a:t>•  </a:t>
            </a:r>
            <a:r>
              <a:rPr sz="1900">
                <a:solidFill>
                  <a:srgbClr val="161B26"/>
                </a:solidFill>
                <a:latin typeface="Arial"/>
              </a:rPr>
              <a:t>Types: generic (Opaque), kubernetes.io/tls and kubernetes.io/dockerconfigjson.</a:t>
            </a:r>
          </a:p>
          <a:p>
            <a:pPr>
              <a:spcBef>
                <a:spcPts val="0"/>
              </a:spcBef>
              <a:spcAft>
                <a:spcPts val="1000"/>
              </a:spcAft>
            </a:pPr>
            <a:r>
              <a:rPr sz="1900" b="1">
                <a:solidFill>
                  <a:srgbClr val="1F6FEB"/>
                </a:solidFill>
                <a:latin typeface="Arial"/>
              </a:rPr>
              <a:t>•  </a:t>
            </a:r>
            <a:r>
              <a:rPr sz="1900">
                <a:solidFill>
                  <a:srgbClr val="161B26"/>
                </a:solidFill>
                <a:latin typeface="Arial"/>
              </a:rPr>
              <a:t>Inject with envFrom: secretRef (all keys) or secretKeyRef (one key); mount with defaultMode: 0400.</a:t>
            </a:r>
          </a:p>
          <a:p>
            <a:pPr>
              <a:spcBef>
                <a:spcPts val="0"/>
              </a:spcBef>
              <a:spcAft>
                <a:spcPts val="1000"/>
              </a:spcAft>
            </a:pPr>
            <a:r>
              <a:rPr sz="1900" b="1">
                <a:solidFill>
                  <a:srgbClr val="1F6FEB"/>
                </a:solidFill>
                <a:latin typeface="Arial"/>
              </a:rPr>
              <a:t>•  </a:t>
            </a:r>
            <a:r>
              <a:rPr sz="1900">
                <a:solidFill>
                  <a:srgbClr val="161B26"/>
                </a:solidFill>
                <a:latin typeface="Arial"/>
              </a:rPr>
              <a:t>Base64 is encoding, not encryption — enable encryption at rest and restrict access with RBAC.</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116</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CONFIGURATION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Consuming Configuration Data — ConfigMap &amp; Secret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2_s024_i1.jpg"/>
          <p:cNvPicPr>
            <a:picLocks noChangeAspect="1"/>
          </p:cNvPicPr>
          <p:nvPr/>
        </p:nvPicPr>
        <p:blipFill>
          <a:blip r:embed="rId2"/>
          <a:stretch>
            <a:fillRect/>
          </a:stretch>
        </p:blipFill>
        <p:spPr>
          <a:xfrm>
            <a:off x="2750785" y="1627632"/>
            <a:ext cx="6705669"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117</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CONFIGMAPS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3 Creation Methods, envFrom, Volume Mount, Live Update Semantics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ConfigMaps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ConfigMaps using three methods (literal, file, YAML manifest), inject via envFrom and env.valueFrom, mount as volumes with custom filenames and permissions, and demonstrate the live-update behavior difference. Understanding live vs static updates is a tested CKA concept.</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app-config from literals, file-config from files, manifest-config from YAML. Test envFrom with prefix, selective keys, volume mount, subPath, and live update.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envFrom: · volumeMounts: · kubectl patch · » CRITICAL: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118</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3 Creation Methods, envFrom, Volume Mount, Live Update Semantics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ConfigMap three ways</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configmap app-config \</a:t>
            </a:r>
          </a:p>
          <a:p>
            <a:pPr>
              <a:spcBef>
                <a:spcPts val="0"/>
              </a:spcBef>
              <a:spcAft>
                <a:spcPts val="0"/>
              </a:spcAft>
            </a:pPr>
            <a:r>
              <a:rPr sz="1050">
                <a:solidFill>
                  <a:srgbClr val="161B26"/>
                </a:solidFill>
                <a:latin typeface="Consolas"/>
              </a:rPr>
              <a:t>  --from-literal=APP_ENV=production \</a:t>
            </a:r>
          </a:p>
          <a:p>
            <a:pPr>
              <a:spcBef>
                <a:spcPts val="0"/>
              </a:spcBef>
              <a:spcAft>
                <a:spcPts val="0"/>
              </a:spcAft>
            </a:pPr>
            <a:r>
              <a:rPr sz="1050">
                <a:solidFill>
                  <a:srgbClr val="161B26"/>
                </a:solidFill>
                <a:latin typeface="Consolas"/>
              </a:rPr>
              <a:t>  --from-literal=LOG_LEVEL=info</a:t>
            </a:r>
          </a:p>
          <a:p>
            <a:pPr>
              <a:spcBef>
                <a:spcPts val="0"/>
              </a:spcBef>
              <a:spcAft>
                <a:spcPts val="0"/>
              </a:spcAft>
            </a:pPr>
            <a:r>
              <a:rPr sz="1050">
                <a:solidFill>
                  <a:srgbClr val="161B26"/>
                </a:solidFill>
                <a:latin typeface="Consolas"/>
              </a:rPr>
              <a:t>kubectl create configmap file-config --from-file=/tmp/nginx.conf</a:t>
            </a:r>
          </a:p>
          <a:p>
            <a:pPr>
              <a:spcBef>
                <a:spcPts val="0"/>
              </a:spcBef>
              <a:spcAft>
                <a:spcPts val="0"/>
              </a:spcAft>
            </a:pPr>
            <a:r>
              <a:rPr sz="1050">
                <a:solidFill>
                  <a:srgbClr val="161B26"/>
                </a:solidFill>
                <a:latin typeface="Consolas"/>
              </a:rPr>
              <a:t>kubectl get configmap app-config -o yaml</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Inject with envFrom</a:t>
            </a:r>
          </a:p>
        </p:txBody>
      </p:sp>
      <p:sp>
        <p:nvSpPr>
          <p:cNvPr id="12" name="Rounded Rectangle 11"/>
          <p:cNvSpPr/>
          <p:nvPr/>
        </p:nvSpPr>
        <p:spPr>
          <a:xfrm>
            <a:off x="777240" y="3726179"/>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Pod spec:</a:t>
            </a:r>
          </a:p>
          <a:p>
            <a:pPr>
              <a:spcBef>
                <a:spcPts val="0"/>
              </a:spcBef>
              <a:spcAft>
                <a:spcPts val="0"/>
              </a:spcAft>
            </a:pPr>
            <a:r>
              <a:rPr sz="1050">
                <a:solidFill>
                  <a:srgbClr val="161B26"/>
                </a:solidFill>
                <a:latin typeface="Consolas"/>
              </a:rPr>
              <a:t>envFrom:</a:t>
            </a:r>
          </a:p>
          <a:p>
            <a:pPr>
              <a:spcBef>
                <a:spcPts val="0"/>
              </a:spcBef>
              <a:spcAft>
                <a:spcPts val="0"/>
              </a:spcAft>
            </a:pPr>
            <a:r>
              <a:rPr sz="1050">
                <a:solidFill>
                  <a:srgbClr val="161B26"/>
                </a:solidFill>
                <a:latin typeface="Consolas"/>
              </a:rPr>
              <a:t>- configMapRef:</a:t>
            </a:r>
          </a:p>
          <a:p>
            <a:pPr>
              <a:spcBef>
                <a:spcPts val="0"/>
              </a:spcBef>
              <a:spcAft>
                <a:spcPts val="0"/>
              </a:spcAft>
            </a:pPr>
            <a:r>
              <a:rPr sz="1050">
                <a:solidFill>
                  <a:srgbClr val="161B26"/>
                </a:solidFill>
                <a:latin typeface="Consolas"/>
              </a:rPr>
              <a:t>    name: app-config</a:t>
            </a:r>
          </a:p>
          <a:p>
            <a:pPr>
              <a:spcBef>
                <a:spcPts val="0"/>
              </a:spcBef>
              <a:spcAft>
                <a:spcPts val="0"/>
              </a:spcAft>
            </a:pPr>
            <a:r>
              <a:rPr sz="1050">
                <a:solidFill>
                  <a:srgbClr val="161B26"/>
                </a:solidFill>
                <a:latin typeface="Consolas"/>
              </a:rPr>
              <a:t>  prefix: 'CONFIG_'</a:t>
            </a:r>
          </a:p>
          <a:p>
            <a:pPr>
              <a:spcBef>
                <a:spcPts val="0"/>
              </a:spcBef>
              <a:spcAft>
                <a:spcPts val="0"/>
              </a:spcAft>
            </a:pPr>
            <a:r>
              <a:rPr sz="1050">
                <a:solidFill>
                  <a:srgbClr val="161B26"/>
                </a:solidFill>
                <a:latin typeface="Consolas"/>
              </a:rPr>
              <a:t>kubectl exec envfrom-pod -- env | grep CONFIG_</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119</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3 Creation Methods, envFrom, Volume Mount, Live Update Semantics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Mount as volume</a:t>
            </a:r>
          </a:p>
        </p:txBody>
      </p:sp>
      <p:sp>
        <p:nvSpPr>
          <p:cNvPr id="8" name="Rounded Rectangle 7"/>
          <p:cNvSpPr/>
          <p:nvPr/>
        </p:nvSpPr>
        <p:spPr>
          <a:xfrm>
            <a:off x="777240" y="2075688"/>
            <a:ext cx="10652760" cy="20208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020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9293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Pod spec:</a:t>
            </a:r>
          </a:p>
          <a:p>
            <a:pPr>
              <a:spcBef>
                <a:spcPts val="0"/>
              </a:spcBef>
              <a:spcAft>
                <a:spcPts val="0"/>
              </a:spcAft>
            </a:pPr>
            <a:r>
              <a:rPr sz="1050">
                <a:solidFill>
                  <a:srgbClr val="161B26"/>
                </a:solidFill>
                <a:latin typeface="Consolas"/>
              </a:rPr>
              <a:t>volumeMounts:</a:t>
            </a:r>
          </a:p>
          <a:p>
            <a:pPr>
              <a:spcBef>
                <a:spcPts val="0"/>
              </a:spcBef>
              <a:spcAft>
                <a:spcPts val="0"/>
              </a:spcAft>
            </a:pPr>
            <a:r>
              <a:rPr sz="1050">
                <a:solidFill>
                  <a:srgbClr val="161B26"/>
                </a:solidFill>
                <a:latin typeface="Consolas"/>
              </a:rPr>
              <a:t>- name: config-vol</a:t>
            </a:r>
          </a:p>
          <a:p>
            <a:pPr>
              <a:spcBef>
                <a:spcPts val="0"/>
              </a:spcBef>
              <a:spcAft>
                <a:spcPts val="0"/>
              </a:spcAft>
            </a:pPr>
            <a:r>
              <a:rPr sz="1050">
                <a:solidFill>
                  <a:srgbClr val="161B26"/>
                </a:solidFill>
                <a:latin typeface="Consolas"/>
              </a:rPr>
              <a:t>  mountPath: /config</a:t>
            </a:r>
          </a:p>
          <a:p>
            <a:pPr>
              <a:spcBef>
                <a:spcPts val="0"/>
              </a:spcBef>
              <a:spcAft>
                <a:spcPts val="0"/>
              </a:spcAft>
            </a:pPr>
            <a:r>
              <a:rPr sz="1050">
                <a:solidFill>
                  <a:srgbClr val="161B26"/>
                </a:solidFill>
                <a:latin typeface="Consolas"/>
              </a:rPr>
              <a:t>volumes:</a:t>
            </a:r>
          </a:p>
          <a:p>
            <a:pPr>
              <a:spcBef>
                <a:spcPts val="0"/>
              </a:spcBef>
              <a:spcAft>
                <a:spcPts val="0"/>
              </a:spcAft>
            </a:pPr>
            <a:r>
              <a:rPr sz="1050">
                <a:solidFill>
                  <a:srgbClr val="161B26"/>
                </a:solidFill>
                <a:latin typeface="Consolas"/>
              </a:rPr>
              <a:t>- name: config-vol</a:t>
            </a:r>
          </a:p>
          <a:p>
            <a:pPr>
              <a:spcBef>
                <a:spcPts val="0"/>
              </a:spcBef>
              <a:spcAft>
                <a:spcPts val="0"/>
              </a:spcAft>
            </a:pPr>
            <a:r>
              <a:rPr sz="1050">
                <a:solidFill>
                  <a:srgbClr val="161B26"/>
                </a:solidFill>
                <a:latin typeface="Consolas"/>
              </a:rPr>
              <a:t>  configMap:</a:t>
            </a:r>
          </a:p>
          <a:p>
            <a:pPr>
              <a:spcBef>
                <a:spcPts val="0"/>
              </a:spcBef>
              <a:spcAft>
                <a:spcPts val="0"/>
              </a:spcAft>
            </a:pPr>
            <a:r>
              <a:rPr sz="1050">
                <a:solidFill>
                  <a:srgbClr val="161B26"/>
                </a:solidFill>
                <a:latin typeface="Consolas"/>
              </a:rPr>
              <a:t>    name: app-config</a:t>
            </a:r>
          </a:p>
          <a:p>
            <a:pPr>
              <a:spcBef>
                <a:spcPts val="0"/>
              </a:spcBef>
              <a:spcAft>
                <a:spcPts val="0"/>
              </a:spcAft>
            </a:pPr>
            <a:r>
              <a:rPr sz="1050">
                <a:solidFill>
                  <a:srgbClr val="161B26"/>
                </a:solidFill>
                <a:latin typeface="Consolas"/>
              </a:rPr>
              <a:t>kubectl exec volume-mount-pod -- ls /config</a:t>
            </a:r>
          </a:p>
          <a:p>
            <a:pPr>
              <a:spcBef>
                <a:spcPts val="0"/>
              </a:spcBef>
              <a:spcAft>
                <a:spcPts val="0"/>
              </a:spcAft>
            </a:pPr>
            <a:r>
              <a:rPr sz="1050">
                <a:solidFill>
                  <a:srgbClr val="161B26"/>
                </a:solidFill>
                <a:latin typeface="Consolas"/>
              </a:rPr>
              <a:t>kubectl exec volume-mount-pod -- cat /config/LOG_LEVEL</a:t>
            </a:r>
          </a:p>
        </p:txBody>
      </p:sp>
      <p:sp>
        <p:nvSpPr>
          <p:cNvPr id="11" name="TextBox 10"/>
          <p:cNvSpPr txBox="1"/>
          <p:nvPr/>
        </p:nvSpPr>
        <p:spPr>
          <a:xfrm>
            <a:off x="777240" y="4279392"/>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Live update semantics</a:t>
            </a:r>
          </a:p>
        </p:txBody>
      </p:sp>
      <p:sp>
        <p:nvSpPr>
          <p:cNvPr id="12" name="Rounded Rectangle 11"/>
          <p:cNvSpPr/>
          <p:nvPr/>
        </p:nvSpPr>
        <p:spPr>
          <a:xfrm>
            <a:off x="777240" y="4663440"/>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663440"/>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727448"/>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patch configmap app-config --type=merge -p '{"data":{"LOG_LEVEL":"debug"}}'</a:t>
            </a:r>
          </a:p>
          <a:p>
            <a:pPr>
              <a:spcBef>
                <a:spcPts val="0"/>
              </a:spcBef>
              <a:spcAft>
                <a:spcPts val="0"/>
              </a:spcAft>
            </a:pPr>
            <a:r>
              <a:rPr sz="1050">
                <a:solidFill>
                  <a:srgbClr val="161B26"/>
                </a:solidFill>
                <a:latin typeface="Consolas"/>
              </a:rPr>
              <a:t>sleep 90</a:t>
            </a:r>
          </a:p>
          <a:p>
            <a:pPr>
              <a:spcBef>
                <a:spcPts val="0"/>
              </a:spcBef>
              <a:spcAft>
                <a:spcPts val="0"/>
              </a:spcAft>
            </a:pPr>
            <a:r>
              <a:rPr sz="1050">
                <a:solidFill>
                  <a:srgbClr val="161B26"/>
                </a:solidFill>
                <a:latin typeface="Consolas"/>
              </a:rPr>
              <a:t>kubectl exec volume-mount-pod -- cat /config/LOG_LEVEL</a:t>
            </a:r>
          </a:p>
          <a:p>
            <a:pPr>
              <a:spcBef>
                <a:spcPts val="0"/>
              </a:spcBef>
              <a:spcAft>
                <a:spcPts val="0"/>
              </a:spcAft>
            </a:pPr>
            <a:r>
              <a:rPr sz="1050">
                <a:solidFill>
                  <a:srgbClr val="161B26"/>
                </a:solidFill>
                <a:latin typeface="Consolas"/>
              </a:rPr>
              <a:t># debug -- updated live!</a:t>
            </a:r>
          </a:p>
          <a:p>
            <a:pPr>
              <a:spcBef>
                <a:spcPts val="0"/>
              </a:spcBef>
              <a:spcAft>
                <a:spcPts val="0"/>
              </a:spcAft>
            </a:pPr>
            <a:r>
              <a:rPr sz="1050">
                <a:solidFill>
                  <a:srgbClr val="161B26"/>
                </a:solidFill>
                <a:latin typeface="Consolas"/>
              </a:rPr>
              <a:t>kubectl exec envfrom-pod -- env | grep LOG_LEVEL</a:t>
            </a:r>
          </a:p>
          <a:p>
            <a:pPr>
              <a:spcBef>
                <a:spcPts val="0"/>
              </a:spcBef>
              <a:spcAft>
                <a:spcPts val="0"/>
              </a:spcAft>
            </a:pPr>
            <a:r>
              <a:rPr sz="1050">
                <a:solidFill>
                  <a:srgbClr val="161B26"/>
                </a:solidFill>
                <a:latin typeface="Consolas"/>
              </a:rPr>
              <a:t># info -- NOT updated</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3 Creation Methods, envFrom, Volume Mount, Live Update Semantics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CRITICAL: Volume-mounted ConfigMaps update automatically (1-2 min delay). Env vars and subPath mounts require pod restart to pick up changes.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121</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3 Creation Methods, envFrom, Volume Mount, Live Update Semantics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volume-mount-pod shows updated LOG_LEVEL=debug after ConfigMap patch. envfrom-pod still shows LOG_LEVEL=info (not live-updated).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122</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SECRETS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Secrets: generic/tls/docker-registry, Env Inject, tmpfs Mount defaultMode 0400</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Secrets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secrets of three types (generic, TLS, docker-registry), inject via environment variables and volume mounts backed by tmpfs, and apply restrictive permissions with defaultMode 0400. Understand that Secrets are base64-encoded but NOT encrypted by default.</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db-credentials (generic), webapp-tls (TLS with openssl), registry secret. Mount with defaultMode 0400, verify tmpfs, decode with base64 -d.</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openssl req · volumes: · » Secrets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123</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Secrets: generic/tls/docker-registry, Env Inject, tmpfs Mount defaultMode 0400</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and decode generic secret</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secret generic db-credentials \</a:t>
            </a:r>
          </a:p>
          <a:p>
            <a:pPr>
              <a:spcBef>
                <a:spcPts val="0"/>
              </a:spcBef>
              <a:spcAft>
                <a:spcPts val="0"/>
              </a:spcAft>
            </a:pPr>
            <a:r>
              <a:rPr sz="1050">
                <a:solidFill>
                  <a:srgbClr val="161B26"/>
                </a:solidFill>
                <a:latin typeface="Consolas"/>
              </a:rPr>
              <a:t>  --from-literal=DB_USER=admin \</a:t>
            </a:r>
          </a:p>
          <a:p>
            <a:pPr>
              <a:spcBef>
                <a:spcPts val="0"/>
              </a:spcBef>
              <a:spcAft>
                <a:spcPts val="0"/>
              </a:spcAft>
            </a:pPr>
            <a:r>
              <a:rPr sz="1050">
                <a:solidFill>
                  <a:srgbClr val="161B26"/>
                </a:solidFill>
                <a:latin typeface="Consolas"/>
              </a:rPr>
              <a:t>  --from-literal=DB_PASSWORD=SuperSecret123!</a:t>
            </a:r>
          </a:p>
          <a:p>
            <a:pPr>
              <a:spcBef>
                <a:spcPts val="0"/>
              </a:spcBef>
              <a:spcAft>
                <a:spcPts val="0"/>
              </a:spcAft>
            </a:pPr>
            <a:r>
              <a:rPr sz="1050">
                <a:solidFill>
                  <a:srgbClr val="161B26"/>
                </a:solidFill>
                <a:latin typeface="Consolas"/>
              </a:rPr>
              <a:t>kubectl get secret db-credentials -o yaml</a:t>
            </a:r>
          </a:p>
          <a:p>
            <a:pPr>
              <a:spcBef>
                <a:spcPts val="0"/>
              </a:spcBef>
              <a:spcAft>
                <a:spcPts val="0"/>
              </a:spcAft>
            </a:pPr>
            <a:r>
              <a:rPr sz="1050">
                <a:solidFill>
                  <a:srgbClr val="161B26"/>
                </a:solidFill>
                <a:latin typeface="Consolas"/>
              </a:rPr>
              <a:t>kubectl get secret db-credentials \</a:t>
            </a:r>
          </a:p>
          <a:p>
            <a:pPr>
              <a:spcBef>
                <a:spcPts val="0"/>
              </a:spcBef>
              <a:spcAft>
                <a:spcPts val="0"/>
              </a:spcAft>
            </a:pPr>
            <a:r>
              <a:rPr sz="1050">
                <a:solidFill>
                  <a:srgbClr val="161B26"/>
                </a:solidFill>
                <a:latin typeface="Consolas"/>
              </a:rPr>
              <a:t>  -o jsonpath='{.data.DB_PASSWORD}' | base64 -d</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TLS secret</a:t>
            </a:r>
          </a:p>
        </p:txBody>
      </p:sp>
      <p:sp>
        <p:nvSpPr>
          <p:cNvPr id="12" name="Rounded Rectangle 11"/>
          <p:cNvSpPr/>
          <p:nvPr/>
        </p:nvSpPr>
        <p:spPr>
          <a:xfrm>
            <a:off x="777240" y="3913632"/>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openssl req -x509 -nodes -newkey rsa:2048 \</a:t>
            </a:r>
          </a:p>
          <a:p>
            <a:pPr>
              <a:spcBef>
                <a:spcPts val="0"/>
              </a:spcBef>
              <a:spcAft>
                <a:spcPts val="0"/>
              </a:spcAft>
            </a:pPr>
            <a:r>
              <a:rPr sz="1050">
                <a:solidFill>
                  <a:srgbClr val="161B26"/>
                </a:solidFill>
                <a:latin typeface="Consolas"/>
              </a:rPr>
              <a:t>  -keyout /tmp/tls.key -out /tmp/tls.crt -days 365 \</a:t>
            </a:r>
          </a:p>
          <a:p>
            <a:pPr>
              <a:spcBef>
                <a:spcPts val="0"/>
              </a:spcBef>
              <a:spcAft>
                <a:spcPts val="0"/>
              </a:spcAft>
            </a:pPr>
            <a:r>
              <a:rPr sz="1050">
                <a:solidFill>
                  <a:srgbClr val="161B26"/>
                </a:solidFill>
                <a:latin typeface="Consolas"/>
              </a:rPr>
              <a:t>  -subj '/CN=webapp.example.com'</a:t>
            </a:r>
          </a:p>
          <a:p>
            <a:pPr>
              <a:spcBef>
                <a:spcPts val="0"/>
              </a:spcBef>
              <a:spcAft>
                <a:spcPts val="0"/>
              </a:spcAft>
            </a:pPr>
            <a:r>
              <a:rPr sz="1050">
                <a:solidFill>
                  <a:srgbClr val="161B26"/>
                </a:solidFill>
                <a:latin typeface="Consolas"/>
              </a:rPr>
              <a:t>kubectl create secret tls webapp-tls --cert=/tmp/tls.crt --key=/tmp/tls.key</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124</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Secrets: generic/tls/docker-registry, Env Inject, tmpfs Mount defaultMode 0400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Mount as tmpfs with defaultMode 0400</a:t>
            </a:r>
          </a:p>
        </p:txBody>
      </p:sp>
      <p:sp>
        <p:nvSpPr>
          <p:cNvPr id="8" name="Rounded Rectangle 7"/>
          <p:cNvSpPr/>
          <p:nvPr/>
        </p:nvSpPr>
        <p:spPr>
          <a:xfrm>
            <a:off x="777240" y="2075688"/>
            <a:ext cx="10652760" cy="20208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020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9293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Pod spec volumes:</a:t>
            </a:r>
          </a:p>
          <a:p>
            <a:pPr>
              <a:spcBef>
                <a:spcPts val="0"/>
              </a:spcBef>
              <a:spcAft>
                <a:spcPts val="0"/>
              </a:spcAft>
            </a:pPr>
            <a:r>
              <a:rPr sz="1050">
                <a:solidFill>
                  <a:srgbClr val="161B26"/>
                </a:solidFill>
                <a:latin typeface="Consolas"/>
              </a:rPr>
              <a:t>volumes:</a:t>
            </a:r>
          </a:p>
          <a:p>
            <a:pPr>
              <a:spcBef>
                <a:spcPts val="0"/>
              </a:spcBef>
              <a:spcAft>
                <a:spcPts val="0"/>
              </a:spcAft>
            </a:pPr>
            <a:r>
              <a:rPr sz="1050">
                <a:solidFill>
                  <a:srgbClr val="161B26"/>
                </a:solidFill>
                <a:latin typeface="Consolas"/>
              </a:rPr>
              <a:t>- name: secret-vol</a:t>
            </a:r>
          </a:p>
          <a:p>
            <a:pPr>
              <a:spcBef>
                <a:spcPts val="0"/>
              </a:spcBef>
              <a:spcAft>
                <a:spcPts val="0"/>
              </a:spcAft>
            </a:pPr>
            <a:r>
              <a:rPr sz="1050">
                <a:solidFill>
                  <a:srgbClr val="161B26"/>
                </a:solidFill>
                <a:latin typeface="Consolas"/>
              </a:rPr>
              <a:t>  secret:</a:t>
            </a:r>
          </a:p>
          <a:p>
            <a:pPr>
              <a:spcBef>
                <a:spcPts val="0"/>
              </a:spcBef>
              <a:spcAft>
                <a:spcPts val="0"/>
              </a:spcAft>
            </a:pPr>
            <a:r>
              <a:rPr sz="1050">
                <a:solidFill>
                  <a:srgbClr val="161B26"/>
                </a:solidFill>
                <a:latin typeface="Consolas"/>
              </a:rPr>
              <a:t>    secretName: db-credentials</a:t>
            </a:r>
          </a:p>
          <a:p>
            <a:pPr>
              <a:spcBef>
                <a:spcPts val="0"/>
              </a:spcBef>
              <a:spcAft>
                <a:spcPts val="0"/>
              </a:spcAft>
            </a:pPr>
            <a:r>
              <a:rPr sz="1050">
                <a:solidFill>
                  <a:srgbClr val="161B26"/>
                </a:solidFill>
                <a:latin typeface="Consolas"/>
              </a:rPr>
              <a:t>    defaultMode: 0400</a:t>
            </a:r>
          </a:p>
          <a:p>
            <a:pPr>
              <a:spcBef>
                <a:spcPts val="0"/>
              </a:spcBef>
              <a:spcAft>
                <a:spcPts val="0"/>
              </a:spcAft>
            </a:pPr>
            <a:r>
              <a:rPr sz="1050">
                <a:solidFill>
                  <a:srgbClr val="161B26"/>
                </a:solidFill>
                <a:latin typeface="Consolas"/>
              </a:rPr>
              <a:t>kubectl exec secret-volume-pod -- ls -la /secrets</a:t>
            </a:r>
          </a:p>
          <a:p>
            <a:pPr>
              <a:spcBef>
                <a:spcPts val="0"/>
              </a:spcBef>
              <a:spcAft>
                <a:spcPts val="0"/>
              </a:spcAft>
            </a:pPr>
            <a:r>
              <a:rPr sz="1050">
                <a:solidFill>
                  <a:srgbClr val="161B26"/>
                </a:solidFill>
                <a:latin typeface="Consolas"/>
              </a:rPr>
              <a:t># -r-------- files</a:t>
            </a:r>
          </a:p>
          <a:p>
            <a:pPr>
              <a:spcBef>
                <a:spcPts val="0"/>
              </a:spcBef>
              <a:spcAft>
                <a:spcPts val="0"/>
              </a:spcAft>
            </a:pPr>
            <a:r>
              <a:rPr sz="1050">
                <a:solidFill>
                  <a:srgbClr val="161B26"/>
                </a:solidFill>
                <a:latin typeface="Consolas"/>
              </a:rPr>
              <a:t>kubectl exec secret-volume-pod -- df -h /secrets</a:t>
            </a:r>
          </a:p>
          <a:p>
            <a:pPr>
              <a:spcBef>
                <a:spcPts val="0"/>
              </a:spcBef>
              <a:spcAft>
                <a:spcPts val="0"/>
              </a:spcAft>
            </a:pPr>
            <a:r>
              <a:rPr sz="1050">
                <a:solidFill>
                  <a:srgbClr val="161B26"/>
                </a:solidFill>
                <a:latin typeface="Consolas"/>
              </a:rPr>
              <a:t># tmpfs</a:t>
            </a:r>
          </a:p>
        </p:txBody>
      </p:sp>
      <p:sp>
        <p:nvSpPr>
          <p:cNvPr id="11" name="TextBox 10"/>
          <p:cNvSpPr txBox="1"/>
          <p:nvPr/>
        </p:nvSpPr>
        <p:spPr>
          <a:xfrm>
            <a:off x="777240" y="4279392"/>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Secrets are base64-encoded (NOT encrypted). Enable etcd encryption at rest for actual security. tmpfs means secrets are never written to node disk. echo -n is critical -- without -n, trailing newline corrupts the base64 value.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125</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Secrets: generic/tls/docker-registry, Env Inject, tmpfs Mount defaultMode 0400</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Secret files have permissions -r-------- (0400). df -h /secrets shows tmpfs. base64 -d decodes the password correctly. TLS secret type is kubernetes.io/tls.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126</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HPA &amp; Self-Healing Workloads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Autoscaling and resilient workload patterns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128</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AUTOSCALING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Horizontal Pod Autoscaler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HPA watches metrics-server and adjusts the Deployment replica count to hit a target CPU/memory %.</a:t>
            </a:r>
          </a:p>
          <a:p>
            <a:pPr>
              <a:spcBef>
                <a:spcPts val="0"/>
              </a:spcBef>
              <a:spcAft>
                <a:spcPts val="1000"/>
              </a:spcAft>
            </a:pPr>
            <a:r>
              <a:rPr sz="1900" b="1">
                <a:solidFill>
                  <a:srgbClr val="1F6FEB"/>
                </a:solidFill>
                <a:latin typeface="Arial"/>
              </a:rPr>
              <a:t>•  </a:t>
            </a:r>
            <a:r>
              <a:rPr sz="1900">
                <a:solidFill>
                  <a:srgbClr val="161B26"/>
                </a:solidFill>
                <a:latin typeface="Arial"/>
              </a:rPr>
              <a:t>Pods must have resources.requests defined for HPA to calculate a utilisation ratio.</a:t>
            </a:r>
          </a:p>
          <a:p>
            <a:pPr>
              <a:spcBef>
                <a:spcPts val="0"/>
              </a:spcBef>
              <a:spcAft>
                <a:spcPts val="1000"/>
              </a:spcAft>
            </a:pPr>
            <a:r>
              <a:rPr sz="1900" b="1">
                <a:solidFill>
                  <a:srgbClr val="1F6FEB"/>
                </a:solidFill>
                <a:latin typeface="Arial"/>
              </a:rPr>
              <a:t>•  </a:t>
            </a:r>
            <a:r>
              <a:rPr sz="1900">
                <a:solidFill>
                  <a:srgbClr val="161B26"/>
                </a:solidFill>
                <a:latin typeface="Arial"/>
              </a:rPr>
              <a:t>Scale-out is fast; scale-in has a stabilisation window (~5 min) to prevent thrashing.</a:t>
            </a:r>
          </a:p>
          <a:p>
            <a:pPr>
              <a:spcBef>
                <a:spcPts val="0"/>
              </a:spcBef>
              <a:spcAft>
                <a:spcPts val="1000"/>
              </a:spcAft>
            </a:pPr>
            <a:r>
              <a:rPr sz="1900" b="1">
                <a:solidFill>
                  <a:srgbClr val="1F6FEB"/>
                </a:solidFill>
                <a:latin typeface="Arial"/>
              </a:rPr>
              <a:t>•  </a:t>
            </a:r>
            <a:r>
              <a:rPr sz="1900">
                <a:solidFill>
                  <a:srgbClr val="161B26"/>
                </a:solidFill>
                <a:latin typeface="Arial"/>
              </a:rPr>
              <a:t>Create with: kubectl autoscale deployment &lt;name&gt; --min=2 --max=10 --cpu-percent=50.</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129</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2  ·  HPA AND METRICS-SERVER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Horizontal Pod Autoscaler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metrics-server</a:t>
            </a:r>
          </a:p>
          <a:p>
            <a:pPr algn="ctr">
              <a:spcBef>
                <a:spcPts val="0"/>
              </a:spcBef>
              <a:spcAft>
                <a:spcPts val="300"/>
              </a:spcAft>
            </a:pPr>
            <a:r>
              <a:rPr sz="1100" b="0">
                <a:solidFill>
                  <a:srgbClr val="5B6372"/>
                </a:solidFill>
                <a:latin typeface="Arial"/>
              </a:rPr>
              <a:t>scrapes kubelet cAdvisor</a:t>
            </a:r>
          </a:p>
          <a:p>
            <a:pPr algn="ctr">
              <a:spcBef>
                <a:spcPts val="0"/>
              </a:spcBef>
              <a:spcAft>
                <a:spcPts val="300"/>
              </a:spcAft>
            </a:pPr>
            <a:r>
              <a:rPr sz="1100" b="0">
                <a:solidFill>
                  <a:srgbClr val="5B6372"/>
                </a:solidFill>
                <a:latin typeface="Arial"/>
              </a:rPr>
              <a:t>serves metrics.k8s.io</a:t>
            </a:r>
          </a:p>
        </p:txBody>
      </p:sp>
      <p:sp>
        <p:nvSpPr>
          <p:cNvPr id="10" name="Right Arrow 9"/>
          <p:cNvSpPr/>
          <p:nvPr/>
        </p:nvSpPr>
        <p:spPr>
          <a:xfrm>
            <a:off x="3840480" y="3136392"/>
            <a:ext cx="731520" cy="402336"/>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observed usage</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HPA controller</a:t>
            </a:r>
          </a:p>
          <a:p>
            <a:pPr algn="ctr">
              <a:spcBef>
                <a:spcPts val="0"/>
              </a:spcBef>
              <a:spcAft>
                <a:spcPts val="300"/>
              </a:spcAft>
            </a:pPr>
            <a:r>
              <a:rPr sz="1100" b="0">
                <a:solidFill>
                  <a:srgbClr val="5B6372"/>
                </a:solidFill>
                <a:latin typeface="Arial"/>
              </a:rPr>
              <a:t>reads current CPU/mem</a:t>
            </a:r>
          </a:p>
          <a:p>
            <a:pPr algn="ctr">
              <a:spcBef>
                <a:spcPts val="0"/>
              </a:spcBef>
              <a:spcAft>
                <a:spcPts val="300"/>
              </a:spcAft>
            </a:pPr>
            <a:r>
              <a:rPr sz="1100" b="0">
                <a:solidFill>
                  <a:srgbClr val="5B6372"/>
                </a:solidFill>
                <a:latin typeface="Arial"/>
              </a:rPr>
              <a:t>computes desired replicas</a:t>
            </a:r>
          </a:p>
        </p:txBody>
      </p:sp>
      <p:sp>
        <p:nvSpPr>
          <p:cNvPr id="15" name="Right Arrow 14"/>
          <p:cNvSpPr/>
          <p:nvPr/>
        </p:nvSpPr>
        <p:spPr>
          <a:xfrm>
            <a:off x="7635240" y="3136392"/>
            <a:ext cx="731520" cy="402336"/>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scales</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Deployment</a:t>
            </a:r>
          </a:p>
          <a:p>
            <a:pPr algn="ctr">
              <a:spcBef>
                <a:spcPts val="0"/>
              </a:spcBef>
              <a:spcAft>
                <a:spcPts val="300"/>
              </a:spcAft>
            </a:pPr>
            <a:r>
              <a:rPr sz="1100" b="0">
                <a:solidFill>
                  <a:srgbClr val="5B6372"/>
                </a:solidFill>
                <a:latin typeface="Arial"/>
              </a:rPr>
              <a:t>replicas adjusted</a:t>
            </a:r>
          </a:p>
          <a:p>
            <a:pPr algn="ctr">
              <a:spcBef>
                <a:spcPts val="0"/>
              </a:spcBef>
              <a:spcAft>
                <a:spcPts val="300"/>
              </a:spcAft>
            </a:pPr>
            <a:r>
              <a:rPr sz="1100" b="0">
                <a:solidFill>
                  <a:srgbClr val="5B6372"/>
                </a:solidFill>
                <a:latin typeface="Arial"/>
              </a:rPr>
              <a:t>scale-out and scale-in</a:t>
            </a:r>
          </a:p>
        </p:txBody>
      </p:sp>
      <p:sp>
        <p:nvSpPr>
          <p:cNvPr id="19" name="Rounded Rectangle 18"/>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HPA requires </a:t>
            </a:r>
            <a:r>
              <a:rPr sz="1300" b="1">
                <a:solidFill>
                  <a:srgbClr val="161B26"/>
                </a:solidFill>
                <a:latin typeface="Arial"/>
              </a:rPr>
              <a:t>resources.requests</a:t>
            </a:r>
            <a:r>
              <a:rPr sz="1300" b="0">
                <a:solidFill>
                  <a:srgbClr val="5B6372"/>
                </a:solidFill>
                <a:latin typeface="Arial"/>
              </a:rPr>
              <a:t> on the Deployment. Scale-in waits ~5 min (stabilization window).</a:t>
            </a:r>
          </a:p>
        </p:txBody>
      </p:sp>
      <p:sp>
        <p:nvSpPr>
          <p:cNvPr id="21" name="TextBox 2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2" name="TextBox 2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3" name="TextBox 2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RESILIENCE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Primitives (DaemonSet, StatefulSet)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Liveness probe: restarts the container when it hangs or deadlocks (httpGet / tcpSocket / exec).</a:t>
            </a:r>
          </a:p>
          <a:p>
            <a:pPr>
              <a:spcBef>
                <a:spcPts val="0"/>
              </a:spcBef>
              <a:spcAft>
                <a:spcPts val="1000"/>
              </a:spcAft>
            </a:pPr>
            <a:r>
              <a:rPr sz="1900" b="1">
                <a:solidFill>
                  <a:srgbClr val="1F6FEB"/>
                </a:solidFill>
                <a:latin typeface="Arial"/>
              </a:rPr>
              <a:t>•  </a:t>
            </a:r>
            <a:r>
              <a:rPr sz="1900">
                <a:solidFill>
                  <a:srgbClr val="161B26"/>
                </a:solidFill>
                <a:latin typeface="Arial"/>
              </a:rPr>
              <a:t>Readiness probe: removes the pod from Service endpoints until it can serve traffic — no restart.</a:t>
            </a:r>
          </a:p>
          <a:p>
            <a:pPr>
              <a:spcBef>
                <a:spcPts val="0"/>
              </a:spcBef>
              <a:spcAft>
                <a:spcPts val="1000"/>
              </a:spcAft>
            </a:pPr>
            <a:r>
              <a:rPr sz="1900" b="1">
                <a:solidFill>
                  <a:srgbClr val="1F6FEB"/>
                </a:solidFill>
                <a:latin typeface="Arial"/>
              </a:rPr>
              <a:t>•  </a:t>
            </a:r>
            <a:r>
              <a:rPr sz="1900">
                <a:solidFill>
                  <a:srgbClr val="161B26"/>
                </a:solidFill>
                <a:latin typeface="Arial"/>
              </a:rPr>
              <a:t>DaemonSet: schedules exactly one pod per matching node — for log collectors, CNI agents, node exporters.</a:t>
            </a:r>
          </a:p>
          <a:p>
            <a:pPr>
              <a:spcBef>
                <a:spcPts val="0"/>
              </a:spcBef>
              <a:spcAft>
                <a:spcPts val="1000"/>
              </a:spcAft>
            </a:pPr>
            <a:r>
              <a:rPr sz="1900" b="1">
                <a:solidFill>
                  <a:srgbClr val="1F6FEB"/>
                </a:solidFill>
                <a:latin typeface="Arial"/>
              </a:rPr>
              <a:t>•  </a:t>
            </a:r>
            <a:r>
              <a:rPr sz="1900">
                <a:solidFill>
                  <a:srgbClr val="161B26"/>
                </a:solidFill>
                <a:latin typeface="Arial"/>
              </a:rPr>
              <a:t>StatefulSet: stable names (db-0, db-1), ordered start/stop, volumeClaimTemplates — for databases and queues.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131</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2  ·  NODE-WIDE AGENTS  vs  STABLE-IDENTITY WORKLOADS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DaemonSet vs StatefulSet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5166360" cy="3657600"/>
          </a:xfrm>
          <a:prstGeom prst="roundRect">
            <a:avLst>
              <a:gd name="adj" fmla="val 5000"/>
            </a:avLst>
          </a:prstGeom>
          <a:solidFill>
            <a:srgbClr val="F8FB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75104"/>
            <a:ext cx="5166360" cy="292608"/>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DaemonSet — one Pod per node</a:t>
            </a:r>
          </a:p>
        </p:txBody>
      </p:sp>
      <p:sp>
        <p:nvSpPr>
          <p:cNvPr id="9" name="Rounded Rectangle 8"/>
          <p:cNvSpPr/>
          <p:nvPr/>
        </p:nvSpPr>
        <p:spPr>
          <a:xfrm>
            <a:off x="1188720" y="2514600"/>
            <a:ext cx="4343400" cy="777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2898648"/>
            <a:ext cx="1463040" cy="292608"/>
          </a:xfrm>
          <a:prstGeom prst="rect">
            <a:avLst/>
          </a:prstGeom>
          <a:noFill/>
        </p:spPr>
        <p:txBody>
          <a:bodyPr wrap="square" anchor="ctr" lIns="0" rIns="0" tIns="0" bIns="0">
            <a:spAutoFit/>
          </a:bodyPr>
          <a:lstStyle/>
          <a:p>
            <a:pPr algn="l">
              <a:spcBef>
                <a:spcPts val="0"/>
              </a:spcBef>
              <a:spcAft>
                <a:spcPts val="400"/>
              </a:spcAft>
            </a:pPr>
            <a:r>
              <a:rPr sz="1200" b="1">
                <a:solidFill>
                  <a:srgbClr val="5B6372"/>
                </a:solidFill>
                <a:latin typeface="Arial"/>
              </a:rPr>
              <a:t>node-1</a:t>
            </a:r>
          </a:p>
        </p:txBody>
      </p:sp>
      <p:sp>
        <p:nvSpPr>
          <p:cNvPr id="11" name="Rounded Rectangle 10"/>
          <p:cNvSpPr/>
          <p:nvPr/>
        </p:nvSpPr>
        <p:spPr>
          <a:xfrm>
            <a:off x="3566160" y="2624328"/>
            <a:ext cx="1828800" cy="54864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5888" y="2624328"/>
            <a:ext cx="1609344" cy="548640"/>
          </a:xfrm>
          <a:prstGeom prst="rect">
            <a:avLst/>
          </a:prstGeom>
          <a:noFill/>
        </p:spPr>
        <p:txBody>
          <a:bodyPr wrap="square" anchor="ctr" lIns="0" rIns="0" tIns="0" bIns="0">
            <a:spAutoFit/>
          </a:bodyPr>
          <a:lstStyle/>
          <a:p>
            <a:pPr algn="ctr">
              <a:spcBef>
                <a:spcPts val="0"/>
              </a:spcBef>
              <a:spcAft>
                <a:spcPts val="300"/>
              </a:spcAft>
            </a:pPr>
            <a:r>
              <a:rPr sz="1200" b="1">
                <a:solidFill>
                  <a:srgbClr val="1F6FEB"/>
                </a:solidFill>
                <a:latin typeface="Arial"/>
              </a:rPr>
              <a:t>agent Pod</a:t>
            </a:r>
          </a:p>
        </p:txBody>
      </p:sp>
      <p:sp>
        <p:nvSpPr>
          <p:cNvPr id="13" name="Rounded Rectangle 12"/>
          <p:cNvSpPr/>
          <p:nvPr/>
        </p:nvSpPr>
        <p:spPr>
          <a:xfrm>
            <a:off x="1188720" y="3429000"/>
            <a:ext cx="4343400" cy="777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3813048"/>
            <a:ext cx="1463040" cy="292608"/>
          </a:xfrm>
          <a:prstGeom prst="rect">
            <a:avLst/>
          </a:prstGeom>
          <a:noFill/>
        </p:spPr>
        <p:txBody>
          <a:bodyPr wrap="square" anchor="ctr" lIns="0" rIns="0" tIns="0" bIns="0">
            <a:spAutoFit/>
          </a:bodyPr>
          <a:lstStyle/>
          <a:p>
            <a:pPr algn="l">
              <a:spcBef>
                <a:spcPts val="0"/>
              </a:spcBef>
              <a:spcAft>
                <a:spcPts val="400"/>
              </a:spcAft>
            </a:pPr>
            <a:r>
              <a:rPr sz="1200" b="1">
                <a:solidFill>
                  <a:srgbClr val="5B6372"/>
                </a:solidFill>
                <a:latin typeface="Arial"/>
              </a:rPr>
              <a:t>node-2</a:t>
            </a:r>
          </a:p>
        </p:txBody>
      </p:sp>
      <p:sp>
        <p:nvSpPr>
          <p:cNvPr id="15" name="Rounded Rectangle 14"/>
          <p:cNvSpPr/>
          <p:nvPr/>
        </p:nvSpPr>
        <p:spPr>
          <a:xfrm>
            <a:off x="3566160" y="3538728"/>
            <a:ext cx="1828800" cy="54864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5888" y="3538728"/>
            <a:ext cx="1609344" cy="548640"/>
          </a:xfrm>
          <a:prstGeom prst="rect">
            <a:avLst/>
          </a:prstGeom>
          <a:noFill/>
        </p:spPr>
        <p:txBody>
          <a:bodyPr wrap="square" anchor="ctr" lIns="0" rIns="0" tIns="0" bIns="0">
            <a:spAutoFit/>
          </a:bodyPr>
          <a:lstStyle/>
          <a:p>
            <a:pPr algn="ctr">
              <a:spcBef>
                <a:spcPts val="0"/>
              </a:spcBef>
              <a:spcAft>
                <a:spcPts val="300"/>
              </a:spcAft>
            </a:pPr>
            <a:r>
              <a:rPr sz="1200" b="1">
                <a:solidFill>
                  <a:srgbClr val="1F6FEB"/>
                </a:solidFill>
                <a:latin typeface="Arial"/>
              </a:rPr>
              <a:t>agent Pod</a:t>
            </a:r>
          </a:p>
        </p:txBody>
      </p:sp>
      <p:sp>
        <p:nvSpPr>
          <p:cNvPr id="17" name="Rounded Rectangle 16"/>
          <p:cNvSpPr/>
          <p:nvPr/>
        </p:nvSpPr>
        <p:spPr>
          <a:xfrm>
            <a:off x="1188720" y="4343400"/>
            <a:ext cx="4343400" cy="777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4727448"/>
            <a:ext cx="1463040" cy="292608"/>
          </a:xfrm>
          <a:prstGeom prst="rect">
            <a:avLst/>
          </a:prstGeom>
          <a:noFill/>
        </p:spPr>
        <p:txBody>
          <a:bodyPr wrap="square" anchor="ctr" lIns="0" rIns="0" tIns="0" bIns="0">
            <a:spAutoFit/>
          </a:bodyPr>
          <a:lstStyle/>
          <a:p>
            <a:pPr algn="l">
              <a:spcBef>
                <a:spcPts val="0"/>
              </a:spcBef>
              <a:spcAft>
                <a:spcPts val="400"/>
              </a:spcAft>
            </a:pPr>
            <a:r>
              <a:rPr sz="1200" b="1">
                <a:solidFill>
                  <a:srgbClr val="5B6372"/>
                </a:solidFill>
                <a:latin typeface="Arial"/>
              </a:rPr>
              <a:t>node-3</a:t>
            </a:r>
          </a:p>
        </p:txBody>
      </p:sp>
      <p:sp>
        <p:nvSpPr>
          <p:cNvPr id="19" name="Rounded Rectangle 18"/>
          <p:cNvSpPr/>
          <p:nvPr/>
        </p:nvSpPr>
        <p:spPr>
          <a:xfrm>
            <a:off x="3566160" y="4453128"/>
            <a:ext cx="1828800" cy="54864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5888" y="4453128"/>
            <a:ext cx="1609344" cy="548640"/>
          </a:xfrm>
          <a:prstGeom prst="rect">
            <a:avLst/>
          </a:prstGeom>
          <a:noFill/>
        </p:spPr>
        <p:txBody>
          <a:bodyPr wrap="square" anchor="ctr" lIns="0" rIns="0" tIns="0" bIns="0">
            <a:spAutoFit/>
          </a:bodyPr>
          <a:lstStyle/>
          <a:p>
            <a:pPr algn="ctr">
              <a:spcBef>
                <a:spcPts val="0"/>
              </a:spcBef>
              <a:spcAft>
                <a:spcPts val="300"/>
              </a:spcAft>
            </a:pPr>
            <a:r>
              <a:rPr sz="1200" b="1">
                <a:solidFill>
                  <a:srgbClr val="1F6FEB"/>
                </a:solidFill>
                <a:latin typeface="Arial"/>
              </a:rPr>
              <a:t>agent Pod</a:t>
            </a:r>
          </a:p>
        </p:txBody>
      </p:sp>
      <p:sp>
        <p:nvSpPr>
          <p:cNvPr id="21" name="Rounded Rectangle 20"/>
          <p:cNvSpPr/>
          <p:nvPr/>
        </p:nvSpPr>
        <p:spPr>
          <a:xfrm>
            <a:off x="6263640" y="1828800"/>
            <a:ext cx="5166360" cy="3657600"/>
          </a:xfrm>
          <a:prstGeom prst="roundRect">
            <a:avLst>
              <a:gd name="adj" fmla="val 5000"/>
            </a:avLst>
          </a:prstGeom>
          <a:solidFill>
            <a:srgbClr val="F8FB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975104"/>
            <a:ext cx="5166360" cy="292608"/>
          </a:xfrm>
          <a:prstGeom prst="rect">
            <a:avLst/>
          </a:prstGeom>
          <a:noFill/>
        </p:spPr>
        <p:txBody>
          <a:bodyPr wrap="square" anchor="ctr" lIns="0" rIns="0" tIns="0" bIns="0">
            <a:spAutoFit/>
          </a:bodyPr>
          <a:lstStyle/>
          <a:p>
            <a:pPr algn="ctr">
              <a:spcBef>
                <a:spcPts val="0"/>
              </a:spcBef>
              <a:spcAft>
                <a:spcPts val="400"/>
              </a:spcAft>
            </a:pPr>
            <a:r>
              <a:rPr sz="1500" b="1">
                <a:solidFill>
                  <a:srgbClr val="10B981"/>
                </a:solidFill>
                <a:latin typeface="Arial"/>
              </a:rPr>
              <a:t>StatefulSet — ordered, stable names</a:t>
            </a:r>
          </a:p>
        </p:txBody>
      </p:sp>
      <p:sp>
        <p:nvSpPr>
          <p:cNvPr id="23" name="Rounded Rectangle 22"/>
          <p:cNvSpPr/>
          <p:nvPr/>
        </p:nvSpPr>
        <p:spPr>
          <a:xfrm>
            <a:off x="7543800" y="2468880"/>
            <a:ext cx="2606040" cy="640080"/>
          </a:xfrm>
          <a:prstGeom prst="roundRect">
            <a:avLst>
              <a:gd name="adj" fmla="val 5000"/>
            </a:avLst>
          </a:prstGeom>
          <a:solidFill>
            <a:srgbClr val="FFFFFF"/>
          </a:solidFill>
          <a:ln w="12700">
            <a:solidFill>
              <a:srgbClr val="161B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53528" y="2468880"/>
            <a:ext cx="2386584" cy="640080"/>
          </a:xfrm>
          <a:prstGeom prst="rect">
            <a:avLst/>
          </a:prstGeom>
          <a:noFill/>
        </p:spPr>
        <p:txBody>
          <a:bodyPr wrap="square" anchor="ctr" lIns="0" rIns="0" tIns="0" bIns="0">
            <a:spAutoFit/>
          </a:bodyPr>
          <a:lstStyle/>
          <a:p>
            <a:pPr algn="ctr">
              <a:spcBef>
                <a:spcPts val="0"/>
              </a:spcBef>
              <a:spcAft>
                <a:spcPts val="300"/>
              </a:spcAft>
            </a:pPr>
            <a:r>
              <a:rPr sz="1200" b="1">
                <a:solidFill>
                  <a:srgbClr val="161B26"/>
                </a:solidFill>
                <a:latin typeface="Arial"/>
              </a:rPr>
              <a:t>headless Service (db)</a:t>
            </a:r>
          </a:p>
          <a:p>
            <a:pPr algn="ctr">
              <a:spcBef>
                <a:spcPts val="0"/>
              </a:spcBef>
              <a:spcAft>
                <a:spcPts val="300"/>
              </a:spcAft>
            </a:pPr>
            <a:r>
              <a:rPr sz="1000" b="0">
                <a:solidFill>
                  <a:srgbClr val="5B6372"/>
                </a:solidFill>
                <a:latin typeface="Arial"/>
              </a:rPr>
              <a:t>clusterIP: None</a:t>
            </a:r>
          </a:p>
        </p:txBody>
      </p:sp>
      <p:sp>
        <p:nvSpPr>
          <p:cNvPr id="25" name="Rounded Rectangle 24"/>
          <p:cNvSpPr/>
          <p:nvPr/>
        </p:nvSpPr>
        <p:spPr>
          <a:xfrm>
            <a:off x="7178040" y="3337560"/>
            <a:ext cx="3337560" cy="54864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87768" y="3337560"/>
            <a:ext cx="3118104" cy="548640"/>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db-0</a:t>
            </a:r>
          </a:p>
          <a:p>
            <a:pPr algn="ctr">
              <a:spcBef>
                <a:spcPts val="0"/>
              </a:spcBef>
              <a:spcAft>
                <a:spcPts val="300"/>
              </a:spcAft>
            </a:pPr>
            <a:r>
              <a:rPr sz="1000" b="0">
                <a:solidFill>
                  <a:srgbClr val="5B6372"/>
                </a:solidFill>
                <a:latin typeface="Arial"/>
              </a:rPr>
              <a:t>PVC db-data-db-0</a:t>
            </a:r>
          </a:p>
        </p:txBody>
      </p:sp>
      <p:sp>
        <p:nvSpPr>
          <p:cNvPr id="27" name="Rounded Rectangle 26"/>
          <p:cNvSpPr/>
          <p:nvPr/>
        </p:nvSpPr>
        <p:spPr>
          <a:xfrm>
            <a:off x="7178040" y="3995928"/>
            <a:ext cx="3337560" cy="54864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87768" y="3995928"/>
            <a:ext cx="3118104" cy="548640"/>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db-1</a:t>
            </a:r>
          </a:p>
          <a:p>
            <a:pPr algn="ctr">
              <a:spcBef>
                <a:spcPts val="0"/>
              </a:spcBef>
              <a:spcAft>
                <a:spcPts val="300"/>
              </a:spcAft>
            </a:pPr>
            <a:r>
              <a:rPr sz="1000" b="0">
                <a:solidFill>
                  <a:srgbClr val="5B6372"/>
                </a:solidFill>
                <a:latin typeface="Arial"/>
              </a:rPr>
              <a:t>PVC db-data-db-1</a:t>
            </a:r>
          </a:p>
        </p:txBody>
      </p:sp>
      <p:sp>
        <p:nvSpPr>
          <p:cNvPr id="29" name="Rounded Rectangle 28"/>
          <p:cNvSpPr/>
          <p:nvPr/>
        </p:nvSpPr>
        <p:spPr>
          <a:xfrm>
            <a:off x="7178040" y="4654296"/>
            <a:ext cx="3337560" cy="548640"/>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87768" y="4654296"/>
            <a:ext cx="3118104" cy="548640"/>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db-2</a:t>
            </a:r>
          </a:p>
          <a:p>
            <a:pPr algn="ctr">
              <a:spcBef>
                <a:spcPts val="0"/>
              </a:spcBef>
              <a:spcAft>
                <a:spcPts val="300"/>
              </a:spcAft>
            </a:pPr>
            <a:r>
              <a:rPr sz="1000" b="0">
                <a:solidFill>
                  <a:srgbClr val="5B6372"/>
                </a:solidFill>
                <a:latin typeface="Arial"/>
              </a:rPr>
              <a:t>PVC db-data-db-2</a:t>
            </a:r>
          </a:p>
        </p:txBody>
      </p:sp>
      <p:sp>
        <p:nvSpPr>
          <p:cNvPr id="31" name="Rounded Rectangle 30"/>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DaemonSet scales with the cluster; StatefulSet gives </a:t>
            </a:r>
            <a:r>
              <a:rPr sz="1300" b="1">
                <a:solidFill>
                  <a:srgbClr val="161B26"/>
                </a:solidFill>
                <a:latin typeface="Arial"/>
              </a:rPr>
              <a:t>stable network identity</a:t>
            </a:r>
            <a:r>
              <a:rPr sz="1300" b="0">
                <a:solidFill>
                  <a:srgbClr val="5B6372"/>
                </a:solidFill>
                <a:latin typeface="Arial"/>
              </a:rPr>
              <a:t> and ordered start/stop — essential for databases.</a:t>
            </a:r>
          </a:p>
        </p:txBody>
      </p:sp>
      <p:sp>
        <p:nvSpPr>
          <p:cNvPr id="33" name="TextBox 3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4" name="TextBox 3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5" name="TextBox 3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132</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HPA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HPA v2: metrics-server, HorizontalPodAutoscaler, Load Test, Watch Scale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Horizontal Pod Autoscaling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Install metrics-server to provide CPU metrics, create an HPA using autoscaling/v2 API, generate CPU load, and watch the HPA scale up then back down. HPA requires resource requests on containers; without them, utilization cannot be calculated.</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metrics-server (with --kubelet-insecure-tls patch), create HPA targeting 50% CPU, run stress test, watch scale-up, wait for scale-down.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kubectl create · kubectl autoscale · kubectl run · » HPA</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133</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HPA v2: metrics-server, HorizontalPodAutoscaler, Load Test, Watch Scale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metrics-server</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https://github.com/kubernetes-sigs/metrics-server/releases/latest/download/components.yaml</a:t>
            </a:r>
          </a:p>
          <a:p>
            <a:pPr>
              <a:spcBef>
                <a:spcPts val="0"/>
              </a:spcBef>
              <a:spcAft>
                <a:spcPts val="0"/>
              </a:spcAft>
            </a:pPr>
            <a:r>
              <a:rPr sz="1050">
                <a:solidFill>
                  <a:srgbClr val="161B26"/>
                </a:solidFill>
                <a:latin typeface="Consolas"/>
              </a:rPr>
              <a:t>kubectl patch deployment metrics-server -n kube-system --type=json \</a:t>
            </a:r>
          </a:p>
          <a:p>
            <a:pPr>
              <a:spcBef>
                <a:spcPts val="0"/>
              </a:spcBef>
              <a:spcAft>
                <a:spcPts val="0"/>
              </a:spcAft>
            </a:pPr>
            <a:r>
              <a:rPr sz="1050">
                <a:solidFill>
                  <a:srgbClr val="161B26"/>
                </a:solidFill>
                <a:latin typeface="Consolas"/>
              </a:rPr>
              <a:t>  -p='[{"op":"add","path":"/spec/template/spec/containers/0/args/-","value":"--kubelet-insecure-tls"}]'</a:t>
            </a:r>
          </a:p>
          <a:p>
            <a:pPr>
              <a:spcBef>
                <a:spcPts val="0"/>
              </a:spcBef>
              <a:spcAft>
                <a:spcPts val="0"/>
              </a:spcAft>
            </a:pPr>
            <a:r>
              <a:rPr sz="1050">
                <a:solidFill>
                  <a:srgbClr val="161B26"/>
                </a:solidFill>
                <a:latin typeface="Consolas"/>
              </a:rPr>
              <a:t>until kubectl top node 2&gt;/dev/null; do echo 'waiting...'; sleep 5; done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Deployment with resource requests</a:t>
            </a:r>
          </a:p>
        </p:txBody>
      </p:sp>
      <p:sp>
        <p:nvSpPr>
          <p:cNvPr id="12" name="Rounded Rectangle 11"/>
          <p:cNvSpPr/>
          <p:nvPr/>
        </p:nvSpPr>
        <p:spPr>
          <a:xfrm>
            <a:off x="777240" y="353872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cpu-app --image=nginx --replicas=1</a:t>
            </a:r>
          </a:p>
          <a:p>
            <a:pPr>
              <a:spcBef>
                <a:spcPts val="0"/>
              </a:spcBef>
              <a:spcAft>
                <a:spcPts val="0"/>
              </a:spcAft>
            </a:pPr>
            <a:r>
              <a:rPr sz="1050">
                <a:solidFill>
                  <a:srgbClr val="161B26"/>
                </a:solidFill>
                <a:latin typeface="Consolas"/>
              </a:rPr>
              <a:t>kubectl set resources deployment cpu-app --containers=nginx \</a:t>
            </a:r>
          </a:p>
          <a:p>
            <a:pPr>
              <a:spcBef>
                <a:spcPts val="0"/>
              </a:spcBef>
              <a:spcAft>
                <a:spcPts val="0"/>
              </a:spcAft>
            </a:pPr>
            <a:r>
              <a:rPr sz="1050">
                <a:solidFill>
                  <a:srgbClr val="161B26"/>
                </a:solidFill>
                <a:latin typeface="Consolas"/>
              </a:rPr>
              <a:t>  --requests=cpu=100m --limits=cpu=500m</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Create HPA</a:t>
            </a:r>
          </a:p>
        </p:txBody>
      </p:sp>
      <p:sp>
        <p:nvSpPr>
          <p:cNvPr id="16" name="Rounded Rectangle 15"/>
          <p:cNvSpPr/>
          <p:nvPr/>
        </p:nvSpPr>
        <p:spPr>
          <a:xfrm>
            <a:off x="777240" y="4814316"/>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autoscale deployment cpu-app --min=1 --max=10 --cpu-percent=50</a:t>
            </a:r>
          </a:p>
          <a:p>
            <a:pPr>
              <a:spcBef>
                <a:spcPts val="0"/>
              </a:spcBef>
              <a:spcAft>
                <a:spcPts val="0"/>
              </a:spcAft>
            </a:pPr>
            <a:r>
              <a:rPr sz="1050">
                <a:solidFill>
                  <a:srgbClr val="161B26"/>
                </a:solidFill>
                <a:latin typeface="Consolas"/>
              </a:rPr>
              <a:t>kubectl get hpa &amp;&amp; kubectl describe hpa cpu-app</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134</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HPA v2: metrics-server, HorizontalPodAutoscaler, Load Test, Watch Scale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Generate load and watch scaling</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load-gen --image=busybox --restart=Never \</a:t>
            </a:r>
          </a:p>
          <a:p>
            <a:pPr>
              <a:spcBef>
                <a:spcPts val="0"/>
              </a:spcBef>
              <a:spcAft>
                <a:spcPts val="0"/>
              </a:spcAft>
            </a:pPr>
            <a:r>
              <a:rPr sz="1050">
                <a:solidFill>
                  <a:srgbClr val="161B26"/>
                </a:solidFill>
                <a:latin typeface="Consolas"/>
              </a:rPr>
              <a:t>  -- sh -c 'while true; do wget -q -O- http://cpu-app; done'</a:t>
            </a:r>
          </a:p>
          <a:p>
            <a:pPr>
              <a:spcBef>
                <a:spcPts val="0"/>
              </a:spcBef>
              <a:spcAft>
                <a:spcPts val="0"/>
              </a:spcAft>
            </a:pPr>
            <a:r>
              <a:rPr sz="1050">
                <a:solidFill>
                  <a:srgbClr val="161B26"/>
                </a:solidFill>
                <a:latin typeface="Consolas"/>
              </a:rPr>
              <a:t>kubectl get hpa cpu-app -w</a:t>
            </a:r>
          </a:p>
          <a:p>
            <a:pPr>
              <a:spcBef>
                <a:spcPts val="0"/>
              </a:spcBef>
              <a:spcAft>
                <a:spcPts val="0"/>
              </a:spcAft>
            </a:pPr>
            <a:r>
              <a:rPr sz="1050">
                <a:solidFill>
                  <a:srgbClr val="161B26"/>
                </a:solidFill>
                <a:latin typeface="Consolas"/>
              </a:rPr>
              <a:t>kubectl get pods -w</a:t>
            </a:r>
          </a:p>
        </p:txBody>
      </p:sp>
      <p:sp>
        <p:nvSpPr>
          <p:cNvPr id="11" name="TextBox 10"/>
          <p:cNvSpPr txBox="1"/>
          <p:nvPr/>
        </p:nvSpPr>
        <p:spPr>
          <a:xfrm>
            <a:off x="777240" y="315468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HPA requires resource requests -- without them metrics-server cannot calculate % utilization. Scale-down has a 5-minute cooldown by default.</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135</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HPA v2: metrics-server, HorizontalPodAutoscaler, Load Test, Watch Scale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hpa shows non-zero CPU% and increasing replicas under load. After removing load-gen, replicas scale back to 1 within 5-10 minutes.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136</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SELF-HEALING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Self-healing workloads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Configure liveness and readiness probes to control container health, demonstrate ReplicaSet self-healing when pods are manually deleted, deploy a DaemonSet that runs one pod per node, and create a StatefulSet with stable network identity.</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Deploy pod with httpGet liveness probe, show ReplicaSet maintains desired count, deploy nginx DaemonSet, create StatefulSet with volumeClaimTemplates.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readinessProbe: · kubectl create · » Liveness: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137</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Liveness probe: httpGet</a:t>
            </a:r>
          </a:p>
        </p:txBody>
      </p:sp>
      <p:sp>
        <p:nvSpPr>
          <p:cNvPr id="8" name="Rounded Rectangle 7"/>
          <p:cNvSpPr/>
          <p:nvPr/>
        </p:nvSpPr>
        <p:spPr>
          <a:xfrm>
            <a:off x="777240" y="2075688"/>
            <a:ext cx="10652760" cy="352044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42900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liveness-http</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webapp</a:t>
            </a:r>
          </a:p>
          <a:p>
            <a:pPr>
              <a:spcBef>
                <a:spcPts val="0"/>
              </a:spcBef>
              <a:spcAft>
                <a:spcPts val="0"/>
              </a:spcAft>
            </a:pPr>
            <a:r>
              <a:rPr sz="1050">
                <a:solidFill>
                  <a:srgbClr val="161B26"/>
                </a:solidFill>
                <a:latin typeface="Consolas"/>
              </a:rPr>
              <a:t>    image: nginx:alpine</a:t>
            </a:r>
          </a:p>
          <a:p>
            <a:pPr>
              <a:spcBef>
                <a:spcPts val="0"/>
              </a:spcBef>
              <a:spcAft>
                <a:spcPts val="0"/>
              </a:spcAft>
            </a:pPr>
            <a:r>
              <a:rPr sz="1050">
                <a:solidFill>
                  <a:srgbClr val="161B26"/>
                </a:solidFill>
                <a:latin typeface="Consolas"/>
              </a:rPr>
              <a:t>    livenessProbe:</a:t>
            </a:r>
          </a:p>
          <a:p>
            <a:pPr>
              <a:spcBef>
                <a:spcPts val="0"/>
              </a:spcBef>
              <a:spcAft>
                <a:spcPts val="0"/>
              </a:spcAft>
            </a:pPr>
            <a:r>
              <a:rPr sz="1050">
                <a:solidFill>
                  <a:srgbClr val="161B26"/>
                </a:solidFill>
                <a:latin typeface="Consolas"/>
              </a:rPr>
              <a:t>      httpGet:</a:t>
            </a:r>
          </a:p>
          <a:p>
            <a:pPr>
              <a:spcBef>
                <a:spcPts val="0"/>
              </a:spcBef>
              <a:spcAft>
                <a:spcPts val="0"/>
              </a:spcAft>
            </a:pPr>
            <a:r>
              <a:rPr sz="1050">
                <a:solidFill>
                  <a:srgbClr val="161B26"/>
                </a:solidFill>
                <a:latin typeface="Consolas"/>
              </a:rPr>
              <a:t>        path: /</a:t>
            </a:r>
          </a:p>
          <a:p>
            <a:pPr>
              <a:spcBef>
                <a:spcPts val="0"/>
              </a:spcBef>
              <a:spcAft>
                <a:spcPts val="0"/>
              </a:spcAft>
            </a:pPr>
            <a:r>
              <a:rPr sz="1050">
                <a:solidFill>
                  <a:srgbClr val="161B26"/>
                </a:solidFill>
                <a:latin typeface="Consolas"/>
              </a:rPr>
              <a:t>        port: 80</a:t>
            </a:r>
          </a:p>
          <a:p>
            <a:pPr>
              <a:spcBef>
                <a:spcPts val="0"/>
              </a:spcBef>
              <a:spcAft>
                <a:spcPts val="0"/>
              </a:spcAft>
            </a:pPr>
            <a:r>
              <a:rPr sz="1050">
                <a:solidFill>
                  <a:srgbClr val="161B26"/>
                </a:solidFill>
                <a:latin typeface="Consolas"/>
              </a:rPr>
              <a:t>      initialDelaySeconds: 5</a:t>
            </a:r>
          </a:p>
          <a:p>
            <a:pPr>
              <a:spcBef>
                <a:spcPts val="0"/>
              </a:spcBef>
              <a:spcAft>
                <a:spcPts val="0"/>
              </a:spcAft>
            </a:pPr>
            <a:r>
              <a:rPr sz="1050">
                <a:solidFill>
                  <a:srgbClr val="161B26"/>
                </a:solidFill>
                <a:latin typeface="Consolas"/>
              </a:rPr>
              <a:t>      periodSeconds: 10</a:t>
            </a:r>
          </a:p>
          <a:p>
            <a:pPr>
              <a:spcBef>
                <a:spcPts val="0"/>
              </a:spcBef>
              <a:spcAft>
                <a:spcPts val="0"/>
              </a:spcAft>
            </a:pPr>
            <a:r>
              <a:rPr sz="1050">
                <a:solidFill>
                  <a:srgbClr val="161B26"/>
                </a:solidFill>
                <a:latin typeface="Consolas"/>
              </a:rPr>
              <a:t>      failureThreshold: 3</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pod liveness-http -w</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138</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Readiness probe blocks traffic</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Readiness probe -- pod not added to Service endpoints until probe passes</a:t>
            </a:r>
          </a:p>
          <a:p>
            <a:pPr>
              <a:spcBef>
                <a:spcPts val="0"/>
              </a:spcBef>
              <a:spcAft>
                <a:spcPts val="0"/>
              </a:spcAft>
            </a:pPr>
            <a:r>
              <a:rPr sz="1050">
                <a:solidFill>
                  <a:srgbClr val="161B26"/>
                </a:solidFill>
                <a:latin typeface="Consolas"/>
              </a:rPr>
              <a:t>readinessProbe:</a:t>
            </a:r>
          </a:p>
          <a:p>
            <a:pPr>
              <a:spcBef>
                <a:spcPts val="0"/>
              </a:spcBef>
              <a:spcAft>
                <a:spcPts val="0"/>
              </a:spcAft>
            </a:pPr>
            <a:r>
              <a:rPr sz="1050">
                <a:solidFill>
                  <a:srgbClr val="161B26"/>
                </a:solidFill>
                <a:latin typeface="Consolas"/>
              </a:rPr>
              <a:t>  httpGet:</a:t>
            </a:r>
          </a:p>
          <a:p>
            <a:pPr>
              <a:spcBef>
                <a:spcPts val="0"/>
              </a:spcBef>
              <a:spcAft>
                <a:spcPts val="0"/>
              </a:spcAft>
            </a:pPr>
            <a:r>
              <a:rPr sz="1050">
                <a:solidFill>
                  <a:srgbClr val="161B26"/>
                </a:solidFill>
                <a:latin typeface="Consolas"/>
              </a:rPr>
              <a:t>    path: /ready</a:t>
            </a:r>
          </a:p>
          <a:p>
            <a:pPr>
              <a:spcBef>
                <a:spcPts val="0"/>
              </a:spcBef>
              <a:spcAft>
                <a:spcPts val="0"/>
              </a:spcAft>
            </a:pPr>
            <a:r>
              <a:rPr sz="1050">
                <a:solidFill>
                  <a:srgbClr val="161B26"/>
                </a:solidFill>
                <a:latin typeface="Consolas"/>
              </a:rPr>
              <a:t>    port: 8080</a:t>
            </a:r>
          </a:p>
          <a:p>
            <a:pPr>
              <a:spcBef>
                <a:spcPts val="0"/>
              </a:spcBef>
              <a:spcAft>
                <a:spcPts val="0"/>
              </a:spcAft>
            </a:pPr>
            <a:r>
              <a:rPr sz="1050">
                <a:solidFill>
                  <a:srgbClr val="161B26"/>
                </a:solidFill>
                <a:latin typeface="Consolas"/>
              </a:rPr>
              <a:t>  initialDelaySeconds: 10</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ReplicaSet self-healing</a:t>
            </a:r>
          </a:p>
        </p:txBody>
      </p:sp>
      <p:sp>
        <p:nvSpPr>
          <p:cNvPr id="12" name="Rounded Rectangle 11"/>
          <p:cNvSpPr/>
          <p:nvPr/>
        </p:nvSpPr>
        <p:spPr>
          <a:xfrm>
            <a:off x="777240" y="3913632"/>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selfheal --image=nginx --replicas=3</a:t>
            </a:r>
          </a:p>
          <a:p>
            <a:pPr>
              <a:spcBef>
                <a:spcPts val="0"/>
              </a:spcBef>
              <a:spcAft>
                <a:spcPts val="0"/>
              </a:spcAft>
            </a:pPr>
            <a:r>
              <a:rPr sz="1050">
                <a:solidFill>
                  <a:srgbClr val="161B26"/>
                </a:solidFill>
                <a:latin typeface="Consolas"/>
              </a:rPr>
              <a:t>kubectl delete pod -l app=selfheal --force</a:t>
            </a:r>
          </a:p>
          <a:p>
            <a:pPr>
              <a:spcBef>
                <a:spcPts val="0"/>
              </a:spcBef>
              <a:spcAft>
                <a:spcPts val="0"/>
              </a:spcAft>
            </a:pPr>
            <a:r>
              <a:rPr sz="1050">
                <a:solidFill>
                  <a:srgbClr val="161B26"/>
                </a:solidFill>
                <a:latin typeface="Consolas"/>
              </a:rPr>
              <a:t>kubectl get pods -l app=selfheal -w</a:t>
            </a:r>
          </a:p>
          <a:p>
            <a:pPr>
              <a:spcBef>
                <a:spcPts val="0"/>
              </a:spcBef>
              <a:spcAft>
                <a:spcPts val="0"/>
              </a:spcAft>
            </a:pPr>
            <a:r>
              <a:rPr sz="1050">
                <a:solidFill>
                  <a:srgbClr val="161B26"/>
                </a:solidFill>
                <a:latin typeface="Consolas"/>
              </a:rPr>
              <a:t># New pods created immediately</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139</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DaemonSet: one pod per node</a:t>
            </a:r>
          </a:p>
        </p:txBody>
      </p:sp>
      <p:sp>
        <p:nvSpPr>
          <p:cNvPr id="8" name="Rounded Rectangle 7"/>
          <p:cNvSpPr/>
          <p:nvPr/>
        </p:nvSpPr>
        <p:spPr>
          <a:xfrm>
            <a:off x="777240" y="2075688"/>
            <a:ext cx="10652760" cy="408279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40827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99135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apps/v1</a:t>
            </a:r>
          </a:p>
          <a:p>
            <a:pPr>
              <a:spcBef>
                <a:spcPts val="0"/>
              </a:spcBef>
              <a:spcAft>
                <a:spcPts val="0"/>
              </a:spcAft>
            </a:pPr>
            <a:r>
              <a:rPr sz="1050">
                <a:solidFill>
                  <a:srgbClr val="161B26"/>
                </a:solidFill>
                <a:latin typeface="Consolas"/>
              </a:rPr>
              <a:t>kind: DaemonSet</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node-monitor</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app: node-monitor</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metadata:</a:t>
            </a:r>
          </a:p>
          <a:p>
            <a:pPr>
              <a:spcBef>
                <a:spcPts val="0"/>
              </a:spcBef>
              <a:spcAft>
                <a:spcPts val="0"/>
              </a:spcAft>
            </a:pPr>
            <a:r>
              <a:rPr sz="1050">
                <a:solidFill>
                  <a:srgbClr val="161B26"/>
                </a:solidFill>
                <a:latin typeface="Consolas"/>
              </a:rPr>
              <a:t>      labels:</a:t>
            </a:r>
          </a:p>
          <a:p>
            <a:pPr>
              <a:spcBef>
                <a:spcPts val="0"/>
              </a:spcBef>
              <a:spcAft>
                <a:spcPts val="0"/>
              </a:spcAft>
            </a:pPr>
            <a:r>
              <a:rPr sz="1050">
                <a:solidFill>
                  <a:srgbClr val="161B26"/>
                </a:solidFill>
                <a:latin typeface="Consolas"/>
              </a:rPr>
              <a:t>        app: node-monitor</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monitor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['sleep', '3600']</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daemonset</a:t>
            </a:r>
          </a:p>
          <a:p>
            <a:pPr>
              <a:spcBef>
                <a:spcPts val="0"/>
              </a:spcBef>
              <a:spcAft>
                <a:spcPts val="0"/>
              </a:spcAft>
            </a:pPr>
            <a:r>
              <a:rPr sz="1050">
                <a:solidFill>
                  <a:srgbClr val="161B26"/>
                </a:solidFill>
                <a:latin typeface="Consolas"/>
              </a:rPr>
              <a:t>kubectl get pods -l app=node-monitor -o wide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Liveness: fail -&gt; container restart. Readiness: fail -&gt; removed from Service endpoints. DaemonSet automatically places one pod per node, including newly joined nodes.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141</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Pod restarts when liveness probe fails. kubectl delete pod does not reduce ReplicaSet count. DaemonSet has exactly one pod per node.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142</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Pod Scheduling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Taints, tolerations, node affinity and resource requests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143</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WHERE PODS LAND</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Controls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nodeSelector is the simplest control — schedule only on nodes with matching key=value labels.</a:t>
            </a:r>
          </a:p>
          <a:p>
            <a:pPr>
              <a:spcBef>
                <a:spcPts val="0"/>
              </a:spcBef>
              <a:spcAft>
                <a:spcPts val="1000"/>
              </a:spcAft>
            </a:pPr>
            <a:r>
              <a:rPr sz="1900" b="1">
                <a:solidFill>
                  <a:srgbClr val="1F6FEB"/>
                </a:solidFill>
                <a:latin typeface="Arial"/>
              </a:rPr>
              <a:t>•  </a:t>
            </a:r>
            <a:r>
              <a:rPr sz="1900">
                <a:solidFill>
                  <a:srgbClr val="161B26"/>
                </a:solidFill>
                <a:latin typeface="Arial"/>
              </a:rPr>
              <a:t>Taints repel pods without a matching toleration; effects are NoSchedule, PreferNoSchedule and NoExecute.</a:t>
            </a:r>
          </a:p>
          <a:p>
            <a:pPr>
              <a:spcBef>
                <a:spcPts val="0"/>
              </a:spcBef>
              <a:spcAft>
                <a:spcPts val="1000"/>
              </a:spcAft>
            </a:pPr>
            <a:r>
              <a:rPr sz="1900" b="1">
                <a:solidFill>
                  <a:srgbClr val="1F6FEB"/>
                </a:solidFill>
                <a:latin typeface="Arial"/>
              </a:rPr>
              <a:t>•  </a:t>
            </a:r>
            <a:r>
              <a:rPr sz="1900">
                <a:solidFill>
                  <a:srgbClr val="161B26"/>
                </a:solidFill>
                <a:latin typeface="Arial"/>
              </a:rPr>
              <a:t>nodeAffinity allows required (hard) and preferred (soft) constraints using In/NotIn/Exists operators.</a:t>
            </a:r>
          </a:p>
          <a:p>
            <a:pPr>
              <a:spcBef>
                <a:spcPts val="0"/>
              </a:spcBef>
              <a:spcAft>
                <a:spcPts val="1000"/>
              </a:spcAft>
            </a:pPr>
            <a:r>
              <a:rPr sz="1900" b="1">
                <a:solidFill>
                  <a:srgbClr val="1F6FEB"/>
                </a:solidFill>
                <a:latin typeface="Arial"/>
              </a:rPr>
              <a:t>•  </a:t>
            </a:r>
            <a:r>
              <a:rPr sz="1900">
                <a:solidFill>
                  <a:srgbClr val="161B26"/>
                </a:solidFill>
                <a:latin typeface="Arial"/>
              </a:rPr>
              <a:t>resources.requests tell the scheduler how much CPU/memory a pod needs; limits cap consumption at runtime.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144</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2  ·  SCHEDULING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Scheduling Controls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09728" cy="10789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65960"/>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1F6FEB"/>
                </a:solidFill>
                <a:latin typeface="Arial"/>
              </a:rPr>
              <a:t>nodeSelector</a:t>
            </a:r>
          </a:p>
          <a:p>
            <a:pPr algn="l">
              <a:spcBef>
                <a:spcPts val="0"/>
              </a:spcBef>
              <a:spcAft>
                <a:spcPts val="300"/>
              </a:spcAft>
            </a:pPr>
            <a:r>
              <a:rPr sz="1200" b="0">
                <a:solidFill>
                  <a:srgbClr val="5B6372"/>
                </a:solidFill>
                <a:latin typeface="Arial"/>
              </a:rPr>
              <a:t>spec.nodeSelector: {gpu: 'true'}</a:t>
            </a:r>
          </a:p>
        </p:txBody>
      </p:sp>
      <p:sp>
        <p:nvSpPr>
          <p:cNvPr id="10" name="Right Arrow 9"/>
          <p:cNvSpPr/>
          <p:nvPr/>
        </p:nvSpPr>
        <p:spPr>
          <a:xfrm>
            <a:off x="5074920" y="2340864"/>
            <a:ext cx="640080" cy="329184"/>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965960"/>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Schedules only on nodes with matching labels — simplest scheduling control.</a:t>
            </a:r>
          </a:p>
        </p:txBody>
      </p:sp>
      <p:sp>
        <p:nvSpPr>
          <p:cNvPr id="12" name="Rounded Rectangle 11"/>
          <p:cNvSpPr/>
          <p:nvPr/>
        </p:nvSpPr>
        <p:spPr>
          <a:xfrm>
            <a:off x="777240" y="3163824"/>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4"/>
            <a:ext cx="109728" cy="10789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163824"/>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10B981"/>
                </a:solidFill>
                <a:latin typeface="Arial"/>
              </a:rPr>
              <a:t>Taints &amp; Tolerations</a:t>
            </a:r>
          </a:p>
          <a:p>
            <a:pPr algn="l">
              <a:spcBef>
                <a:spcPts val="0"/>
              </a:spcBef>
              <a:spcAft>
                <a:spcPts val="300"/>
              </a:spcAft>
            </a:pPr>
            <a:r>
              <a:rPr sz="1200" b="0">
                <a:solidFill>
                  <a:srgbClr val="5B6372"/>
                </a:solidFill>
                <a:latin typeface="Arial"/>
              </a:rPr>
              <a:t>kubectl taint node &lt;n&gt; key=val:NoSchedule</a:t>
            </a:r>
          </a:p>
        </p:txBody>
      </p:sp>
      <p:sp>
        <p:nvSpPr>
          <p:cNvPr id="15" name="Right Arrow 14"/>
          <p:cNvSpPr/>
          <p:nvPr/>
        </p:nvSpPr>
        <p:spPr>
          <a:xfrm>
            <a:off x="5074920" y="3538728"/>
            <a:ext cx="640080" cy="32918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3163824"/>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Node repels pods without a matching toleration. NoExecute also evicts running pods.</a:t>
            </a:r>
          </a:p>
        </p:txBody>
      </p:sp>
      <p:sp>
        <p:nvSpPr>
          <p:cNvPr id="17" name="Rounded Rectangle 16"/>
          <p:cNvSpPr/>
          <p:nvPr/>
        </p:nvSpPr>
        <p:spPr>
          <a:xfrm>
            <a:off x="777240" y="4361688"/>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361688"/>
            <a:ext cx="109728" cy="10789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61688"/>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nodeAffinity</a:t>
            </a:r>
          </a:p>
          <a:p>
            <a:pPr algn="l">
              <a:spcBef>
                <a:spcPts val="0"/>
              </a:spcBef>
              <a:spcAft>
                <a:spcPts val="300"/>
              </a:spcAft>
            </a:pPr>
            <a:r>
              <a:rPr sz="1200" b="0">
                <a:solidFill>
                  <a:srgbClr val="5B6372"/>
                </a:solidFill>
                <a:latin typeface="Arial"/>
              </a:rPr>
              <a:t>requiredDuringSchedulingIgnoredDuringExecution</a:t>
            </a:r>
          </a:p>
        </p:txBody>
      </p:sp>
      <p:sp>
        <p:nvSpPr>
          <p:cNvPr id="20" name="Right Arrow 19"/>
          <p:cNvSpPr/>
          <p:nvPr/>
        </p:nvSpPr>
        <p:spPr>
          <a:xfrm>
            <a:off x="5074920" y="4736592"/>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4361688"/>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Hard (required) or soft (preferred) rules. Operators: In / NotIn / Exists / Gt / Lt.</a:t>
            </a:r>
          </a:p>
        </p:txBody>
      </p:sp>
      <p:sp>
        <p:nvSpPr>
          <p:cNvPr id="22" name="Rounded Rectangle 21"/>
          <p:cNvSpPr/>
          <p:nvPr/>
        </p:nvSpPr>
        <p:spPr>
          <a:xfrm>
            <a:off x="777240" y="5486400"/>
            <a:ext cx="10652760" cy="384048"/>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486400"/>
            <a:ext cx="10149840" cy="384048"/>
          </a:xfrm>
          <a:prstGeom prst="rect">
            <a:avLst/>
          </a:prstGeom>
          <a:noFill/>
        </p:spPr>
        <p:txBody>
          <a:bodyPr wrap="square" anchor="ctr" lIns="0" rIns="0" tIns="0" bIns="0">
            <a:spAutoFit/>
          </a:bodyPr>
          <a:lstStyle/>
          <a:p>
            <a:pPr algn="l">
              <a:spcBef>
                <a:spcPts val="0"/>
              </a:spcBef>
              <a:spcAft>
                <a:spcPts val="400"/>
              </a:spcAft>
            </a:pPr>
            <a:r>
              <a:rPr sz="1200" b="1">
                <a:solidFill>
                  <a:srgbClr val="1F6FEB"/>
                </a:solidFill>
                <a:latin typeface="Arial"/>
              </a:rPr>
              <a:t>Also: </a:t>
            </a:r>
            <a:r>
              <a:rPr sz="1200" b="0">
                <a:solidFill>
                  <a:srgbClr val="161B26"/>
                </a:solidFill>
                <a:latin typeface="Arial"/>
              </a:rPr>
              <a:t>podAffinity / podAntiAffinity</a:t>
            </a:r>
            <a:r>
              <a:rPr sz="1200" b="0">
                <a:solidFill>
                  <a:srgbClr val="161B26"/>
                </a:solidFill>
                <a:latin typeface="Arial"/>
              </a:rPr>
              <a:t>  ·  resources.requests</a:t>
            </a:r>
            <a:r>
              <a:rPr sz="1200" b="0">
                <a:solidFill>
                  <a:srgbClr val="5B6372"/>
                </a:solidFill>
                <a:latin typeface="Arial"/>
              </a:rPr>
              <a:t> drive scheduling  ·  </a:t>
            </a:r>
            <a:r>
              <a:rPr sz="1200" b="0">
                <a:solidFill>
                  <a:srgbClr val="161B26"/>
                </a:solidFill>
                <a:latin typeface="Arial"/>
              </a:rPr>
              <a:t>priorityClass</a:t>
            </a:r>
            <a:r>
              <a:rPr sz="1200" b="0">
                <a:solidFill>
                  <a:srgbClr val="161B26"/>
                </a:solidFill>
                <a:latin typeface="Arial"/>
              </a:rPr>
              <a:t> pre-empts lower-priority pods</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145</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WHERE PODS LAND</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Scheduling Algorithm — Filter, Score, Select Node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2_s004_i1.png"/>
          <p:cNvPicPr>
            <a:picLocks noChangeAspect="1"/>
          </p:cNvPicPr>
          <p:nvPr/>
        </p:nvPicPr>
        <p:blipFill>
          <a:blip r:embed="rId2"/>
          <a:stretch>
            <a:fillRect/>
          </a:stretch>
        </p:blipFill>
        <p:spPr>
          <a:xfrm>
            <a:off x="5103570" y="1627632"/>
            <a:ext cx="2000099"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146</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SCHEDULING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nodeSelector, Node Affinity, Taints + Tolerations, Resource Requests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Scheduling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Control pod placement using nodeSelector for simple label matching, node affinity for flexible required/preferred placement rules, taints to repel pods from nodes, and tolerations to allow specific pods through taints.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Label nodes, create pod with nodeSelector, add required/preferred node affinity, taint a node (NoSchedule), add toleration, demonstrate resource-based scheduling.</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label · kubectl taint · » Taint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147</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nodeSelector, Node Affinity, Taints + Tolerations, Resource Requests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nodeSelector: simple label matching</a:t>
            </a:r>
          </a:p>
        </p:txBody>
      </p:sp>
      <p:sp>
        <p:nvSpPr>
          <p:cNvPr id="8" name="Rounded Rectangle 7"/>
          <p:cNvSpPr/>
          <p:nvPr/>
        </p:nvSpPr>
        <p:spPr>
          <a:xfrm>
            <a:off x="777240" y="2075688"/>
            <a:ext cx="10652760" cy="277063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7706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67919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label node worker01 disk=ssd</a:t>
            </a:r>
          </a:p>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ssd-pod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nodeSelector:</a:t>
            </a:r>
          </a:p>
          <a:p>
            <a:pPr>
              <a:spcBef>
                <a:spcPts val="0"/>
              </a:spcBef>
              <a:spcAft>
                <a:spcPts val="0"/>
              </a:spcAft>
            </a:pPr>
            <a:r>
              <a:rPr sz="1050">
                <a:solidFill>
                  <a:srgbClr val="161B26"/>
                </a:solidFill>
                <a:latin typeface="Consolas"/>
              </a:rPr>
              <a:t>    disk: ssd</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app</a:t>
            </a:r>
          </a:p>
          <a:p>
            <a:pPr>
              <a:spcBef>
                <a:spcPts val="0"/>
              </a:spcBef>
              <a:spcAft>
                <a:spcPts val="0"/>
              </a:spcAft>
            </a:pPr>
            <a:r>
              <a:rPr sz="1050">
                <a:solidFill>
                  <a:srgbClr val="161B26"/>
                </a:solidFill>
                <a:latin typeface="Consolas"/>
              </a:rPr>
              <a:t>    image: nginx</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pod ssd-pod -o wide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148</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nodeSelector, Node Affinity, Taints + Tolerations, Resource Requests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Node Affinity</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requiredDuringSchedulingIgnoredDuringExecution: hard constraint</a:t>
            </a:r>
          </a:p>
          <a:p>
            <a:pPr>
              <a:spcBef>
                <a:spcPts val="0"/>
              </a:spcBef>
              <a:spcAft>
                <a:spcPts val="0"/>
              </a:spcAft>
            </a:pPr>
            <a:r>
              <a:rPr sz="1050">
                <a:solidFill>
                  <a:srgbClr val="161B26"/>
                </a:solidFill>
                <a:latin typeface="Consolas"/>
              </a:rPr>
              <a:t># preferredDuringSchedulingIgnoredDuringExecution: soft preference</a:t>
            </a:r>
          </a:p>
          <a:p>
            <a:pPr>
              <a:spcBef>
                <a:spcPts val="0"/>
              </a:spcBef>
              <a:spcAft>
                <a:spcPts val="0"/>
              </a:spcAft>
            </a:pPr>
            <a:r>
              <a:rPr sz="1050">
                <a:solidFill>
                  <a:srgbClr val="161B26"/>
                </a:solidFill>
                <a:latin typeface="Consolas"/>
              </a:rPr>
              <a:t># Check: kubectl get pod affinity-pod -o wide</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Taints and Tolerations</a:t>
            </a:r>
          </a:p>
        </p:txBody>
      </p:sp>
      <p:sp>
        <p:nvSpPr>
          <p:cNvPr id="12" name="Rounded Rectangle 11"/>
          <p:cNvSpPr/>
          <p:nvPr/>
        </p:nvSpPr>
        <p:spPr>
          <a:xfrm>
            <a:off x="777240" y="3351276"/>
            <a:ext cx="10652760" cy="20208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2020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19293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taint node worker01 special=gpu:NoSchedule</a:t>
            </a:r>
          </a:p>
          <a:p>
            <a:pPr>
              <a:spcBef>
                <a:spcPts val="0"/>
              </a:spcBef>
              <a:spcAft>
                <a:spcPts val="0"/>
              </a:spcAft>
            </a:pPr>
            <a:r>
              <a:rPr sz="1050">
                <a:solidFill>
                  <a:srgbClr val="161B26"/>
                </a:solidFill>
                <a:latin typeface="Consolas"/>
              </a:rPr>
              <a:t>kubectl run blocked --image=nginx</a:t>
            </a:r>
          </a:p>
          <a:p>
            <a:pPr>
              <a:spcBef>
                <a:spcPts val="0"/>
              </a:spcBef>
              <a:spcAft>
                <a:spcPts val="0"/>
              </a:spcAft>
            </a:pPr>
            <a:r>
              <a:rPr sz="1050">
                <a:solidFill>
                  <a:srgbClr val="161B26"/>
                </a:solidFill>
                <a:latin typeface="Consolas"/>
              </a:rPr>
              <a:t>kubectl get pod blocked -o wide</a:t>
            </a:r>
          </a:p>
          <a:p>
            <a:pPr>
              <a:spcBef>
                <a:spcPts val="0"/>
              </a:spcBef>
              <a:spcAft>
                <a:spcPts val="0"/>
              </a:spcAft>
            </a:pPr>
            <a:r>
              <a:rPr sz="1050">
                <a:solidFill>
                  <a:srgbClr val="161B26"/>
                </a:solidFill>
                <a:latin typeface="Consolas"/>
              </a:rPr>
              <a:t># Stays Pending -- no toleration</a:t>
            </a:r>
          </a:p>
          <a:p>
            <a:pPr>
              <a:spcBef>
                <a:spcPts val="0"/>
              </a:spcBef>
              <a:spcAft>
                <a:spcPts val="0"/>
              </a:spcAft>
            </a:pPr>
            <a:r>
              <a:rPr sz="1050">
                <a:solidFill>
                  <a:srgbClr val="161B26"/>
                </a:solidFill>
                <a:latin typeface="Consolas"/>
              </a:rPr>
              <a:t># Add toleration:</a:t>
            </a:r>
          </a:p>
          <a:p>
            <a:pPr>
              <a:spcBef>
                <a:spcPts val="0"/>
              </a:spcBef>
              <a:spcAft>
                <a:spcPts val="0"/>
              </a:spcAft>
            </a:pPr>
            <a:r>
              <a:rPr sz="1050">
                <a:solidFill>
                  <a:srgbClr val="161B26"/>
                </a:solidFill>
                <a:latin typeface="Consolas"/>
              </a:rPr>
              <a:t>tolerations:</a:t>
            </a:r>
          </a:p>
          <a:p>
            <a:pPr>
              <a:spcBef>
                <a:spcPts val="0"/>
              </a:spcBef>
              <a:spcAft>
                <a:spcPts val="0"/>
              </a:spcAft>
            </a:pPr>
            <a:r>
              <a:rPr sz="1050">
                <a:solidFill>
                  <a:srgbClr val="161B26"/>
                </a:solidFill>
                <a:latin typeface="Consolas"/>
              </a:rPr>
              <a:t>- key: special</a:t>
            </a:r>
          </a:p>
          <a:p>
            <a:pPr>
              <a:spcBef>
                <a:spcPts val="0"/>
              </a:spcBef>
              <a:spcAft>
                <a:spcPts val="0"/>
              </a:spcAft>
            </a:pPr>
            <a:r>
              <a:rPr sz="1050">
                <a:solidFill>
                  <a:srgbClr val="161B26"/>
                </a:solidFill>
                <a:latin typeface="Consolas"/>
              </a:rPr>
              <a:t>  operator: Equal</a:t>
            </a:r>
          </a:p>
          <a:p>
            <a:pPr>
              <a:spcBef>
                <a:spcPts val="0"/>
              </a:spcBef>
              <a:spcAft>
                <a:spcPts val="0"/>
              </a:spcAft>
            </a:pPr>
            <a:r>
              <a:rPr sz="1050">
                <a:solidFill>
                  <a:srgbClr val="161B26"/>
                </a:solidFill>
                <a:latin typeface="Consolas"/>
              </a:rPr>
              <a:t>  value: gpu</a:t>
            </a:r>
          </a:p>
          <a:p>
            <a:pPr>
              <a:spcBef>
                <a:spcPts val="0"/>
              </a:spcBef>
              <a:spcAft>
                <a:spcPts val="0"/>
              </a:spcAft>
            </a:pPr>
            <a:r>
              <a:rPr sz="1050">
                <a:solidFill>
                  <a:srgbClr val="161B26"/>
                </a:solidFill>
                <a:latin typeface="Consolas"/>
              </a:rPr>
              <a:t>  effect: NoSchedule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149</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nodeSelector, Node Affinity, Taints + Tolerations, Resource Requests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Remove taint and clean up</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taint node worker01 special=gpu:NoSchedule-</a:t>
            </a:r>
          </a:p>
          <a:p>
            <a:pPr>
              <a:spcBef>
                <a:spcPts val="0"/>
              </a:spcBef>
              <a:spcAft>
                <a:spcPts val="0"/>
              </a:spcAft>
            </a:pPr>
            <a:r>
              <a:rPr sz="1050">
                <a:solidFill>
                  <a:srgbClr val="161B26"/>
                </a:solidFill>
                <a:latin typeface="Consolas"/>
              </a:rPr>
              <a:t>kubectl get pods</a:t>
            </a:r>
          </a:p>
        </p:txBody>
      </p:sp>
      <p:sp>
        <p:nvSpPr>
          <p:cNvPr id="11" name="TextBox 10"/>
          <p:cNvSpPr txBox="1"/>
          <p:nvPr/>
        </p:nvSpPr>
        <p:spPr>
          <a:xfrm>
            <a:off x="777240" y="277977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Taint effects: NoSchedule (hard reject), PreferNoSchedule (soft reject), NoExecute (evict existing pods). Tolerations do NOT guarantee placement on the tainted node.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nodeSelector, Node Affinity, Taints + Tolerations, Resource Requests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nodeSelector pod lands on worker01 (disk=ssd). Tainted node rejects pods without toleration. Pod with matching toleration schedules on the tainted node.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151</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Pod Connectivity &amp; Services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How Pods communicate and are exposed</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152</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NETWORKING BASICS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Pod-to-Pod Connectivity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Every pod gets a unique IP from the pod CIDR; all pods can reach each other without NAT (flat network).</a:t>
            </a:r>
          </a:p>
          <a:p>
            <a:pPr>
              <a:spcBef>
                <a:spcPts val="0"/>
              </a:spcBef>
              <a:spcAft>
                <a:spcPts val="1000"/>
              </a:spcAft>
            </a:pPr>
            <a:r>
              <a:rPr sz="1900" b="1">
                <a:solidFill>
                  <a:srgbClr val="1F6FEB"/>
                </a:solidFill>
                <a:latin typeface="Arial"/>
              </a:rPr>
              <a:t>•  </a:t>
            </a:r>
            <a:r>
              <a:rPr sz="1900">
                <a:solidFill>
                  <a:srgbClr val="161B26"/>
                </a:solidFill>
                <a:latin typeface="Arial"/>
              </a:rPr>
              <a:t>The CNI plugin implements this — without it, cross-node pod traffic fails.</a:t>
            </a:r>
          </a:p>
          <a:p>
            <a:pPr>
              <a:spcBef>
                <a:spcPts val="0"/>
              </a:spcBef>
              <a:spcAft>
                <a:spcPts val="1000"/>
              </a:spcAft>
            </a:pPr>
            <a:r>
              <a:rPr sz="1900" b="1">
                <a:solidFill>
                  <a:srgbClr val="1F6FEB"/>
                </a:solidFill>
                <a:latin typeface="Arial"/>
              </a:rPr>
              <a:t>•  </a:t>
            </a:r>
            <a:r>
              <a:rPr sz="1900">
                <a:solidFill>
                  <a:srgbClr val="161B26"/>
                </a:solidFill>
                <a:latin typeface="Arial"/>
              </a:rPr>
              <a:t>Pod IPs are ephemeral — use a Service for stable addressing across restarts and scaling.</a:t>
            </a:r>
          </a:p>
          <a:p>
            <a:pPr>
              <a:spcBef>
                <a:spcPts val="0"/>
              </a:spcBef>
              <a:spcAft>
                <a:spcPts val="1000"/>
              </a:spcAft>
            </a:pPr>
            <a:r>
              <a:rPr sz="1900" b="1">
                <a:solidFill>
                  <a:srgbClr val="1F6FEB"/>
                </a:solidFill>
                <a:latin typeface="Arial"/>
              </a:rPr>
              <a:t>•  </a:t>
            </a:r>
            <a:r>
              <a:rPr sz="1900">
                <a:solidFill>
                  <a:srgbClr val="161B26"/>
                </a:solidFill>
                <a:latin typeface="Arial"/>
              </a:rPr>
              <a:t>kubectl exec &lt;pod&gt; -- curl &lt;podIP&gt;:&lt;port&gt; verifies direct pod-level connectivity bypassing the Service.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153</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CLUSTERIP  NODEPORT  LOADBALANCER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09728" cy="10789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65960"/>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1F6FEB"/>
                </a:solidFill>
                <a:latin typeface="Arial"/>
              </a:rPr>
              <a:t>ClusterIP</a:t>
            </a:r>
          </a:p>
          <a:p>
            <a:pPr algn="l">
              <a:spcBef>
                <a:spcPts val="0"/>
              </a:spcBef>
              <a:spcAft>
                <a:spcPts val="300"/>
              </a:spcAft>
            </a:pPr>
            <a:r>
              <a:rPr sz="1200" b="0">
                <a:solidFill>
                  <a:srgbClr val="5B6372"/>
                </a:solidFill>
                <a:latin typeface="Arial"/>
              </a:rPr>
              <a:t>default — virtual IP only inside cluster</a:t>
            </a:r>
          </a:p>
        </p:txBody>
      </p:sp>
      <p:sp>
        <p:nvSpPr>
          <p:cNvPr id="10" name="Right Arrow 9"/>
          <p:cNvSpPr/>
          <p:nvPr/>
        </p:nvSpPr>
        <p:spPr>
          <a:xfrm>
            <a:off x="5074920" y="2340864"/>
            <a:ext cx="640080" cy="329184"/>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965960"/>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stable DNS + VIP for pod-to-pod; not reachable from outside</a:t>
            </a:r>
          </a:p>
        </p:txBody>
      </p:sp>
      <p:sp>
        <p:nvSpPr>
          <p:cNvPr id="12" name="Rounded Rectangle 11"/>
          <p:cNvSpPr/>
          <p:nvPr/>
        </p:nvSpPr>
        <p:spPr>
          <a:xfrm>
            <a:off x="777240" y="3163824"/>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4"/>
            <a:ext cx="109728" cy="10789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163824"/>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10B981"/>
                </a:solidFill>
                <a:latin typeface="Arial"/>
              </a:rPr>
              <a:t>NodePort</a:t>
            </a:r>
          </a:p>
          <a:p>
            <a:pPr algn="l">
              <a:spcBef>
                <a:spcPts val="0"/>
              </a:spcBef>
              <a:spcAft>
                <a:spcPts val="300"/>
              </a:spcAft>
            </a:pPr>
            <a:r>
              <a:rPr sz="1200" b="0">
                <a:solidFill>
                  <a:srgbClr val="5B6372"/>
                </a:solidFill>
                <a:latin typeface="Arial"/>
              </a:rPr>
              <a:t>exposes port 30000-32767 on every node</a:t>
            </a:r>
          </a:p>
        </p:txBody>
      </p:sp>
      <p:sp>
        <p:nvSpPr>
          <p:cNvPr id="15" name="Right Arrow 14"/>
          <p:cNvSpPr/>
          <p:nvPr/>
        </p:nvSpPr>
        <p:spPr>
          <a:xfrm>
            <a:off x="5074920" y="3538728"/>
            <a:ext cx="640080" cy="32918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3163824"/>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external access without a cloud LB; good for bare-metal</a:t>
            </a:r>
          </a:p>
        </p:txBody>
      </p:sp>
      <p:sp>
        <p:nvSpPr>
          <p:cNvPr id="17" name="Rounded Rectangle 16"/>
          <p:cNvSpPr/>
          <p:nvPr/>
        </p:nvSpPr>
        <p:spPr>
          <a:xfrm>
            <a:off x="777240" y="4361688"/>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361688"/>
            <a:ext cx="109728" cy="10789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61688"/>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LoadBalancer</a:t>
            </a:r>
          </a:p>
          <a:p>
            <a:pPr algn="l">
              <a:spcBef>
                <a:spcPts val="0"/>
              </a:spcBef>
              <a:spcAft>
                <a:spcPts val="300"/>
              </a:spcAft>
            </a:pPr>
            <a:r>
              <a:rPr sz="1200" b="0">
                <a:solidFill>
                  <a:srgbClr val="5B6372"/>
                </a:solidFill>
                <a:latin typeface="Arial"/>
              </a:rPr>
              <a:t>provisions cloud/MetalLB external IP</a:t>
            </a:r>
          </a:p>
        </p:txBody>
      </p:sp>
      <p:sp>
        <p:nvSpPr>
          <p:cNvPr id="20" name="Right Arrow 19"/>
          <p:cNvSpPr/>
          <p:nvPr/>
        </p:nvSpPr>
        <p:spPr>
          <a:xfrm>
            <a:off x="5074920" y="4736592"/>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4361688"/>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production external access; builds on NodePort</a:t>
            </a:r>
          </a:p>
        </p:txBody>
      </p:sp>
      <p:sp>
        <p:nvSpPr>
          <p:cNvPr id="22" name="Rounded Rectangle 21"/>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1">
                <a:solidFill>
                  <a:srgbClr val="161B26"/>
                </a:solidFill>
                <a:latin typeface="Arial"/>
              </a:rPr>
              <a:t>kubectl get endpoints &lt;svc&gt;</a:t>
            </a:r>
            <a:r>
              <a:rPr sz="1300" b="0">
                <a:solidFill>
                  <a:srgbClr val="5B6372"/>
                </a:solidFill>
                <a:latin typeface="Arial"/>
              </a:rPr>
              <a:t> — verify the Service is selecting the right pods.</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154</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POD CONNECTIVITY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Connectivity: Flat Pod Network, ping, curl, DNS Discovery, netshoot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Pod networking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Verify pod-to-pod communication using ping and curl, test DNS-based service discovery, trace network paths with traceroute, and use nicolaka/netshoot as a network debugging toolkit. Pod networking fundamentals are the foundation for the 20% Services &amp; Networking domain.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Deploy server-pod and client-pod, ping by Pod IP, curl by Service DNS name, nslookup kubernetes.default, traceroute between pods.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run · SERVER_IP=$(kubectl get · kubectl exec · » DNS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155</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Connectivity: Flat Pod Network, ping, curl, DNS Discovery, netshoot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Deploy test pods</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server-pod --image=nginx --labels='role=server'</a:t>
            </a:r>
          </a:p>
          <a:p>
            <a:pPr>
              <a:spcBef>
                <a:spcPts val="0"/>
              </a:spcBef>
              <a:spcAft>
                <a:spcPts val="0"/>
              </a:spcAft>
            </a:pPr>
            <a:r>
              <a:rPr sz="1050">
                <a:solidFill>
                  <a:srgbClr val="161B26"/>
                </a:solidFill>
                <a:latin typeface="Consolas"/>
              </a:rPr>
              <a:t>kubectl expose pod server-pod --port=80 --name=server-svc</a:t>
            </a:r>
          </a:p>
          <a:p>
            <a:pPr>
              <a:spcBef>
                <a:spcPts val="0"/>
              </a:spcBef>
              <a:spcAft>
                <a:spcPts val="0"/>
              </a:spcAft>
            </a:pPr>
            <a:r>
              <a:rPr sz="1050">
                <a:solidFill>
                  <a:srgbClr val="161B26"/>
                </a:solidFill>
                <a:latin typeface="Consolas"/>
              </a:rPr>
              <a:t>kubectl run client-pod --image=nicolaka/netshoot --command -- sleep 3600</a:t>
            </a:r>
          </a:p>
          <a:p>
            <a:pPr>
              <a:spcBef>
                <a:spcPts val="0"/>
              </a:spcBef>
              <a:spcAft>
                <a:spcPts val="0"/>
              </a:spcAft>
            </a:pPr>
            <a:r>
              <a:rPr sz="1050">
                <a:solidFill>
                  <a:srgbClr val="161B26"/>
                </a:solidFill>
                <a:latin typeface="Consolas"/>
              </a:rPr>
              <a:t>kubectl get pods -o wide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Ping by Pod IP</a:t>
            </a:r>
          </a:p>
        </p:txBody>
      </p:sp>
      <p:sp>
        <p:nvSpPr>
          <p:cNvPr id="12" name="Rounded Rectangle 11"/>
          <p:cNvSpPr/>
          <p:nvPr/>
        </p:nvSpPr>
        <p:spPr>
          <a:xfrm>
            <a:off x="777240" y="353872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SERVER_IP=$(kubectl get pod server-pod -o jsonpath='{.status.podIP}')</a:t>
            </a:r>
          </a:p>
          <a:p>
            <a:pPr>
              <a:spcBef>
                <a:spcPts val="0"/>
              </a:spcBef>
              <a:spcAft>
                <a:spcPts val="0"/>
              </a:spcAft>
            </a:pPr>
            <a:r>
              <a:rPr sz="1050">
                <a:solidFill>
                  <a:srgbClr val="161B26"/>
                </a:solidFill>
                <a:latin typeface="Consolas"/>
              </a:rPr>
              <a:t>kubectl exec client-pod -- ping -c 4 $SERVER_IP</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DNS-based service discovery</a:t>
            </a:r>
          </a:p>
        </p:txBody>
      </p:sp>
      <p:sp>
        <p:nvSpPr>
          <p:cNvPr id="16" name="Rounded Rectangle 15"/>
          <p:cNvSpPr/>
          <p:nvPr/>
        </p:nvSpPr>
        <p:spPr>
          <a:xfrm>
            <a:off x="777240" y="4626863"/>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exec client-pod -- curl -s http://server-svc.default.svc.cluster.local</a:t>
            </a:r>
          </a:p>
          <a:p>
            <a:pPr>
              <a:spcBef>
                <a:spcPts val="0"/>
              </a:spcBef>
              <a:spcAft>
                <a:spcPts val="0"/>
              </a:spcAft>
            </a:pPr>
            <a:r>
              <a:rPr sz="1050">
                <a:solidFill>
                  <a:srgbClr val="161B26"/>
                </a:solidFill>
                <a:latin typeface="Consolas"/>
              </a:rPr>
              <a:t>kubectl exec client-pod -- nslookup kubernetes.default.svc.cluster.local</a:t>
            </a:r>
          </a:p>
          <a:p>
            <a:pPr>
              <a:spcBef>
                <a:spcPts val="0"/>
              </a:spcBef>
              <a:spcAft>
                <a:spcPts val="0"/>
              </a:spcAft>
            </a:pPr>
            <a:r>
              <a:rPr sz="1050">
                <a:solidFill>
                  <a:srgbClr val="161B26"/>
                </a:solidFill>
                <a:latin typeface="Consolas"/>
              </a:rPr>
              <a:t>kubectl exec client-pod -- cat /etc/resolv.conf</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156</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Connectivity: Flat Pod Network, ping, curl, DNS Discovery, netshoot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Network debugging with netshoot</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exec client-pod -- traceroute $SERVER_IP</a:t>
            </a:r>
          </a:p>
          <a:p>
            <a:pPr>
              <a:spcBef>
                <a:spcPts val="0"/>
              </a:spcBef>
              <a:spcAft>
                <a:spcPts val="0"/>
              </a:spcAft>
            </a:pPr>
            <a:r>
              <a:rPr sz="1050">
                <a:solidFill>
                  <a:srgbClr val="161B26"/>
                </a:solidFill>
                <a:latin typeface="Consolas"/>
              </a:rPr>
              <a:t>kubectl exec client-pod -- dig server-svc.default.svc.cluster.local</a:t>
            </a:r>
          </a:p>
          <a:p>
            <a:pPr>
              <a:spcBef>
                <a:spcPts val="0"/>
              </a:spcBef>
              <a:spcAft>
                <a:spcPts val="0"/>
              </a:spcAft>
            </a:pPr>
            <a:r>
              <a:rPr sz="1050">
                <a:solidFill>
                  <a:srgbClr val="161B26"/>
                </a:solidFill>
                <a:latin typeface="Consolas"/>
              </a:rPr>
              <a:t>kubectl exec client-pod -- ss -tulpn</a:t>
            </a:r>
          </a:p>
        </p:txBody>
      </p:sp>
      <p:sp>
        <p:nvSpPr>
          <p:cNvPr id="11" name="TextBox 10"/>
          <p:cNvSpPr txBox="1"/>
          <p:nvPr/>
        </p:nvSpPr>
        <p:spPr>
          <a:xfrm>
            <a:off x="777240" y="2967228"/>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DNS pattern: &lt;service&gt;.&lt;namespace&gt;.svc.cluster.local. nicolaka/netshoot includes ping, curl, dig, traceroute, nmap, tshark, tcpdump.</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157</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Connectivity: Flat Pod Network, ping, curl, DNS Discovery, netshoot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Ping to server-pod IP returns 0% loss. curl to service DNS returns nginx HTML. nslookup kubernetes.default resolves to the ClusterIP of the kubernetes service.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158</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SERVICE TYPES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Types: ClusterIP, NodePort, LoadBalancer (MetalLB), EndpointSlices, Selector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Service types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and test all three primary service types -- ClusterIP, NodePort, and LoadBalancer with MetalLB -- inspect EndpointSlice objects, and debug selector mismatches that cause services to have no endpoints. Service types are heavily tested (20% CKA domain).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ClusterIP, NodePort with custom port, inspect EndpointSlices, create service with wrong selector and debug/fix it.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expose · » EndpointSlices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159</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Types: ClusterIP, NodePort, LoadBalancer (MetalLB), EndpointSlices, Selector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ClusterIP service</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webapp --image=nginx --replicas=3</a:t>
            </a:r>
          </a:p>
          <a:p>
            <a:pPr>
              <a:spcBef>
                <a:spcPts val="0"/>
              </a:spcBef>
              <a:spcAft>
                <a:spcPts val="0"/>
              </a:spcAft>
            </a:pPr>
            <a:r>
              <a:rPr sz="1050">
                <a:solidFill>
                  <a:srgbClr val="161B26"/>
                </a:solidFill>
                <a:latin typeface="Consolas"/>
              </a:rPr>
              <a:t>kubectl expose deployment webapp --port=80 --type=ClusterIP</a:t>
            </a:r>
          </a:p>
          <a:p>
            <a:pPr>
              <a:spcBef>
                <a:spcPts val="0"/>
              </a:spcBef>
              <a:spcAft>
                <a:spcPts val="0"/>
              </a:spcAft>
            </a:pPr>
            <a:r>
              <a:rPr sz="1050">
                <a:solidFill>
                  <a:srgbClr val="161B26"/>
                </a:solidFill>
                <a:latin typeface="Consolas"/>
              </a:rPr>
              <a:t>kubectl get svc webapp</a:t>
            </a:r>
          </a:p>
          <a:p>
            <a:pPr>
              <a:spcBef>
                <a:spcPts val="0"/>
              </a:spcBef>
              <a:spcAft>
                <a:spcPts val="0"/>
              </a:spcAft>
            </a:pPr>
            <a:r>
              <a:rPr sz="1050">
                <a:solidFill>
                  <a:srgbClr val="161B26"/>
                </a:solidFill>
                <a:latin typeface="Consolas"/>
              </a:rPr>
              <a:t>kubectl get endpointslices -l kubernetes.io/service-name=webapp</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NodePort service</a:t>
            </a:r>
          </a:p>
        </p:txBody>
      </p:sp>
      <p:sp>
        <p:nvSpPr>
          <p:cNvPr id="12" name="Rounded Rectangle 11"/>
          <p:cNvSpPr/>
          <p:nvPr/>
        </p:nvSpPr>
        <p:spPr>
          <a:xfrm>
            <a:off x="777240" y="353872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expose deployment webapp --port=80 --type=NodePort --name=webapp-np</a:t>
            </a:r>
          </a:p>
          <a:p>
            <a:pPr>
              <a:spcBef>
                <a:spcPts val="0"/>
              </a:spcBef>
              <a:spcAft>
                <a:spcPts val="0"/>
              </a:spcAft>
            </a:pPr>
            <a:r>
              <a:rPr sz="1050">
                <a:solidFill>
                  <a:srgbClr val="161B26"/>
                </a:solidFill>
                <a:latin typeface="Consolas"/>
              </a:rPr>
              <a:t>NODE_PORT=$(kubectl get svc webapp-np -o jsonpath='{.spec.ports[0].nodePort}')</a:t>
            </a:r>
          </a:p>
          <a:p>
            <a:pPr>
              <a:spcBef>
                <a:spcPts val="0"/>
              </a:spcBef>
              <a:spcAft>
                <a:spcPts val="0"/>
              </a:spcAft>
            </a:pPr>
            <a:r>
              <a:rPr sz="1050">
                <a:solidFill>
                  <a:srgbClr val="161B26"/>
                </a:solidFill>
                <a:latin typeface="Consolas"/>
              </a:rPr>
              <a:t>echo "NodePort: $NODE_PORT"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Types: ClusterIP, NodePort, LoadBalancer (MetalLB), EndpointSlices, Selector Debug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Debug: selector mismatch causing no endpoints</a:t>
            </a:r>
          </a:p>
        </p:txBody>
      </p:sp>
      <p:sp>
        <p:nvSpPr>
          <p:cNvPr id="8" name="Rounded Rectangle 7"/>
          <p:cNvSpPr/>
          <p:nvPr/>
        </p:nvSpPr>
        <p:spPr>
          <a:xfrm>
            <a:off x="777240" y="207568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Create service with wrong selector</a:t>
            </a:r>
          </a:p>
          <a:p>
            <a:pPr>
              <a:spcBef>
                <a:spcPts val="0"/>
              </a:spcBef>
              <a:spcAft>
                <a:spcPts val="0"/>
              </a:spcAft>
            </a:pPr>
            <a:r>
              <a:rPr sz="1050">
                <a:solidFill>
                  <a:srgbClr val="161B26"/>
                </a:solidFill>
                <a:latin typeface="Consolas"/>
              </a:rPr>
              <a:t>kubectl expose deployment webapp --port=80 --name=broken-svc</a:t>
            </a:r>
          </a:p>
          <a:p>
            <a:pPr>
              <a:spcBef>
                <a:spcPts val="0"/>
              </a:spcBef>
              <a:spcAft>
                <a:spcPts val="0"/>
              </a:spcAft>
            </a:pPr>
            <a:r>
              <a:rPr sz="1050">
                <a:solidFill>
                  <a:srgbClr val="161B26"/>
                </a:solidFill>
                <a:latin typeface="Consolas"/>
              </a:rPr>
              <a:t>kubectl patch svc broken-svc -p '{"spec":{"selector":{"app":"wrong"}}}'</a:t>
            </a:r>
          </a:p>
          <a:p>
            <a:pPr>
              <a:spcBef>
                <a:spcPts val="0"/>
              </a:spcBef>
              <a:spcAft>
                <a:spcPts val="0"/>
              </a:spcAft>
            </a:pPr>
            <a:r>
              <a:rPr sz="1050">
                <a:solidFill>
                  <a:srgbClr val="161B26"/>
                </a:solidFill>
                <a:latin typeface="Consolas"/>
              </a:rPr>
              <a:t>kubectl get endpoints broken-svc</a:t>
            </a:r>
          </a:p>
          <a:p>
            <a:pPr>
              <a:spcBef>
                <a:spcPts val="0"/>
              </a:spcBef>
              <a:spcAft>
                <a:spcPts val="0"/>
              </a:spcAft>
            </a:pPr>
            <a:r>
              <a:rPr sz="1050">
                <a:solidFill>
                  <a:srgbClr val="161B26"/>
                </a:solidFill>
                <a:latin typeface="Consolas"/>
              </a:rPr>
              <a:t># &lt;none&gt; -- no matching pods</a:t>
            </a:r>
          </a:p>
          <a:p>
            <a:pPr>
              <a:spcBef>
                <a:spcPts val="0"/>
              </a:spcBef>
              <a:spcAft>
                <a:spcPts val="0"/>
              </a:spcAft>
            </a:pPr>
            <a:r>
              <a:rPr sz="1050">
                <a:solidFill>
                  <a:srgbClr val="161B26"/>
                </a:solidFill>
                <a:latin typeface="Consolas"/>
              </a:rPr>
              <a:t># Fix: correct the selector</a:t>
            </a:r>
          </a:p>
          <a:p>
            <a:pPr>
              <a:spcBef>
                <a:spcPts val="0"/>
              </a:spcBef>
              <a:spcAft>
                <a:spcPts val="0"/>
              </a:spcAft>
            </a:pPr>
            <a:r>
              <a:rPr sz="1050">
                <a:solidFill>
                  <a:srgbClr val="161B26"/>
                </a:solidFill>
                <a:latin typeface="Consolas"/>
              </a:rPr>
              <a:t>kubectl patch svc broken-svc -p '{"spec":{"selector":{"app":"webapp"}}}'</a:t>
            </a:r>
          </a:p>
        </p:txBody>
      </p:sp>
      <p:sp>
        <p:nvSpPr>
          <p:cNvPr id="11" name="TextBox 10"/>
          <p:cNvSpPr txBox="1"/>
          <p:nvPr/>
        </p:nvSpPr>
        <p:spPr>
          <a:xfrm>
            <a:off x="777240" y="371703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EndpointSlices replace Endpoints in Kubernetes v1.21+. A service with no endpoints usually means a selector label mismatch. Compare: kubectl describe svc vs kubectl get pods --show-labels.</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161</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Types: ClusterIP, NodePort, LoadBalancer (MetalLB), EndpointSlices, Selector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ClusterIP routes traffic to all 3 pods. NodePort is accessible from node IP. broken-svc has no endpoints; fixing selector restores them immediately.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162</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WRAP-UP</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Day 2 done — workloads, scheduling and basic services.</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Tomorrow: Ingress, Gateway API, NetworkPolicy, Storage and Troubleshooting.</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163</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6" name="TextBox 5"/>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Certified Kubernetes Administrator (CKA)</a:t>
            </a:r>
          </a:p>
        </p:txBody>
      </p:sp>
      <p:sp>
        <p:nvSpPr>
          <p:cNvPr id="7" name="Rectangle 6"/>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TGS-2025054612</a:t>
            </a:r>
          </a:p>
          <a:p>
            <a:pPr algn="l">
              <a:spcBef>
                <a:spcPts val="0"/>
              </a:spcBef>
              <a:spcAft>
                <a:spcPts val="600"/>
              </a:spcAft>
            </a:pPr>
            <a:r>
              <a:rPr sz="1400" b="0">
                <a:solidFill>
                  <a:srgbClr val="5B6372"/>
                </a:solidFill>
                <a:latin typeface="Arial"/>
              </a:rPr>
              <a:t>Conducted by Tertiary Infotech Academy Pte Ltd  ·  UEN 201200696W</a:t>
            </a:r>
          </a:p>
        </p:txBody>
      </p:sp>
      <p:sp>
        <p:nvSpPr>
          <p:cNvPr id="9" name="TextBox 8"/>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Networking, Storage &amp; Troubleshooting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Domains 3, 4 &amp; 5 — Labs 19–28</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03</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164</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165</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DAY 3 OBJECTIVES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Recap &amp; Today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Yesterday: CRDs, extension interfaces, Deployments, ConfigMaps, Secrets, HPA, scheduling and Services.</a:t>
            </a:r>
          </a:p>
          <a:p>
            <a:pPr>
              <a:spcBef>
                <a:spcPts val="0"/>
              </a:spcBef>
              <a:spcAft>
                <a:spcPts val="1000"/>
              </a:spcAft>
            </a:pPr>
            <a:r>
              <a:rPr sz="1900" b="1">
                <a:solidFill>
                  <a:srgbClr val="1F6FEB"/>
                </a:solidFill>
                <a:latin typeface="Arial"/>
              </a:rPr>
              <a:t>•  </a:t>
            </a:r>
            <a:r>
              <a:rPr sz="1900">
                <a:solidFill>
                  <a:srgbClr val="161B26"/>
                </a:solidFill>
                <a:latin typeface="Arial"/>
              </a:rPr>
              <a:t>Morning — Domain 3 remaining (20%): Ingress, Gateway API, NetworkPolicy, CoreDNS.</a:t>
            </a:r>
          </a:p>
          <a:p>
            <a:pPr>
              <a:spcBef>
                <a:spcPts val="0"/>
              </a:spcBef>
              <a:spcAft>
                <a:spcPts val="1000"/>
              </a:spcAft>
            </a:pPr>
            <a:r>
              <a:rPr sz="1900" b="1">
                <a:solidFill>
                  <a:srgbClr val="1F6FEB"/>
                </a:solidFill>
                <a:latin typeface="Arial"/>
              </a:rPr>
              <a:t>•  </a:t>
            </a:r>
            <a:r>
              <a:rPr sz="1900">
                <a:solidFill>
                  <a:srgbClr val="161B26"/>
                </a:solidFill>
                <a:latin typeface="Arial"/>
              </a:rPr>
              <a:t>Afternoon — Domain 4 (10%): PV/PVC, StorageClass, dynamic provisioning.</a:t>
            </a:r>
          </a:p>
          <a:p>
            <a:pPr>
              <a:spcBef>
                <a:spcPts val="0"/>
              </a:spcBef>
              <a:spcAft>
                <a:spcPts val="1000"/>
              </a:spcAft>
            </a:pPr>
            <a:r>
              <a:rPr sz="1900" b="1">
                <a:solidFill>
                  <a:srgbClr val="1F6FEB"/>
                </a:solidFill>
                <a:latin typeface="Arial"/>
              </a:rPr>
              <a:t>•  </a:t>
            </a:r>
            <a:r>
              <a:rPr sz="1900">
                <a:solidFill>
                  <a:srgbClr val="161B26"/>
                </a:solidFill>
                <a:latin typeface="Arial"/>
              </a:rPr>
              <a:t>Late afternoon — Domain 5 start (30%): cluster component failures, node troubleshooting, pod debugging.</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166</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Ingress &amp; Gateway API</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Layer-7 HTTP/HTTPS routing into the cluster</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167</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HTTP ROUTING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 L7 Routing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An Ingress defines host- and path-based HTTP/HTTPS rules that forward traffic to backend Services.</a:t>
            </a:r>
          </a:p>
          <a:p>
            <a:pPr>
              <a:spcBef>
                <a:spcPts val="0"/>
              </a:spcBef>
              <a:spcAft>
                <a:spcPts val="1000"/>
              </a:spcAft>
            </a:pPr>
            <a:r>
              <a:rPr sz="1900" b="1">
                <a:solidFill>
                  <a:srgbClr val="1F6FEB"/>
                </a:solidFill>
                <a:latin typeface="Arial"/>
              </a:rPr>
              <a:t>•  </a:t>
            </a:r>
            <a:r>
              <a:rPr sz="1900">
                <a:solidFill>
                  <a:srgbClr val="161B26"/>
                </a:solidFill>
                <a:latin typeface="Arial"/>
              </a:rPr>
              <a:t>An Ingress controller (e.g. ingress-nginx) must be running; ingressClassName selects it.</a:t>
            </a:r>
          </a:p>
          <a:p>
            <a:pPr>
              <a:spcBef>
                <a:spcPts val="0"/>
              </a:spcBef>
              <a:spcAft>
                <a:spcPts val="1000"/>
              </a:spcAft>
            </a:pPr>
            <a:r>
              <a:rPr sz="1900" b="1">
                <a:solidFill>
                  <a:srgbClr val="1F6FEB"/>
                </a:solidFill>
                <a:latin typeface="Arial"/>
              </a:rPr>
              <a:t>•  </a:t>
            </a:r>
            <a:r>
              <a:rPr sz="1900">
                <a:solidFill>
                  <a:srgbClr val="161B26"/>
                </a:solidFill>
                <a:latin typeface="Arial"/>
              </a:rPr>
              <a:t>TLS terminates at the controller — tls.secretName points at a kubernetes.io/tls Secret.</a:t>
            </a:r>
          </a:p>
          <a:p>
            <a:pPr>
              <a:spcBef>
                <a:spcPts val="0"/>
              </a:spcBef>
              <a:spcAft>
                <a:spcPts val="1000"/>
              </a:spcAft>
            </a:pPr>
            <a:r>
              <a:rPr sz="1900" b="1">
                <a:solidFill>
                  <a:srgbClr val="1F6FEB"/>
                </a:solidFill>
                <a:latin typeface="Arial"/>
              </a:rPr>
              <a:t>•  </a:t>
            </a:r>
            <a:r>
              <a:rPr sz="1900">
                <a:solidFill>
                  <a:srgbClr val="161B26"/>
                </a:solidFill>
                <a:latin typeface="Arial"/>
              </a:rPr>
              <a:t>pathType: Prefix matches a path and everything below it; Exact requires a literal match.</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168</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HTTP ROUTING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Traffic Routing — Host/Path to Service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3_s028_i1.jpg"/>
          <p:cNvPicPr>
            <a:picLocks noChangeAspect="1"/>
          </p:cNvPicPr>
          <p:nvPr/>
        </p:nvPicPr>
        <p:blipFill>
          <a:blip r:embed="rId2"/>
          <a:stretch>
            <a:fillRect/>
          </a:stretch>
        </p:blipFill>
        <p:spPr>
          <a:xfrm>
            <a:off x="777240" y="2187999"/>
            <a:ext cx="10652760" cy="3423834"/>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169</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INGRESS CONTROLLER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 L7 HTTP/HTTPS Routing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Client</a:t>
            </a:r>
          </a:p>
          <a:p>
            <a:pPr algn="ctr">
              <a:spcBef>
                <a:spcPts val="0"/>
              </a:spcBef>
              <a:spcAft>
                <a:spcPts val="300"/>
              </a:spcAft>
            </a:pPr>
            <a:r>
              <a:rPr sz="1100" b="0">
                <a:solidFill>
                  <a:srgbClr val="5B6372"/>
                </a:solidFill>
                <a:latin typeface="Arial"/>
              </a:rPr>
              <a:t>HTTPS :443</a:t>
            </a:r>
          </a:p>
          <a:p>
            <a:pPr algn="ctr">
              <a:spcBef>
                <a:spcPts val="0"/>
              </a:spcBef>
              <a:spcAft>
                <a:spcPts val="300"/>
              </a:spcAft>
            </a:pPr>
            <a:r>
              <a:rPr sz="1100" b="0">
                <a:solidFill>
                  <a:srgbClr val="5B6372"/>
                </a:solidFill>
                <a:latin typeface="Arial"/>
              </a:rPr>
              <a:t>Host: app.example.com</a:t>
            </a:r>
          </a:p>
        </p:txBody>
      </p:sp>
      <p:sp>
        <p:nvSpPr>
          <p:cNvPr id="10" name="Right Arrow 9"/>
          <p:cNvSpPr/>
          <p:nvPr/>
        </p:nvSpPr>
        <p:spPr>
          <a:xfrm>
            <a:off x="384048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TLS terminates</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Ingress Controller</a:t>
            </a:r>
          </a:p>
          <a:p>
            <a:pPr algn="ctr">
              <a:spcBef>
                <a:spcPts val="0"/>
              </a:spcBef>
              <a:spcAft>
                <a:spcPts val="300"/>
              </a:spcAft>
            </a:pPr>
            <a:r>
              <a:rPr sz="1100" b="0">
                <a:solidFill>
                  <a:srgbClr val="5B6372"/>
                </a:solidFill>
                <a:latin typeface="Arial"/>
              </a:rPr>
              <a:t>ingress-nginx · Traefik</a:t>
            </a:r>
          </a:p>
          <a:p>
            <a:pPr algn="ctr">
              <a:spcBef>
                <a:spcPts val="0"/>
              </a:spcBef>
              <a:spcAft>
                <a:spcPts val="300"/>
              </a:spcAft>
            </a:pPr>
            <a:r>
              <a:rPr sz="1100" b="0">
                <a:solidFill>
                  <a:srgbClr val="5B6372"/>
                </a:solidFill>
                <a:latin typeface="Arial"/>
              </a:rPr>
              <a:t>reads Ingress rules</a:t>
            </a:r>
          </a:p>
          <a:p>
            <a:pPr algn="ctr">
              <a:spcBef>
                <a:spcPts val="0"/>
              </a:spcBef>
              <a:spcAft>
                <a:spcPts val="300"/>
              </a:spcAft>
            </a:pPr>
            <a:r>
              <a:rPr sz="1100" b="0">
                <a:solidFill>
                  <a:srgbClr val="5B6372"/>
                </a:solidFill>
                <a:latin typeface="Arial"/>
              </a:rPr>
              <a:t>TLS termination here</a:t>
            </a:r>
          </a:p>
        </p:txBody>
      </p:sp>
      <p:sp>
        <p:nvSpPr>
          <p:cNvPr id="15" name="Right Arrow 14"/>
          <p:cNvSpPr/>
          <p:nvPr/>
        </p:nvSpPr>
        <p:spPr>
          <a:xfrm>
            <a:off x="763524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forwards plain HTTP</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Service → Pods</a:t>
            </a:r>
          </a:p>
          <a:p>
            <a:pPr algn="ctr">
              <a:spcBef>
                <a:spcPts val="0"/>
              </a:spcBef>
              <a:spcAft>
                <a:spcPts val="300"/>
              </a:spcAft>
            </a:pPr>
            <a:r>
              <a:rPr sz="1100" b="0">
                <a:solidFill>
                  <a:srgbClr val="5B6372"/>
                </a:solidFill>
                <a:latin typeface="Arial"/>
              </a:rPr>
              <a:t>/app → svc-frontend</a:t>
            </a:r>
          </a:p>
          <a:p>
            <a:pPr algn="ctr">
              <a:spcBef>
                <a:spcPts val="0"/>
              </a:spcBef>
              <a:spcAft>
                <a:spcPts val="300"/>
              </a:spcAft>
            </a:pPr>
            <a:r>
              <a:rPr sz="1100" b="0">
                <a:solidFill>
                  <a:srgbClr val="5B6372"/>
                </a:solidFill>
                <a:latin typeface="Arial"/>
              </a:rPr>
              <a:t>/api  → svc-backend</a:t>
            </a:r>
          </a:p>
        </p:txBody>
      </p:sp>
      <p:sp>
        <p:nvSpPr>
          <p:cNvPr id="19" name="Rounded Rectangle 18"/>
          <p:cNvSpPr/>
          <p:nvPr/>
        </p:nvSpPr>
        <p:spPr>
          <a:xfrm>
            <a:off x="777240" y="4754880"/>
            <a:ext cx="10652760" cy="530352"/>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54880"/>
            <a:ext cx="10058400" cy="530352"/>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ingressClassName: nginx  ·  tls.secretName: tls-secret  ·  pathType: Prefix | Exact</a:t>
            </a:r>
          </a:p>
        </p:txBody>
      </p:sp>
      <p:sp>
        <p:nvSpPr>
          <p:cNvPr id="21" name="Rounded Rectangle 20"/>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apiVersion: networking.k8s.io/v1 (extensions/v1beta1 removed in 1.22). </a:t>
            </a:r>
            <a:r>
              <a:rPr sz="1300" b="1">
                <a:solidFill>
                  <a:srgbClr val="161B26"/>
                </a:solidFill>
                <a:latin typeface="Arial"/>
              </a:rPr>
              <a:t>A controller must be running</a:t>
            </a:r>
            <a:r>
              <a:rPr sz="1300" b="0">
                <a:solidFill>
                  <a:srgbClr val="5B6372"/>
                </a:solidFill>
                <a:latin typeface="Arial"/>
              </a:rPr>
              <a:t> — ingressClassName selects it.</a:t>
            </a:r>
          </a:p>
        </p:txBody>
      </p:sp>
      <p:sp>
        <p:nvSpPr>
          <p:cNvPr id="23" name="TextBox 2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GATEWAY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 The Modern Alternative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Gateway API is the successor to Ingress — role-oriented (infra / cluster-operator / app dev).</a:t>
            </a:r>
          </a:p>
          <a:p>
            <a:pPr>
              <a:spcBef>
                <a:spcPts val="0"/>
              </a:spcBef>
              <a:spcAft>
                <a:spcPts val="1000"/>
              </a:spcAft>
            </a:pPr>
            <a:r>
              <a:rPr sz="1900" b="1">
                <a:solidFill>
                  <a:srgbClr val="1F6FEB"/>
                </a:solidFill>
                <a:latin typeface="Arial"/>
              </a:rPr>
              <a:t>•  </a:t>
            </a:r>
            <a:r>
              <a:rPr sz="1900">
                <a:solidFill>
                  <a:srgbClr val="161B26"/>
                </a:solidFill>
                <a:latin typeface="Arial"/>
              </a:rPr>
              <a:t>GatewayClass defines the controller; Gateway binds a listener; HTTPRoute attaches rules.</a:t>
            </a:r>
          </a:p>
          <a:p>
            <a:pPr>
              <a:spcBef>
                <a:spcPts val="0"/>
              </a:spcBef>
              <a:spcAft>
                <a:spcPts val="1000"/>
              </a:spcAft>
            </a:pPr>
            <a:r>
              <a:rPr sz="1900" b="1">
                <a:solidFill>
                  <a:srgbClr val="1F6FEB"/>
                </a:solidFill>
                <a:latin typeface="Arial"/>
              </a:rPr>
              <a:t>•  </a:t>
            </a:r>
            <a:r>
              <a:rPr sz="1900">
                <a:solidFill>
                  <a:srgbClr val="161B26"/>
                </a:solidFill>
                <a:latin typeface="Arial"/>
              </a:rPr>
              <a:t>Supports HTTP, HTTPS, TCP, TLS and gRPC routing with cross-namespace route attachment.</a:t>
            </a:r>
          </a:p>
          <a:p>
            <a:pPr>
              <a:spcBef>
                <a:spcPts val="0"/>
              </a:spcBef>
              <a:spcAft>
                <a:spcPts val="1000"/>
              </a:spcAft>
            </a:pPr>
            <a:r>
              <a:rPr sz="1900" b="1">
                <a:solidFill>
                  <a:srgbClr val="1F6FEB"/>
                </a:solidFill>
                <a:latin typeface="Arial"/>
              </a:rPr>
              <a:t>•  </a:t>
            </a:r>
            <a:r>
              <a:rPr sz="1900">
                <a:solidFill>
                  <a:srgbClr val="161B26"/>
                </a:solidFill>
                <a:latin typeface="Arial"/>
              </a:rPr>
              <a:t>apiVersion: gateway.networking.k8s.io/v1 — install the CRDs separately before using it.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171</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THE SUCCESSOR TO INGRESS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 Role-Oriented Routing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286000"/>
            <a:ext cx="3200400" cy="182880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86000"/>
            <a:ext cx="320040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395728"/>
            <a:ext cx="298094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GatewayClass</a:t>
            </a:r>
          </a:p>
          <a:p>
            <a:pPr algn="ctr">
              <a:spcBef>
                <a:spcPts val="0"/>
              </a:spcBef>
              <a:spcAft>
                <a:spcPts val="300"/>
              </a:spcAft>
            </a:pPr>
            <a:r>
              <a:rPr sz="1200" b="0">
                <a:solidFill>
                  <a:srgbClr val="5B6372"/>
                </a:solidFill>
                <a:latin typeface="Arial"/>
              </a:rPr>
              <a:t>provisioner: nginx</a:t>
            </a:r>
          </a:p>
          <a:p>
            <a:pPr algn="ctr">
              <a:spcBef>
                <a:spcPts val="0"/>
              </a:spcBef>
              <a:spcAft>
                <a:spcPts val="300"/>
              </a:spcAft>
            </a:pPr>
            <a:r>
              <a:rPr sz="1200" b="0">
                <a:solidFill>
                  <a:srgbClr val="5B6372"/>
                </a:solidFill>
                <a:latin typeface="Arial"/>
              </a:rPr>
              <a:t>infra team manages</a:t>
            </a:r>
          </a:p>
          <a:p>
            <a:pPr algn="ctr">
              <a:spcBef>
                <a:spcPts val="0"/>
              </a:spcBef>
              <a:spcAft>
                <a:spcPts val="300"/>
              </a:spcAft>
            </a:pPr>
            <a:r>
              <a:rPr sz="1200" b="0">
                <a:solidFill>
                  <a:srgbClr val="5B6372"/>
                </a:solidFill>
                <a:latin typeface="Arial"/>
              </a:rPr>
              <a:t>cluster-scoped</a:t>
            </a:r>
          </a:p>
        </p:txBody>
      </p:sp>
      <p:sp>
        <p:nvSpPr>
          <p:cNvPr id="10" name="Right Arrow 9"/>
          <p:cNvSpPr/>
          <p:nvPr/>
        </p:nvSpPr>
        <p:spPr>
          <a:xfrm>
            <a:off x="3977640" y="3017520"/>
            <a:ext cx="548640" cy="36576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26279" y="2286000"/>
            <a:ext cx="3200400" cy="182880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79" y="2286000"/>
            <a:ext cx="320040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2395728"/>
            <a:ext cx="298094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Gateway</a:t>
            </a:r>
          </a:p>
          <a:p>
            <a:pPr algn="ctr">
              <a:spcBef>
                <a:spcPts val="0"/>
              </a:spcBef>
              <a:spcAft>
                <a:spcPts val="300"/>
              </a:spcAft>
            </a:pPr>
            <a:r>
              <a:rPr sz="1200" b="0">
                <a:solidFill>
                  <a:srgbClr val="5B6372"/>
                </a:solidFill>
                <a:latin typeface="Arial"/>
              </a:rPr>
              <a:t>binds a listener</a:t>
            </a:r>
          </a:p>
          <a:p>
            <a:pPr algn="ctr">
              <a:spcBef>
                <a:spcPts val="0"/>
              </a:spcBef>
              <a:spcAft>
                <a:spcPts val="300"/>
              </a:spcAft>
            </a:pPr>
            <a:r>
              <a:rPr sz="1200" b="0">
                <a:solidFill>
                  <a:srgbClr val="5B6372"/>
                </a:solidFill>
                <a:latin typeface="Arial"/>
              </a:rPr>
              <a:t>HTTPS :443</a:t>
            </a:r>
          </a:p>
          <a:p>
            <a:pPr algn="ctr">
              <a:spcBef>
                <a:spcPts val="0"/>
              </a:spcBef>
              <a:spcAft>
                <a:spcPts val="300"/>
              </a:spcAft>
            </a:pPr>
            <a:r>
              <a:rPr sz="1200" b="0">
                <a:solidFill>
                  <a:srgbClr val="5B6372"/>
                </a:solidFill>
                <a:latin typeface="Arial"/>
              </a:rPr>
              <a:t>cluster-operator owns</a:t>
            </a:r>
          </a:p>
        </p:txBody>
      </p:sp>
      <p:sp>
        <p:nvSpPr>
          <p:cNvPr id="14" name="Right Arrow 13"/>
          <p:cNvSpPr/>
          <p:nvPr/>
        </p:nvSpPr>
        <p:spPr>
          <a:xfrm>
            <a:off x="7726679" y="3017520"/>
            <a:ext cx="548640" cy="36576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75318" y="2286000"/>
            <a:ext cx="3200400" cy="1828800"/>
          </a:xfrm>
          <a:prstGeom prst="roundRect">
            <a:avLst>
              <a:gd name="adj" fmla="val 5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75318" y="2286000"/>
            <a:ext cx="320040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5046" y="2395728"/>
            <a:ext cx="298094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HTTPRoute</a:t>
            </a:r>
          </a:p>
          <a:p>
            <a:pPr algn="ctr">
              <a:spcBef>
                <a:spcPts val="0"/>
              </a:spcBef>
              <a:spcAft>
                <a:spcPts val="300"/>
              </a:spcAft>
            </a:pPr>
            <a:r>
              <a:rPr sz="1200" b="0">
                <a:solidFill>
                  <a:srgbClr val="5B6372"/>
                </a:solidFill>
                <a:latin typeface="Arial"/>
              </a:rPr>
              <a:t>host + path rules</a:t>
            </a:r>
          </a:p>
          <a:p>
            <a:pPr algn="ctr">
              <a:spcBef>
                <a:spcPts val="0"/>
              </a:spcBef>
              <a:spcAft>
                <a:spcPts val="300"/>
              </a:spcAft>
            </a:pPr>
            <a:r>
              <a:rPr sz="1200" b="0">
                <a:solidFill>
                  <a:srgbClr val="5B6372"/>
                </a:solidFill>
                <a:latin typeface="Arial"/>
              </a:rPr>
              <a:t>→ backend Services</a:t>
            </a:r>
          </a:p>
          <a:p>
            <a:pPr algn="ctr">
              <a:spcBef>
                <a:spcPts val="0"/>
              </a:spcBef>
              <a:spcAft>
                <a:spcPts val="300"/>
              </a:spcAft>
            </a:pPr>
            <a:r>
              <a:rPr sz="1200" b="0">
                <a:solidFill>
                  <a:srgbClr val="5B6372"/>
                </a:solidFill>
                <a:latin typeface="Arial"/>
              </a:rPr>
              <a:t>app dev attaches</a:t>
            </a:r>
          </a:p>
        </p:txBody>
      </p:sp>
      <p:sp>
        <p:nvSpPr>
          <p:cNvPr id="18" name="Rounded Rectangle 17"/>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apiVersion: gateway.networking.k8s.io/v1  ·  </a:t>
            </a:r>
            <a:r>
              <a:rPr sz="1300" b="1">
                <a:solidFill>
                  <a:srgbClr val="161B26"/>
                </a:solidFill>
                <a:latin typeface="Arial"/>
              </a:rPr>
              <a:t>install CRDs first</a:t>
            </a:r>
            <a:r>
              <a:rPr sz="1300" b="0">
                <a:solidFill>
                  <a:srgbClr val="5B6372"/>
                </a:solidFill>
                <a:latin typeface="Arial"/>
              </a:rPr>
              <a:t>  →  kubectl apply -f standard-install.yaml from the Gateway API releases.</a:t>
            </a:r>
          </a:p>
        </p:txBody>
      </p:sp>
      <p:sp>
        <p:nvSpPr>
          <p:cNvPr id="20" name="TextBox 19"/>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1" name="TextBox 2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2" name="TextBox 2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172</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INGRESS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Ingress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Install ingress-nginx controller, configure host-based routing to multiple backends, terminate TLS using a Kubernetes Secret, and debug misconfigured Ingress resources. CKA 2026 tests installing ingress-nginx, host routing, and TLS termination.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ingress-nginx via bare-metal manifest, create Ingress for two apps with host rules, add TLS block with secret, debug 404 by checking ingressClassName.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HTTP_PORT=$(kubectl -n · cat &lt;&lt;'EOF' · kubectl create · » ingressClassName: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173</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ingress-nginx</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https://raw.githubusercontent.com/kubernetes/ingress-nginx/main/deploy/static/provider/baremetal/deploy.yaml</a:t>
            </a:r>
          </a:p>
          <a:p>
            <a:pPr>
              <a:spcBef>
                <a:spcPts val="0"/>
              </a:spcBef>
              <a:spcAft>
                <a:spcPts val="0"/>
              </a:spcAft>
            </a:pPr>
            <a:r>
              <a:rPr sz="1050">
                <a:solidFill>
                  <a:srgbClr val="161B26"/>
                </a:solidFill>
                <a:latin typeface="Consolas"/>
              </a:rPr>
              <a:t>kubectl -n ingress-nginx wait --for=condition=Ready pod \</a:t>
            </a:r>
          </a:p>
          <a:p>
            <a:pPr>
              <a:spcBef>
                <a:spcPts val="0"/>
              </a:spcBef>
              <a:spcAft>
                <a:spcPts val="0"/>
              </a:spcAft>
            </a:pPr>
            <a:r>
              <a:rPr sz="1050">
                <a:solidFill>
                  <a:srgbClr val="161B26"/>
                </a:solidFill>
                <a:latin typeface="Consolas"/>
              </a:rPr>
              <a:t>  -l app.kubernetes.io/component=controller --timeout=180s</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Get NodePort for testing</a:t>
            </a:r>
          </a:p>
        </p:txBody>
      </p:sp>
      <p:sp>
        <p:nvSpPr>
          <p:cNvPr id="12" name="Rounded Rectangle 11"/>
          <p:cNvSpPr/>
          <p:nvPr/>
        </p:nvSpPr>
        <p:spPr>
          <a:xfrm>
            <a:off x="777240" y="335127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HTTP_PORT=$(kubectl -n ingress-nginx get svc ingress-nginx-controller \</a:t>
            </a:r>
          </a:p>
          <a:p>
            <a:pPr>
              <a:spcBef>
                <a:spcPts val="0"/>
              </a:spcBef>
              <a:spcAft>
                <a:spcPts val="0"/>
              </a:spcAft>
            </a:pPr>
            <a:r>
              <a:rPr sz="1050">
                <a:solidFill>
                  <a:srgbClr val="161B26"/>
                </a:solidFill>
                <a:latin typeface="Consolas"/>
              </a:rPr>
              <a:t>  -o jsonpath='{.spec.ports[?(@.name=="http")].nodePort}')</a:t>
            </a:r>
          </a:p>
          <a:p>
            <a:pPr>
              <a:spcBef>
                <a:spcPts val="0"/>
              </a:spcBef>
              <a:spcAft>
                <a:spcPts val="0"/>
              </a:spcAft>
            </a:pPr>
            <a:r>
              <a:rPr sz="1050">
                <a:solidFill>
                  <a:srgbClr val="161B26"/>
                </a:solidFill>
                <a:latin typeface="Consolas"/>
              </a:rPr>
              <a:t>echo "HTTP NodePort: $HTTP_PORT"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174</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Create Ingress with host-based routing</a:t>
            </a:r>
          </a:p>
        </p:txBody>
      </p:sp>
      <p:sp>
        <p:nvSpPr>
          <p:cNvPr id="8" name="Rounded Rectangle 7"/>
          <p:cNvSpPr/>
          <p:nvPr/>
        </p:nvSpPr>
        <p:spPr>
          <a:xfrm>
            <a:off x="777240" y="2075688"/>
            <a:ext cx="10652760" cy="408279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40827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99135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networking.k8s.io/v1</a:t>
            </a:r>
          </a:p>
          <a:p>
            <a:pPr>
              <a:spcBef>
                <a:spcPts val="0"/>
              </a:spcBef>
              <a:spcAft>
                <a:spcPts val="0"/>
              </a:spcAft>
            </a:pPr>
            <a:r>
              <a:rPr sz="1050">
                <a:solidFill>
                  <a:srgbClr val="161B26"/>
                </a:solidFill>
                <a:latin typeface="Consolas"/>
              </a:rPr>
              <a:t>kind: Ingress</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multi-host</a:t>
            </a:r>
          </a:p>
          <a:p>
            <a:pPr>
              <a:spcBef>
                <a:spcPts val="0"/>
              </a:spcBef>
              <a:spcAft>
                <a:spcPts val="0"/>
              </a:spcAft>
            </a:pPr>
            <a:r>
              <a:rPr sz="1050">
                <a:solidFill>
                  <a:srgbClr val="161B26"/>
                </a:solidFill>
                <a:latin typeface="Consolas"/>
              </a:rPr>
              <a:t>  annotations:</a:t>
            </a:r>
          </a:p>
          <a:p>
            <a:pPr>
              <a:spcBef>
                <a:spcPts val="0"/>
              </a:spcBef>
              <a:spcAft>
                <a:spcPts val="0"/>
              </a:spcAft>
            </a:pPr>
            <a:r>
              <a:rPr sz="1050">
                <a:solidFill>
                  <a:srgbClr val="161B26"/>
                </a:solidFill>
                <a:latin typeface="Consolas"/>
              </a:rPr>
              <a:t>    nginx.ingress.kubernetes.io/rewrite-target: /</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ingressClassName: nginx</a:t>
            </a:r>
          </a:p>
          <a:p>
            <a:pPr>
              <a:spcBef>
                <a:spcPts val="0"/>
              </a:spcBef>
              <a:spcAft>
                <a:spcPts val="0"/>
              </a:spcAft>
            </a:pPr>
            <a:r>
              <a:rPr sz="1050">
                <a:solidFill>
                  <a:srgbClr val="161B26"/>
                </a:solidFill>
                <a:latin typeface="Consolas"/>
              </a:rPr>
              <a:t>  rules:</a:t>
            </a:r>
          </a:p>
          <a:p>
            <a:pPr>
              <a:spcBef>
                <a:spcPts val="0"/>
              </a:spcBef>
              <a:spcAft>
                <a:spcPts val="0"/>
              </a:spcAft>
            </a:pPr>
            <a:r>
              <a:rPr sz="1050">
                <a:solidFill>
                  <a:srgbClr val="161B26"/>
                </a:solidFill>
                <a:latin typeface="Consolas"/>
              </a:rPr>
              <a:t>  - host: app1.example.com</a:t>
            </a:r>
          </a:p>
          <a:p>
            <a:pPr>
              <a:spcBef>
                <a:spcPts val="0"/>
              </a:spcBef>
              <a:spcAft>
                <a:spcPts val="0"/>
              </a:spcAft>
            </a:pPr>
            <a:r>
              <a:rPr sz="1050">
                <a:solidFill>
                  <a:srgbClr val="161B26"/>
                </a:solidFill>
                <a:latin typeface="Consolas"/>
              </a:rPr>
              <a:t>    http:</a:t>
            </a:r>
          </a:p>
          <a:p>
            <a:pPr>
              <a:spcBef>
                <a:spcPts val="0"/>
              </a:spcBef>
              <a:spcAft>
                <a:spcPts val="0"/>
              </a:spcAft>
            </a:pPr>
            <a:r>
              <a:rPr sz="1050">
                <a:solidFill>
                  <a:srgbClr val="161B26"/>
                </a:solidFill>
                <a:latin typeface="Consolas"/>
              </a:rPr>
              <a:t>      paths:</a:t>
            </a:r>
          </a:p>
          <a:p>
            <a:pPr>
              <a:spcBef>
                <a:spcPts val="0"/>
              </a:spcBef>
              <a:spcAft>
                <a:spcPts val="0"/>
              </a:spcAft>
            </a:pPr>
            <a:r>
              <a:rPr sz="1050">
                <a:solidFill>
                  <a:srgbClr val="161B26"/>
                </a:solidFill>
                <a:latin typeface="Consolas"/>
              </a:rPr>
              <a:t>      - path: /</a:t>
            </a:r>
          </a:p>
          <a:p>
            <a:pPr>
              <a:spcBef>
                <a:spcPts val="0"/>
              </a:spcBef>
              <a:spcAft>
                <a:spcPts val="0"/>
              </a:spcAft>
            </a:pPr>
            <a:r>
              <a:rPr sz="1050">
                <a:solidFill>
                  <a:srgbClr val="161B26"/>
                </a:solidFill>
                <a:latin typeface="Consolas"/>
              </a:rPr>
              <a:t>        pathType: Prefix</a:t>
            </a:r>
          </a:p>
          <a:p>
            <a:pPr>
              <a:spcBef>
                <a:spcPts val="0"/>
              </a:spcBef>
              <a:spcAft>
                <a:spcPts val="0"/>
              </a:spcAft>
            </a:pPr>
            <a:r>
              <a:rPr sz="1050">
                <a:solidFill>
                  <a:srgbClr val="161B26"/>
                </a:solidFill>
                <a:latin typeface="Consolas"/>
              </a:rPr>
              <a:t>        backend:</a:t>
            </a:r>
          </a:p>
          <a:p>
            <a:pPr>
              <a:spcBef>
                <a:spcPts val="0"/>
              </a:spcBef>
              <a:spcAft>
                <a:spcPts val="0"/>
              </a:spcAft>
            </a:pPr>
            <a:r>
              <a:rPr sz="1050">
                <a:solidFill>
                  <a:srgbClr val="161B26"/>
                </a:solidFill>
                <a:latin typeface="Consolas"/>
              </a:rPr>
              <a:t>          service:</a:t>
            </a:r>
          </a:p>
          <a:p>
            <a:pPr>
              <a:spcBef>
                <a:spcPts val="0"/>
              </a:spcBef>
              <a:spcAft>
                <a:spcPts val="0"/>
              </a:spcAft>
            </a:pPr>
            <a:r>
              <a:rPr sz="1050">
                <a:solidFill>
                  <a:srgbClr val="161B26"/>
                </a:solidFill>
                <a:latin typeface="Consolas"/>
              </a:rPr>
              <a:t>            name: app1-svc</a:t>
            </a:r>
          </a:p>
          <a:p>
            <a:pPr>
              <a:spcBef>
                <a:spcPts val="0"/>
              </a:spcBef>
              <a:spcAft>
                <a:spcPts val="0"/>
              </a:spcAft>
            </a:pPr>
            <a:r>
              <a:rPr sz="1050">
                <a:solidFill>
                  <a:srgbClr val="161B26"/>
                </a:solidFill>
                <a:latin typeface="Consolas"/>
              </a:rPr>
              <a:t>            port:</a:t>
            </a:r>
          </a:p>
          <a:p>
            <a:pPr>
              <a:spcBef>
                <a:spcPts val="0"/>
              </a:spcBef>
              <a:spcAft>
                <a:spcPts val="0"/>
              </a:spcAft>
            </a:pPr>
            <a:r>
              <a:rPr sz="1050">
                <a:solidFill>
                  <a:srgbClr val="161B26"/>
                </a:solidFill>
                <a:latin typeface="Consolas"/>
              </a:rPr>
              <a:t>              number: 80</a:t>
            </a:r>
          </a:p>
          <a:p>
            <a:pPr>
              <a:spcBef>
                <a:spcPts val="0"/>
              </a:spcBef>
              <a:spcAft>
                <a:spcPts val="0"/>
              </a:spcAft>
            </a:pPr>
            <a:r>
              <a:rPr sz="1050">
                <a:solidFill>
                  <a:srgbClr val="161B26"/>
                </a:solidFill>
                <a:latin typeface="Consolas"/>
              </a:rPr>
              <a:t>EOF</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175</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TLS termination</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secret tls tls-secret --cert=tls.crt --key=tls.key</a:t>
            </a:r>
          </a:p>
          <a:p>
            <a:pPr>
              <a:spcBef>
                <a:spcPts val="0"/>
              </a:spcBef>
              <a:spcAft>
                <a:spcPts val="0"/>
              </a:spcAft>
            </a:pPr>
            <a:r>
              <a:rPr sz="1050">
                <a:solidFill>
                  <a:srgbClr val="161B26"/>
                </a:solidFill>
                <a:latin typeface="Consolas"/>
              </a:rPr>
              <a:t># Add to Ingress spec:</a:t>
            </a:r>
          </a:p>
          <a:p>
            <a:pPr>
              <a:spcBef>
                <a:spcPts val="0"/>
              </a:spcBef>
              <a:spcAft>
                <a:spcPts val="0"/>
              </a:spcAft>
            </a:pPr>
            <a:r>
              <a:rPr sz="1050">
                <a:solidFill>
                  <a:srgbClr val="161B26"/>
                </a:solidFill>
                <a:latin typeface="Consolas"/>
              </a:rPr>
              <a:t># tls:</a:t>
            </a:r>
          </a:p>
          <a:p>
            <a:pPr>
              <a:spcBef>
                <a:spcPts val="0"/>
              </a:spcBef>
              <a:spcAft>
                <a:spcPts val="0"/>
              </a:spcAft>
            </a:pPr>
            <a:r>
              <a:rPr sz="1050">
                <a:solidFill>
                  <a:srgbClr val="161B26"/>
                </a:solidFill>
                <a:latin typeface="Consolas"/>
              </a:rPr>
              <a:t># - hosts: [app1.example.com]</a:t>
            </a:r>
          </a:p>
          <a:p>
            <a:pPr>
              <a:spcBef>
                <a:spcPts val="0"/>
              </a:spcBef>
              <a:spcAft>
                <a:spcPts val="0"/>
              </a:spcAft>
            </a:pPr>
            <a:r>
              <a:rPr sz="1050">
                <a:solidFill>
                  <a:srgbClr val="161B26"/>
                </a:solidFill>
                <a:latin typeface="Consolas"/>
              </a:rPr>
              <a:t>#   secretName: tls-secret</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ingressClassName: nginx is required in Kubernetes 1.18+. Without it, the Ingress is ignored. Check ingress-nginx logs: kubectl logs -n ingress-nginx -l app.kubernetes.io/component=controller</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176</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curl -H 'Host: app1.example.com' http://NODE:PORT returns app1 content. Wrong ingressClassName causes 404. TLS ingress terminates HTTPS correctly.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177</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GATEWAY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20</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Gateway API</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the Kubernetes Gateway API (GA as of v1.28, tested in CKA 2026) to route traffic using GatewayClass, Gateway, and HTTPRoute objects. Gateway API is role-oriented: infrastructure providers manage GatewayClass/Gateway; developers manage HTTPRoutes.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Gateway API CRDs and NGINX Gateway Fabric, create GatewayClass and Gateway, define HTTPRoutes with path-based routing.</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cat &lt;&lt;'EOF' · » Three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178</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Gateway API CRDs</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https://github.com/kubernetes-sigs/gateway-api/releases/download/v1.1.0/standard-install.yaml</a:t>
            </a:r>
          </a:p>
          <a:p>
            <a:pPr>
              <a:spcBef>
                <a:spcPts val="0"/>
              </a:spcBef>
              <a:spcAft>
                <a:spcPts val="0"/>
              </a:spcAft>
            </a:pPr>
            <a:r>
              <a:rPr sz="1050">
                <a:solidFill>
                  <a:srgbClr val="161B26"/>
                </a:solidFill>
                <a:latin typeface="Consolas"/>
              </a:rPr>
              <a:t>kubectl get crds | grep gateway</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Install NGINX Gateway Fabric</a:t>
            </a:r>
          </a:p>
        </p:txBody>
      </p:sp>
      <p:sp>
        <p:nvSpPr>
          <p:cNvPr id="12" name="Rounded Rectangle 11"/>
          <p:cNvSpPr/>
          <p:nvPr/>
        </p:nvSpPr>
        <p:spPr>
          <a:xfrm>
            <a:off x="777240" y="316382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https://raw.githubusercontent.com/nginxinc/nginx-gateway-fabric/v1.4.0/deploy/crds.yaml</a:t>
            </a:r>
          </a:p>
          <a:p>
            <a:pPr>
              <a:spcBef>
                <a:spcPts val="0"/>
              </a:spcBef>
              <a:spcAft>
                <a:spcPts val="0"/>
              </a:spcAft>
            </a:pPr>
            <a:r>
              <a:rPr sz="1050">
                <a:solidFill>
                  <a:srgbClr val="161B26"/>
                </a:solidFill>
                <a:latin typeface="Consolas"/>
              </a:rPr>
              <a:t>kubectl apply -f https://raw.githubusercontent.com/nginxinc/nginx-gateway-fabric/v1.4.0/deploy/manifests/nginx-gateway.yaml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179</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Create GatewayClass and Gateway</a:t>
            </a:r>
          </a:p>
        </p:txBody>
      </p:sp>
      <p:sp>
        <p:nvSpPr>
          <p:cNvPr id="8" name="Rounded Rectangle 7"/>
          <p:cNvSpPr/>
          <p:nvPr/>
        </p:nvSpPr>
        <p:spPr>
          <a:xfrm>
            <a:off x="777240" y="2075688"/>
            <a:ext cx="10652760" cy="3707891"/>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70789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616451"/>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gateway.networking.k8s.io/v1</a:t>
            </a:r>
          </a:p>
          <a:p>
            <a:pPr>
              <a:spcBef>
                <a:spcPts val="0"/>
              </a:spcBef>
              <a:spcAft>
                <a:spcPts val="0"/>
              </a:spcAft>
            </a:pPr>
            <a:r>
              <a:rPr sz="1050">
                <a:solidFill>
                  <a:srgbClr val="161B26"/>
                </a:solidFill>
                <a:latin typeface="Consolas"/>
              </a:rPr>
              <a:t>kind: GatewayClass</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nginx</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controllerName: gateway.nginx.org/nginx-gateway-controller</a:t>
            </a:r>
          </a:p>
          <a:p>
            <a:pPr>
              <a:spcBef>
                <a:spcPts val="0"/>
              </a:spcBef>
              <a:spcAft>
                <a:spcPts val="0"/>
              </a:spcAft>
            </a:pPr>
            <a:r>
              <a:rPr sz="1050">
                <a:solidFill>
                  <a:srgbClr val="161B26"/>
                </a:solidFill>
                <a:latin typeface="Consolas"/>
              </a:rPr>
              <a:t>---</a:t>
            </a:r>
          </a:p>
          <a:p>
            <a:pPr>
              <a:spcBef>
                <a:spcPts val="0"/>
              </a:spcBef>
              <a:spcAft>
                <a:spcPts val="0"/>
              </a:spcAft>
            </a:pPr>
            <a:r>
              <a:rPr sz="1050">
                <a:solidFill>
                  <a:srgbClr val="161B26"/>
                </a:solidFill>
                <a:latin typeface="Consolas"/>
              </a:rPr>
              <a:t>apiVersion: gateway.networking.k8s.io/v1</a:t>
            </a:r>
          </a:p>
          <a:p>
            <a:pPr>
              <a:spcBef>
                <a:spcPts val="0"/>
              </a:spcBef>
              <a:spcAft>
                <a:spcPts val="0"/>
              </a:spcAft>
            </a:pPr>
            <a:r>
              <a:rPr sz="1050">
                <a:solidFill>
                  <a:srgbClr val="161B26"/>
                </a:solidFill>
                <a:latin typeface="Consolas"/>
              </a:rPr>
              <a:t>kind: Gateway</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main-gateway</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gatewayClassName: nginx</a:t>
            </a:r>
          </a:p>
          <a:p>
            <a:pPr>
              <a:spcBef>
                <a:spcPts val="0"/>
              </a:spcBef>
              <a:spcAft>
                <a:spcPts val="0"/>
              </a:spcAft>
            </a:pPr>
            <a:r>
              <a:rPr sz="1050">
                <a:solidFill>
                  <a:srgbClr val="161B26"/>
                </a:solidFill>
                <a:latin typeface="Consolas"/>
              </a:rPr>
              <a:t>  listeners:</a:t>
            </a:r>
          </a:p>
          <a:p>
            <a:pPr>
              <a:spcBef>
                <a:spcPts val="0"/>
              </a:spcBef>
              <a:spcAft>
                <a:spcPts val="0"/>
              </a:spcAft>
            </a:pPr>
            <a:r>
              <a:rPr sz="1050">
                <a:solidFill>
                  <a:srgbClr val="161B26"/>
                </a:solidFill>
                <a:latin typeface="Consolas"/>
              </a:rPr>
              <a:t>  - name: http</a:t>
            </a:r>
          </a:p>
          <a:p>
            <a:pPr>
              <a:spcBef>
                <a:spcPts val="0"/>
              </a:spcBef>
              <a:spcAft>
                <a:spcPts val="0"/>
              </a:spcAft>
            </a:pPr>
            <a:r>
              <a:rPr sz="1050">
                <a:solidFill>
                  <a:srgbClr val="161B26"/>
                </a:solidFill>
                <a:latin typeface="Consolas"/>
              </a:rPr>
              <a:t>    port: 80</a:t>
            </a:r>
          </a:p>
          <a:p>
            <a:pPr>
              <a:spcBef>
                <a:spcPts val="0"/>
              </a:spcBef>
              <a:spcAft>
                <a:spcPts val="0"/>
              </a:spcAft>
            </a:pPr>
            <a:r>
              <a:rPr sz="1050">
                <a:solidFill>
                  <a:srgbClr val="161B26"/>
                </a:solidFill>
                <a:latin typeface="Consolas"/>
              </a:rPr>
              <a:t>    protocol: HTTP</a:t>
            </a:r>
          </a:p>
          <a:p>
            <a:pPr>
              <a:spcBef>
                <a:spcPts val="0"/>
              </a:spcBef>
              <a:spcAft>
                <a:spcPts val="0"/>
              </a:spcAft>
            </a:pPr>
            <a:r>
              <a:rPr sz="1050">
                <a:solidFill>
                  <a:srgbClr val="161B26"/>
                </a:solidFill>
                <a:latin typeface="Consolas"/>
              </a:rPr>
              <a:t>EOF</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Create HTTPRoute</a:t>
            </a:r>
          </a:p>
        </p:txBody>
      </p:sp>
      <p:sp>
        <p:nvSpPr>
          <p:cNvPr id="8" name="Rounded Rectangle 7"/>
          <p:cNvSpPr/>
          <p:nvPr/>
        </p:nvSpPr>
        <p:spPr>
          <a:xfrm>
            <a:off x="777240" y="2075688"/>
            <a:ext cx="10652760" cy="333298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3329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24154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gateway.networking.k8s.io/v1</a:t>
            </a:r>
          </a:p>
          <a:p>
            <a:pPr>
              <a:spcBef>
                <a:spcPts val="0"/>
              </a:spcBef>
              <a:spcAft>
                <a:spcPts val="0"/>
              </a:spcAft>
            </a:pPr>
            <a:r>
              <a:rPr sz="1050">
                <a:solidFill>
                  <a:srgbClr val="161B26"/>
                </a:solidFill>
                <a:latin typeface="Consolas"/>
              </a:rPr>
              <a:t>kind: HTTPRoute</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app-route</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parentRefs:</a:t>
            </a:r>
          </a:p>
          <a:p>
            <a:pPr>
              <a:spcBef>
                <a:spcPts val="0"/>
              </a:spcBef>
              <a:spcAft>
                <a:spcPts val="0"/>
              </a:spcAft>
            </a:pPr>
            <a:r>
              <a:rPr sz="1050">
                <a:solidFill>
                  <a:srgbClr val="161B26"/>
                </a:solidFill>
                <a:latin typeface="Consolas"/>
              </a:rPr>
              <a:t>  - name: main-gateway</a:t>
            </a:r>
          </a:p>
          <a:p>
            <a:pPr>
              <a:spcBef>
                <a:spcPts val="0"/>
              </a:spcBef>
              <a:spcAft>
                <a:spcPts val="0"/>
              </a:spcAft>
            </a:pPr>
            <a:r>
              <a:rPr sz="1050">
                <a:solidFill>
                  <a:srgbClr val="161B26"/>
                </a:solidFill>
                <a:latin typeface="Consolas"/>
              </a:rPr>
              <a:t>  rules:</a:t>
            </a:r>
          </a:p>
          <a:p>
            <a:pPr>
              <a:spcBef>
                <a:spcPts val="0"/>
              </a:spcBef>
              <a:spcAft>
                <a:spcPts val="0"/>
              </a:spcAft>
            </a:pPr>
            <a:r>
              <a:rPr sz="1050">
                <a:solidFill>
                  <a:srgbClr val="161B26"/>
                </a:solidFill>
                <a:latin typeface="Consolas"/>
              </a:rPr>
              <a:t>  - matches:</a:t>
            </a:r>
          </a:p>
          <a:p>
            <a:pPr>
              <a:spcBef>
                <a:spcPts val="0"/>
              </a:spcBef>
              <a:spcAft>
                <a:spcPts val="0"/>
              </a:spcAft>
            </a:pPr>
            <a:r>
              <a:rPr sz="1050">
                <a:solidFill>
                  <a:srgbClr val="161B26"/>
                </a:solidFill>
                <a:latin typeface="Consolas"/>
              </a:rPr>
              <a:t>    - path:</a:t>
            </a:r>
          </a:p>
          <a:p>
            <a:pPr>
              <a:spcBef>
                <a:spcPts val="0"/>
              </a:spcBef>
              <a:spcAft>
                <a:spcPts val="0"/>
              </a:spcAft>
            </a:pPr>
            <a:r>
              <a:rPr sz="1050">
                <a:solidFill>
                  <a:srgbClr val="161B26"/>
                </a:solidFill>
                <a:latin typeface="Consolas"/>
              </a:rPr>
              <a:t>        type: PathPrefix</a:t>
            </a:r>
          </a:p>
          <a:p>
            <a:pPr>
              <a:spcBef>
                <a:spcPts val="0"/>
              </a:spcBef>
              <a:spcAft>
                <a:spcPts val="0"/>
              </a:spcAft>
            </a:pPr>
            <a:r>
              <a:rPr sz="1050">
                <a:solidFill>
                  <a:srgbClr val="161B26"/>
                </a:solidFill>
                <a:latin typeface="Consolas"/>
              </a:rPr>
              <a:t>        value: /api</a:t>
            </a:r>
          </a:p>
          <a:p>
            <a:pPr>
              <a:spcBef>
                <a:spcPts val="0"/>
              </a:spcBef>
              <a:spcAft>
                <a:spcPts val="0"/>
              </a:spcAft>
            </a:pPr>
            <a:r>
              <a:rPr sz="1050">
                <a:solidFill>
                  <a:srgbClr val="161B26"/>
                </a:solidFill>
                <a:latin typeface="Consolas"/>
              </a:rPr>
              <a:t>    backendRefs:</a:t>
            </a:r>
          </a:p>
          <a:p>
            <a:pPr>
              <a:spcBef>
                <a:spcPts val="0"/>
              </a:spcBef>
              <a:spcAft>
                <a:spcPts val="0"/>
              </a:spcAft>
            </a:pPr>
            <a:r>
              <a:rPr sz="1050">
                <a:solidFill>
                  <a:srgbClr val="161B26"/>
                </a:solidFill>
                <a:latin typeface="Consolas"/>
              </a:rPr>
              <a:t>    - name: api-svc</a:t>
            </a:r>
          </a:p>
          <a:p>
            <a:pPr>
              <a:spcBef>
                <a:spcPts val="0"/>
              </a:spcBef>
              <a:spcAft>
                <a:spcPts val="0"/>
              </a:spcAft>
            </a:pPr>
            <a:r>
              <a:rPr sz="1050">
                <a:solidFill>
                  <a:srgbClr val="161B26"/>
                </a:solidFill>
                <a:latin typeface="Consolas"/>
              </a:rPr>
              <a:t>      port: 80</a:t>
            </a:r>
          </a:p>
          <a:p>
            <a:pPr>
              <a:spcBef>
                <a:spcPts val="0"/>
              </a:spcBef>
              <a:spcAft>
                <a:spcPts val="0"/>
              </a:spcAft>
            </a:pPr>
            <a:r>
              <a:rPr sz="1050">
                <a:solidFill>
                  <a:srgbClr val="161B26"/>
                </a:solidFill>
                <a:latin typeface="Consolas"/>
              </a:rPr>
              <a:t>EOF</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181</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Three core Gateway API objects: GatewayClass (infra tier), Gateway (cluster operator tier), HTTPRoute (developer tier). Role separation enables multi-tenant traffic management.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182</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gatewayclass shows nginx as Accepted. kubectl get gateway shows Programmed=True. HTTP request to /api path routes to api-svc backend.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183</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NetworkPolicy &amp; CoreDNS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Network isolation and in-cluster DNS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185</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NETWORK ISOLATION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 Allow-List Firewalling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By default every pod can talk to every other pod — NetworkPolicies apply an allow-list.</a:t>
            </a:r>
          </a:p>
          <a:p>
            <a:pPr>
              <a:spcBef>
                <a:spcPts val="0"/>
              </a:spcBef>
              <a:spcAft>
                <a:spcPts val="1000"/>
              </a:spcAft>
            </a:pPr>
            <a:r>
              <a:rPr sz="1900" b="1">
                <a:solidFill>
                  <a:srgbClr val="1F6FEB"/>
                </a:solidFill>
                <a:latin typeface="Arial"/>
              </a:rPr>
              <a:t>•  </a:t>
            </a:r>
            <a:r>
              <a:rPr sz="1900">
                <a:solidFill>
                  <a:srgbClr val="161B26"/>
                </a:solidFill>
                <a:latin typeface="Arial"/>
              </a:rPr>
              <a:t>Default-deny: podSelector: {} with policyTypes: [Ingress] and no ingress rules blocks all inbound.</a:t>
            </a:r>
          </a:p>
          <a:p>
            <a:pPr>
              <a:spcBef>
                <a:spcPts val="0"/>
              </a:spcBef>
              <a:spcAft>
                <a:spcPts val="1000"/>
              </a:spcAft>
            </a:pPr>
            <a:r>
              <a:rPr sz="1900" b="1">
                <a:solidFill>
                  <a:srgbClr val="1F6FEB"/>
                </a:solidFill>
                <a:latin typeface="Arial"/>
              </a:rPr>
              <a:t>•  </a:t>
            </a:r>
            <a:r>
              <a:rPr sz="1900">
                <a:solidFill>
                  <a:srgbClr val="161B26"/>
                </a:solidFill>
                <a:latin typeface="Arial"/>
              </a:rPr>
              <a:t>Allow by podSelector (pod label match) or namespaceSelector (whole namespaces) in the from/to block.</a:t>
            </a:r>
          </a:p>
          <a:p>
            <a:pPr>
              <a:spcBef>
                <a:spcPts val="0"/>
              </a:spcBef>
              <a:spcAft>
                <a:spcPts val="1000"/>
              </a:spcAft>
            </a:pPr>
            <a:r>
              <a:rPr sz="1900" b="1">
                <a:solidFill>
                  <a:srgbClr val="1F6FEB"/>
                </a:solidFill>
                <a:latin typeface="Arial"/>
              </a:rPr>
              <a:t>•  </a:t>
            </a:r>
            <a:r>
              <a:rPr sz="1900">
                <a:solidFill>
                  <a:srgbClr val="161B26"/>
                </a:solidFill>
                <a:latin typeface="Arial"/>
              </a:rPr>
              <a:t>Policies are additive (OR): multiple policies that match the same pod combine their allow rules.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186</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POD FIREWALL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 Default Deny + Allow</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4572000" cy="3474720"/>
          </a:xfrm>
          <a:prstGeom prst="roundRect">
            <a:avLst>
              <a:gd name="adj" fmla="val 5000"/>
            </a:avLst>
          </a:prstGeom>
          <a:solidFill>
            <a:srgbClr val="FCE9E9"/>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75104"/>
            <a:ext cx="4572000" cy="292608"/>
          </a:xfrm>
          <a:prstGeom prst="rect">
            <a:avLst/>
          </a:prstGeom>
          <a:noFill/>
        </p:spPr>
        <p:txBody>
          <a:bodyPr wrap="square" anchor="ctr" lIns="0" rIns="0" tIns="0" bIns="0">
            <a:spAutoFit/>
          </a:bodyPr>
          <a:lstStyle/>
          <a:p>
            <a:pPr algn="ctr">
              <a:spcBef>
                <a:spcPts val="0"/>
              </a:spcBef>
              <a:spcAft>
                <a:spcPts val="400"/>
              </a:spcAft>
            </a:pPr>
            <a:r>
              <a:rPr sz="1400" b="1">
                <a:solidFill>
                  <a:srgbClr val="DC2626"/>
                </a:solidFill>
                <a:latin typeface="Arial"/>
              </a:rPr>
              <a:t>Default Deny (all pods)</a:t>
            </a:r>
          </a:p>
        </p:txBody>
      </p:sp>
      <p:sp>
        <p:nvSpPr>
          <p:cNvPr id="9" name="TextBox 8"/>
          <p:cNvSpPr txBox="1"/>
          <p:nvPr/>
        </p:nvSpPr>
        <p:spPr>
          <a:xfrm>
            <a:off x="1051560" y="2468880"/>
            <a:ext cx="4023360" cy="548640"/>
          </a:xfrm>
          <a:prstGeom prst="rect">
            <a:avLst/>
          </a:prstGeom>
          <a:noFill/>
        </p:spPr>
        <p:txBody>
          <a:bodyPr wrap="square" anchor="t" lIns="0" rIns="0" tIns="0" bIns="0">
            <a:spAutoFit/>
          </a:bodyPr>
          <a:lstStyle/>
          <a:p>
            <a:pPr algn="l">
              <a:spcBef>
                <a:spcPts val="0"/>
              </a:spcBef>
              <a:spcAft>
                <a:spcPts val="400"/>
              </a:spcAft>
            </a:pPr>
            <a:r>
              <a:rPr sz="1200" b="0">
                <a:solidFill>
                  <a:srgbClr val="161B26"/>
                </a:solidFill>
                <a:latin typeface="Arial"/>
              </a:rPr>
              <a:t>podSelector: {} + policyTypes: [Ingress]</a:t>
            </a:r>
          </a:p>
        </p:txBody>
      </p:sp>
      <p:sp>
        <p:nvSpPr>
          <p:cNvPr id="10" name="TextBox 9"/>
          <p:cNvSpPr txBox="1"/>
          <p:nvPr/>
        </p:nvSpPr>
        <p:spPr>
          <a:xfrm>
            <a:off x="1051560" y="3017520"/>
            <a:ext cx="4023360" cy="548640"/>
          </a:xfrm>
          <a:prstGeom prst="rect">
            <a:avLst/>
          </a:prstGeom>
          <a:noFill/>
        </p:spPr>
        <p:txBody>
          <a:bodyPr wrap="square" anchor="t" lIns="0" rIns="0" tIns="0" bIns="0">
            <a:spAutoFit/>
          </a:bodyPr>
          <a:lstStyle/>
          <a:p>
            <a:pPr algn="l">
              <a:spcBef>
                <a:spcPts val="0"/>
              </a:spcBef>
              <a:spcAft>
                <a:spcPts val="400"/>
              </a:spcAft>
            </a:pPr>
            <a:r>
              <a:rPr sz="1300" b="1">
                <a:solidFill>
                  <a:srgbClr val="DC2626"/>
                </a:solidFill>
                <a:latin typeface="Arial"/>
              </a:rPr>
              <a:t>→ nothing reaches any pod</a:t>
            </a:r>
          </a:p>
        </p:txBody>
      </p:sp>
      <p:sp>
        <p:nvSpPr>
          <p:cNvPr id="11" name="Rounded Rectangle 10"/>
          <p:cNvSpPr/>
          <p:nvPr/>
        </p:nvSpPr>
        <p:spPr>
          <a:xfrm>
            <a:off x="6675120" y="1828800"/>
            <a:ext cx="4709160" cy="347472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975104"/>
            <a:ext cx="4709160" cy="292608"/>
          </a:xfrm>
          <a:prstGeom prst="rect">
            <a:avLst/>
          </a:prstGeom>
          <a:noFill/>
        </p:spPr>
        <p:txBody>
          <a:bodyPr wrap="square" anchor="ctr" lIns="0" rIns="0" tIns="0" bIns="0">
            <a:spAutoFit/>
          </a:bodyPr>
          <a:lstStyle/>
          <a:p>
            <a:pPr algn="ctr">
              <a:spcBef>
                <a:spcPts val="0"/>
              </a:spcBef>
              <a:spcAft>
                <a:spcPts val="400"/>
              </a:spcAft>
            </a:pPr>
            <a:r>
              <a:rPr sz="1400" b="1">
                <a:solidFill>
                  <a:srgbClr val="10B981"/>
                </a:solidFill>
                <a:latin typeface="Arial"/>
              </a:rPr>
              <a:t>Selective Allow (podSelector)</a:t>
            </a:r>
          </a:p>
        </p:txBody>
      </p:sp>
      <p:sp>
        <p:nvSpPr>
          <p:cNvPr id="13" name="TextBox 12"/>
          <p:cNvSpPr txBox="1"/>
          <p:nvPr/>
        </p:nvSpPr>
        <p:spPr>
          <a:xfrm>
            <a:off x="6949440" y="2468880"/>
            <a:ext cx="4160520" cy="2560320"/>
          </a:xfrm>
          <a:prstGeom prst="rect">
            <a:avLst/>
          </a:prstGeom>
          <a:noFill/>
        </p:spPr>
        <p:txBody>
          <a:bodyPr wrap="square" anchor="t" lIns="0" rIns="0" tIns="0" bIns="0">
            <a:spAutoFit/>
          </a:bodyPr>
          <a:lstStyle/>
          <a:p>
            <a:pPr algn="l">
              <a:spcBef>
                <a:spcPts val="0"/>
              </a:spcBef>
              <a:spcAft>
                <a:spcPts val="300"/>
              </a:spcAft>
            </a:pPr>
            <a:r>
              <a:rPr sz="1200" b="1">
                <a:solidFill>
                  <a:srgbClr val="10B981"/>
                </a:solidFill>
                <a:latin typeface="Arial"/>
              </a:rPr>
              <a:t>ingress:</a:t>
            </a:r>
          </a:p>
          <a:p>
            <a:pPr algn="l">
              <a:spcBef>
                <a:spcPts val="0"/>
              </a:spcBef>
              <a:spcAft>
                <a:spcPts val="300"/>
              </a:spcAft>
            </a:pPr>
            <a:r>
              <a:rPr sz="1200" b="0">
                <a:solidFill>
                  <a:srgbClr val="161B26"/>
                </a:solidFill>
                <a:latin typeface="Arial"/>
              </a:rPr>
              <a:t>  from:</a:t>
            </a:r>
          </a:p>
          <a:p>
            <a:pPr algn="l">
              <a:spcBef>
                <a:spcPts val="0"/>
              </a:spcBef>
              <a:spcAft>
                <a:spcPts val="300"/>
              </a:spcAft>
            </a:pPr>
            <a:r>
              <a:rPr sz="1200" b="0">
                <a:solidFill>
                  <a:srgbClr val="161B26"/>
                </a:solidFill>
                <a:latin typeface="Arial"/>
              </a:rPr>
              <a:t>    - podSelector: {role: allowed}</a:t>
            </a:r>
          </a:p>
          <a:p>
            <a:pPr algn="l">
              <a:spcBef>
                <a:spcPts val="0"/>
              </a:spcBef>
              <a:spcAft>
                <a:spcPts val="300"/>
              </a:spcAft>
            </a:pPr>
            <a:r>
              <a:rPr sz="1200" b="0">
                <a:solidFill>
                  <a:srgbClr val="161B26"/>
                </a:solidFill>
                <a:latin typeface="Arial"/>
              </a:rPr>
              <a:t>  ports: [{port: 80}]</a:t>
            </a:r>
          </a:p>
          <a:p>
            <a:pPr algn="l">
              <a:spcBef>
                <a:spcPts val="0"/>
              </a:spcBef>
              <a:spcAft>
                <a:spcPts val="300"/>
              </a:spcAft>
            </a:pPr>
            <a:r>
              <a:rPr sz="1200" b="0">
                <a:solidFill>
                  <a:srgbClr val="161B26"/>
                </a:solidFill>
                <a:latin typeface="Arial"/>
              </a:rPr>
              <a:t/>
            </a:r>
          </a:p>
          <a:p>
            <a:pPr algn="l">
              <a:spcBef>
                <a:spcPts val="0"/>
              </a:spcBef>
              <a:spcAft>
                <a:spcPts val="300"/>
              </a:spcAft>
            </a:pPr>
            <a:r>
              <a:rPr sz="1200" b="0">
                <a:solidFill>
                  <a:srgbClr val="5B6372"/>
                </a:solidFill>
                <a:latin typeface="Arial"/>
              </a:rPr>
              <a:t>Policies are additive (OR). Combined</a:t>
            </a:r>
          </a:p>
          <a:p>
            <a:pPr algn="l">
              <a:spcBef>
                <a:spcPts val="0"/>
              </a:spcBef>
              <a:spcAft>
                <a:spcPts val="300"/>
              </a:spcAft>
            </a:pPr>
            <a:r>
              <a:rPr sz="1200" b="0">
                <a:solidFill>
                  <a:srgbClr val="5B6372"/>
                </a:solidFill>
                <a:latin typeface="Arial"/>
              </a:rPr>
              <a:t>default-deny + allow = allow-list model.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187</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NETWORK ISOLATION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Visualising Network Policy Rules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3_s068_i1.png"/>
          <p:cNvPicPr>
            <a:picLocks noChangeAspect="1"/>
          </p:cNvPicPr>
          <p:nvPr/>
        </p:nvPicPr>
        <p:blipFill>
          <a:blip r:embed="rId2"/>
          <a:stretch>
            <a:fillRect/>
          </a:stretch>
        </p:blipFill>
        <p:spPr>
          <a:xfrm>
            <a:off x="2900841" y="1627632"/>
            <a:ext cx="640555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188</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SERVICE DISCOVERY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 In-Cluster DNS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Every pod's /etc/resolv.conf points to the kube-dns ClusterIP with a search list.</a:t>
            </a:r>
          </a:p>
          <a:p>
            <a:pPr>
              <a:spcBef>
                <a:spcPts val="0"/>
              </a:spcBef>
              <a:spcAft>
                <a:spcPts val="1000"/>
              </a:spcAft>
            </a:pPr>
            <a:r>
              <a:rPr sz="1900" b="1">
                <a:solidFill>
                  <a:srgbClr val="1F6FEB"/>
                </a:solidFill>
                <a:latin typeface="Arial"/>
              </a:rPr>
              <a:t>•  </a:t>
            </a:r>
            <a:r>
              <a:rPr sz="1900">
                <a:solidFill>
                  <a:srgbClr val="161B26"/>
                </a:solidFill>
                <a:latin typeface="Arial"/>
              </a:rPr>
              <a:t>FQDN format: &lt;service&gt;.&lt;namespace&gt;.svc.cluster.local — within the same namespace the short name resolves.</a:t>
            </a:r>
          </a:p>
          <a:p>
            <a:pPr>
              <a:spcBef>
                <a:spcPts val="0"/>
              </a:spcBef>
              <a:spcAft>
                <a:spcPts val="1000"/>
              </a:spcAft>
            </a:pPr>
            <a:r>
              <a:rPr sz="1900" b="1">
                <a:solidFill>
                  <a:srgbClr val="1F6FEB"/>
                </a:solidFill>
                <a:latin typeface="Arial"/>
              </a:rPr>
              <a:t>•  </a:t>
            </a:r>
            <a:r>
              <a:rPr sz="1900">
                <a:solidFill>
                  <a:srgbClr val="161B26"/>
                </a:solidFill>
                <a:latin typeface="Arial"/>
              </a:rPr>
              <a:t>Headless Service (clusterIP: None): DNS returns individual pod A records instead of a single virtual IP.</a:t>
            </a:r>
          </a:p>
          <a:p>
            <a:pPr>
              <a:spcBef>
                <a:spcPts val="0"/>
              </a:spcBef>
              <a:spcAft>
                <a:spcPts val="1000"/>
              </a:spcAft>
            </a:pPr>
            <a:r>
              <a:rPr sz="1900" b="1">
                <a:solidFill>
                  <a:srgbClr val="1F6FEB"/>
                </a:solidFill>
                <a:latin typeface="Arial"/>
              </a:rPr>
              <a:t>•  </a:t>
            </a:r>
            <a:r>
              <a:rPr sz="1900">
                <a:solidFill>
                  <a:srgbClr val="161B26"/>
                </a:solidFill>
                <a:latin typeface="Arial"/>
              </a:rPr>
              <a:t>Corefile ConfigMap controls CoreDNS behaviour — add stub zones, upstream forwarders or rewrite rules.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189</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SERVICE DISCOVERY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 In-Cluster DNS Resolution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Pod</a:t>
            </a:r>
          </a:p>
          <a:p>
            <a:pPr algn="ctr">
              <a:spcBef>
                <a:spcPts val="0"/>
              </a:spcBef>
              <a:spcAft>
                <a:spcPts val="300"/>
              </a:spcAft>
            </a:pPr>
            <a:r>
              <a:rPr sz="1100" b="0">
                <a:solidFill>
                  <a:srgbClr val="5B6372"/>
                </a:solidFill>
                <a:latin typeface="Arial"/>
              </a:rPr>
              <a:t>/etc/resolv.conf</a:t>
            </a:r>
          </a:p>
          <a:p>
            <a:pPr algn="ctr">
              <a:spcBef>
                <a:spcPts val="0"/>
              </a:spcBef>
              <a:spcAft>
                <a:spcPts val="300"/>
              </a:spcAft>
            </a:pPr>
            <a:r>
              <a:rPr sz="1100" b="0">
                <a:solidFill>
                  <a:srgbClr val="5B6372"/>
                </a:solidFill>
                <a:latin typeface="Arial"/>
              </a:rPr>
              <a:t>nameserver: kube-dns IP</a:t>
            </a:r>
          </a:p>
          <a:p>
            <a:pPr algn="ctr">
              <a:spcBef>
                <a:spcPts val="0"/>
              </a:spcBef>
              <a:spcAft>
                <a:spcPts val="300"/>
              </a:spcAft>
            </a:pPr>
            <a:r>
              <a:rPr sz="1100" b="0">
                <a:solidFill>
                  <a:srgbClr val="5B6372"/>
                </a:solidFill>
                <a:latin typeface="Arial"/>
              </a:rPr>
              <a:t>search: default.svc.cluster.local</a:t>
            </a:r>
          </a:p>
        </p:txBody>
      </p:sp>
      <p:sp>
        <p:nvSpPr>
          <p:cNvPr id="10" name="Right Arrow 9"/>
          <p:cNvSpPr/>
          <p:nvPr/>
        </p:nvSpPr>
        <p:spPr>
          <a:xfrm>
            <a:off x="384048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DNS query</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CoreDNS</a:t>
            </a:r>
          </a:p>
          <a:p>
            <a:pPr algn="ctr">
              <a:spcBef>
                <a:spcPts val="0"/>
              </a:spcBef>
              <a:spcAft>
                <a:spcPts val="300"/>
              </a:spcAft>
            </a:pPr>
            <a:r>
              <a:rPr sz="1100" b="0">
                <a:solidFill>
                  <a:srgbClr val="5B6372"/>
                </a:solidFill>
                <a:latin typeface="Arial"/>
              </a:rPr>
              <a:t>kube-dns Service</a:t>
            </a:r>
          </a:p>
          <a:p>
            <a:pPr algn="ctr">
              <a:spcBef>
                <a:spcPts val="0"/>
              </a:spcBef>
              <a:spcAft>
                <a:spcPts val="300"/>
              </a:spcAft>
            </a:pPr>
            <a:r>
              <a:rPr sz="1100" b="0">
                <a:solidFill>
                  <a:srgbClr val="5B6372"/>
                </a:solidFill>
                <a:latin typeface="Arial"/>
              </a:rPr>
              <a:t>Corefile ConfigMap</a:t>
            </a:r>
          </a:p>
          <a:p>
            <a:pPr algn="ctr">
              <a:spcBef>
                <a:spcPts val="0"/>
              </a:spcBef>
              <a:spcAft>
                <a:spcPts val="300"/>
              </a:spcAft>
            </a:pPr>
            <a:r>
              <a:rPr sz="1100" b="0">
                <a:solidFill>
                  <a:srgbClr val="5B6372"/>
                </a:solidFill>
                <a:latin typeface="Arial"/>
              </a:rPr>
              <a:t>kubernetes forward ready</a:t>
            </a:r>
          </a:p>
        </p:txBody>
      </p:sp>
      <p:sp>
        <p:nvSpPr>
          <p:cNvPr id="15" name="Right Arrow 14"/>
          <p:cNvSpPr/>
          <p:nvPr/>
        </p:nvSpPr>
        <p:spPr>
          <a:xfrm>
            <a:off x="763524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A / AAAA record</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Answer</a:t>
            </a:r>
          </a:p>
          <a:p>
            <a:pPr algn="ctr">
              <a:spcBef>
                <a:spcPts val="0"/>
              </a:spcBef>
              <a:spcAft>
                <a:spcPts val="300"/>
              </a:spcAft>
            </a:pPr>
            <a:r>
              <a:rPr sz="1100" b="0">
                <a:solidFill>
                  <a:srgbClr val="5B6372"/>
                </a:solidFill>
                <a:latin typeface="Arial"/>
              </a:rPr>
              <a:t>short name → ClusterIP</a:t>
            </a:r>
          </a:p>
          <a:p>
            <a:pPr algn="ctr">
              <a:spcBef>
                <a:spcPts val="0"/>
              </a:spcBef>
              <a:spcAft>
                <a:spcPts val="300"/>
              </a:spcAft>
            </a:pPr>
            <a:r>
              <a:rPr sz="1100" b="0">
                <a:solidFill>
                  <a:srgbClr val="5B6372"/>
                </a:solidFill>
                <a:latin typeface="Arial"/>
              </a:rPr>
              <a:t>full FQDN always works</a:t>
            </a:r>
          </a:p>
          <a:p>
            <a:pPr algn="ctr">
              <a:spcBef>
                <a:spcPts val="0"/>
              </a:spcBef>
              <a:spcAft>
                <a:spcPts val="300"/>
              </a:spcAft>
            </a:pPr>
            <a:r>
              <a:rPr sz="1100" b="0">
                <a:solidFill>
                  <a:srgbClr val="5B6372"/>
                </a:solidFill>
                <a:latin typeface="Arial"/>
              </a:rPr>
              <a:t>headless → pod A records</a:t>
            </a:r>
          </a:p>
        </p:txBody>
      </p:sp>
      <p:sp>
        <p:nvSpPr>
          <p:cNvPr id="19" name="Rounded Rectangle 18"/>
          <p:cNvSpPr/>
          <p:nvPr/>
        </p:nvSpPr>
        <p:spPr>
          <a:xfrm>
            <a:off x="777240" y="4754880"/>
            <a:ext cx="10652760" cy="530352"/>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54880"/>
            <a:ext cx="10058400" cy="530352"/>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Within ns: svc  ·  cross-ns: svc.ns  ·  full: svc.ns.svc.cluster.local</a:t>
            </a:r>
          </a:p>
        </p:txBody>
      </p:sp>
      <p:sp>
        <p:nvSpPr>
          <p:cNvPr id="21" name="Rounded Rectangle 20"/>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Headless Service (clusterIP: None) returns individual </a:t>
            </a:r>
            <a:r>
              <a:rPr sz="1300" b="1">
                <a:solidFill>
                  <a:srgbClr val="161B26"/>
                </a:solidFill>
                <a:latin typeface="Arial"/>
              </a:rPr>
              <a:t>Pod A records</a:t>
            </a:r>
            <a:r>
              <a:rPr sz="1300" b="0">
                <a:solidFill>
                  <a:srgbClr val="5B6372"/>
                </a:solidFill>
                <a:latin typeface="Arial"/>
              </a:rPr>
              <a:t> instead of a single virtual IP.</a:t>
            </a:r>
          </a:p>
        </p:txBody>
      </p:sp>
      <p:sp>
        <p:nvSpPr>
          <p:cNvPr id="23" name="TextBox 2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NETWORK POLICY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Network Policies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Implement Pod-level firewall rules using NetworkPolicies. Kubernetes uses allow-lists: once any NetworkPolicy selects a pod, all traffic not explicitly allowed is blocked. CKA 2026 tests default-deny, pod/namespace selectors, and egress lockdown.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server and client pods, apply default-deny-ingress policy, verify blocking, add allow rule for specific pod selector, test egress lockdown.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cat &lt;&lt;'EOF' · » Empty</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191</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test workloads</a:t>
            </a:r>
          </a:p>
        </p:txBody>
      </p:sp>
      <p:sp>
        <p:nvSpPr>
          <p:cNvPr id="8" name="Rounded Rectangle 7"/>
          <p:cNvSpPr/>
          <p:nvPr/>
        </p:nvSpPr>
        <p:spPr>
          <a:xfrm>
            <a:off x="777240" y="207568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ns netpol</a:t>
            </a:r>
          </a:p>
          <a:p>
            <a:pPr>
              <a:spcBef>
                <a:spcPts val="0"/>
              </a:spcBef>
              <a:spcAft>
                <a:spcPts val="0"/>
              </a:spcAft>
            </a:pPr>
            <a:r>
              <a:rPr sz="1050">
                <a:solidFill>
                  <a:srgbClr val="161B26"/>
                </a:solidFill>
                <a:latin typeface="Consolas"/>
              </a:rPr>
              <a:t>kubectl -n netpol run server --image=nginx --labels='app=server'</a:t>
            </a:r>
          </a:p>
          <a:p>
            <a:pPr>
              <a:spcBef>
                <a:spcPts val="0"/>
              </a:spcBef>
              <a:spcAft>
                <a:spcPts val="0"/>
              </a:spcAft>
            </a:pPr>
            <a:r>
              <a:rPr sz="1050">
                <a:solidFill>
                  <a:srgbClr val="161B26"/>
                </a:solidFill>
                <a:latin typeface="Consolas"/>
              </a:rPr>
              <a:t>kubectl -n netpol run client-ok --image=nicolaka/netshoot \</a:t>
            </a:r>
          </a:p>
          <a:p>
            <a:pPr>
              <a:spcBef>
                <a:spcPts val="0"/>
              </a:spcBef>
              <a:spcAft>
                <a:spcPts val="0"/>
              </a:spcAft>
            </a:pPr>
            <a:r>
              <a:rPr sz="1050">
                <a:solidFill>
                  <a:srgbClr val="161B26"/>
                </a:solidFill>
                <a:latin typeface="Consolas"/>
              </a:rPr>
              <a:t>  --labels='role=allowed' --command -- sleep 3600</a:t>
            </a:r>
          </a:p>
          <a:p>
            <a:pPr>
              <a:spcBef>
                <a:spcPts val="0"/>
              </a:spcBef>
              <a:spcAft>
                <a:spcPts val="0"/>
              </a:spcAft>
            </a:pPr>
            <a:r>
              <a:rPr sz="1050">
                <a:solidFill>
                  <a:srgbClr val="161B26"/>
                </a:solidFill>
                <a:latin typeface="Consolas"/>
              </a:rPr>
              <a:t>kubectl -n netpol run client-bad --image=nicolaka/netshoot \</a:t>
            </a:r>
          </a:p>
          <a:p>
            <a:pPr>
              <a:spcBef>
                <a:spcPts val="0"/>
              </a:spcBef>
              <a:spcAft>
                <a:spcPts val="0"/>
              </a:spcAft>
            </a:pPr>
            <a:r>
              <a:rPr sz="1050">
                <a:solidFill>
                  <a:srgbClr val="161B26"/>
                </a:solidFill>
                <a:latin typeface="Consolas"/>
              </a:rPr>
              <a:t>  --labels='role=denied' --command -- sleep 3600</a:t>
            </a:r>
          </a:p>
          <a:p>
            <a:pPr>
              <a:spcBef>
                <a:spcPts val="0"/>
              </a:spcBef>
              <a:spcAft>
                <a:spcPts val="0"/>
              </a:spcAft>
            </a:pPr>
            <a:r>
              <a:rPr sz="1050">
                <a:solidFill>
                  <a:srgbClr val="161B26"/>
                </a:solidFill>
                <a:latin typeface="Consolas"/>
              </a:rPr>
              <a:t>kubectl -n netpol expose pod server --port=80</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192</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Apply default-deny-ingress</a:t>
            </a:r>
          </a:p>
        </p:txBody>
      </p:sp>
      <p:sp>
        <p:nvSpPr>
          <p:cNvPr id="8" name="Rounded Rectangle 7"/>
          <p:cNvSpPr/>
          <p:nvPr/>
        </p:nvSpPr>
        <p:spPr>
          <a:xfrm>
            <a:off x="777240" y="2075688"/>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networking.k8s.io/v1</a:t>
            </a:r>
          </a:p>
          <a:p>
            <a:pPr>
              <a:spcBef>
                <a:spcPts val="0"/>
              </a:spcBef>
              <a:spcAft>
                <a:spcPts val="0"/>
              </a:spcAft>
            </a:pPr>
            <a:r>
              <a:rPr sz="1050">
                <a:solidFill>
                  <a:srgbClr val="161B26"/>
                </a:solidFill>
                <a:latin typeface="Consolas"/>
              </a:rPr>
              <a:t>kind: NetworkPolicy</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default-deny-ingress</a:t>
            </a:r>
          </a:p>
          <a:p>
            <a:pPr>
              <a:spcBef>
                <a:spcPts val="0"/>
              </a:spcBef>
              <a:spcAft>
                <a:spcPts val="0"/>
              </a:spcAft>
            </a:pPr>
            <a:r>
              <a:rPr sz="1050">
                <a:solidFill>
                  <a:srgbClr val="161B26"/>
                </a:solidFill>
                <a:latin typeface="Consolas"/>
              </a:rPr>
              <a:t>  namespace: netpol</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podSelector: {}</a:t>
            </a:r>
          </a:p>
          <a:p>
            <a:pPr>
              <a:spcBef>
                <a:spcPts val="0"/>
              </a:spcBef>
              <a:spcAft>
                <a:spcPts val="0"/>
              </a:spcAft>
            </a:pPr>
            <a:r>
              <a:rPr sz="1050">
                <a:solidFill>
                  <a:srgbClr val="161B26"/>
                </a:solidFill>
                <a:latin typeface="Consolas"/>
              </a:rPr>
              <a:t>  policyTypes: ['Ingress']</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-n netpol exec client-ok -- curl -m 3 http://server || echo BLOCKED</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193</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Allow specific pod selector</a:t>
            </a:r>
          </a:p>
        </p:txBody>
      </p:sp>
      <p:sp>
        <p:nvSpPr>
          <p:cNvPr id="8" name="Rounded Rectangle 7"/>
          <p:cNvSpPr/>
          <p:nvPr/>
        </p:nvSpPr>
        <p:spPr>
          <a:xfrm>
            <a:off x="777240" y="2075688"/>
            <a:ext cx="10652760" cy="389534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8953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80390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networking.k8s.io/v1</a:t>
            </a:r>
          </a:p>
          <a:p>
            <a:pPr>
              <a:spcBef>
                <a:spcPts val="0"/>
              </a:spcBef>
              <a:spcAft>
                <a:spcPts val="0"/>
              </a:spcAft>
            </a:pPr>
            <a:r>
              <a:rPr sz="1050">
                <a:solidFill>
                  <a:srgbClr val="161B26"/>
                </a:solidFill>
                <a:latin typeface="Consolas"/>
              </a:rPr>
              <a:t>kind: NetworkPolicy</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allow-from-allowed</a:t>
            </a:r>
          </a:p>
          <a:p>
            <a:pPr>
              <a:spcBef>
                <a:spcPts val="0"/>
              </a:spcBef>
              <a:spcAft>
                <a:spcPts val="0"/>
              </a:spcAft>
            </a:pPr>
            <a:r>
              <a:rPr sz="1050">
                <a:solidFill>
                  <a:srgbClr val="161B26"/>
                </a:solidFill>
                <a:latin typeface="Consolas"/>
              </a:rPr>
              <a:t>  namespace: netpol</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podSelector: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app: server</a:t>
            </a:r>
          </a:p>
          <a:p>
            <a:pPr>
              <a:spcBef>
                <a:spcPts val="0"/>
              </a:spcBef>
              <a:spcAft>
                <a:spcPts val="0"/>
              </a:spcAft>
            </a:pPr>
            <a:r>
              <a:rPr sz="1050">
                <a:solidFill>
                  <a:srgbClr val="161B26"/>
                </a:solidFill>
                <a:latin typeface="Consolas"/>
              </a:rPr>
              <a:t>  policyTypes: ['Ingress']</a:t>
            </a:r>
          </a:p>
          <a:p>
            <a:pPr>
              <a:spcBef>
                <a:spcPts val="0"/>
              </a:spcBef>
              <a:spcAft>
                <a:spcPts val="0"/>
              </a:spcAft>
            </a:pPr>
            <a:r>
              <a:rPr sz="1050">
                <a:solidFill>
                  <a:srgbClr val="161B26"/>
                </a:solidFill>
                <a:latin typeface="Consolas"/>
              </a:rPr>
              <a:t>  ingress:</a:t>
            </a:r>
          </a:p>
          <a:p>
            <a:pPr>
              <a:spcBef>
                <a:spcPts val="0"/>
              </a:spcBef>
              <a:spcAft>
                <a:spcPts val="0"/>
              </a:spcAft>
            </a:pPr>
            <a:r>
              <a:rPr sz="1050">
                <a:solidFill>
                  <a:srgbClr val="161B26"/>
                </a:solidFill>
                <a:latin typeface="Consolas"/>
              </a:rPr>
              <a:t>  - from:</a:t>
            </a:r>
          </a:p>
          <a:p>
            <a:pPr>
              <a:spcBef>
                <a:spcPts val="0"/>
              </a:spcBef>
              <a:spcAft>
                <a:spcPts val="0"/>
              </a:spcAft>
            </a:pPr>
            <a:r>
              <a:rPr sz="1050">
                <a:solidFill>
                  <a:srgbClr val="161B26"/>
                </a:solidFill>
                <a:latin typeface="Consolas"/>
              </a:rPr>
              <a:t>    - podSelector: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role: allowed</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-n netpol exec client-ok -- curl -s http://server</a:t>
            </a:r>
          </a:p>
          <a:p>
            <a:pPr>
              <a:spcBef>
                <a:spcPts val="0"/>
              </a:spcBef>
              <a:spcAft>
                <a:spcPts val="0"/>
              </a:spcAft>
            </a:pPr>
            <a:r>
              <a:rPr sz="1050">
                <a:solidFill>
                  <a:srgbClr val="161B26"/>
                </a:solidFill>
                <a:latin typeface="Consolas"/>
              </a:rPr>
              <a:t># OK</a:t>
            </a:r>
          </a:p>
          <a:p>
            <a:pPr>
              <a:spcBef>
                <a:spcPts val="0"/>
              </a:spcBef>
              <a:spcAft>
                <a:spcPts val="0"/>
              </a:spcAft>
            </a:pPr>
            <a:r>
              <a:rPr sz="1050">
                <a:solidFill>
                  <a:srgbClr val="161B26"/>
                </a:solidFill>
                <a:latin typeface="Consolas"/>
              </a:rPr>
              <a:t>kubectl -n netpol exec client-bad -- curl -m 3 http://server || echo BLOCKED</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194</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Empty podSelector {} selects ALL pods in the namespace. NetworkPolicy requires a CNI that enforces it (Calico, Cilium -- NOT Flannel alone).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195</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default-deny blocks both clients. After allow policy, client-ok reaches server; client-bad (role=denied) is still blocked.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196</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COREDNS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CoreDNS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Inspect CoreDNS configuration, query Service and Pod DNS records, understand headless service resolution (A records per pod), and customize CoreDNS with stub zones. CKA tests configuring CoreDNS via ConfigMap and diagnosing DNS failures.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Inspect kube-dns service and coredns ConfigMap, test DNS from netshoot pod, create headless service, verify per-pod A records, add stub zone to Corefile.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-n · kubectl run · kubectl expose · » Service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197</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Inspect CoreDNS</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kube-system get svc kube-dns</a:t>
            </a:r>
          </a:p>
          <a:p>
            <a:pPr>
              <a:spcBef>
                <a:spcPts val="0"/>
              </a:spcBef>
              <a:spcAft>
                <a:spcPts val="0"/>
              </a:spcAft>
            </a:pPr>
            <a:r>
              <a:rPr sz="1050">
                <a:solidFill>
                  <a:srgbClr val="161B26"/>
                </a:solidFill>
                <a:latin typeface="Consolas"/>
              </a:rPr>
              <a:t>kubectl -n kube-system get pods -l k8s-app=kube-dns</a:t>
            </a:r>
          </a:p>
          <a:p>
            <a:pPr>
              <a:spcBef>
                <a:spcPts val="0"/>
              </a:spcBef>
              <a:spcAft>
                <a:spcPts val="0"/>
              </a:spcAft>
            </a:pPr>
            <a:r>
              <a:rPr sz="1050">
                <a:solidFill>
                  <a:srgbClr val="161B26"/>
                </a:solidFill>
                <a:latin typeface="Consolas"/>
              </a:rPr>
              <a:t>kubectl -n kube-system get configmap coredns -o yaml</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Query DNS from debug pod</a:t>
            </a:r>
          </a:p>
        </p:txBody>
      </p:sp>
      <p:sp>
        <p:nvSpPr>
          <p:cNvPr id="12" name="Rounded Rectangle 11"/>
          <p:cNvSpPr/>
          <p:nvPr/>
        </p:nvSpPr>
        <p:spPr>
          <a:xfrm>
            <a:off x="777240" y="335127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dnsdebug --image=nicolaka/netshoot --command -- sleep 3600</a:t>
            </a:r>
          </a:p>
          <a:p>
            <a:pPr>
              <a:spcBef>
                <a:spcPts val="0"/>
              </a:spcBef>
              <a:spcAft>
                <a:spcPts val="0"/>
              </a:spcAft>
            </a:pPr>
            <a:r>
              <a:rPr sz="1050">
                <a:solidFill>
                  <a:srgbClr val="161B26"/>
                </a:solidFill>
                <a:latin typeface="Consolas"/>
              </a:rPr>
              <a:t>kubectl exec dnsdebug -- cat /etc/resolv.conf</a:t>
            </a:r>
          </a:p>
          <a:p>
            <a:pPr>
              <a:spcBef>
                <a:spcPts val="0"/>
              </a:spcBef>
              <a:spcAft>
                <a:spcPts val="0"/>
              </a:spcAft>
            </a:pPr>
            <a:r>
              <a:rPr sz="1050">
                <a:solidFill>
                  <a:srgbClr val="161B26"/>
                </a:solidFill>
                <a:latin typeface="Consolas"/>
              </a:rPr>
              <a:t>kubectl exec dnsdebug -- nslookup kubernetes.default.svc.cluster.local</a:t>
            </a:r>
          </a:p>
          <a:p>
            <a:pPr>
              <a:spcBef>
                <a:spcPts val="0"/>
              </a:spcBef>
              <a:spcAft>
                <a:spcPts val="0"/>
              </a:spcAft>
            </a:pPr>
            <a:r>
              <a:rPr sz="1050">
                <a:solidFill>
                  <a:srgbClr val="161B26"/>
                </a:solidFill>
                <a:latin typeface="Consolas"/>
              </a:rPr>
              <a:t>kubectl exec dnsdebug -- dig +short webapp.default.svc.cluster.local</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Headless service: per-pod A records</a:t>
            </a:r>
          </a:p>
        </p:txBody>
      </p:sp>
      <p:sp>
        <p:nvSpPr>
          <p:cNvPr id="16" name="Rounded Rectangle 15"/>
          <p:cNvSpPr/>
          <p:nvPr/>
        </p:nvSpPr>
        <p:spPr>
          <a:xfrm>
            <a:off x="777240" y="481431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expose deployment webapp --port=80 --name=webapp-headless --cluster-ip=None</a:t>
            </a:r>
          </a:p>
          <a:p>
            <a:pPr>
              <a:spcBef>
                <a:spcPts val="0"/>
              </a:spcBef>
              <a:spcAft>
                <a:spcPts val="0"/>
              </a:spcAft>
            </a:pPr>
            <a:r>
              <a:rPr sz="1050">
                <a:solidFill>
                  <a:srgbClr val="161B26"/>
                </a:solidFill>
                <a:latin typeface="Consolas"/>
              </a:rPr>
              <a:t>kubectl exec dnsdebug -- dig +short webapp-headless.default.svc.cluster.local</a:t>
            </a:r>
          </a:p>
          <a:p>
            <a:pPr>
              <a:spcBef>
                <a:spcPts val="0"/>
              </a:spcBef>
              <a:spcAft>
                <a:spcPts val="0"/>
              </a:spcAft>
            </a:pPr>
            <a:r>
              <a:rPr sz="1050">
                <a:solidFill>
                  <a:srgbClr val="161B26"/>
                </a:solidFill>
                <a:latin typeface="Consolas"/>
              </a:rPr>
              <a:t># Returns one IP per pod -- used by StatefulSets for stable identity</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198</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Add stub zone to Corefile</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kube-system edit configmap coredns</a:t>
            </a:r>
          </a:p>
          <a:p>
            <a:pPr>
              <a:spcBef>
                <a:spcPts val="0"/>
              </a:spcBef>
              <a:spcAft>
                <a:spcPts val="0"/>
              </a:spcAft>
            </a:pPr>
            <a:r>
              <a:rPr sz="1050">
                <a:solidFill>
                  <a:srgbClr val="161B26"/>
                </a:solidFill>
                <a:latin typeface="Consolas"/>
              </a:rPr>
              <a:t># Add inside Corefile:</a:t>
            </a:r>
          </a:p>
          <a:p>
            <a:pPr>
              <a:spcBef>
                <a:spcPts val="0"/>
              </a:spcBef>
              <a:spcAft>
                <a:spcPts val="0"/>
              </a:spcAft>
            </a:pPr>
            <a:r>
              <a:rPr sz="1050">
                <a:solidFill>
                  <a:srgbClr val="161B26"/>
                </a:solidFill>
                <a:latin typeface="Consolas"/>
              </a:rPr>
              <a:t># example.internal:53 {</a:t>
            </a:r>
          </a:p>
          <a:p>
            <a:pPr>
              <a:spcBef>
                <a:spcPts val="0"/>
              </a:spcBef>
              <a:spcAft>
                <a:spcPts val="0"/>
              </a:spcAft>
            </a:pPr>
            <a:r>
              <a:rPr sz="1050">
                <a:solidFill>
                  <a:srgbClr val="161B26"/>
                </a:solidFill>
                <a:latin typeface="Consolas"/>
              </a:rPr>
              <a:t>#   forward . 10.10.0.1</a:t>
            </a:r>
          </a:p>
          <a:p>
            <a:pPr>
              <a:spcBef>
                <a:spcPts val="0"/>
              </a:spcBef>
              <a:spcAft>
                <a:spcPts val="0"/>
              </a:spcAft>
            </a:pPr>
            <a:r>
              <a:rPr sz="1050">
                <a:solidFill>
                  <a:srgbClr val="161B26"/>
                </a:solidFill>
                <a:latin typeface="Consolas"/>
              </a:rPr>
              <a:t># }</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Service name is 'kube-dns' (legacy) even though pods run CoreDNS. Headless services have clusterIP: None. Stub zones forward specific domains to external DNS.</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199</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nslookup kubernetes.default resolves to 10.96.0.1. Headless service dig returns one IP per pod. CoreDNS ConfigMap has the Corefile visible.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Persistent Storage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PV, PVC, StorageClass and dynamic provisioning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202</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STORAGE LIFECYCLE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PersistentVolumes and Claims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PersistentVolume (PV) is a cluster-level storage resource with capacity, accessModes and reclaimPolicy.</a:t>
            </a:r>
          </a:p>
          <a:p>
            <a:pPr>
              <a:spcBef>
                <a:spcPts val="0"/>
              </a:spcBef>
              <a:spcAft>
                <a:spcPts val="1000"/>
              </a:spcAft>
            </a:pPr>
            <a:r>
              <a:rPr sz="1900" b="1">
                <a:solidFill>
                  <a:srgbClr val="1F6FEB"/>
                </a:solidFill>
                <a:latin typeface="Arial"/>
              </a:rPr>
              <a:t>•  </a:t>
            </a:r>
            <a:r>
              <a:rPr sz="1900">
                <a:solidFill>
                  <a:srgbClr val="161B26"/>
                </a:solidFill>
                <a:latin typeface="Arial"/>
              </a:rPr>
              <a:t>A PersistentVolumeClaim (PVC) is a namespaced request that binds to a matching PV.</a:t>
            </a:r>
          </a:p>
          <a:p>
            <a:pPr>
              <a:spcBef>
                <a:spcPts val="0"/>
              </a:spcBef>
              <a:spcAft>
                <a:spcPts val="1000"/>
              </a:spcAft>
            </a:pPr>
            <a:r>
              <a:rPr sz="1900" b="1">
                <a:solidFill>
                  <a:srgbClr val="1F6FEB"/>
                </a:solidFill>
                <a:latin typeface="Arial"/>
              </a:rPr>
              <a:t>•  </a:t>
            </a:r>
            <a:r>
              <a:rPr sz="1900">
                <a:solidFill>
                  <a:srgbClr val="161B26"/>
                </a:solidFill>
                <a:latin typeface="Arial"/>
              </a:rPr>
              <a:t>Access modes: ReadWriteOnce (node), ReadOnlyMany (many nodes), ReadWriteMany (many nodes).</a:t>
            </a:r>
          </a:p>
          <a:p>
            <a:pPr>
              <a:spcBef>
                <a:spcPts val="0"/>
              </a:spcBef>
              <a:spcAft>
                <a:spcPts val="1000"/>
              </a:spcAft>
            </a:pPr>
            <a:r>
              <a:rPr sz="1900" b="1">
                <a:solidFill>
                  <a:srgbClr val="1F6FEB"/>
                </a:solidFill>
                <a:latin typeface="Arial"/>
              </a:rPr>
              <a:t>•  </a:t>
            </a:r>
            <a:r>
              <a:rPr sz="1900">
                <a:solidFill>
                  <a:srgbClr val="161B26"/>
                </a:solidFill>
                <a:latin typeface="Arial"/>
              </a:rPr>
              <a:t>reclaimPolicy Retain keeps data after PVC deletion; Delete removes the underlying volume.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203</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4  ·  PERSISTENT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PV, PVC, and Pod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PersistentVolume</a:t>
            </a:r>
          </a:p>
          <a:p>
            <a:pPr algn="ctr">
              <a:spcBef>
                <a:spcPts val="0"/>
              </a:spcBef>
              <a:spcAft>
                <a:spcPts val="300"/>
              </a:spcAft>
            </a:pPr>
            <a:r>
              <a:rPr sz="1100" b="0">
                <a:solidFill>
                  <a:srgbClr val="5B6372"/>
                </a:solidFill>
                <a:latin typeface="Arial"/>
              </a:rPr>
              <a:t>capacity, accessModes</a:t>
            </a:r>
          </a:p>
          <a:p>
            <a:pPr algn="ctr">
              <a:spcBef>
                <a:spcPts val="0"/>
              </a:spcBef>
              <a:spcAft>
                <a:spcPts val="300"/>
              </a:spcAft>
            </a:pPr>
            <a:r>
              <a:rPr sz="1100" b="0">
                <a:solidFill>
                  <a:srgbClr val="5B6372"/>
                </a:solidFill>
                <a:latin typeface="Arial"/>
              </a:rPr>
              <a:t>reclaimPolicy, storageClass</a:t>
            </a:r>
          </a:p>
          <a:p>
            <a:pPr algn="ctr">
              <a:spcBef>
                <a:spcPts val="0"/>
              </a:spcBef>
              <a:spcAft>
                <a:spcPts val="300"/>
              </a:spcAft>
            </a:pPr>
            <a:r>
              <a:rPr sz="1100" b="0">
                <a:solidFill>
                  <a:srgbClr val="5B6372"/>
                </a:solidFill>
                <a:latin typeface="Arial"/>
              </a:rPr>
              <a:t>hostPath / NFS / CSI</a:t>
            </a:r>
          </a:p>
        </p:txBody>
      </p:sp>
      <p:sp>
        <p:nvSpPr>
          <p:cNvPr id="10" name="Right Arrow 9"/>
          <p:cNvSpPr/>
          <p:nvPr/>
        </p:nvSpPr>
        <p:spPr>
          <a:xfrm>
            <a:off x="384048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bound</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PersistentVolumeClaim</a:t>
            </a:r>
          </a:p>
          <a:p>
            <a:pPr algn="ctr">
              <a:spcBef>
                <a:spcPts val="0"/>
              </a:spcBef>
              <a:spcAft>
                <a:spcPts val="300"/>
              </a:spcAft>
            </a:pPr>
            <a:r>
              <a:rPr sz="1100" b="0">
                <a:solidFill>
                  <a:srgbClr val="5B6372"/>
                </a:solidFill>
                <a:latin typeface="Arial"/>
              </a:rPr>
              <a:t>requests storage size</a:t>
            </a:r>
          </a:p>
          <a:p>
            <a:pPr algn="ctr">
              <a:spcBef>
                <a:spcPts val="0"/>
              </a:spcBef>
              <a:spcAft>
                <a:spcPts val="300"/>
              </a:spcAft>
            </a:pPr>
            <a:r>
              <a:rPr sz="1100" b="0">
                <a:solidFill>
                  <a:srgbClr val="5B6372"/>
                </a:solidFill>
                <a:latin typeface="Arial"/>
              </a:rPr>
              <a:t>accessModes match</a:t>
            </a:r>
          </a:p>
          <a:p>
            <a:pPr algn="ctr">
              <a:spcBef>
                <a:spcPts val="0"/>
              </a:spcBef>
              <a:spcAft>
                <a:spcPts val="300"/>
              </a:spcAft>
            </a:pPr>
            <a:r>
              <a:rPr sz="1100" b="0">
                <a:solidFill>
                  <a:srgbClr val="5B6372"/>
                </a:solidFill>
                <a:latin typeface="Arial"/>
              </a:rPr>
              <a:t>binds to best PV</a:t>
            </a:r>
          </a:p>
        </p:txBody>
      </p:sp>
      <p:sp>
        <p:nvSpPr>
          <p:cNvPr id="15" name="Right Arrow 14"/>
          <p:cNvSpPr/>
          <p:nvPr/>
        </p:nvSpPr>
        <p:spPr>
          <a:xfrm>
            <a:off x="763524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mounted in</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Pod</a:t>
            </a:r>
          </a:p>
          <a:p>
            <a:pPr algn="ctr">
              <a:spcBef>
                <a:spcPts val="0"/>
              </a:spcBef>
              <a:spcAft>
                <a:spcPts val="300"/>
              </a:spcAft>
            </a:pPr>
            <a:r>
              <a:rPr sz="1100" b="0">
                <a:solidFill>
                  <a:srgbClr val="5B6372"/>
                </a:solidFill>
                <a:latin typeface="Arial"/>
              </a:rPr>
              <a:t>volumes: [{pvc: claim}]</a:t>
            </a:r>
          </a:p>
          <a:p>
            <a:pPr algn="ctr">
              <a:spcBef>
                <a:spcPts val="0"/>
              </a:spcBef>
              <a:spcAft>
                <a:spcPts val="300"/>
              </a:spcAft>
            </a:pPr>
            <a:r>
              <a:rPr sz="1100" b="0">
                <a:solidFill>
                  <a:srgbClr val="5B6372"/>
                </a:solidFill>
                <a:latin typeface="Arial"/>
              </a:rPr>
              <a:t>volumeMounts: [{mountPath}]</a:t>
            </a:r>
          </a:p>
        </p:txBody>
      </p:sp>
      <p:sp>
        <p:nvSpPr>
          <p:cNvPr id="19" name="Rounded Rectangle 18"/>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Dynamic: PVC → </a:t>
            </a:r>
            <a:r>
              <a:rPr sz="1300" b="1">
                <a:solidFill>
                  <a:srgbClr val="161B26"/>
                </a:solidFill>
                <a:latin typeface="Arial"/>
              </a:rPr>
              <a:t>StorageClass</a:t>
            </a:r>
            <a:r>
              <a:rPr sz="1300" b="0">
                <a:solidFill>
                  <a:srgbClr val="5B6372"/>
                </a:solidFill>
                <a:latin typeface="Arial"/>
              </a:rPr>
              <a:t> → CSI provisioner creates PV on demand. </a:t>
            </a:r>
            <a:r>
              <a:rPr sz="1300" b="1">
                <a:solidFill>
                  <a:srgbClr val="1F6FEB"/>
                </a:solidFill>
                <a:latin typeface="Arial"/>
              </a:rPr>
              <a:t>Retain</a:t>
            </a:r>
            <a:r>
              <a:rPr sz="1300" b="0">
                <a:solidFill>
                  <a:srgbClr val="5B6372"/>
                </a:solidFill>
                <a:latin typeface="Arial"/>
              </a:rPr>
              <a:t> keeps data; </a:t>
            </a:r>
            <a:r>
              <a:rPr sz="1300" b="1">
                <a:solidFill>
                  <a:srgbClr val="DC2626"/>
                </a:solidFill>
                <a:latin typeface="Arial"/>
              </a:rPr>
              <a:t>Delete</a:t>
            </a:r>
            <a:r>
              <a:rPr sz="1300" b="0">
                <a:solidFill>
                  <a:srgbClr val="5B6372"/>
                </a:solidFill>
                <a:latin typeface="Arial"/>
              </a:rPr>
              <a:t> removes it.</a:t>
            </a:r>
          </a:p>
        </p:txBody>
      </p:sp>
      <p:sp>
        <p:nvSpPr>
          <p:cNvPr id="21" name="TextBox 2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2" name="TextBox 2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3" name="TextBox 2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204</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STORAGE LIFECYCLE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 Volume — Lifecycle Architecture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2_s059_i1.jpg"/>
          <p:cNvPicPr>
            <a:picLocks noChangeAspect="1"/>
          </p:cNvPicPr>
          <p:nvPr/>
        </p:nvPicPr>
        <p:blipFill>
          <a:blip r:embed="rId2"/>
          <a:stretch>
            <a:fillRect/>
          </a:stretch>
        </p:blipFill>
        <p:spPr>
          <a:xfrm>
            <a:off x="777240" y="2883469"/>
            <a:ext cx="10652760" cy="2032893"/>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205</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DYNAMIC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&amp; Dynamic Provisioning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StorageClass references a CSI provisioner that creates PVs on demand when a PVC is submitted.</a:t>
            </a:r>
          </a:p>
          <a:p>
            <a:pPr>
              <a:spcBef>
                <a:spcPts val="0"/>
              </a:spcBef>
              <a:spcAft>
                <a:spcPts val="1000"/>
              </a:spcAft>
            </a:pPr>
            <a:r>
              <a:rPr sz="1900" b="1">
                <a:solidFill>
                  <a:srgbClr val="1F6FEB"/>
                </a:solidFill>
                <a:latin typeface="Arial"/>
              </a:rPr>
              <a:t>•  </a:t>
            </a:r>
            <a:r>
              <a:rPr sz="1900">
                <a:solidFill>
                  <a:srgbClr val="161B26"/>
                </a:solidFill>
                <a:latin typeface="Arial"/>
              </a:rPr>
              <a:t>The default StorageClass is annotated storageclass.kubernetes.io/is-default-class: 'true'.</a:t>
            </a:r>
          </a:p>
          <a:p>
            <a:pPr>
              <a:spcBef>
                <a:spcPts val="0"/>
              </a:spcBef>
              <a:spcAft>
                <a:spcPts val="1000"/>
              </a:spcAft>
            </a:pPr>
            <a:r>
              <a:rPr sz="1900" b="1">
                <a:solidFill>
                  <a:srgbClr val="1F6FEB"/>
                </a:solidFill>
                <a:latin typeface="Arial"/>
              </a:rPr>
              <a:t>•  </a:t>
            </a:r>
            <a:r>
              <a:rPr sz="1900">
                <a:solidFill>
                  <a:srgbClr val="161B26"/>
                </a:solidFill>
                <a:latin typeface="Arial"/>
              </a:rPr>
              <a:t>PVC without storageClassName uses the default class automatically.</a:t>
            </a:r>
          </a:p>
          <a:p>
            <a:pPr>
              <a:spcBef>
                <a:spcPts val="0"/>
              </a:spcBef>
              <a:spcAft>
                <a:spcPts val="1000"/>
              </a:spcAft>
            </a:pPr>
            <a:r>
              <a:rPr sz="1900" b="1">
                <a:solidFill>
                  <a:srgbClr val="1F6FEB"/>
                </a:solidFill>
                <a:latin typeface="Arial"/>
              </a:rPr>
              <a:t>•  </a:t>
            </a:r>
            <a:r>
              <a:rPr sz="1900">
                <a:solidFill>
                  <a:srgbClr val="161B26"/>
                </a:solidFill>
                <a:latin typeface="Arial"/>
              </a:rPr>
              <a:t>StatefulSet volumeClaimTemplates give each replica its own PVC — they are not auto-deleted on scale-down.</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206</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4  ·  DYNAMIC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 Dynamic Provisioning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11455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11455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189509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PVC</a:t>
            </a:r>
          </a:p>
          <a:p>
            <a:pPr algn="ctr">
              <a:spcBef>
                <a:spcPts val="0"/>
              </a:spcBef>
              <a:spcAft>
                <a:spcPts val="300"/>
              </a:spcAft>
            </a:pPr>
            <a:r>
              <a:rPr sz="1100" b="0">
                <a:solidFill>
                  <a:srgbClr val="5B6372"/>
                </a:solidFill>
                <a:latin typeface="Arial"/>
              </a:rPr>
              <a:t>storageClassName: fast</a:t>
            </a:r>
          </a:p>
          <a:p>
            <a:pPr algn="ctr">
              <a:spcBef>
                <a:spcPts val="0"/>
              </a:spcBef>
              <a:spcAft>
                <a:spcPts val="300"/>
              </a:spcAft>
            </a:pPr>
            <a:r>
              <a:rPr sz="1100" b="0">
                <a:solidFill>
                  <a:srgbClr val="5B6372"/>
                </a:solidFill>
                <a:latin typeface="Arial"/>
              </a:rPr>
              <a:t>storage: 10Gi</a:t>
            </a:r>
          </a:p>
          <a:p>
            <a:pPr algn="ctr">
              <a:spcBef>
                <a:spcPts val="0"/>
              </a:spcBef>
              <a:spcAft>
                <a:spcPts val="300"/>
              </a:spcAft>
            </a:pPr>
            <a:r>
              <a:rPr sz="1100" b="0">
                <a:solidFill>
                  <a:srgbClr val="5B6372"/>
                </a:solidFill>
                <a:latin typeface="Arial"/>
              </a:rPr>
              <a:t>accessModes: RWO</a:t>
            </a:r>
          </a:p>
        </p:txBody>
      </p:sp>
      <p:sp>
        <p:nvSpPr>
          <p:cNvPr id="10" name="Right Arrow 9"/>
          <p:cNvSpPr/>
          <p:nvPr/>
        </p:nvSpPr>
        <p:spPr>
          <a:xfrm>
            <a:off x="289179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319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references</a:t>
            </a:r>
          </a:p>
        </p:txBody>
      </p:sp>
      <p:sp>
        <p:nvSpPr>
          <p:cNvPr id="12" name="Rounded Rectangle 11"/>
          <p:cNvSpPr/>
          <p:nvPr/>
        </p:nvSpPr>
        <p:spPr>
          <a:xfrm>
            <a:off x="3623310" y="2468880"/>
            <a:ext cx="211455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23310" y="2468880"/>
            <a:ext cx="211455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038" y="2578608"/>
            <a:ext cx="189509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StorageClass</a:t>
            </a:r>
          </a:p>
          <a:p>
            <a:pPr algn="ctr">
              <a:spcBef>
                <a:spcPts val="0"/>
              </a:spcBef>
              <a:spcAft>
                <a:spcPts val="300"/>
              </a:spcAft>
            </a:pPr>
            <a:r>
              <a:rPr sz="1100" b="0">
                <a:solidFill>
                  <a:srgbClr val="5B6372"/>
                </a:solidFill>
                <a:latin typeface="Arial"/>
              </a:rPr>
              <a:t>provisioner: ebs.csi.aws.com</a:t>
            </a:r>
          </a:p>
          <a:p>
            <a:pPr algn="ctr">
              <a:spcBef>
                <a:spcPts val="0"/>
              </a:spcBef>
              <a:spcAft>
                <a:spcPts val="300"/>
              </a:spcAft>
            </a:pPr>
            <a:r>
              <a:rPr sz="1100" b="0">
                <a:solidFill>
                  <a:srgbClr val="5B6372"/>
                </a:solidFill>
                <a:latin typeface="Arial"/>
              </a:rPr>
              <a:t>reclaimPolicy: Delete</a:t>
            </a:r>
          </a:p>
        </p:txBody>
      </p:sp>
      <p:sp>
        <p:nvSpPr>
          <p:cNvPr id="15" name="Right Arrow 14"/>
          <p:cNvSpPr/>
          <p:nvPr/>
        </p:nvSpPr>
        <p:spPr>
          <a:xfrm>
            <a:off x="573786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0926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calls</a:t>
            </a:r>
          </a:p>
        </p:txBody>
      </p:sp>
      <p:sp>
        <p:nvSpPr>
          <p:cNvPr id="17" name="Rounded Rectangle 16"/>
          <p:cNvSpPr/>
          <p:nvPr/>
        </p:nvSpPr>
        <p:spPr>
          <a:xfrm>
            <a:off x="6469380" y="2468880"/>
            <a:ext cx="2114550" cy="1737360"/>
          </a:xfrm>
          <a:prstGeom prst="roundRect">
            <a:avLst>
              <a:gd name="adj" fmla="val 5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69380" y="2468880"/>
            <a:ext cx="211455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9108" y="2578608"/>
            <a:ext cx="189509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CSI Driver</a:t>
            </a:r>
          </a:p>
          <a:p>
            <a:pPr algn="ctr">
              <a:spcBef>
                <a:spcPts val="0"/>
              </a:spcBef>
              <a:spcAft>
                <a:spcPts val="300"/>
              </a:spcAft>
            </a:pPr>
            <a:r>
              <a:rPr sz="1100" b="0">
                <a:solidFill>
                  <a:srgbClr val="5B6372"/>
                </a:solidFill>
                <a:latin typeface="Arial"/>
              </a:rPr>
              <a:t>creates volume on</a:t>
            </a:r>
          </a:p>
          <a:p>
            <a:pPr algn="ctr">
              <a:spcBef>
                <a:spcPts val="0"/>
              </a:spcBef>
              <a:spcAft>
                <a:spcPts val="300"/>
              </a:spcAft>
            </a:pPr>
            <a:r>
              <a:rPr sz="1100" b="0">
                <a:solidFill>
                  <a:srgbClr val="5B6372"/>
                </a:solidFill>
                <a:latin typeface="Arial"/>
              </a:rPr>
              <a:t>cloud / NFS / hostPath</a:t>
            </a:r>
          </a:p>
        </p:txBody>
      </p:sp>
      <p:sp>
        <p:nvSpPr>
          <p:cNvPr id="20" name="Right Arrow 19"/>
          <p:cNvSpPr/>
          <p:nvPr/>
        </p:nvSpPr>
        <p:spPr>
          <a:xfrm>
            <a:off x="858393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5533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creates</a:t>
            </a:r>
          </a:p>
        </p:txBody>
      </p:sp>
      <p:sp>
        <p:nvSpPr>
          <p:cNvPr id="22" name="Rounded Rectangle 21"/>
          <p:cNvSpPr/>
          <p:nvPr/>
        </p:nvSpPr>
        <p:spPr>
          <a:xfrm>
            <a:off x="9315450" y="2468880"/>
            <a:ext cx="211455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5178" y="2468880"/>
            <a:ext cx="1895094" cy="1737360"/>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PV (auto)</a:t>
            </a:r>
          </a:p>
          <a:p>
            <a:pPr algn="ctr">
              <a:spcBef>
                <a:spcPts val="0"/>
              </a:spcBef>
              <a:spcAft>
                <a:spcPts val="300"/>
              </a:spcAft>
            </a:pPr>
            <a:r>
              <a:rPr sz="1100" b="0">
                <a:solidFill>
                  <a:srgbClr val="5B6372"/>
                </a:solidFill>
                <a:latin typeface="Arial"/>
              </a:rPr>
              <a:t>bound to PVC</a:t>
            </a:r>
          </a:p>
          <a:p>
            <a:pPr algn="ctr">
              <a:spcBef>
                <a:spcPts val="0"/>
              </a:spcBef>
              <a:spcAft>
                <a:spcPts val="300"/>
              </a:spcAft>
            </a:pPr>
            <a:r>
              <a:rPr sz="1100" b="0">
                <a:solidFill>
                  <a:srgbClr val="5B6372"/>
                </a:solidFill>
                <a:latin typeface="Arial"/>
              </a:rPr>
              <a:t>capacity matches request</a:t>
            </a:r>
          </a:p>
        </p:txBody>
      </p:sp>
      <p:sp>
        <p:nvSpPr>
          <p:cNvPr id="24" name="Rounded Rectangle 23"/>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PVC without storageClassName uses the </a:t>
            </a:r>
            <a:r>
              <a:rPr sz="1300" b="1">
                <a:solidFill>
                  <a:srgbClr val="161B26"/>
                </a:solidFill>
                <a:latin typeface="Arial"/>
              </a:rPr>
              <a:t>default StorageClass</a:t>
            </a:r>
            <a:r>
              <a:rPr sz="1300" b="0">
                <a:solidFill>
                  <a:srgbClr val="5B6372"/>
                </a:solidFill>
                <a:latin typeface="Arial"/>
              </a:rPr>
              <a:t>. reclaimPolicy Delete removes PV on PVC deletion; Retain keeps data.</a:t>
            </a:r>
          </a:p>
        </p:txBody>
      </p:sp>
      <p:sp>
        <p:nvSpPr>
          <p:cNvPr id="26" name="TextBox 2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207</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PV AND PVC</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PersistentVolumes and PersistentVolumeClaims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a PersistentVolume (static provisioning), bind it via a PVC, mount in a pod, and understand PV/PVC binding rules including access modes and reclaim policies. CKA tests static provisioning, access modes, and the fact that PVCs outlive pods.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hostPath PV with ReadWriteOnce, create PVC that binds, mount in nginx pod, write data, delete pod and recreate to verify persistence.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sudo mkdir · cat &gt; · cat &lt;&lt;'EOF' · » Access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208</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a PersistentVolume</a:t>
            </a:r>
          </a:p>
        </p:txBody>
      </p:sp>
      <p:sp>
        <p:nvSpPr>
          <p:cNvPr id="8" name="Rounded Rectangle 7"/>
          <p:cNvSpPr/>
          <p:nvPr/>
        </p:nvSpPr>
        <p:spPr>
          <a:xfrm>
            <a:off x="777240" y="2075688"/>
            <a:ext cx="10652760" cy="295808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9580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86664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sudo mkdir -p /mnt/data &amp;&amp; echo 'hello from host' | sudo tee /mnt/data/index.html</a:t>
            </a:r>
          </a:p>
          <a:p>
            <a:pPr>
              <a:spcBef>
                <a:spcPts val="0"/>
              </a:spcBef>
              <a:spcAft>
                <a:spcPts val="0"/>
              </a:spcAft>
            </a:pPr>
            <a:r>
              <a:rPr sz="1050">
                <a:solidFill>
                  <a:srgbClr val="161B26"/>
                </a:solidFill>
                <a:latin typeface="Consolas"/>
              </a:rPr>
              <a:t>cat &gt; pv.yaml &lt;&lt;'EOF'</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PersistentVolume</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pv-host</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capacity:</a:t>
            </a:r>
          </a:p>
          <a:p>
            <a:pPr>
              <a:spcBef>
                <a:spcPts val="0"/>
              </a:spcBef>
              <a:spcAft>
                <a:spcPts val="0"/>
              </a:spcAft>
            </a:pPr>
            <a:r>
              <a:rPr sz="1050">
                <a:solidFill>
                  <a:srgbClr val="161B26"/>
                </a:solidFill>
                <a:latin typeface="Consolas"/>
              </a:rPr>
              <a:t>    storage: 1Gi</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hostPath:</a:t>
            </a:r>
          </a:p>
          <a:p>
            <a:pPr>
              <a:spcBef>
                <a:spcPts val="0"/>
              </a:spcBef>
              <a:spcAft>
                <a:spcPts val="0"/>
              </a:spcAft>
            </a:pPr>
            <a:r>
              <a:rPr sz="1050">
                <a:solidFill>
                  <a:srgbClr val="161B26"/>
                </a:solidFill>
                <a:latin typeface="Consolas"/>
              </a:rPr>
              <a:t>    path: /mnt/data</a:t>
            </a:r>
          </a:p>
          <a:p>
            <a:pPr>
              <a:spcBef>
                <a:spcPts val="0"/>
              </a:spcBef>
              <a:spcAft>
                <a:spcPts val="0"/>
              </a:spcAft>
            </a:pPr>
            <a:r>
              <a:rPr sz="1050">
                <a:solidFill>
                  <a:srgbClr val="161B26"/>
                </a:solidFill>
                <a:latin typeface="Consolas"/>
              </a:rPr>
              <a:t>  persistentVolumeReclaimPolicy: Retain</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apply -f pv.yaml &amp;&amp; kubectl get pv</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209</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a PVC that binds to the PV</a:t>
            </a:r>
          </a:p>
        </p:txBody>
      </p:sp>
      <p:sp>
        <p:nvSpPr>
          <p:cNvPr id="8" name="Rounded Rectangle 7"/>
          <p:cNvSpPr/>
          <p:nvPr/>
        </p:nvSpPr>
        <p:spPr>
          <a:xfrm>
            <a:off x="777240" y="2075688"/>
            <a:ext cx="10652760" cy="258318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583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49174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&gt; pvc.yaml &lt;&lt;'EOF'</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PersistentVolumeClaim</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pvc-host</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resources:</a:t>
            </a:r>
          </a:p>
          <a:p>
            <a:pPr>
              <a:spcBef>
                <a:spcPts val="0"/>
              </a:spcBef>
              <a:spcAft>
                <a:spcPts val="0"/>
              </a:spcAft>
            </a:pPr>
            <a:r>
              <a:rPr sz="1050">
                <a:solidFill>
                  <a:srgbClr val="161B26"/>
                </a:solidFill>
                <a:latin typeface="Consolas"/>
              </a:rPr>
              <a:t>    requests:</a:t>
            </a:r>
          </a:p>
          <a:p>
            <a:pPr>
              <a:spcBef>
                <a:spcPts val="0"/>
              </a:spcBef>
              <a:spcAft>
                <a:spcPts val="0"/>
              </a:spcAft>
            </a:pPr>
            <a:r>
              <a:rPr sz="1050">
                <a:solidFill>
                  <a:srgbClr val="161B26"/>
                </a:solidFill>
                <a:latin typeface="Consolas"/>
              </a:rPr>
              <a:t>      storage: 1Gi</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apply -f pvc.yaml &amp;&amp; kubectl get pvc</a:t>
            </a:r>
          </a:p>
          <a:p>
            <a:pPr>
              <a:spcBef>
                <a:spcPts val="0"/>
              </a:spcBef>
              <a:spcAft>
                <a:spcPts val="0"/>
              </a:spcAft>
            </a:pPr>
            <a:r>
              <a:rPr sz="1050">
                <a:solidFill>
                  <a:srgbClr val="161B26"/>
                </a:solidFill>
                <a:latin typeface="Consolas"/>
              </a:rPr>
              <a:t># STATUS: Bound</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Mount PVC in a pod</a:t>
            </a:r>
          </a:p>
        </p:txBody>
      </p:sp>
      <p:sp>
        <p:nvSpPr>
          <p:cNvPr id="8" name="Rounded Rectangle 7"/>
          <p:cNvSpPr/>
          <p:nvPr/>
        </p:nvSpPr>
        <p:spPr>
          <a:xfrm>
            <a:off x="777240" y="2075688"/>
            <a:ext cx="10652760" cy="352044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42900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pvc-pod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nginx</a:t>
            </a:r>
          </a:p>
          <a:p>
            <a:pPr>
              <a:spcBef>
                <a:spcPts val="0"/>
              </a:spcBef>
              <a:spcAft>
                <a:spcPts val="0"/>
              </a:spcAft>
            </a:pPr>
            <a:r>
              <a:rPr sz="1050">
                <a:solidFill>
                  <a:srgbClr val="161B26"/>
                </a:solidFill>
                <a:latin typeface="Consolas"/>
              </a:rPr>
              <a:t>    image: nginx</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data</a:t>
            </a:r>
          </a:p>
          <a:p>
            <a:pPr>
              <a:spcBef>
                <a:spcPts val="0"/>
              </a:spcBef>
              <a:spcAft>
                <a:spcPts val="0"/>
              </a:spcAft>
            </a:pPr>
            <a:r>
              <a:rPr sz="1050">
                <a:solidFill>
                  <a:srgbClr val="161B26"/>
                </a:solidFill>
                <a:latin typeface="Consolas"/>
              </a:rPr>
              <a:t>      mountPath: /usr/share/nginx/html</a:t>
            </a:r>
          </a:p>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data</a:t>
            </a:r>
          </a:p>
          <a:p>
            <a:pPr>
              <a:spcBef>
                <a:spcPts val="0"/>
              </a:spcBef>
              <a:spcAft>
                <a:spcPts val="0"/>
              </a:spcAft>
            </a:pPr>
            <a:r>
              <a:rPr sz="1050">
                <a:solidFill>
                  <a:srgbClr val="161B26"/>
                </a:solidFill>
                <a:latin typeface="Consolas"/>
              </a:rPr>
              <a:t>    persistentVolumeClaim:</a:t>
            </a:r>
          </a:p>
          <a:p>
            <a:pPr>
              <a:spcBef>
                <a:spcPts val="0"/>
              </a:spcBef>
              <a:spcAft>
                <a:spcPts val="0"/>
              </a:spcAft>
            </a:pPr>
            <a:r>
              <a:rPr sz="1050">
                <a:solidFill>
                  <a:srgbClr val="161B26"/>
                </a:solidFill>
                <a:latin typeface="Consolas"/>
              </a:rPr>
              <a:t>      claimName: pvc-host</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exec pvc-pod -- cat /usr/share/nginx/html/index.html</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211</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Access modes: ReadWriteOnce (one node RW), ReadOnlyMany (many nodes R), ReadWriteMany (many nodes RW). Reclaim: Retain (manual cleanup), Delete (removes storage), Recycle (deprecated).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212</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PVC shows STATUS=Bound. Pod reads 'hello from host' from the mounted volume. After pod deletion and recreation, data persists (Retain policy).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213</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STORAGECLASS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StorageClass and dynamic provisioning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StorageClasses for dynamic PV creation, mark a class as default, and create a StatefulSet with volumeClaimTemplates that provisions one PVC per pod. CKA tests creating StorageClasses and dynamic provisioning.</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local-path-provisioner, mark StorageClass as default, create dynamically-provisioned PVC, create StatefulSet with volumeClaimTemplates.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kubectl patch · cat &lt;&lt;'EOF' · » StatefulSet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214</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local-path-provisioner</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https://raw.githubusercontent.com/rancher/local-path-provisioner/master/deploy/local-path-storage.yaml</a:t>
            </a:r>
          </a:p>
          <a:p>
            <a:pPr>
              <a:spcBef>
                <a:spcPts val="0"/>
              </a:spcBef>
              <a:spcAft>
                <a:spcPts val="0"/>
              </a:spcAft>
            </a:pPr>
            <a:r>
              <a:rPr sz="1050">
                <a:solidFill>
                  <a:srgbClr val="161B26"/>
                </a:solidFill>
                <a:latin typeface="Consolas"/>
              </a:rPr>
              <a:t>kubectl -n local-path-storage rollout status deploy/local-path-provisioner</a:t>
            </a:r>
          </a:p>
          <a:p>
            <a:pPr>
              <a:spcBef>
                <a:spcPts val="0"/>
              </a:spcBef>
              <a:spcAft>
                <a:spcPts val="0"/>
              </a:spcAft>
            </a:pPr>
            <a:r>
              <a:rPr sz="1050">
                <a:solidFill>
                  <a:srgbClr val="161B26"/>
                </a:solidFill>
                <a:latin typeface="Consolas"/>
              </a:rPr>
              <a:t>kubectl get storageclass</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Mark StorageClass as default</a:t>
            </a:r>
          </a:p>
        </p:txBody>
      </p:sp>
      <p:sp>
        <p:nvSpPr>
          <p:cNvPr id="12" name="Rounded Rectangle 11"/>
          <p:cNvSpPr/>
          <p:nvPr/>
        </p:nvSpPr>
        <p:spPr>
          <a:xfrm>
            <a:off x="777240" y="3351276"/>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patch storageclass local-path \</a:t>
            </a:r>
          </a:p>
          <a:p>
            <a:pPr>
              <a:spcBef>
                <a:spcPts val="0"/>
              </a:spcBef>
              <a:spcAft>
                <a:spcPts val="0"/>
              </a:spcAft>
            </a:pPr>
            <a:r>
              <a:rPr sz="1050">
                <a:solidFill>
                  <a:srgbClr val="161B26"/>
                </a:solidFill>
                <a:latin typeface="Consolas"/>
              </a:rPr>
              <a:t>  -p '{"metadata":{"annotations":{"storageclass.kubernetes.io/is-default-class":"true"}}}'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215</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Dynamic PVC provisioning</a:t>
            </a:r>
          </a:p>
        </p:txBody>
      </p:sp>
      <p:sp>
        <p:nvSpPr>
          <p:cNvPr id="8" name="Rounded Rectangle 7"/>
          <p:cNvSpPr/>
          <p:nvPr/>
        </p:nvSpPr>
        <p:spPr>
          <a:xfrm>
            <a:off x="777240" y="2075688"/>
            <a:ext cx="10652760" cy="258318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583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49174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PersistentVolumeClaim</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dynamic-pvc</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storageClassName: local-path</a:t>
            </a:r>
          </a:p>
          <a:p>
            <a:pPr>
              <a:spcBef>
                <a:spcPts val="0"/>
              </a:spcBef>
              <a:spcAft>
                <a:spcPts val="0"/>
              </a:spcAft>
            </a:pPr>
            <a:r>
              <a:rPr sz="1050">
                <a:solidFill>
                  <a:srgbClr val="161B26"/>
                </a:solidFill>
                <a:latin typeface="Consolas"/>
              </a:rPr>
              <a:t>  resources:</a:t>
            </a:r>
          </a:p>
          <a:p>
            <a:pPr>
              <a:spcBef>
                <a:spcPts val="0"/>
              </a:spcBef>
              <a:spcAft>
                <a:spcPts val="0"/>
              </a:spcAft>
            </a:pPr>
            <a:r>
              <a:rPr sz="1050">
                <a:solidFill>
                  <a:srgbClr val="161B26"/>
                </a:solidFill>
                <a:latin typeface="Consolas"/>
              </a:rPr>
              <a:t>    requests:</a:t>
            </a:r>
          </a:p>
          <a:p>
            <a:pPr>
              <a:spcBef>
                <a:spcPts val="0"/>
              </a:spcBef>
              <a:spcAft>
                <a:spcPts val="0"/>
              </a:spcAft>
            </a:pPr>
            <a:r>
              <a:rPr sz="1050">
                <a:solidFill>
                  <a:srgbClr val="161B26"/>
                </a:solidFill>
                <a:latin typeface="Consolas"/>
              </a:rPr>
              <a:t>      storage: 512Mi</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pvc dynamic-pvc &amp;&amp; kubectl get pv</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216</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StatefulSet with volumeClaimTemplates</a:t>
            </a:r>
          </a:p>
        </p:txBody>
      </p:sp>
      <p:sp>
        <p:nvSpPr>
          <p:cNvPr id="8" name="Rounded Rectangle 7"/>
          <p:cNvSpPr/>
          <p:nvPr/>
        </p:nvSpPr>
        <p:spPr>
          <a:xfrm>
            <a:off x="777240" y="2075688"/>
            <a:ext cx="10652760" cy="67071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67071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6156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apps/v1</a:t>
            </a:r>
          </a:p>
          <a:p>
            <a:pPr>
              <a:spcBef>
                <a:spcPts val="0"/>
              </a:spcBef>
              <a:spcAft>
                <a:spcPts val="0"/>
              </a:spcAft>
            </a:pPr>
            <a:r>
              <a:rPr sz="1050">
                <a:solidFill>
                  <a:srgbClr val="161B26"/>
                </a:solidFill>
                <a:latin typeface="Consolas"/>
              </a:rPr>
              <a:t>kind: StatefulSet</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db</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serviceName: db</a:t>
            </a:r>
          </a:p>
          <a:p>
            <a:pPr>
              <a:spcBef>
                <a:spcPts val="0"/>
              </a:spcBef>
              <a:spcAft>
                <a:spcPts val="0"/>
              </a:spcAft>
            </a:pPr>
            <a:r>
              <a:rPr sz="1050">
                <a:solidFill>
                  <a:srgbClr val="161B26"/>
                </a:solidFill>
                <a:latin typeface="Consolas"/>
              </a:rPr>
              <a:t>  replicas: 3</a:t>
            </a:r>
          </a:p>
          <a:p>
            <a:pPr>
              <a:spcBef>
                <a:spcPts val="0"/>
              </a:spcBef>
              <a:spcAft>
                <a:spcPts val="0"/>
              </a:spcAft>
            </a:pPr>
            <a:r>
              <a:rPr sz="1050">
                <a:solidFill>
                  <a:srgbClr val="161B26"/>
                </a:solidFill>
                <a:latin typeface="Consolas"/>
              </a:rPr>
              <a:t>  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app: db</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metadata:</a:t>
            </a:r>
          </a:p>
          <a:p>
            <a:pPr>
              <a:spcBef>
                <a:spcPts val="0"/>
              </a:spcBef>
              <a:spcAft>
                <a:spcPts val="0"/>
              </a:spcAft>
            </a:pPr>
            <a:r>
              <a:rPr sz="1050">
                <a:solidFill>
                  <a:srgbClr val="161B26"/>
                </a:solidFill>
                <a:latin typeface="Consolas"/>
              </a:rPr>
              <a:t>      labels:</a:t>
            </a:r>
          </a:p>
          <a:p>
            <a:pPr>
              <a:spcBef>
                <a:spcPts val="0"/>
              </a:spcBef>
              <a:spcAft>
                <a:spcPts val="0"/>
              </a:spcAft>
            </a:pPr>
            <a:r>
              <a:rPr sz="1050">
                <a:solidFill>
                  <a:srgbClr val="161B26"/>
                </a:solidFill>
                <a:latin typeface="Consolas"/>
              </a:rPr>
              <a:t>        app: db</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postgres</a:t>
            </a:r>
          </a:p>
          <a:p>
            <a:pPr>
              <a:spcBef>
                <a:spcPts val="0"/>
              </a:spcBef>
              <a:spcAft>
                <a:spcPts val="0"/>
              </a:spcAft>
            </a:pPr>
            <a:r>
              <a:rPr sz="1050">
                <a:solidFill>
                  <a:srgbClr val="161B26"/>
                </a:solidFill>
                <a:latin typeface="Consolas"/>
              </a:rPr>
              <a:t>        image: postgres:16-alpine</a:t>
            </a:r>
          </a:p>
          <a:p>
            <a:pPr>
              <a:spcBef>
                <a:spcPts val="0"/>
              </a:spcBef>
              <a:spcAft>
                <a:spcPts val="0"/>
              </a:spcAft>
            </a:pPr>
            <a:r>
              <a:rPr sz="1050">
                <a:solidFill>
                  <a:srgbClr val="161B26"/>
                </a:solidFill>
                <a:latin typeface="Consolas"/>
              </a:rPr>
              <a:t>        env:</a:t>
            </a:r>
          </a:p>
          <a:p>
            <a:pPr>
              <a:spcBef>
                <a:spcPts val="0"/>
              </a:spcBef>
              <a:spcAft>
                <a:spcPts val="0"/>
              </a:spcAft>
            </a:pPr>
            <a:r>
              <a:rPr sz="1050">
                <a:solidFill>
                  <a:srgbClr val="161B26"/>
                </a:solidFill>
                <a:latin typeface="Consolas"/>
              </a:rPr>
              <a:t>        - name: POSTGRES_PASSWORD</a:t>
            </a:r>
          </a:p>
          <a:p>
            <a:pPr>
              <a:spcBef>
                <a:spcPts val="0"/>
              </a:spcBef>
              <a:spcAft>
                <a:spcPts val="0"/>
              </a:spcAft>
            </a:pPr>
            <a:r>
              <a:rPr sz="1050">
                <a:solidFill>
                  <a:srgbClr val="161B26"/>
                </a:solidFill>
                <a:latin typeface="Consolas"/>
              </a:rPr>
              <a:t>          value: example</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data</a:t>
            </a:r>
          </a:p>
          <a:p>
            <a:pPr>
              <a:spcBef>
                <a:spcPts val="0"/>
              </a:spcBef>
              <a:spcAft>
                <a:spcPts val="0"/>
              </a:spcAft>
            </a:pPr>
            <a:r>
              <a:rPr sz="1050">
                <a:solidFill>
                  <a:srgbClr val="161B26"/>
                </a:solidFill>
                <a:latin typeface="Consolas"/>
              </a:rPr>
              <a:t>          mountPath: /var/lib/postgresql/data</a:t>
            </a:r>
          </a:p>
          <a:p>
            <a:pPr>
              <a:spcBef>
                <a:spcPts val="0"/>
              </a:spcBef>
              <a:spcAft>
                <a:spcPts val="0"/>
              </a:spcAft>
            </a:pPr>
            <a:r>
              <a:rPr sz="1050">
                <a:solidFill>
                  <a:srgbClr val="161B26"/>
                </a:solidFill>
                <a:latin typeface="Consolas"/>
              </a:rPr>
              <a:t>  volumeClaimTemplates:</a:t>
            </a:r>
          </a:p>
          <a:p>
            <a:pPr>
              <a:spcBef>
                <a:spcPts val="0"/>
              </a:spcBef>
              <a:spcAft>
                <a:spcPts val="0"/>
              </a:spcAft>
            </a:pPr>
            <a:r>
              <a:rPr sz="1050">
                <a:solidFill>
                  <a:srgbClr val="161B26"/>
                </a:solidFill>
                <a:latin typeface="Consolas"/>
              </a:rPr>
              <a:t>  - metadata:</a:t>
            </a:r>
          </a:p>
          <a:p>
            <a:pPr>
              <a:spcBef>
                <a:spcPts val="0"/>
              </a:spcBef>
              <a:spcAft>
                <a:spcPts val="0"/>
              </a:spcAft>
            </a:pPr>
            <a:r>
              <a:rPr sz="1050">
                <a:solidFill>
                  <a:srgbClr val="161B26"/>
                </a:solidFill>
                <a:latin typeface="Consolas"/>
              </a:rPr>
              <a:t>      name: data</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resources:</a:t>
            </a:r>
          </a:p>
          <a:p>
            <a:pPr>
              <a:spcBef>
                <a:spcPts val="0"/>
              </a:spcBef>
              <a:spcAft>
                <a:spcPts val="0"/>
              </a:spcAft>
            </a:pPr>
            <a:r>
              <a:rPr sz="1050">
                <a:solidFill>
                  <a:srgbClr val="161B26"/>
                </a:solidFill>
                <a:latin typeface="Consolas"/>
              </a:rPr>
              <a:t>        requests:</a:t>
            </a:r>
          </a:p>
          <a:p>
            <a:pPr>
              <a:spcBef>
                <a:spcPts val="0"/>
              </a:spcBef>
              <a:spcAft>
                <a:spcPts val="0"/>
              </a:spcAft>
            </a:pPr>
            <a:r>
              <a:rPr sz="1050">
                <a:solidFill>
                  <a:srgbClr val="161B26"/>
                </a:solidFill>
                <a:latin typeface="Consolas"/>
              </a:rPr>
              <a:t>          storage: 1Gi</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pods -l app=db &amp;&amp; kubectl get pvc -l app=db</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217</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StatefulSet volumeClaimTemplates create one PVC per pod: data-db-0, data-db-1, data-db-2. PVCs are NOT deleted when the StatefulSet is deleted -- manual cleanup required.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218</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dynamic-pvc is Bound. StatefulSet db has 3 pods each with their own PVC (data-db-0, etc).</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219</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VOLUME TYPES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Pod volume types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Explore pod-level volume types: emptyDir for shared scratch space, hostPath for node filesystem access, projected for combining multiple sources into one mount, and downwardAPI for exposing pod metadata to the application.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pod with emptyDir shared between two containers, projected volume combining ConfigMap + Secret, downwardAPI volume exposing pod name/namespace/resource requests.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kubectl exec · » emptyDir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emptyDir: shared scratch space</a:t>
            </a:r>
          </a:p>
        </p:txBody>
      </p:sp>
      <p:sp>
        <p:nvSpPr>
          <p:cNvPr id="8" name="Rounded Rectangle 7"/>
          <p:cNvSpPr/>
          <p:nvPr/>
        </p:nvSpPr>
        <p:spPr>
          <a:xfrm>
            <a:off x="777240" y="2075688"/>
            <a:ext cx="10652760" cy="464515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4645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55371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scratch</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writer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hello-shared &gt; /data/file;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tmp</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 name: reader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tmp</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tmp</a:t>
            </a:r>
          </a:p>
          <a:p>
            <a:pPr>
              <a:spcBef>
                <a:spcPts val="0"/>
              </a:spcBef>
              <a:spcAft>
                <a:spcPts val="0"/>
              </a:spcAft>
            </a:pPr>
            <a:r>
              <a:rPr sz="1050">
                <a:solidFill>
                  <a:srgbClr val="161B26"/>
                </a:solidFill>
                <a:latin typeface="Consolas"/>
              </a:rPr>
              <a:t>    emptyDir: {}</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exec scratch -c reader -- cat /data/file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221</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projected volume (ConfigMap + Secret)</a:t>
            </a:r>
          </a:p>
        </p:txBody>
      </p:sp>
      <p:sp>
        <p:nvSpPr>
          <p:cNvPr id="8" name="Rounded Rectangle 7"/>
          <p:cNvSpPr/>
          <p:nvPr/>
        </p:nvSpPr>
        <p:spPr>
          <a:xfrm>
            <a:off x="777240" y="2075688"/>
            <a:ext cx="10652760" cy="1645919"/>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6459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554479"/>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combined</a:t>
            </a:r>
          </a:p>
          <a:p>
            <a:pPr>
              <a:spcBef>
                <a:spcPts val="0"/>
              </a:spcBef>
              <a:spcAft>
                <a:spcPts val="0"/>
              </a:spcAft>
            </a:pPr>
            <a:r>
              <a:rPr sz="1050">
                <a:solidFill>
                  <a:srgbClr val="161B26"/>
                </a:solidFill>
                <a:latin typeface="Consolas"/>
              </a:rPr>
              <a:t>#   projected:</a:t>
            </a:r>
          </a:p>
          <a:p>
            <a:pPr>
              <a:spcBef>
                <a:spcPts val="0"/>
              </a:spcBef>
              <a:spcAft>
                <a:spcPts val="0"/>
              </a:spcAft>
            </a:pPr>
            <a:r>
              <a:rPr sz="1050">
                <a:solidFill>
                  <a:srgbClr val="161B26"/>
                </a:solidFill>
                <a:latin typeface="Consolas"/>
              </a:rPr>
              <a:t>#     sources:</a:t>
            </a:r>
          </a:p>
          <a:p>
            <a:pPr>
              <a:spcBef>
                <a:spcPts val="0"/>
              </a:spcBef>
              <a:spcAft>
                <a:spcPts val="0"/>
              </a:spcAft>
            </a:pPr>
            <a:r>
              <a:rPr sz="1050">
                <a:solidFill>
                  <a:srgbClr val="161B26"/>
                </a:solidFill>
                <a:latin typeface="Consolas"/>
              </a:rPr>
              <a:t>#     - configMap:</a:t>
            </a:r>
          </a:p>
          <a:p>
            <a:pPr>
              <a:spcBef>
                <a:spcPts val="0"/>
              </a:spcBef>
              <a:spcAft>
                <a:spcPts val="0"/>
              </a:spcAft>
            </a:pPr>
            <a:r>
              <a:rPr sz="1050">
                <a:solidFill>
                  <a:srgbClr val="161B26"/>
                </a:solidFill>
                <a:latin typeface="Consolas"/>
              </a:rPr>
              <a:t>#         name: app-config</a:t>
            </a:r>
          </a:p>
          <a:p>
            <a:pPr>
              <a:spcBef>
                <a:spcPts val="0"/>
              </a:spcBef>
              <a:spcAft>
                <a:spcPts val="0"/>
              </a:spcAft>
            </a:pPr>
            <a:r>
              <a:rPr sz="1050">
                <a:solidFill>
                  <a:srgbClr val="161B26"/>
                </a:solidFill>
                <a:latin typeface="Consolas"/>
              </a:rPr>
              <a:t>#     - secret:</a:t>
            </a:r>
          </a:p>
          <a:p>
            <a:pPr>
              <a:spcBef>
                <a:spcPts val="0"/>
              </a:spcBef>
              <a:spcAft>
                <a:spcPts val="0"/>
              </a:spcAft>
            </a:pPr>
            <a:r>
              <a:rPr sz="1050">
                <a:solidFill>
                  <a:srgbClr val="161B26"/>
                </a:solidFill>
                <a:latin typeface="Consolas"/>
              </a:rPr>
              <a:t>#         name: app-secret</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222</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downwardAPI: pod metadata as files</a:t>
            </a:r>
          </a:p>
        </p:txBody>
      </p:sp>
      <p:sp>
        <p:nvSpPr>
          <p:cNvPr id="8" name="Rounded Rectangle 7"/>
          <p:cNvSpPr/>
          <p:nvPr/>
        </p:nvSpPr>
        <p:spPr>
          <a:xfrm>
            <a:off x="777240" y="2075688"/>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podinfo</a:t>
            </a:r>
          </a:p>
          <a:p>
            <a:pPr>
              <a:spcBef>
                <a:spcPts val="0"/>
              </a:spcBef>
              <a:spcAft>
                <a:spcPts val="0"/>
              </a:spcAft>
            </a:pPr>
            <a:r>
              <a:rPr sz="1050">
                <a:solidFill>
                  <a:srgbClr val="161B26"/>
                </a:solidFill>
                <a:latin typeface="Consolas"/>
              </a:rPr>
              <a:t>#   downwardAPI:</a:t>
            </a:r>
          </a:p>
          <a:p>
            <a:pPr>
              <a:spcBef>
                <a:spcPts val="0"/>
              </a:spcBef>
              <a:spcAft>
                <a:spcPts val="0"/>
              </a:spcAft>
            </a:pPr>
            <a:r>
              <a:rPr sz="1050">
                <a:solidFill>
                  <a:srgbClr val="161B26"/>
                </a:solidFill>
                <a:latin typeface="Consolas"/>
              </a:rPr>
              <a:t>#     items:</a:t>
            </a:r>
          </a:p>
          <a:p>
            <a:pPr>
              <a:spcBef>
                <a:spcPts val="0"/>
              </a:spcBef>
              <a:spcAft>
                <a:spcPts val="0"/>
              </a:spcAft>
            </a:pPr>
            <a:r>
              <a:rPr sz="1050">
                <a:solidFill>
                  <a:srgbClr val="161B26"/>
                </a:solidFill>
                <a:latin typeface="Consolas"/>
              </a:rPr>
              <a:t>#     - path: 'pod-name'</a:t>
            </a:r>
          </a:p>
          <a:p>
            <a:pPr>
              <a:spcBef>
                <a:spcPts val="0"/>
              </a:spcBef>
              <a:spcAft>
                <a:spcPts val="0"/>
              </a:spcAft>
            </a:pPr>
            <a:r>
              <a:rPr sz="1050">
                <a:solidFill>
                  <a:srgbClr val="161B26"/>
                </a:solidFill>
                <a:latin typeface="Consolas"/>
              </a:rPr>
              <a:t>#       fieldRef:</a:t>
            </a:r>
          </a:p>
          <a:p>
            <a:pPr>
              <a:spcBef>
                <a:spcPts val="0"/>
              </a:spcBef>
              <a:spcAft>
                <a:spcPts val="0"/>
              </a:spcAft>
            </a:pPr>
            <a:r>
              <a:rPr sz="1050">
                <a:solidFill>
                  <a:srgbClr val="161B26"/>
                </a:solidFill>
                <a:latin typeface="Consolas"/>
              </a:rPr>
              <a:t>#         fieldPath: metadata.name</a:t>
            </a:r>
          </a:p>
          <a:p>
            <a:pPr>
              <a:spcBef>
                <a:spcPts val="0"/>
              </a:spcBef>
              <a:spcAft>
                <a:spcPts val="0"/>
              </a:spcAft>
            </a:pPr>
            <a:r>
              <a:rPr sz="1050">
                <a:solidFill>
                  <a:srgbClr val="161B26"/>
                </a:solidFill>
                <a:latin typeface="Consolas"/>
              </a:rPr>
              <a:t>#     - path: 'cpu-request'</a:t>
            </a:r>
          </a:p>
          <a:p>
            <a:pPr>
              <a:spcBef>
                <a:spcPts val="0"/>
              </a:spcBef>
              <a:spcAft>
                <a:spcPts val="0"/>
              </a:spcAft>
            </a:pPr>
            <a:r>
              <a:rPr sz="1050">
                <a:solidFill>
                  <a:srgbClr val="161B26"/>
                </a:solidFill>
                <a:latin typeface="Consolas"/>
              </a:rPr>
              <a:t>#       resourceFieldRef:</a:t>
            </a:r>
          </a:p>
          <a:p>
            <a:pPr>
              <a:spcBef>
                <a:spcPts val="0"/>
              </a:spcBef>
              <a:spcAft>
                <a:spcPts val="0"/>
              </a:spcAft>
            </a:pPr>
            <a:r>
              <a:rPr sz="1050">
                <a:solidFill>
                  <a:srgbClr val="161B26"/>
                </a:solidFill>
                <a:latin typeface="Consolas"/>
              </a:rPr>
              <a:t>#         resource: requests.cpu</a:t>
            </a:r>
          </a:p>
          <a:p>
            <a:pPr>
              <a:spcBef>
                <a:spcPts val="0"/>
              </a:spcBef>
              <a:spcAft>
                <a:spcPts val="0"/>
              </a:spcAft>
            </a:pPr>
            <a:r>
              <a:rPr sz="1050">
                <a:solidFill>
                  <a:srgbClr val="161B26"/>
                </a:solidFill>
                <a:latin typeface="Consolas"/>
              </a:rPr>
              <a:t>kubectl exec downward-pod -- cat /podinfo/pod-name</a:t>
            </a:r>
          </a:p>
        </p:txBody>
      </p:sp>
      <p:sp>
        <p:nvSpPr>
          <p:cNvPr id="11" name="TextBox 10"/>
          <p:cNvSpPr txBox="1"/>
          <p:nvPr/>
        </p:nvSpPr>
        <p:spPr>
          <a:xfrm>
            <a:off x="777240" y="446684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emptyDir is deleted when the pod is deleted. hostPath ties the pod to a specific node. projected combines ConfigMap, Secret, serviceAccountToken, and downwardAPI into one mount.</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223</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reader container reads file written by writer via emptyDir. downwardAPI pod shows correct pod name from /podinfo/pod-name.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224</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Troubleshooting Cluster Components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etcd, API server, scheduler and controller-manager</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226</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CLUSTER COMPONENTS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Component Failures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Static pod manifests live in /etc/kubernetes/manifests/ — kubelet watches this directory and auto-restarts them.</a:t>
            </a:r>
          </a:p>
          <a:p>
            <a:pPr>
              <a:spcBef>
                <a:spcPts val="0"/>
              </a:spcBef>
              <a:spcAft>
                <a:spcPts val="1000"/>
              </a:spcAft>
            </a:pPr>
            <a:r>
              <a:rPr sz="1900" b="1">
                <a:solidFill>
                  <a:srgbClr val="1F6FEB"/>
                </a:solidFill>
                <a:latin typeface="Arial"/>
              </a:rPr>
              <a:t>•  </a:t>
            </a:r>
            <a:r>
              <a:rPr sz="1900">
                <a:solidFill>
                  <a:srgbClr val="161B26"/>
                </a:solidFill>
                <a:latin typeface="Arial"/>
              </a:rPr>
              <a:t>API server down? kubectl will fail — switch to crictl ps -a / crictl logs and journalctl -u kubelet.</a:t>
            </a:r>
          </a:p>
          <a:p>
            <a:pPr>
              <a:spcBef>
                <a:spcPts val="0"/>
              </a:spcBef>
              <a:spcAft>
                <a:spcPts val="1000"/>
              </a:spcAft>
            </a:pPr>
            <a:r>
              <a:rPr sz="1900" b="1">
                <a:solidFill>
                  <a:srgbClr val="1F6FEB"/>
                </a:solidFill>
                <a:latin typeface="Arial"/>
              </a:rPr>
              <a:t>•  </a:t>
            </a:r>
            <a:r>
              <a:rPr sz="1900">
                <a:solidFill>
                  <a:srgbClr val="161B26"/>
                </a:solidFill>
                <a:latin typeface="Arial"/>
              </a:rPr>
              <a:t>etcdctl endpoint health verifies etcd before assuming the API server itself is broken.</a:t>
            </a:r>
          </a:p>
          <a:p>
            <a:pPr>
              <a:spcBef>
                <a:spcPts val="0"/>
              </a:spcBef>
              <a:spcAft>
                <a:spcPts val="1000"/>
              </a:spcAft>
            </a:pPr>
            <a:r>
              <a:rPr sz="1900" b="1">
                <a:solidFill>
                  <a:srgbClr val="1F6FEB"/>
                </a:solidFill>
                <a:latin typeface="Arial"/>
              </a:rPr>
              <a:t>•  </a:t>
            </a:r>
            <a:r>
              <a:rPr sz="1900">
                <a:solidFill>
                  <a:srgbClr val="161B26"/>
                </a:solidFill>
                <a:latin typeface="Arial"/>
              </a:rPr>
              <a:t>Fix a broken manifest, save it, and the kubelet restarts the static pod automatically within ~30 seconds.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227</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5  ·  7-STEP DEBUG CHAIN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Troubleshooting Triage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6420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6420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1. kubectl get/describe</a:t>
            </a:r>
          </a:p>
        </p:txBody>
      </p:sp>
      <p:sp>
        <p:nvSpPr>
          <p:cNvPr id="9" name="TextBox 8"/>
          <p:cNvSpPr txBox="1"/>
          <p:nvPr/>
        </p:nvSpPr>
        <p:spPr>
          <a:xfrm>
            <a:off x="4251960" y="166420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Read Events — usually tells you the cause directly</a:t>
            </a:r>
          </a:p>
        </p:txBody>
      </p:sp>
      <p:sp>
        <p:nvSpPr>
          <p:cNvPr id="10" name="Rectangle 9"/>
          <p:cNvSpPr/>
          <p:nvPr/>
        </p:nvSpPr>
        <p:spPr>
          <a:xfrm>
            <a:off x="4160520" y="180136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239572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39572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2. kubectl logs (--previous)</a:t>
            </a:r>
          </a:p>
        </p:txBody>
      </p:sp>
      <p:sp>
        <p:nvSpPr>
          <p:cNvPr id="13" name="TextBox 12"/>
          <p:cNvSpPr txBox="1"/>
          <p:nvPr/>
        </p:nvSpPr>
        <p:spPr>
          <a:xfrm>
            <a:off x="4251960" y="239572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Read container output; --previous for a crashed pod</a:t>
            </a:r>
          </a:p>
        </p:txBody>
      </p:sp>
      <p:sp>
        <p:nvSpPr>
          <p:cNvPr id="14" name="Rectangle 13"/>
          <p:cNvSpPr/>
          <p:nvPr/>
        </p:nvSpPr>
        <p:spPr>
          <a:xfrm>
            <a:off x="4160520" y="253288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312724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12724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3. systemctl / journalctl</a:t>
            </a:r>
          </a:p>
        </p:txBody>
      </p:sp>
      <p:sp>
        <p:nvSpPr>
          <p:cNvPr id="17" name="TextBox 16"/>
          <p:cNvSpPr txBox="1"/>
          <p:nvPr/>
        </p:nvSpPr>
        <p:spPr>
          <a:xfrm>
            <a:off x="4251960" y="312724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On the node: status kubelet containerd; journalctl -u kubelet</a:t>
            </a:r>
          </a:p>
        </p:txBody>
      </p:sp>
      <p:sp>
        <p:nvSpPr>
          <p:cNvPr id="18" name="Rectangle 17"/>
          <p:cNvSpPr/>
          <p:nvPr/>
        </p:nvSpPr>
        <p:spPr>
          <a:xfrm>
            <a:off x="4160520" y="326440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77240" y="385876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5876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4. crictl ps / logs</a:t>
            </a:r>
          </a:p>
        </p:txBody>
      </p:sp>
      <p:sp>
        <p:nvSpPr>
          <p:cNvPr id="21" name="TextBox 20"/>
          <p:cNvSpPr txBox="1"/>
          <p:nvPr/>
        </p:nvSpPr>
        <p:spPr>
          <a:xfrm>
            <a:off x="4251960" y="385876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Use when kubectl is unavailable (API server down)</a:t>
            </a:r>
          </a:p>
        </p:txBody>
      </p:sp>
      <p:sp>
        <p:nvSpPr>
          <p:cNvPr id="22" name="Rectangle 21"/>
          <p:cNvSpPr/>
          <p:nvPr/>
        </p:nvSpPr>
        <p:spPr>
          <a:xfrm>
            <a:off x="4160520" y="399592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459028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59028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5. etcdctl endpoint health</a:t>
            </a:r>
          </a:p>
        </p:txBody>
      </p:sp>
      <p:sp>
        <p:nvSpPr>
          <p:cNvPr id="25" name="TextBox 24"/>
          <p:cNvSpPr txBox="1"/>
          <p:nvPr/>
        </p:nvSpPr>
        <p:spPr>
          <a:xfrm>
            <a:off x="4251960" y="459028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Verify etcd is healthy before assuming API server bugs</a:t>
            </a:r>
          </a:p>
        </p:txBody>
      </p:sp>
      <p:sp>
        <p:nvSpPr>
          <p:cNvPr id="26" name="Rectangle 25"/>
          <p:cNvSpPr/>
          <p:nvPr/>
        </p:nvSpPr>
        <p:spPr>
          <a:xfrm>
            <a:off x="4160520" y="472744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77240" y="532180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32180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6. kubectl get events -A</a:t>
            </a:r>
          </a:p>
        </p:txBody>
      </p:sp>
      <p:sp>
        <p:nvSpPr>
          <p:cNvPr id="29" name="TextBox 28"/>
          <p:cNvSpPr txBox="1"/>
          <p:nvPr/>
        </p:nvSpPr>
        <p:spPr>
          <a:xfrm>
            <a:off x="4251960" y="532180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Cluster-wide event stream — sorted by lastTimestamp</a:t>
            </a:r>
          </a:p>
        </p:txBody>
      </p:sp>
      <p:sp>
        <p:nvSpPr>
          <p:cNvPr id="30" name="Rectangle 29"/>
          <p:cNvSpPr/>
          <p:nvPr/>
        </p:nvSpPr>
        <p:spPr>
          <a:xfrm>
            <a:off x="4160520" y="545896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77240" y="605332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605332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7. kubectl auth can-i</a:t>
            </a:r>
          </a:p>
        </p:txBody>
      </p:sp>
      <p:sp>
        <p:nvSpPr>
          <p:cNvPr id="33" name="TextBox 32"/>
          <p:cNvSpPr txBox="1"/>
          <p:nvPr/>
        </p:nvSpPr>
        <p:spPr>
          <a:xfrm>
            <a:off x="4251960" y="605332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Confirm RBAC allows the operation before blaming the app</a:t>
            </a:r>
          </a:p>
        </p:txBody>
      </p:sp>
      <p:sp>
        <p:nvSpPr>
          <p:cNvPr id="34" name="Rectangle 33"/>
          <p:cNvSpPr/>
          <p:nvPr/>
        </p:nvSpPr>
        <p:spPr>
          <a:xfrm>
            <a:off x="4160520" y="619048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228</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NODE HEALTH</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Node Troubleshooting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Five node conditions: Ready, MemoryPressure, DiskPressure, PIDPressure, NetworkUnavailable.</a:t>
            </a:r>
          </a:p>
          <a:p>
            <a:pPr>
              <a:spcBef>
                <a:spcPts val="0"/>
              </a:spcBef>
              <a:spcAft>
                <a:spcPts val="1000"/>
              </a:spcAft>
            </a:pPr>
            <a:r>
              <a:rPr sz="1900" b="1">
                <a:solidFill>
                  <a:srgbClr val="1F6FEB"/>
                </a:solidFill>
                <a:latin typeface="Arial"/>
              </a:rPr>
              <a:t>•  </a:t>
            </a:r>
            <a:r>
              <a:rPr sz="1900">
                <a:solidFill>
                  <a:srgbClr val="161B26"/>
                </a:solidFill>
                <a:latin typeface="Arial"/>
              </a:rPr>
              <a:t>kubelet stopped → node goes NotReady after ~40 s; systemctl start kubelet restores it.</a:t>
            </a:r>
          </a:p>
          <a:p>
            <a:pPr>
              <a:spcBef>
                <a:spcPts val="0"/>
              </a:spcBef>
              <a:spcAft>
                <a:spcPts val="1000"/>
              </a:spcAft>
            </a:pPr>
            <a:r>
              <a:rPr sz="1900" b="1">
                <a:solidFill>
                  <a:srgbClr val="1F6FEB"/>
                </a:solidFill>
                <a:latin typeface="Arial"/>
              </a:rPr>
              <a:t>•  </a:t>
            </a:r>
            <a:r>
              <a:rPr sz="1900">
                <a:solidFill>
                  <a:srgbClr val="161B26"/>
                </a:solidFill>
                <a:latin typeface="Arial"/>
              </a:rPr>
              <a:t>Disk pressure: df -h on the node — kubelet evicts pods when thresholds are hit; free space to recover.</a:t>
            </a:r>
          </a:p>
          <a:p>
            <a:pPr>
              <a:spcBef>
                <a:spcPts val="0"/>
              </a:spcBef>
              <a:spcAft>
                <a:spcPts val="1000"/>
              </a:spcAft>
            </a:pPr>
            <a:r>
              <a:rPr sz="1900" b="1">
                <a:solidFill>
                  <a:srgbClr val="1F6FEB"/>
                </a:solidFill>
                <a:latin typeface="Arial"/>
              </a:rPr>
              <a:t>•  </a:t>
            </a:r>
            <a:r>
              <a:rPr sz="1900">
                <a:solidFill>
                  <a:srgbClr val="161B26"/>
                </a:solidFill>
                <a:latin typeface="Arial"/>
              </a:rPr>
              <a:t>cordon = SchedulingDisabled (no new pods); drain = evict existing pods; uncordon restores scheduling.</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229</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CLUSTER COMPONENTS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Control plane troubleshooting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Diagnose and fix broken control plane components. When kubectl is unresponsive, use crictl and journalctl instead. Troubleshooting is the highest-weighted CKA domain at 30%.</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Locate static pod manifests, introduce a break in kube-apiserver.yaml (wrong flag), diagnose with crictl and journalctl, fix manifest and verify recovery.</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ls /etc/kubernetes/manifests/ · crictl pods · sudo vi · kubectl get · » Static</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Know where control plane components live</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/etc/kubernetes/manifests/</a:t>
            </a:r>
          </a:p>
          <a:p>
            <a:pPr>
              <a:spcBef>
                <a:spcPts val="0"/>
              </a:spcBef>
              <a:spcAft>
                <a:spcPts val="0"/>
              </a:spcAft>
            </a:pPr>
            <a:r>
              <a:rPr sz="1050">
                <a:solidFill>
                  <a:srgbClr val="161B26"/>
                </a:solidFill>
                <a:latin typeface="Consolas"/>
              </a:rPr>
              <a:t>sudo systemctl status kubelet --no-pager | head -5</a:t>
            </a:r>
          </a:p>
          <a:p>
            <a:pPr>
              <a:spcBef>
                <a:spcPts val="0"/>
              </a:spcBef>
              <a:spcAft>
                <a:spcPts val="0"/>
              </a:spcAft>
            </a:pPr>
            <a:r>
              <a:rPr sz="1050">
                <a:solidFill>
                  <a:srgbClr val="161B26"/>
                </a:solidFill>
                <a:latin typeface="Consolas"/>
              </a:rPr>
              <a:t>sudo systemctl status containerd --no-pager | head -5</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Diagnose API server failure</a:t>
            </a:r>
          </a:p>
        </p:txBody>
      </p:sp>
      <p:sp>
        <p:nvSpPr>
          <p:cNvPr id="12" name="Rounded Rectangle 11"/>
          <p:cNvSpPr/>
          <p:nvPr/>
        </p:nvSpPr>
        <p:spPr>
          <a:xfrm>
            <a:off x="777240" y="3351276"/>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If kubectl is unresponsive:</a:t>
            </a:r>
          </a:p>
          <a:p>
            <a:pPr>
              <a:spcBef>
                <a:spcPts val="0"/>
              </a:spcBef>
              <a:spcAft>
                <a:spcPts val="0"/>
              </a:spcAft>
            </a:pPr>
            <a:r>
              <a:rPr sz="1050">
                <a:solidFill>
                  <a:srgbClr val="161B26"/>
                </a:solidFill>
                <a:latin typeface="Consolas"/>
              </a:rPr>
              <a:t>crictl pods</a:t>
            </a:r>
          </a:p>
          <a:p>
            <a:pPr>
              <a:spcBef>
                <a:spcPts val="0"/>
              </a:spcBef>
              <a:spcAft>
                <a:spcPts val="0"/>
              </a:spcAft>
            </a:pPr>
            <a:r>
              <a:rPr sz="1050">
                <a:solidFill>
                  <a:srgbClr val="161B26"/>
                </a:solidFill>
                <a:latin typeface="Consolas"/>
              </a:rPr>
              <a:t>crictl ps -a</a:t>
            </a:r>
          </a:p>
          <a:p>
            <a:pPr>
              <a:spcBef>
                <a:spcPts val="0"/>
              </a:spcBef>
              <a:spcAft>
                <a:spcPts val="0"/>
              </a:spcAft>
            </a:pPr>
            <a:r>
              <a:rPr sz="1050">
                <a:solidFill>
                  <a:srgbClr val="161B26"/>
                </a:solidFill>
                <a:latin typeface="Consolas"/>
              </a:rPr>
              <a:t>crictl logs $(crictl ps -a --name kube-apiserver -q)</a:t>
            </a:r>
          </a:p>
          <a:p>
            <a:pPr>
              <a:spcBef>
                <a:spcPts val="0"/>
              </a:spcBef>
              <a:spcAft>
                <a:spcPts val="0"/>
              </a:spcAft>
            </a:pPr>
            <a:r>
              <a:rPr sz="1050">
                <a:solidFill>
                  <a:srgbClr val="161B26"/>
                </a:solidFill>
                <a:latin typeface="Consolas"/>
              </a:rPr>
              <a:t>journalctl -u kubelet --no-pager -n 50 | grep -i error</a:t>
            </a:r>
          </a:p>
          <a:p>
            <a:pPr>
              <a:spcBef>
                <a:spcPts val="0"/>
              </a:spcBef>
              <a:spcAft>
                <a:spcPts val="0"/>
              </a:spcAft>
            </a:pPr>
            <a:r>
              <a:rPr sz="1050">
                <a:solidFill>
                  <a:srgbClr val="161B26"/>
                </a:solidFill>
                <a:latin typeface="Consolas"/>
              </a:rPr>
              <a:t>sudo cat /etc/kubernetes/manifests/kube-apiserver.yaml | head -50</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231</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Fix static pod manifest</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Wrong flag/image in manifest causes API server to not start</a:t>
            </a:r>
          </a:p>
          <a:p>
            <a:pPr>
              <a:spcBef>
                <a:spcPts val="0"/>
              </a:spcBef>
              <a:spcAft>
                <a:spcPts val="0"/>
              </a:spcAft>
            </a:pPr>
            <a:r>
              <a:rPr sz="1050">
                <a:solidFill>
                  <a:srgbClr val="161B26"/>
                </a:solidFill>
                <a:latin typeface="Consolas"/>
              </a:rPr>
              <a:t>sudo vi /etc/kubernetes/manifests/kube-apiserver.yaml</a:t>
            </a:r>
          </a:p>
          <a:p>
            <a:pPr>
              <a:spcBef>
                <a:spcPts val="0"/>
              </a:spcBef>
              <a:spcAft>
                <a:spcPts val="0"/>
              </a:spcAft>
            </a:pPr>
            <a:r>
              <a:rPr sz="1050">
                <a:solidFill>
                  <a:srgbClr val="161B26"/>
                </a:solidFill>
                <a:latin typeface="Consolas"/>
              </a:rPr>
              <a:t># Kubelet detects change within 20 seconds</a:t>
            </a:r>
          </a:p>
          <a:p>
            <a:pPr>
              <a:spcBef>
                <a:spcPts val="0"/>
              </a:spcBef>
              <a:spcAft>
                <a:spcPts val="0"/>
              </a:spcAft>
            </a:pPr>
            <a:r>
              <a:rPr sz="1050">
                <a:solidFill>
                  <a:srgbClr val="161B26"/>
                </a:solidFill>
                <a:latin typeface="Consolas"/>
              </a:rPr>
              <a:t>crictl ps | grep apiserver</a:t>
            </a:r>
          </a:p>
          <a:p>
            <a:pPr>
              <a:spcBef>
                <a:spcPts val="0"/>
              </a:spcBef>
              <a:spcAft>
                <a:spcPts val="0"/>
              </a:spcAft>
            </a:pPr>
            <a:r>
              <a:rPr sz="1050">
                <a:solidFill>
                  <a:srgbClr val="161B26"/>
                </a:solidFill>
                <a:latin typeface="Consolas"/>
              </a:rPr>
              <a:t>kubectl get nodes</a:t>
            </a:r>
          </a:p>
          <a:p>
            <a:pPr>
              <a:spcBef>
                <a:spcPts val="0"/>
              </a:spcBef>
              <a:spcAft>
                <a:spcPts val="0"/>
              </a:spcAft>
            </a:pPr>
            <a:r>
              <a:rPr sz="1050">
                <a:solidFill>
                  <a:srgbClr val="161B26"/>
                </a:solidFill>
                <a:latin typeface="Consolas"/>
              </a:rPr>
              <a:t># Should work once apiserver recovers</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Diagnose controller manager and scheduler</a:t>
            </a:r>
          </a:p>
        </p:txBody>
      </p:sp>
      <p:sp>
        <p:nvSpPr>
          <p:cNvPr id="12" name="Rounded Rectangle 11"/>
          <p:cNvSpPr/>
          <p:nvPr/>
        </p:nvSpPr>
        <p:spPr>
          <a:xfrm>
            <a:off x="777240" y="3913632"/>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pods -n kube-system | grep -E 'controller|scheduler'</a:t>
            </a:r>
          </a:p>
          <a:p>
            <a:pPr>
              <a:spcBef>
                <a:spcPts val="0"/>
              </a:spcBef>
              <a:spcAft>
                <a:spcPts val="0"/>
              </a:spcAft>
            </a:pPr>
            <a:r>
              <a:rPr sz="1050">
                <a:solidFill>
                  <a:srgbClr val="161B26"/>
                </a:solidFill>
                <a:latin typeface="Consolas"/>
              </a:rPr>
              <a:t>kubectl logs -n kube-system kube-controller-manager-controlplane | tail -20</a:t>
            </a:r>
          </a:p>
          <a:p>
            <a:pPr>
              <a:spcBef>
                <a:spcPts val="0"/>
              </a:spcBef>
              <a:spcAft>
                <a:spcPts val="0"/>
              </a:spcAft>
            </a:pPr>
            <a:r>
              <a:rPr sz="1050">
                <a:solidFill>
                  <a:srgbClr val="161B26"/>
                </a:solidFill>
                <a:latin typeface="Consolas"/>
              </a:rPr>
              <a:t>kubectl logs -n kube-system kube-scheduler-controlplane | tail -20</a:t>
            </a:r>
          </a:p>
        </p:txBody>
      </p:sp>
      <p:sp>
        <p:nvSpPr>
          <p:cNvPr id="15" name="TextBox 14"/>
          <p:cNvSpPr txBox="1"/>
          <p:nvPr/>
        </p:nvSpPr>
        <p:spPr>
          <a:xfrm>
            <a:off x="777240" y="4805172"/>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Static pod manifests: changes cause automatic pod restart by kubelet -- no restart needed. Use crictl when API server is down: crictl pods, crictl logs, crictl ps -a.</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232</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Broken API server manifest is fixed; kubectl get nodes works again. journalctl shows the specific error. All kube-system pods are Running.</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233</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NODE TROUBLESHOOTING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Node troubleshooting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Diagnose a node transition to NotReady by identifying common causes: kubelet service failure, cgroup driver mismatch between kubelet and containerd, and containerd failure. Practice safely draining a node for maintenance.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Stop kubelet, observe NotReady, restart. Introduce cgroup mismatch, diagnose with journalctl, fix config.toml, drain and uncordon node.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get · sudo systemctl · journalctl -u · kubectl drain · » After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234</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Check node status baseline</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nodes -o wide</a:t>
            </a:r>
          </a:p>
          <a:p>
            <a:pPr>
              <a:spcBef>
                <a:spcPts val="0"/>
              </a:spcBef>
              <a:spcAft>
                <a:spcPts val="0"/>
              </a:spcAft>
            </a:pPr>
            <a:r>
              <a:rPr sz="1050">
                <a:solidFill>
                  <a:srgbClr val="161B26"/>
                </a:solidFill>
                <a:latin typeface="Consolas"/>
              </a:rPr>
              <a:t>kubectl describe node node01 | grep -A10 Conditions</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Scenario: kubelet service stops</a:t>
            </a:r>
          </a:p>
        </p:txBody>
      </p:sp>
      <p:sp>
        <p:nvSpPr>
          <p:cNvPr id="12" name="Rounded Rectangle 11"/>
          <p:cNvSpPr/>
          <p:nvPr/>
        </p:nvSpPr>
        <p:spPr>
          <a:xfrm>
            <a:off x="777240" y="3163823"/>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On node01:</a:t>
            </a:r>
          </a:p>
          <a:p>
            <a:pPr>
              <a:spcBef>
                <a:spcPts val="0"/>
              </a:spcBef>
              <a:spcAft>
                <a:spcPts val="0"/>
              </a:spcAft>
            </a:pPr>
            <a:r>
              <a:rPr sz="1050">
                <a:solidFill>
                  <a:srgbClr val="161B26"/>
                </a:solidFill>
                <a:latin typeface="Consolas"/>
              </a:rPr>
              <a:t>sudo systemctl stop kubelet</a:t>
            </a:r>
          </a:p>
          <a:p>
            <a:pPr>
              <a:spcBef>
                <a:spcPts val="0"/>
              </a:spcBef>
              <a:spcAft>
                <a:spcPts val="0"/>
              </a:spcAft>
            </a:pPr>
            <a:r>
              <a:rPr sz="1050">
                <a:solidFill>
                  <a:srgbClr val="161B26"/>
                </a:solidFill>
                <a:latin typeface="Consolas"/>
              </a:rPr>
              <a:t># On control plane (wait 40s):</a:t>
            </a:r>
          </a:p>
          <a:p>
            <a:pPr>
              <a:spcBef>
                <a:spcPts val="0"/>
              </a:spcBef>
              <a:spcAft>
                <a:spcPts val="0"/>
              </a:spcAft>
            </a:pPr>
            <a:r>
              <a:rPr sz="1050">
                <a:solidFill>
                  <a:srgbClr val="161B26"/>
                </a:solidFill>
                <a:latin typeface="Consolas"/>
              </a:rPr>
              <a:t>kubectl get nodes</a:t>
            </a:r>
          </a:p>
          <a:p>
            <a:pPr>
              <a:spcBef>
                <a:spcPts val="0"/>
              </a:spcBef>
              <a:spcAft>
                <a:spcPts val="0"/>
              </a:spcAft>
            </a:pPr>
            <a:r>
              <a:rPr sz="1050">
                <a:solidFill>
                  <a:srgbClr val="161B26"/>
                </a:solidFill>
                <a:latin typeface="Consolas"/>
              </a:rPr>
              <a:t># node01: NotReady</a:t>
            </a:r>
          </a:p>
          <a:p>
            <a:pPr>
              <a:spcBef>
                <a:spcPts val="0"/>
              </a:spcBef>
              <a:spcAft>
                <a:spcPts val="0"/>
              </a:spcAft>
            </a:pPr>
            <a:r>
              <a:rPr sz="1050">
                <a:solidFill>
                  <a:srgbClr val="161B26"/>
                </a:solidFill>
                <a:latin typeface="Consolas"/>
              </a:rPr>
              <a:t># Fix (on node01):</a:t>
            </a:r>
          </a:p>
          <a:p>
            <a:pPr>
              <a:spcBef>
                <a:spcPts val="0"/>
              </a:spcBef>
              <a:spcAft>
                <a:spcPts val="0"/>
              </a:spcAft>
            </a:pPr>
            <a:r>
              <a:rPr sz="1050">
                <a:solidFill>
                  <a:srgbClr val="161B26"/>
                </a:solidFill>
                <a:latin typeface="Consolas"/>
              </a:rPr>
              <a:t>sudo systemctl start kubelet &amp;&amp; kubectl get nodes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235</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Scenario: cgroup driver mismatch</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journalctl -u kubelet --no-pager -n 30</a:t>
            </a:r>
          </a:p>
          <a:p>
            <a:pPr>
              <a:spcBef>
                <a:spcPts val="0"/>
              </a:spcBef>
              <a:spcAft>
                <a:spcPts val="0"/>
              </a:spcAft>
            </a:pPr>
            <a:r>
              <a:rPr sz="1050">
                <a:solidFill>
                  <a:srgbClr val="161B26"/>
                </a:solidFill>
                <a:latin typeface="Consolas"/>
              </a:rPr>
              <a:t># Look for: 'failed to create containerd task' or 'cgroupDriver'</a:t>
            </a:r>
          </a:p>
          <a:p>
            <a:pPr>
              <a:spcBef>
                <a:spcPts val="0"/>
              </a:spcBef>
              <a:spcAft>
                <a:spcPts val="0"/>
              </a:spcAft>
            </a:pPr>
            <a:r>
              <a:rPr sz="1050">
                <a:solidFill>
                  <a:srgbClr val="161B26"/>
                </a:solidFill>
                <a:latin typeface="Consolas"/>
              </a:rPr>
              <a:t>grep -i cgroup /var/lib/kubelet/config.yaml</a:t>
            </a:r>
          </a:p>
          <a:p>
            <a:pPr>
              <a:spcBef>
                <a:spcPts val="0"/>
              </a:spcBef>
              <a:spcAft>
                <a:spcPts val="0"/>
              </a:spcAft>
            </a:pPr>
            <a:r>
              <a:rPr sz="1050">
                <a:solidFill>
                  <a:srgbClr val="161B26"/>
                </a:solidFill>
                <a:latin typeface="Consolas"/>
              </a:rPr>
              <a:t>grep -i SystemdCgroup /etc/containerd/config.toml</a:t>
            </a:r>
          </a:p>
          <a:p>
            <a:pPr>
              <a:spcBef>
                <a:spcPts val="0"/>
              </a:spcBef>
              <a:spcAft>
                <a:spcPts val="0"/>
              </a:spcAft>
            </a:pPr>
            <a:r>
              <a:rPr sz="1050">
                <a:solidFill>
                  <a:srgbClr val="161B26"/>
                </a:solidFill>
                <a:latin typeface="Consolas"/>
              </a:rPr>
              <a:t># Fix: ensure both use cgroupDriver: systemd / SystemdCgroup = true</a:t>
            </a:r>
          </a:p>
          <a:p>
            <a:pPr>
              <a:spcBef>
                <a:spcPts val="0"/>
              </a:spcBef>
              <a:spcAft>
                <a:spcPts val="0"/>
              </a:spcAft>
            </a:pPr>
            <a:r>
              <a:rPr sz="1050">
                <a:solidFill>
                  <a:srgbClr val="161B26"/>
                </a:solidFill>
                <a:latin typeface="Consolas"/>
              </a:rPr>
              <a:t>sudo systemctl restart kubelet containerd</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Drain node for maintenance</a:t>
            </a:r>
          </a:p>
        </p:txBody>
      </p:sp>
      <p:sp>
        <p:nvSpPr>
          <p:cNvPr id="12" name="Rounded Rectangle 11"/>
          <p:cNvSpPr/>
          <p:nvPr/>
        </p:nvSpPr>
        <p:spPr>
          <a:xfrm>
            <a:off x="777240" y="3913632"/>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drain node01 --ignore-daemonsets --delete-emptydir-data</a:t>
            </a:r>
          </a:p>
          <a:p>
            <a:pPr>
              <a:spcBef>
                <a:spcPts val="0"/>
              </a:spcBef>
              <a:spcAft>
                <a:spcPts val="0"/>
              </a:spcAft>
            </a:pPr>
            <a:r>
              <a:rPr sz="1050">
                <a:solidFill>
                  <a:srgbClr val="161B26"/>
                </a:solidFill>
                <a:latin typeface="Consolas"/>
              </a:rPr>
              <a:t>kubectl get nodes</a:t>
            </a:r>
          </a:p>
          <a:p>
            <a:pPr>
              <a:spcBef>
                <a:spcPts val="0"/>
              </a:spcBef>
              <a:spcAft>
                <a:spcPts val="0"/>
              </a:spcAft>
            </a:pPr>
            <a:r>
              <a:rPr sz="1050">
                <a:solidFill>
                  <a:srgbClr val="161B26"/>
                </a:solidFill>
                <a:latin typeface="Consolas"/>
              </a:rPr>
              <a:t># node01: Ready,SchedulingDisabled</a:t>
            </a:r>
          </a:p>
          <a:p>
            <a:pPr>
              <a:spcBef>
                <a:spcPts val="0"/>
              </a:spcBef>
              <a:spcAft>
                <a:spcPts val="0"/>
              </a:spcAft>
            </a:pPr>
            <a:r>
              <a:rPr sz="1050">
                <a:solidFill>
                  <a:srgbClr val="161B26"/>
                </a:solidFill>
                <a:latin typeface="Consolas"/>
              </a:rPr>
              <a:t># After maintenance:</a:t>
            </a:r>
          </a:p>
          <a:p>
            <a:pPr>
              <a:spcBef>
                <a:spcPts val="0"/>
              </a:spcBef>
              <a:spcAft>
                <a:spcPts val="0"/>
              </a:spcAft>
            </a:pPr>
            <a:r>
              <a:rPr sz="1050">
                <a:solidFill>
                  <a:srgbClr val="161B26"/>
                </a:solidFill>
                <a:latin typeface="Consolas"/>
              </a:rPr>
              <a:t>kubectl uncordon node01</a:t>
            </a:r>
          </a:p>
        </p:txBody>
      </p:sp>
      <p:sp>
        <p:nvSpPr>
          <p:cNvPr id="15" name="TextBox 14"/>
          <p:cNvSpPr txBox="1"/>
          <p:nvPr/>
        </p:nvSpPr>
        <p:spPr>
          <a:xfrm>
            <a:off x="777240" y="518007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After 40s without kubelet heartbeat, node controller marks NotReady. After 5 minutes, pods are evicted to healthy nodes. Drain before any maintenance.</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236</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Stopped kubelet causes NotReady; starting it restores Ready within 1 minute. Drain evicts pods and cordons node; uncordon re-enables scheduling.</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237</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Application &amp; Log Troubleshooting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Pods, logs and container debugging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238</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POD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Failure States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ImagePullBackOff: wrong image name, tag or missing imagePullSecret — check Events in kubectl describe pod.</a:t>
            </a:r>
          </a:p>
          <a:p>
            <a:pPr>
              <a:spcBef>
                <a:spcPts val="0"/>
              </a:spcBef>
              <a:spcAft>
                <a:spcPts val="1000"/>
              </a:spcAft>
            </a:pPr>
            <a:r>
              <a:rPr sz="1900" b="1">
                <a:solidFill>
                  <a:srgbClr val="1F6FEB"/>
                </a:solidFill>
                <a:latin typeface="Arial"/>
              </a:rPr>
              <a:t>•  </a:t>
            </a:r>
            <a:r>
              <a:rPr sz="1900">
                <a:solidFill>
                  <a:srgbClr val="161B26"/>
                </a:solidFill>
                <a:latin typeface="Arial"/>
              </a:rPr>
              <a:t>CrashLoopBackOff: container exits non-zero repeatedly — read kubectl logs &lt;pod&gt; --previous.</a:t>
            </a:r>
          </a:p>
          <a:p>
            <a:pPr>
              <a:spcBef>
                <a:spcPts val="0"/>
              </a:spcBef>
              <a:spcAft>
                <a:spcPts val="1000"/>
              </a:spcAft>
            </a:pPr>
            <a:r>
              <a:rPr sz="1900" b="1">
                <a:solidFill>
                  <a:srgbClr val="1F6FEB"/>
                </a:solidFill>
                <a:latin typeface="Arial"/>
              </a:rPr>
              <a:t>•  </a:t>
            </a:r>
            <a:r>
              <a:rPr sz="1900">
                <a:solidFill>
                  <a:srgbClr val="161B26"/>
                </a:solidFill>
                <a:latin typeface="Arial"/>
              </a:rPr>
              <a:t>OOMKilled: container exceeded its memory limit — raise resources.limits.memory.</a:t>
            </a:r>
          </a:p>
          <a:p>
            <a:pPr>
              <a:spcBef>
                <a:spcPts val="0"/>
              </a:spcBef>
              <a:spcAft>
                <a:spcPts val="1000"/>
              </a:spcAft>
            </a:pPr>
            <a:r>
              <a:rPr sz="1900" b="1">
                <a:solidFill>
                  <a:srgbClr val="1F6FEB"/>
                </a:solidFill>
                <a:latin typeface="Arial"/>
              </a:rPr>
              <a:t>•  </a:t>
            </a:r>
            <a:r>
              <a:rPr sz="1900">
                <a:solidFill>
                  <a:srgbClr val="161B26"/>
                </a:solidFill>
                <a:latin typeface="Arial"/>
              </a:rPr>
              <a:t>kubectl get events --sort-by=.lastTimestamp -A gives a cluster-wide timeline — start here for unknown failures.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239</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5  ·  POD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Failure States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09728" cy="10789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65960"/>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DC2626"/>
                </a:solidFill>
                <a:latin typeface="Arial"/>
              </a:rPr>
              <a:t>ImagePullBackOff</a:t>
            </a:r>
          </a:p>
          <a:p>
            <a:pPr algn="l">
              <a:spcBef>
                <a:spcPts val="0"/>
              </a:spcBef>
              <a:spcAft>
                <a:spcPts val="300"/>
              </a:spcAft>
            </a:pPr>
            <a:r>
              <a:rPr sz="1200" b="0">
                <a:solidFill>
                  <a:srgbClr val="5B6372"/>
                </a:solidFill>
                <a:latin typeface="Arial"/>
              </a:rPr>
              <a:t>wrong image name, tag or missing imagePullSecret</a:t>
            </a:r>
          </a:p>
        </p:txBody>
      </p:sp>
      <p:sp>
        <p:nvSpPr>
          <p:cNvPr id="10" name="Right Arrow 9"/>
          <p:cNvSpPr/>
          <p:nvPr/>
        </p:nvSpPr>
        <p:spPr>
          <a:xfrm>
            <a:off x="5074920" y="2340864"/>
            <a:ext cx="640080" cy="329184"/>
          </a:xfrm>
          <a:prstGeom prst="rightArrow">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965960"/>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kubectl describe pod → Events → 'Failed to pull image'. Fix image ref and recreate.</a:t>
            </a:r>
          </a:p>
        </p:txBody>
      </p:sp>
      <p:sp>
        <p:nvSpPr>
          <p:cNvPr id="12" name="Rounded Rectangle 11"/>
          <p:cNvSpPr/>
          <p:nvPr/>
        </p:nvSpPr>
        <p:spPr>
          <a:xfrm>
            <a:off x="777240" y="3163824"/>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4"/>
            <a:ext cx="109728" cy="10789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163824"/>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F59E0B"/>
                </a:solidFill>
                <a:latin typeface="Arial"/>
              </a:rPr>
              <a:t>CrashLoopBackOff</a:t>
            </a:r>
          </a:p>
          <a:p>
            <a:pPr algn="l">
              <a:spcBef>
                <a:spcPts val="0"/>
              </a:spcBef>
              <a:spcAft>
                <a:spcPts val="300"/>
              </a:spcAft>
            </a:pPr>
            <a:r>
              <a:rPr sz="1200" b="0">
                <a:solidFill>
                  <a:srgbClr val="5B6372"/>
                </a:solidFill>
                <a:latin typeface="Arial"/>
              </a:rPr>
              <a:t>container exits non-zero repeatedly</a:t>
            </a:r>
          </a:p>
        </p:txBody>
      </p:sp>
      <p:sp>
        <p:nvSpPr>
          <p:cNvPr id="15" name="Right Arrow 14"/>
          <p:cNvSpPr/>
          <p:nvPr/>
        </p:nvSpPr>
        <p:spPr>
          <a:xfrm>
            <a:off x="5074920" y="3538728"/>
            <a:ext cx="640080" cy="329184"/>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3163824"/>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kubectl logs &lt;pod&gt; --previous → read the crash output. Fix command / config / entrypoint.</a:t>
            </a:r>
          </a:p>
        </p:txBody>
      </p:sp>
      <p:sp>
        <p:nvSpPr>
          <p:cNvPr id="17" name="Rounded Rectangle 16"/>
          <p:cNvSpPr/>
          <p:nvPr/>
        </p:nvSpPr>
        <p:spPr>
          <a:xfrm>
            <a:off x="777240" y="4361688"/>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361688"/>
            <a:ext cx="109728" cy="10789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61688"/>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OOMKilled</a:t>
            </a:r>
          </a:p>
          <a:p>
            <a:pPr algn="l">
              <a:spcBef>
                <a:spcPts val="0"/>
              </a:spcBef>
              <a:spcAft>
                <a:spcPts val="300"/>
              </a:spcAft>
            </a:pPr>
            <a:r>
              <a:rPr sz="1200" b="0">
                <a:solidFill>
                  <a:srgbClr val="5B6372"/>
                </a:solidFill>
                <a:latin typeface="Arial"/>
              </a:rPr>
              <a:t>container exceeded memory limit</a:t>
            </a:r>
          </a:p>
        </p:txBody>
      </p:sp>
      <p:sp>
        <p:nvSpPr>
          <p:cNvPr id="20" name="Right Arrow 19"/>
          <p:cNvSpPr/>
          <p:nvPr/>
        </p:nvSpPr>
        <p:spPr>
          <a:xfrm>
            <a:off x="5074920" y="4736592"/>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4361688"/>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kubectl describe pod → Reason: OOMKilled → raise resources.limits.memory.</a:t>
            </a:r>
          </a:p>
        </p:txBody>
      </p:sp>
      <p:sp>
        <p:nvSpPr>
          <p:cNvPr id="22" name="Rounded Rectangle 21"/>
          <p:cNvSpPr/>
          <p:nvPr/>
        </p:nvSpPr>
        <p:spPr>
          <a:xfrm>
            <a:off x="777240" y="5486400"/>
            <a:ext cx="10652760" cy="384048"/>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486400"/>
            <a:ext cx="10149840" cy="384048"/>
          </a:xfrm>
          <a:prstGeom prst="rect">
            <a:avLst/>
          </a:prstGeom>
          <a:noFill/>
        </p:spPr>
        <p:txBody>
          <a:bodyPr wrap="square" anchor="ctr" lIns="0" rIns="0" tIns="0" bIns="0">
            <a:spAutoFit/>
          </a:bodyPr>
          <a:lstStyle/>
          <a:p>
            <a:pPr algn="l">
              <a:spcBef>
                <a:spcPts val="0"/>
              </a:spcBef>
              <a:spcAft>
                <a:spcPts val="400"/>
              </a:spcAft>
            </a:pPr>
            <a:r>
              <a:rPr sz="1200" b="1">
                <a:solidFill>
                  <a:srgbClr val="1F6FEB"/>
                </a:solidFill>
                <a:latin typeface="Arial"/>
              </a:rPr>
              <a:t>Fast triage: </a:t>
            </a:r>
            <a:r>
              <a:rPr sz="1200" b="0">
                <a:solidFill>
                  <a:srgbClr val="161B26"/>
                </a:solidFill>
                <a:latin typeface="Arial"/>
              </a:rPr>
              <a:t>kubectl get events --sort-by=.lastTimestamp -A   ·   kubectl debug (ephemeral container for distroless)</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LOGS AND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Application logs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Read logs from running containers, crashed containers (--previous), specific containers in multi-container pods, and raw log files on disk at /var/log/pods/. Log retrieval is the first step in every CKA application troubleshooting question.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noisy pod, use kubectl logs with --tail --timestamps --follow. Create crashloop pod and read with --previous. Locate raw log file on disk.</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run · kubectl logs · ls /var/log/pods/ · » --previous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241</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Basic log commands</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noisy --image=busybox --restart=Never -- \</a:t>
            </a:r>
          </a:p>
          <a:p>
            <a:pPr>
              <a:spcBef>
                <a:spcPts val="0"/>
              </a:spcBef>
              <a:spcAft>
                <a:spcPts val="0"/>
              </a:spcAft>
            </a:pPr>
            <a:r>
              <a:rPr sz="1050">
                <a:solidFill>
                  <a:srgbClr val="161B26"/>
                </a:solidFill>
                <a:latin typeface="Consolas"/>
              </a:rPr>
              <a:t>  sh -c 'i=0; while true; do echo "line $i"; i=$((i+1)); sleep 1; done'</a:t>
            </a:r>
          </a:p>
          <a:p>
            <a:pPr>
              <a:spcBef>
                <a:spcPts val="0"/>
              </a:spcBef>
              <a:spcAft>
                <a:spcPts val="0"/>
              </a:spcAft>
            </a:pPr>
            <a:r>
              <a:rPr sz="1050">
                <a:solidFill>
                  <a:srgbClr val="161B26"/>
                </a:solidFill>
                <a:latin typeface="Consolas"/>
              </a:rPr>
              <a:t>kubectl logs noisy --tail=5</a:t>
            </a:r>
          </a:p>
          <a:p>
            <a:pPr>
              <a:spcBef>
                <a:spcPts val="0"/>
              </a:spcBef>
              <a:spcAft>
                <a:spcPts val="0"/>
              </a:spcAft>
            </a:pPr>
            <a:r>
              <a:rPr sz="1050">
                <a:solidFill>
                  <a:srgbClr val="161B26"/>
                </a:solidFill>
                <a:latin typeface="Consolas"/>
              </a:rPr>
              <a:t>kubectl logs noisy --tail=10 --timestamps=true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Crashed container logs with --previous</a:t>
            </a:r>
          </a:p>
        </p:txBody>
      </p:sp>
      <p:sp>
        <p:nvSpPr>
          <p:cNvPr id="12" name="Rounded Rectangle 11"/>
          <p:cNvSpPr/>
          <p:nvPr/>
        </p:nvSpPr>
        <p:spPr>
          <a:xfrm>
            <a:off x="777240" y="353872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crasher --image=busybox --restart=Always -- \</a:t>
            </a:r>
          </a:p>
          <a:p>
            <a:pPr>
              <a:spcBef>
                <a:spcPts val="0"/>
              </a:spcBef>
              <a:spcAft>
                <a:spcPts val="0"/>
              </a:spcAft>
            </a:pPr>
            <a:r>
              <a:rPr sz="1050">
                <a:solidFill>
                  <a:srgbClr val="161B26"/>
                </a:solidFill>
                <a:latin typeface="Consolas"/>
              </a:rPr>
              <a:t>  sh -c 'echo starting; sleep 2; echo crashing; exit 1'</a:t>
            </a:r>
          </a:p>
          <a:p>
            <a:pPr>
              <a:spcBef>
                <a:spcPts val="0"/>
              </a:spcBef>
              <a:spcAft>
                <a:spcPts val="0"/>
              </a:spcAft>
            </a:pPr>
            <a:r>
              <a:rPr sz="1050">
                <a:solidFill>
                  <a:srgbClr val="161B26"/>
                </a:solidFill>
                <a:latin typeface="Consolas"/>
              </a:rPr>
              <a:t>kubectl get pod crasher -w</a:t>
            </a:r>
          </a:p>
          <a:p>
            <a:pPr>
              <a:spcBef>
                <a:spcPts val="0"/>
              </a:spcBef>
              <a:spcAft>
                <a:spcPts val="0"/>
              </a:spcAft>
            </a:pPr>
            <a:r>
              <a:rPr sz="1050">
                <a:solidFill>
                  <a:srgbClr val="161B26"/>
                </a:solidFill>
                <a:latin typeface="Consolas"/>
              </a:rPr>
              <a:t># Watch CrashLoopBackOff</a:t>
            </a:r>
          </a:p>
          <a:p>
            <a:pPr>
              <a:spcBef>
                <a:spcPts val="0"/>
              </a:spcBef>
              <a:spcAft>
                <a:spcPts val="0"/>
              </a:spcAft>
            </a:pPr>
            <a:r>
              <a:rPr sz="1050">
                <a:solidFill>
                  <a:srgbClr val="161B26"/>
                </a:solidFill>
                <a:latin typeface="Consolas"/>
              </a:rPr>
              <a:t>kubectl logs crasher --previous</a:t>
            </a:r>
          </a:p>
        </p:txBody>
      </p:sp>
      <p:sp>
        <p:nvSpPr>
          <p:cNvPr id="15" name="TextBox 14"/>
          <p:cNvSpPr txBox="1"/>
          <p:nvPr/>
        </p:nvSpPr>
        <p:spPr>
          <a:xfrm>
            <a:off x="777240" y="480517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Multi-container pod logs</a:t>
            </a:r>
          </a:p>
        </p:txBody>
      </p:sp>
      <p:sp>
        <p:nvSpPr>
          <p:cNvPr id="16" name="Rounded Rectangle 15"/>
          <p:cNvSpPr/>
          <p:nvPr/>
        </p:nvSpPr>
        <p:spPr>
          <a:xfrm>
            <a:off x="777240" y="5189219"/>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19"/>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7"/>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logs multi-pod -c c1</a:t>
            </a:r>
          </a:p>
          <a:p>
            <a:pPr>
              <a:spcBef>
                <a:spcPts val="0"/>
              </a:spcBef>
              <a:spcAft>
                <a:spcPts val="0"/>
              </a:spcAft>
            </a:pPr>
            <a:r>
              <a:rPr sz="1050">
                <a:solidFill>
                  <a:srgbClr val="161B26"/>
                </a:solidFill>
                <a:latin typeface="Consolas"/>
              </a:rPr>
              <a:t>kubectl logs multi-pod -c c2</a:t>
            </a:r>
          </a:p>
          <a:p>
            <a:pPr>
              <a:spcBef>
                <a:spcPts val="0"/>
              </a:spcBef>
              <a:spcAft>
                <a:spcPts val="0"/>
              </a:spcAft>
            </a:pPr>
            <a:r>
              <a:rPr sz="1050">
                <a:solidFill>
                  <a:srgbClr val="161B26"/>
                </a:solidFill>
                <a:latin typeface="Consolas"/>
              </a:rPr>
              <a:t>kubectl logs multi-pod --all-containers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242</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Raw log files on disk</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/var/log/pods/</a:t>
            </a:r>
          </a:p>
          <a:p>
            <a:pPr>
              <a:spcBef>
                <a:spcPts val="0"/>
              </a:spcBef>
              <a:spcAft>
                <a:spcPts val="0"/>
              </a:spcAft>
            </a:pPr>
            <a:r>
              <a:rPr sz="1050">
                <a:solidFill>
                  <a:srgbClr val="161B26"/>
                </a:solidFill>
                <a:latin typeface="Consolas"/>
              </a:rPr>
              <a:t>find /var/log/pods/ -name '*.log' | head -5</a:t>
            </a:r>
          </a:p>
          <a:p>
            <a:pPr>
              <a:spcBef>
                <a:spcPts val="0"/>
              </a:spcBef>
              <a:spcAft>
                <a:spcPts val="0"/>
              </a:spcAft>
            </a:pPr>
            <a:r>
              <a:rPr sz="1050">
                <a:solidFill>
                  <a:srgbClr val="161B26"/>
                </a:solidFill>
                <a:latin typeface="Consolas"/>
              </a:rPr>
              <a:t>tail -20 /var/log/pods/default_noisy_*/noisy/0.log</a:t>
            </a:r>
          </a:p>
        </p:txBody>
      </p:sp>
      <p:sp>
        <p:nvSpPr>
          <p:cNvPr id="11" name="TextBox 10"/>
          <p:cNvSpPr txBox="1"/>
          <p:nvPr/>
        </p:nvSpPr>
        <p:spPr>
          <a:xfrm>
            <a:off x="777240" y="2967228"/>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--previous reads the last terminated container instance -- essential for CrashLoopBackOff. Raw log files at /var/log/pods/ persist even if the pod is deleted.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243</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logs noisy shows incrementing lines. kubectl logs crasher --previous shows crash message. Raw log file found under /var/log/pods/default_noisy_*/.</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244</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WRAP-UP</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Day 3 done — networking, storage and component troubleshooting.</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Tomorrow morning: monitoring, service triage, RBAC/scheduling failures. Then mock exam and assessment.</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245</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6" name="TextBox 5"/>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Certified Kubernetes Administrator (CKA)</a:t>
            </a:r>
          </a:p>
        </p:txBody>
      </p:sp>
      <p:sp>
        <p:nvSpPr>
          <p:cNvPr id="7" name="Rectangle 6"/>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TGS-2025054612</a:t>
            </a:r>
          </a:p>
          <a:p>
            <a:pPr algn="l">
              <a:spcBef>
                <a:spcPts val="0"/>
              </a:spcBef>
              <a:spcAft>
                <a:spcPts val="600"/>
              </a:spcAft>
            </a:pPr>
            <a:r>
              <a:rPr sz="1400" b="0">
                <a:solidFill>
                  <a:srgbClr val="5B6372"/>
                </a:solidFill>
                <a:latin typeface="Arial"/>
              </a:rPr>
              <a:t>Conducted by Tertiary Infotech Academy Pte Ltd  ·  UEN 201200696W</a:t>
            </a:r>
          </a:p>
        </p:txBody>
      </p:sp>
      <p:sp>
        <p:nvSpPr>
          <p:cNvPr id="9" name="TextBox 8"/>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4  (½ day)</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Monitoring, Service Networking &amp; Troubleshooting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Domain 5 final — Labs 29–31  ·  Then: 12PM lunch · 1PM mock exam · 3:30PM tea · 3:45PM assessment</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04</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246</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247</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DAY 4 OBJECTIVES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Recap &amp; Today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Three days of training done — Cluster Architecture, Workloads, Networking, Storage and Troubleshooting.</a:t>
            </a:r>
          </a:p>
          <a:p>
            <a:pPr>
              <a:spcBef>
                <a:spcPts val="0"/>
              </a:spcBef>
              <a:spcAft>
                <a:spcPts val="1000"/>
              </a:spcAft>
            </a:pPr>
            <a:r>
              <a:rPr sz="1900" b="1">
                <a:solidFill>
                  <a:srgbClr val="1F6FEB"/>
                </a:solidFill>
                <a:latin typeface="Arial"/>
              </a:rPr>
              <a:t>•  </a:t>
            </a:r>
            <a:r>
              <a:rPr sz="1900">
                <a:solidFill>
                  <a:srgbClr val="161B26"/>
                </a:solidFill>
                <a:latin typeface="Arial"/>
              </a:rPr>
              <a:t>This morning — Domain 5 final: monitoring cluster usage, service networking triage, RBAC &amp; scheduling failures.</a:t>
            </a:r>
          </a:p>
          <a:p>
            <a:pPr>
              <a:spcBef>
                <a:spcPts val="0"/>
              </a:spcBef>
              <a:spcAft>
                <a:spcPts val="1000"/>
              </a:spcAft>
            </a:pPr>
            <a:r>
              <a:rPr sz="1900" b="1">
                <a:solidFill>
                  <a:srgbClr val="1F6FEB"/>
                </a:solidFill>
                <a:latin typeface="Arial"/>
              </a:rPr>
              <a:t>•  </a:t>
            </a:r>
            <a:r>
              <a:rPr sz="1900">
                <a:solidFill>
                  <a:srgbClr val="161B26"/>
                </a:solidFill>
                <a:latin typeface="Arial"/>
              </a:rPr>
              <a:t>Labs 29–31 complete the 31-lab CKA curriculum.</a:t>
            </a:r>
          </a:p>
          <a:p>
            <a:pPr>
              <a:spcBef>
                <a:spcPts val="0"/>
              </a:spcBef>
              <a:spcAft>
                <a:spcPts val="1000"/>
              </a:spcAft>
            </a:pPr>
            <a:r>
              <a:rPr sz="1900" b="1">
                <a:solidFill>
                  <a:srgbClr val="1F6FEB"/>
                </a:solidFill>
                <a:latin typeface="Arial"/>
              </a:rPr>
              <a:t>•  </a:t>
            </a:r>
            <a:r>
              <a:rPr sz="1900">
                <a:solidFill>
                  <a:srgbClr val="161B26"/>
                </a:solidFill>
                <a:latin typeface="Arial"/>
              </a:rPr>
              <a:t>From 1:00 PM — mock-exam practice on Killercoda; final written assessment from 3:45 PM.</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248</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Monitoring Cluster Usage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metrics-server, kubectl top and cluster events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249</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OBSERVABILITY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Metrics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metrics-server scrapes each kubelet's cAdvisor and exposes the aggregated Metrics API (metrics.k8s.io).</a:t>
            </a:r>
          </a:p>
          <a:p>
            <a:pPr>
              <a:spcBef>
                <a:spcPts val="0"/>
              </a:spcBef>
              <a:spcAft>
                <a:spcPts val="1000"/>
              </a:spcAft>
            </a:pPr>
            <a:r>
              <a:rPr sz="1900" b="1">
                <a:solidFill>
                  <a:srgbClr val="1F6FEB"/>
                </a:solidFill>
                <a:latin typeface="Arial"/>
              </a:rPr>
              <a:t>•  </a:t>
            </a:r>
            <a:r>
              <a:rPr sz="1900">
                <a:solidFill>
                  <a:srgbClr val="161B26"/>
                </a:solidFill>
                <a:latin typeface="Arial"/>
              </a:rPr>
              <a:t>kubectl top nodes and kubectl top pods show live CPU and memory; --sort-by=cpu/memory ranks results.</a:t>
            </a:r>
          </a:p>
          <a:p>
            <a:pPr>
              <a:spcBef>
                <a:spcPts val="0"/>
              </a:spcBef>
              <a:spcAft>
                <a:spcPts val="1000"/>
              </a:spcAft>
            </a:pPr>
            <a:r>
              <a:rPr sz="1900" b="1">
                <a:solidFill>
                  <a:srgbClr val="1F6FEB"/>
                </a:solidFill>
                <a:latin typeface="Arial"/>
              </a:rPr>
              <a:t>•  </a:t>
            </a:r>
            <a:r>
              <a:rPr sz="1900">
                <a:solidFill>
                  <a:srgbClr val="161B26"/>
                </a:solidFill>
                <a:latin typeface="Arial"/>
              </a:rPr>
              <a:t>kubectl get events --sort-by=.lastTimestamp -A provides a ~1-hour cluster-wide event timeline.</a:t>
            </a:r>
          </a:p>
          <a:p>
            <a:pPr>
              <a:spcBef>
                <a:spcPts val="0"/>
              </a:spcBef>
              <a:spcAft>
                <a:spcPts val="1000"/>
              </a:spcAft>
            </a:pPr>
            <a:r>
              <a:rPr sz="1900" b="1">
                <a:solidFill>
                  <a:srgbClr val="1F6FEB"/>
                </a:solidFill>
                <a:latin typeface="Arial"/>
              </a:rPr>
              <a:t>•  </a:t>
            </a:r>
            <a:r>
              <a:rPr sz="1900">
                <a:solidFill>
                  <a:srgbClr val="161B26"/>
                </a:solidFill>
                <a:latin typeface="Arial"/>
              </a:rPr>
              <a:t>kubectl describe node shows capacity vs allocatable vs requested — essential for scheduling failures.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5  ·  OBSERVABILITY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Monitoring — Metrics, Events &amp; Node Health</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74519"/>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109728"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874519"/>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1F6FEB"/>
                </a:solidFill>
                <a:latin typeface="Arial"/>
              </a:rPr>
              <a:t>kubectl top nodes/pods</a:t>
            </a:r>
          </a:p>
          <a:p>
            <a:pPr algn="l">
              <a:spcBef>
                <a:spcPts val="0"/>
              </a:spcBef>
              <a:spcAft>
                <a:spcPts val="300"/>
              </a:spcAft>
            </a:pPr>
            <a:r>
              <a:rPr sz="1200" b="0">
                <a:solidFill>
                  <a:srgbClr val="5B6372"/>
                </a:solidFill>
                <a:latin typeface="Arial"/>
              </a:rPr>
              <a:t>metrics-server → Metrics API (metrics.k8s.io)</a:t>
            </a:r>
          </a:p>
        </p:txBody>
      </p:sp>
      <p:sp>
        <p:nvSpPr>
          <p:cNvPr id="10" name="Right Arrow 9"/>
          <p:cNvSpPr/>
          <p:nvPr/>
        </p:nvSpPr>
        <p:spPr>
          <a:xfrm>
            <a:off x="5074920" y="2130551"/>
            <a:ext cx="640080" cy="329184"/>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874519"/>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Live CPU &amp; memory usage. --sort-by=cpu/memory ranks results. Needs metrics-server running.</a:t>
            </a:r>
          </a:p>
        </p:txBody>
      </p:sp>
      <p:sp>
        <p:nvSpPr>
          <p:cNvPr id="12" name="Rounded Rectangle 11"/>
          <p:cNvSpPr/>
          <p:nvPr/>
        </p:nvSpPr>
        <p:spPr>
          <a:xfrm>
            <a:off x="777240" y="2807207"/>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07207"/>
            <a:ext cx="109728"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807207"/>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10B981"/>
                </a:solidFill>
                <a:latin typeface="Arial"/>
              </a:rPr>
              <a:t>kubectl describe node</a:t>
            </a:r>
          </a:p>
          <a:p>
            <a:pPr algn="l">
              <a:spcBef>
                <a:spcPts val="0"/>
              </a:spcBef>
              <a:spcAft>
                <a:spcPts val="300"/>
              </a:spcAft>
            </a:pPr>
            <a:r>
              <a:rPr sz="1200" b="0">
                <a:solidFill>
                  <a:srgbClr val="5B6372"/>
                </a:solidFill>
                <a:latin typeface="Arial"/>
              </a:rPr>
              <a:t>capacity vs allocatable vs requests + Taints + Conditions</a:t>
            </a:r>
          </a:p>
        </p:txBody>
      </p:sp>
      <p:sp>
        <p:nvSpPr>
          <p:cNvPr id="15" name="Right Arrow 14"/>
          <p:cNvSpPr/>
          <p:nvPr/>
        </p:nvSpPr>
        <p:spPr>
          <a:xfrm>
            <a:off x="5074920" y="3063239"/>
            <a:ext cx="640080" cy="32918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2807207"/>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First check for scheduling failures — shows resource headroom and all conditions.</a:t>
            </a:r>
          </a:p>
        </p:txBody>
      </p:sp>
      <p:sp>
        <p:nvSpPr>
          <p:cNvPr id="17" name="Rounded Rectangle 16"/>
          <p:cNvSpPr/>
          <p:nvPr/>
        </p:nvSpPr>
        <p:spPr>
          <a:xfrm>
            <a:off x="777240" y="3739895"/>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739895"/>
            <a:ext cx="109728"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739895"/>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F59E0B"/>
                </a:solidFill>
                <a:latin typeface="Arial"/>
              </a:rPr>
              <a:t>kubectl get events -A</a:t>
            </a:r>
          </a:p>
          <a:p>
            <a:pPr algn="l">
              <a:spcBef>
                <a:spcPts val="0"/>
              </a:spcBef>
              <a:spcAft>
                <a:spcPts val="300"/>
              </a:spcAft>
            </a:pPr>
            <a:r>
              <a:rPr sz="1200" b="0">
                <a:solidFill>
                  <a:srgbClr val="5B6372"/>
                </a:solidFill>
                <a:latin typeface="Arial"/>
              </a:rPr>
              <a:t>--sort-by=.lastTimestamp gives ~1h cluster-wide timeline</a:t>
            </a:r>
          </a:p>
        </p:txBody>
      </p:sp>
      <p:sp>
        <p:nvSpPr>
          <p:cNvPr id="20" name="Right Arrow 19"/>
          <p:cNvSpPr/>
          <p:nvPr/>
        </p:nvSpPr>
        <p:spPr>
          <a:xfrm>
            <a:off x="5074920" y="3995927"/>
            <a:ext cx="640080" cy="329184"/>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3739895"/>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Find ImagePullErrors, OOMKills, probe failures and rescheduled pods at a glance.</a:t>
            </a:r>
          </a:p>
        </p:txBody>
      </p:sp>
      <p:sp>
        <p:nvSpPr>
          <p:cNvPr id="22" name="Rounded Rectangle 21"/>
          <p:cNvSpPr/>
          <p:nvPr/>
        </p:nvSpPr>
        <p:spPr>
          <a:xfrm>
            <a:off x="777240" y="4672583"/>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672583"/>
            <a:ext cx="109728"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4672583"/>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kubectl describe pod</a:t>
            </a:r>
          </a:p>
          <a:p>
            <a:pPr algn="l">
              <a:spcBef>
                <a:spcPts val="0"/>
              </a:spcBef>
              <a:spcAft>
                <a:spcPts val="300"/>
              </a:spcAft>
            </a:pPr>
            <a:r>
              <a:rPr sz="1200" b="0">
                <a:solidFill>
                  <a:srgbClr val="5B6372"/>
                </a:solidFill>
                <a:latin typeface="Arial"/>
              </a:rPr>
              <a:t>Events section — most failure causes appear directly here</a:t>
            </a:r>
          </a:p>
        </p:txBody>
      </p:sp>
      <p:sp>
        <p:nvSpPr>
          <p:cNvPr id="25" name="Right Arrow 24"/>
          <p:cNvSpPr/>
          <p:nvPr/>
        </p:nvSpPr>
        <p:spPr>
          <a:xfrm>
            <a:off x="5074920" y="4928615"/>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9320" y="4672583"/>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Read the Events bottom section first — scheduling reason, pull errors, probe failures all here.</a:t>
            </a:r>
          </a:p>
        </p:txBody>
      </p:sp>
      <p:sp>
        <p:nvSpPr>
          <p:cNvPr id="27" name="Rounded Rectangle 26"/>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Start every session with </a:t>
            </a:r>
            <a:r>
              <a:rPr sz="1300" b="1">
                <a:solidFill>
                  <a:srgbClr val="161B26"/>
                </a:solidFill>
                <a:latin typeface="Arial"/>
              </a:rPr>
              <a:t>kubectl get events --sort-by=.lastTimestamp -A</a:t>
            </a:r>
            <a:r>
              <a:rPr sz="1300" b="0">
                <a:solidFill>
                  <a:srgbClr val="5B6372"/>
                </a:solidFill>
                <a:latin typeface="Arial"/>
              </a:rPr>
              <a:t> — it tells you what happened and when, cluster-wide.</a:t>
            </a:r>
          </a:p>
        </p:txBody>
      </p:sp>
      <p:sp>
        <p:nvSpPr>
          <p:cNvPr id="29" name="TextBox 2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251</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OBSERVABILITY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Metrics Server — Cluster-Wide Resource Metrics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5_s060_i1.jpg"/>
          <p:cNvPicPr>
            <a:picLocks noChangeAspect="1"/>
          </p:cNvPicPr>
          <p:nvPr/>
        </p:nvPicPr>
        <p:blipFill>
          <a:blip r:embed="rId2"/>
          <a:stretch>
            <a:fillRect/>
          </a:stretch>
        </p:blipFill>
        <p:spPr>
          <a:xfrm>
            <a:off x="2056450" y="1627632"/>
            <a:ext cx="8094340"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252</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4 · MONITORING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Monitor Cluster and Application Usage: kubectl top, Events, Metrics Pipeline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Monitoring and observability</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kubectl top to check CPU and memory usage for nodes and pods, inspect cluster events to identify recent warnings, and understand how metrics flow from cAdvisor through metrics-server to kubectl top and HPA.</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metrics-server, run kubectl top node and kubectl top pod (sorted by CPU/memory), inspect kubectl get events, use kubectl describe to surface warning events.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kubectl top · kubectl get · » Metrics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253</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Monitor Cluster and Application Usage: kubectl top, Events, Metrics Pipeline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metrics-server</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https://github.com/kubernetes-sigs/metrics-server/releases/latest/download/components.yaml</a:t>
            </a:r>
          </a:p>
          <a:p>
            <a:pPr>
              <a:spcBef>
                <a:spcPts val="0"/>
              </a:spcBef>
              <a:spcAft>
                <a:spcPts val="0"/>
              </a:spcAft>
            </a:pPr>
            <a:r>
              <a:rPr sz="1050">
                <a:solidFill>
                  <a:srgbClr val="161B26"/>
                </a:solidFill>
                <a:latin typeface="Consolas"/>
              </a:rPr>
              <a:t>kubectl -n kube-system patch deploy metrics-server --type=json \</a:t>
            </a:r>
          </a:p>
          <a:p>
            <a:pPr>
              <a:spcBef>
                <a:spcPts val="0"/>
              </a:spcBef>
              <a:spcAft>
                <a:spcPts val="0"/>
              </a:spcAft>
            </a:pPr>
            <a:r>
              <a:rPr sz="1050">
                <a:solidFill>
                  <a:srgbClr val="161B26"/>
                </a:solidFill>
                <a:latin typeface="Consolas"/>
              </a:rPr>
              <a:t>  -p='[{"op":"add","path":"/spec/template/spec/containers/0/args/-","value":"--kubelet-insecure-tls"}]'</a:t>
            </a:r>
          </a:p>
          <a:p>
            <a:pPr>
              <a:spcBef>
                <a:spcPts val="0"/>
              </a:spcBef>
              <a:spcAft>
                <a:spcPts val="0"/>
              </a:spcAft>
            </a:pPr>
            <a:r>
              <a:rPr sz="1050">
                <a:solidFill>
                  <a:srgbClr val="161B26"/>
                </a:solidFill>
                <a:latin typeface="Consolas"/>
              </a:rPr>
              <a:t>until kubectl top node 2&gt;/dev/null; do echo 'waiting...'; sleep 5; done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Resource usage</a:t>
            </a:r>
          </a:p>
        </p:txBody>
      </p:sp>
      <p:sp>
        <p:nvSpPr>
          <p:cNvPr id="12" name="Rounded Rectangle 11"/>
          <p:cNvSpPr/>
          <p:nvPr/>
        </p:nvSpPr>
        <p:spPr>
          <a:xfrm>
            <a:off x="777240" y="353872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top node</a:t>
            </a:r>
          </a:p>
          <a:p>
            <a:pPr>
              <a:spcBef>
                <a:spcPts val="0"/>
              </a:spcBef>
              <a:spcAft>
                <a:spcPts val="0"/>
              </a:spcAft>
            </a:pPr>
            <a:r>
              <a:rPr sz="1050">
                <a:solidFill>
                  <a:srgbClr val="161B26"/>
                </a:solidFill>
                <a:latin typeface="Consolas"/>
              </a:rPr>
              <a:t>kubectl top pod -A</a:t>
            </a:r>
          </a:p>
          <a:p>
            <a:pPr>
              <a:spcBef>
                <a:spcPts val="0"/>
              </a:spcBef>
              <a:spcAft>
                <a:spcPts val="0"/>
              </a:spcAft>
            </a:pPr>
            <a:r>
              <a:rPr sz="1050">
                <a:solidFill>
                  <a:srgbClr val="161B26"/>
                </a:solidFill>
                <a:latin typeface="Consolas"/>
              </a:rPr>
              <a:t>kubectl top pod -A --sort-by=cpu | head -10</a:t>
            </a:r>
          </a:p>
          <a:p>
            <a:pPr>
              <a:spcBef>
                <a:spcPts val="0"/>
              </a:spcBef>
              <a:spcAft>
                <a:spcPts val="0"/>
              </a:spcAft>
            </a:pPr>
            <a:r>
              <a:rPr sz="1050">
                <a:solidFill>
                  <a:srgbClr val="161B26"/>
                </a:solidFill>
                <a:latin typeface="Consolas"/>
              </a:rPr>
              <a:t>kubectl top pod -A --sort-by=memory | head -10</a:t>
            </a:r>
          </a:p>
        </p:txBody>
      </p:sp>
      <p:sp>
        <p:nvSpPr>
          <p:cNvPr id="15" name="TextBox 14"/>
          <p:cNvSpPr txBox="1"/>
          <p:nvPr/>
        </p:nvSpPr>
        <p:spPr>
          <a:xfrm>
            <a:off x="777240" y="461772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Cluster events</a:t>
            </a:r>
          </a:p>
        </p:txBody>
      </p:sp>
      <p:sp>
        <p:nvSpPr>
          <p:cNvPr id="16" name="Rounded Rectangle 15"/>
          <p:cNvSpPr/>
          <p:nvPr/>
        </p:nvSpPr>
        <p:spPr>
          <a:xfrm>
            <a:off x="777240" y="500176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0176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06577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events -A --sort-by='.lastTimestamp'</a:t>
            </a:r>
          </a:p>
          <a:p>
            <a:pPr>
              <a:spcBef>
                <a:spcPts val="0"/>
              </a:spcBef>
              <a:spcAft>
                <a:spcPts val="0"/>
              </a:spcAft>
            </a:pPr>
            <a:r>
              <a:rPr sz="1050">
                <a:solidFill>
                  <a:srgbClr val="161B26"/>
                </a:solidFill>
                <a:latin typeface="Consolas"/>
              </a:rPr>
              <a:t>kubectl get events -A --field-selector type=Warning</a:t>
            </a:r>
          </a:p>
          <a:p>
            <a:pPr>
              <a:spcBef>
                <a:spcPts val="0"/>
              </a:spcBef>
              <a:spcAft>
                <a:spcPts val="0"/>
              </a:spcAft>
            </a:pPr>
            <a:r>
              <a:rPr sz="1050">
                <a:solidFill>
                  <a:srgbClr val="161B26"/>
                </a:solidFill>
                <a:latin typeface="Consolas"/>
              </a:rPr>
              <a:t>kubectl describe node worker01 | grep -A20 Events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254</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Monitor Cluster and Application Usage: kubectl top, Events, Metrics Pipeline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Metrics pipeline raw API</a:t>
            </a:r>
          </a:p>
        </p:txBody>
      </p:sp>
      <p:sp>
        <p:nvSpPr>
          <p:cNvPr id="8" name="Rounded Rectangle 7"/>
          <p:cNvSpPr/>
          <p:nvPr/>
        </p:nvSpPr>
        <p:spPr>
          <a:xfrm>
            <a:off x="777240" y="2075688"/>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--raw '/apis/metrics.k8s.io/v1beta1/nodes' | python3 -m json.tool | head -30</a:t>
            </a:r>
          </a:p>
        </p:txBody>
      </p:sp>
      <p:sp>
        <p:nvSpPr>
          <p:cNvPr id="11" name="TextBox 10"/>
          <p:cNvSpPr txBox="1"/>
          <p:nvPr/>
        </p:nvSpPr>
        <p:spPr>
          <a:xfrm>
            <a:off x="777240" y="259232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Metrics flow: cAdvisor (per node) -&gt; kubelet Summary API -&gt; metrics-server -&gt; kubectl top + HPA. kubectl top requires metrics-server. Events are the first place to look when a pod fails to start.</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255</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Monitor Cluster and Application Usage: kubectl top, Events, Metrics Pipeline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top node shows CPU and memory for all nodes. kubectl get events shows Warning events. Metrics API returns JSON with per-node data.</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256</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Service Networking Triage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Diagnose broken Services, DNS and kube-proxy</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258</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SERVICE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Connectivity Debugging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Empty Endpoints (kubectl get endpoints &lt;svc&gt;) almost always means a selector/label mismatch.</a:t>
            </a:r>
          </a:p>
          <a:p>
            <a:pPr>
              <a:spcBef>
                <a:spcPts val="0"/>
              </a:spcBef>
              <a:spcAft>
                <a:spcPts val="1000"/>
              </a:spcAft>
            </a:pPr>
            <a:r>
              <a:rPr sz="1900" b="1">
                <a:solidFill>
                  <a:srgbClr val="1F6FEB"/>
                </a:solidFill>
                <a:latin typeface="Arial"/>
              </a:rPr>
              <a:t>•  </a:t>
            </a:r>
            <a:r>
              <a:rPr sz="1900">
                <a:solidFill>
                  <a:srgbClr val="161B26"/>
                </a:solidFill>
                <a:latin typeface="Arial"/>
              </a:rPr>
              <a:t>DNS failure: exec into a pod and run nslookup &lt;service&gt;; check CoreDNS pods are Running.</a:t>
            </a:r>
          </a:p>
          <a:p>
            <a:pPr>
              <a:spcBef>
                <a:spcPts val="0"/>
              </a:spcBef>
              <a:spcAft>
                <a:spcPts val="1000"/>
              </a:spcAft>
            </a:pPr>
            <a:r>
              <a:rPr sz="1900" b="1">
                <a:solidFill>
                  <a:srgbClr val="1F6FEB"/>
                </a:solidFill>
                <a:latin typeface="Arial"/>
              </a:rPr>
              <a:t>•  </a:t>
            </a:r>
            <a:r>
              <a:rPr sz="1900">
                <a:solidFill>
                  <a:srgbClr val="161B26"/>
                </a:solidFill>
                <a:latin typeface="Arial"/>
              </a:rPr>
              <a:t>kube-proxy programs iptables/IPVS rules — if it crashes, ClusterIP traffic stops routing.</a:t>
            </a:r>
          </a:p>
          <a:p>
            <a:pPr>
              <a:spcBef>
                <a:spcPts val="0"/>
              </a:spcBef>
              <a:spcAft>
                <a:spcPts val="1000"/>
              </a:spcAft>
            </a:pPr>
            <a:r>
              <a:rPr sz="1900" b="1">
                <a:solidFill>
                  <a:srgbClr val="1F6FEB"/>
                </a:solidFill>
                <a:latin typeface="Arial"/>
              </a:rPr>
              <a:t>•  </a:t>
            </a:r>
            <a:r>
              <a:rPr sz="1900">
                <a:solidFill>
                  <a:srgbClr val="161B26"/>
                </a:solidFill>
                <a:latin typeface="Arial"/>
              </a:rPr>
              <a:t>Bypass the Service to isolate it: curl http://&lt;podIP&gt;:&lt;containerPort&gt; from another pod.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259</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5  ·  BROKEN SERVICE CHECKLIST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Connectivity Triage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642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64208"/>
            <a:ext cx="91440" cy="594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6642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DNS resolves?</a:t>
            </a:r>
          </a:p>
        </p:txBody>
      </p:sp>
      <p:sp>
        <p:nvSpPr>
          <p:cNvPr id="10" name="TextBox 9"/>
          <p:cNvSpPr txBox="1"/>
          <p:nvPr/>
        </p:nvSpPr>
        <p:spPr>
          <a:xfrm>
            <a:off x="4251960" y="16642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kubectl exec probe -- nslookup &lt;svc&gt;</a:t>
            </a:r>
          </a:p>
        </p:txBody>
      </p:sp>
      <p:sp>
        <p:nvSpPr>
          <p:cNvPr id="11" name="Rectangle 10"/>
          <p:cNvSpPr/>
          <p:nvPr/>
        </p:nvSpPr>
        <p:spPr>
          <a:xfrm>
            <a:off x="4160520" y="17556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23500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350008"/>
            <a:ext cx="91440" cy="594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500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10B981"/>
                </a:solidFill>
                <a:latin typeface="Arial"/>
              </a:rPr>
              <a:t>Service has endpoints?</a:t>
            </a:r>
          </a:p>
        </p:txBody>
      </p:sp>
      <p:sp>
        <p:nvSpPr>
          <p:cNvPr id="15" name="TextBox 14"/>
          <p:cNvSpPr txBox="1"/>
          <p:nvPr/>
        </p:nvSpPr>
        <p:spPr>
          <a:xfrm>
            <a:off x="4251960" y="23500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kubectl get endpoints &lt;svc&gt;  — non-empty?</a:t>
            </a:r>
          </a:p>
        </p:txBody>
      </p:sp>
      <p:sp>
        <p:nvSpPr>
          <p:cNvPr id="16" name="Rectangle 15"/>
          <p:cNvSpPr/>
          <p:nvPr/>
        </p:nvSpPr>
        <p:spPr>
          <a:xfrm>
            <a:off x="4160520" y="24414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30358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35808"/>
            <a:ext cx="91440" cy="5943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0358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7C3AED"/>
                </a:solidFill>
                <a:latin typeface="Arial"/>
              </a:rPr>
              <a:t>Selector matches labels?</a:t>
            </a:r>
          </a:p>
        </p:txBody>
      </p:sp>
      <p:sp>
        <p:nvSpPr>
          <p:cNvPr id="20" name="TextBox 19"/>
          <p:cNvSpPr txBox="1"/>
          <p:nvPr/>
        </p:nvSpPr>
        <p:spPr>
          <a:xfrm>
            <a:off x="4251960" y="30358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svc.spec.selector == pod.metadata.labels</a:t>
            </a:r>
          </a:p>
        </p:txBody>
      </p:sp>
      <p:sp>
        <p:nvSpPr>
          <p:cNvPr id="21" name="Rectangle 20"/>
          <p:cNvSpPr/>
          <p:nvPr/>
        </p:nvSpPr>
        <p:spPr>
          <a:xfrm>
            <a:off x="4160520" y="31272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77240" y="37216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21608"/>
            <a:ext cx="91440" cy="5943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216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F59E0B"/>
                </a:solidFill>
                <a:latin typeface="Arial"/>
              </a:rPr>
              <a:t>targetPort matches?</a:t>
            </a:r>
          </a:p>
        </p:txBody>
      </p:sp>
      <p:sp>
        <p:nvSpPr>
          <p:cNvPr id="25" name="TextBox 24"/>
          <p:cNvSpPr txBox="1"/>
          <p:nvPr/>
        </p:nvSpPr>
        <p:spPr>
          <a:xfrm>
            <a:off x="4251960" y="37216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svc.spec.ports[].targetPort == containerPort</a:t>
            </a:r>
          </a:p>
        </p:txBody>
      </p:sp>
      <p:sp>
        <p:nvSpPr>
          <p:cNvPr id="26" name="Rectangle 25"/>
          <p:cNvSpPr/>
          <p:nvPr/>
        </p:nvSpPr>
        <p:spPr>
          <a:xfrm>
            <a:off x="4160520" y="38130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77240" y="44074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07408"/>
            <a:ext cx="91440" cy="594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4074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Pod IP reachable?</a:t>
            </a:r>
          </a:p>
        </p:txBody>
      </p:sp>
      <p:sp>
        <p:nvSpPr>
          <p:cNvPr id="30" name="TextBox 29"/>
          <p:cNvSpPr txBox="1"/>
          <p:nvPr/>
        </p:nvSpPr>
        <p:spPr>
          <a:xfrm>
            <a:off x="4251960" y="44074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curl http://&lt;podIP&gt;:&lt;port&gt;  — bypasses Service</a:t>
            </a:r>
          </a:p>
        </p:txBody>
      </p:sp>
      <p:sp>
        <p:nvSpPr>
          <p:cNvPr id="31" name="Rectangle 30"/>
          <p:cNvSpPr/>
          <p:nvPr/>
        </p:nvSpPr>
        <p:spPr>
          <a:xfrm>
            <a:off x="4160520" y="44988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77240" y="50932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93208"/>
            <a:ext cx="91440" cy="59436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0932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DC2626"/>
                </a:solidFill>
                <a:latin typeface="Arial"/>
              </a:rPr>
              <a:t>NetworkPolicy blocking?</a:t>
            </a:r>
          </a:p>
        </p:txBody>
      </p:sp>
      <p:sp>
        <p:nvSpPr>
          <p:cNvPr id="35" name="TextBox 34"/>
          <p:cNvSpPr txBox="1"/>
          <p:nvPr/>
        </p:nvSpPr>
        <p:spPr>
          <a:xfrm>
            <a:off x="4251960" y="50932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kubectl get netpol -n &lt;ns&gt;  — check podSelector</a:t>
            </a:r>
          </a:p>
        </p:txBody>
      </p:sp>
      <p:sp>
        <p:nvSpPr>
          <p:cNvPr id="36" name="Rectangle 35"/>
          <p:cNvSpPr/>
          <p:nvPr/>
        </p:nvSpPr>
        <p:spPr>
          <a:xfrm>
            <a:off x="4160520" y="51846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77240" y="57790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79008"/>
            <a:ext cx="91440" cy="594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57790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10B981"/>
                </a:solidFill>
                <a:latin typeface="Arial"/>
              </a:rPr>
              <a:t>kube-proxy alive?</a:t>
            </a:r>
          </a:p>
        </p:txBody>
      </p:sp>
      <p:sp>
        <p:nvSpPr>
          <p:cNvPr id="40" name="TextBox 39"/>
          <p:cNvSpPr txBox="1"/>
          <p:nvPr/>
        </p:nvSpPr>
        <p:spPr>
          <a:xfrm>
            <a:off x="4251960" y="57790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kubectl -n kube-system get pods -l k8s-app=kube-proxy</a:t>
            </a:r>
          </a:p>
        </p:txBody>
      </p:sp>
      <p:sp>
        <p:nvSpPr>
          <p:cNvPr id="41" name="Rectangle 40"/>
          <p:cNvSpPr/>
          <p:nvPr/>
        </p:nvSpPr>
        <p:spPr>
          <a:xfrm>
            <a:off x="4160520" y="58704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43" name="TextBox 4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4" name="TextBox 4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SERVICE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Request Routing — How Traffic Reaches Pods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3_s006_i1.jpg"/>
          <p:cNvPicPr>
            <a:picLocks noChangeAspect="1"/>
          </p:cNvPicPr>
          <p:nvPr/>
        </p:nvPicPr>
        <p:blipFill>
          <a:blip r:embed="rId2"/>
          <a:stretch>
            <a:fillRect/>
          </a:stretch>
        </p:blipFill>
        <p:spPr>
          <a:xfrm>
            <a:off x="2002986" y="1627632"/>
            <a:ext cx="8201268"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261</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SERVICE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 Inheritance — ClusterIP to LoadBalancer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3_s011_i1.jpg"/>
          <p:cNvPicPr>
            <a:picLocks noChangeAspect="1"/>
          </p:cNvPicPr>
          <p:nvPr/>
        </p:nvPicPr>
        <p:blipFill>
          <a:blip r:embed="rId2"/>
          <a:stretch>
            <a:fillRect/>
          </a:stretch>
        </p:blipFill>
        <p:spPr>
          <a:xfrm>
            <a:off x="2104908" y="1627632"/>
            <a:ext cx="7997424"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262</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4 · SERVICE NETWORKING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Networking: DNS, Service Selector, Endpoints, CNI, NetworkPolicy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30</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Network troubleshooting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Follow a structured 7-step triage chain for Kubernetes networking failures: DNS -&gt; Service selector -&gt; Endpoints -&gt; CNI -&gt; NetworkPolicy -&gt; kube-proxy -&gt; routing. CKA 2026 tests this methodical approach in multi-step troubleshooting questions.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Deploy baseline app, break DNS by patching CoreDNS, break service selector, block traffic with NetworkPolicy, fix each layer and verify restoration.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exec · kubectl get · » Always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263</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Networking: DNS, Service Selector, Endpoints, CNI, NetworkPolicy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Deploy baseline</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app --image=nginx --replicas=2</a:t>
            </a:r>
          </a:p>
          <a:p>
            <a:pPr>
              <a:spcBef>
                <a:spcPts val="0"/>
              </a:spcBef>
              <a:spcAft>
                <a:spcPts val="0"/>
              </a:spcAft>
            </a:pPr>
            <a:r>
              <a:rPr sz="1050">
                <a:solidFill>
                  <a:srgbClr val="161B26"/>
                </a:solidFill>
                <a:latin typeface="Consolas"/>
              </a:rPr>
              <a:t>kubectl expose deploy app --port=80 --name=app-svc</a:t>
            </a:r>
          </a:p>
          <a:p>
            <a:pPr>
              <a:spcBef>
                <a:spcPts val="0"/>
              </a:spcBef>
              <a:spcAft>
                <a:spcPts val="0"/>
              </a:spcAft>
            </a:pPr>
            <a:r>
              <a:rPr sz="1050">
                <a:solidFill>
                  <a:srgbClr val="161B26"/>
                </a:solidFill>
                <a:latin typeface="Consolas"/>
              </a:rPr>
              <a:t>kubectl run dbg --image=nicolaka/netshoot --command -- sleep 3600</a:t>
            </a:r>
          </a:p>
          <a:p>
            <a:pPr>
              <a:spcBef>
                <a:spcPts val="0"/>
              </a:spcBef>
              <a:spcAft>
                <a:spcPts val="0"/>
              </a:spcAft>
            </a:pPr>
            <a:r>
              <a:rPr sz="1050">
                <a:solidFill>
                  <a:srgbClr val="161B26"/>
                </a:solidFill>
                <a:latin typeface="Consolas"/>
              </a:rPr>
              <a:t>kubectl exec dbg -- curl -s http://app-svc</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Layer 1: DNS check</a:t>
            </a:r>
          </a:p>
        </p:txBody>
      </p:sp>
      <p:sp>
        <p:nvSpPr>
          <p:cNvPr id="12" name="Rounded Rectangle 11"/>
          <p:cNvSpPr/>
          <p:nvPr/>
        </p:nvSpPr>
        <p:spPr>
          <a:xfrm>
            <a:off x="777240" y="353872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exec dbg -- nslookup app-svc.default.svc.cluster.local</a:t>
            </a:r>
          </a:p>
          <a:p>
            <a:pPr>
              <a:spcBef>
                <a:spcPts val="0"/>
              </a:spcBef>
              <a:spcAft>
                <a:spcPts val="0"/>
              </a:spcAft>
            </a:pPr>
            <a:r>
              <a:rPr sz="1050">
                <a:solidFill>
                  <a:srgbClr val="161B26"/>
                </a:solidFill>
                <a:latin typeface="Consolas"/>
              </a:rPr>
              <a:t>kubectl -n kube-system get pods -l k8s-app=kube-dns</a:t>
            </a:r>
          </a:p>
          <a:p>
            <a:pPr>
              <a:spcBef>
                <a:spcPts val="0"/>
              </a:spcBef>
              <a:spcAft>
                <a:spcPts val="0"/>
              </a:spcAft>
            </a:pPr>
            <a:r>
              <a:rPr sz="1050">
                <a:solidFill>
                  <a:srgbClr val="161B26"/>
                </a:solidFill>
                <a:latin typeface="Consolas"/>
              </a:rPr>
              <a:t>kubectl -n kube-system logs -l k8s-app=kube-dns | tail -20</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Layer 2: Service and Endpoints</a:t>
            </a:r>
          </a:p>
        </p:txBody>
      </p:sp>
      <p:sp>
        <p:nvSpPr>
          <p:cNvPr id="16" name="Rounded Rectangle 15"/>
          <p:cNvSpPr/>
          <p:nvPr/>
        </p:nvSpPr>
        <p:spPr>
          <a:xfrm>
            <a:off x="777240" y="481431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svc app-svc -o yaml | grep selector -A 5</a:t>
            </a:r>
          </a:p>
          <a:p>
            <a:pPr>
              <a:spcBef>
                <a:spcPts val="0"/>
              </a:spcBef>
              <a:spcAft>
                <a:spcPts val="0"/>
              </a:spcAft>
            </a:pPr>
            <a:r>
              <a:rPr sz="1050">
                <a:solidFill>
                  <a:srgbClr val="161B26"/>
                </a:solidFill>
                <a:latin typeface="Consolas"/>
              </a:rPr>
              <a:t>kubectl get endpoints app-svc</a:t>
            </a:r>
          </a:p>
          <a:p>
            <a:pPr>
              <a:spcBef>
                <a:spcPts val="0"/>
              </a:spcBef>
              <a:spcAft>
                <a:spcPts val="0"/>
              </a:spcAft>
            </a:pPr>
            <a:r>
              <a:rPr sz="1050">
                <a:solidFill>
                  <a:srgbClr val="161B26"/>
                </a:solidFill>
                <a:latin typeface="Consolas"/>
              </a:rPr>
              <a:t>kubectl get pods --show-labels</a:t>
            </a:r>
          </a:p>
          <a:p>
            <a:pPr>
              <a:spcBef>
                <a:spcPts val="0"/>
              </a:spcBef>
              <a:spcAft>
                <a:spcPts val="0"/>
              </a:spcAft>
            </a:pPr>
            <a:r>
              <a:rPr sz="1050">
                <a:solidFill>
                  <a:srgbClr val="161B26"/>
                </a:solidFill>
                <a:latin typeface="Consolas"/>
              </a:rPr>
              <a:t># Empty endpoints = selector mismatch -- compare and fix</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264</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Networking: DNS, Service Selector, Endpoints, CNI, NetworkPolicy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Layers 3-7: CNI, NetworkPolicy, kube-proxy</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pods -o wide</a:t>
            </a:r>
          </a:p>
          <a:p>
            <a:pPr>
              <a:spcBef>
                <a:spcPts val="0"/>
              </a:spcBef>
              <a:spcAft>
                <a:spcPts val="0"/>
              </a:spcAft>
            </a:pPr>
            <a:r>
              <a:rPr sz="1050">
                <a:solidFill>
                  <a:srgbClr val="161B26"/>
                </a:solidFill>
                <a:latin typeface="Consolas"/>
              </a:rPr>
              <a:t># Check pod IPs assigned (CNI OK)</a:t>
            </a:r>
          </a:p>
          <a:p>
            <a:pPr>
              <a:spcBef>
                <a:spcPts val="0"/>
              </a:spcBef>
              <a:spcAft>
                <a:spcPts val="0"/>
              </a:spcAft>
            </a:pPr>
            <a:r>
              <a:rPr sz="1050">
                <a:solidFill>
                  <a:srgbClr val="161B26"/>
                </a:solidFill>
                <a:latin typeface="Consolas"/>
              </a:rPr>
              <a:t>kubectl get networkpolicy -A</a:t>
            </a:r>
          </a:p>
          <a:p>
            <a:pPr>
              <a:spcBef>
                <a:spcPts val="0"/>
              </a:spcBef>
              <a:spcAft>
                <a:spcPts val="0"/>
              </a:spcAft>
            </a:pPr>
            <a:r>
              <a:rPr sz="1050">
                <a:solidFill>
                  <a:srgbClr val="161B26"/>
                </a:solidFill>
                <a:latin typeface="Consolas"/>
              </a:rPr>
              <a:t># Check for blocking policies</a:t>
            </a:r>
          </a:p>
          <a:p>
            <a:pPr>
              <a:spcBef>
                <a:spcPts val="0"/>
              </a:spcBef>
              <a:spcAft>
                <a:spcPts val="0"/>
              </a:spcAft>
            </a:pPr>
            <a:r>
              <a:rPr sz="1050">
                <a:solidFill>
                  <a:srgbClr val="161B26"/>
                </a:solidFill>
                <a:latin typeface="Consolas"/>
              </a:rPr>
              <a:t>kubectl -n kube-system get pods -l k8s-app=kube-proxy</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Always start with DNS -- 80% of Kubernetes networking problems are DNS. If DNS works but curl fails: check Service selector vs pod labels. If endpoints exist but curl fails: check NetworkPolicy or kube-proxy.</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265</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30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Networking: DNS, Service Selector, Endpoints, CNI, NetworkPolicy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Baseline curl to app-svc works. Selector mismatch: endpoints empty, curl fails. After fixing selector: endpoints repopulated, curl works again.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266</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RBAC &amp; Scheduling Failures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Diagnose 403s, pending pods and node issues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267</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ACCESS CONTROL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Troubleshooting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403 Forbidden response means the request was authenticated but not authorised.</a:t>
            </a:r>
          </a:p>
          <a:p>
            <a:pPr>
              <a:spcBef>
                <a:spcPts val="0"/>
              </a:spcBef>
              <a:spcAft>
                <a:spcPts val="1000"/>
              </a:spcAft>
            </a:pPr>
            <a:r>
              <a:rPr sz="1900" b="1">
                <a:solidFill>
                  <a:srgbClr val="1F6FEB"/>
                </a:solidFill>
                <a:latin typeface="Arial"/>
              </a:rPr>
              <a:t>•  </a:t>
            </a:r>
            <a:r>
              <a:rPr sz="1900">
                <a:solidFill>
                  <a:srgbClr val="161B26"/>
                </a:solidFill>
                <a:latin typeface="Arial"/>
              </a:rPr>
              <a:t>kubectl auth can-i &lt;verb&gt; &lt;resource&gt; --as=&lt;identity&gt; tests permissions without impersonating.</a:t>
            </a:r>
          </a:p>
          <a:p>
            <a:pPr>
              <a:spcBef>
                <a:spcPts val="0"/>
              </a:spcBef>
              <a:spcAft>
                <a:spcPts val="1000"/>
              </a:spcAft>
            </a:pPr>
            <a:r>
              <a:rPr sz="1900" b="1">
                <a:solidFill>
                  <a:srgbClr val="1F6FEB"/>
                </a:solidFill>
                <a:latin typeface="Arial"/>
              </a:rPr>
              <a:t>•  </a:t>
            </a:r>
            <a:r>
              <a:rPr sz="1900">
                <a:solidFill>
                  <a:srgbClr val="161B26"/>
                </a:solidFill>
                <a:latin typeface="Arial"/>
              </a:rPr>
              <a:t>Check the ServiceAccount's RoleBinding: kubectl get rolebindings,clusterrolebindings -A -o wide.</a:t>
            </a:r>
          </a:p>
          <a:p>
            <a:pPr>
              <a:spcBef>
                <a:spcPts val="0"/>
              </a:spcBef>
              <a:spcAft>
                <a:spcPts val="1000"/>
              </a:spcAft>
            </a:pPr>
            <a:r>
              <a:rPr sz="1900" b="1">
                <a:solidFill>
                  <a:srgbClr val="1F6FEB"/>
                </a:solidFill>
                <a:latin typeface="Arial"/>
              </a:rPr>
              <a:t>•  </a:t>
            </a:r>
            <a:r>
              <a:rPr sz="1900">
                <a:solidFill>
                  <a:srgbClr val="161B26"/>
                </a:solidFill>
                <a:latin typeface="Arial"/>
              </a:rPr>
              <a:t>Common mistake: Role + ClusterRoleBinding instead of Role + RoleBinding — access is then cluster-wide.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268</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SCHEDULING DEBUG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Failures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Pod stuck in Pending: kubectl describe pod → Events → 'Insufficient cpu/memory' or 'no nodes match'.</a:t>
            </a:r>
          </a:p>
          <a:p>
            <a:pPr>
              <a:spcBef>
                <a:spcPts val="0"/>
              </a:spcBef>
              <a:spcAft>
                <a:spcPts val="1000"/>
              </a:spcAft>
            </a:pPr>
            <a:r>
              <a:rPr sz="1900" b="1">
                <a:solidFill>
                  <a:srgbClr val="1F6FEB"/>
                </a:solidFill>
                <a:latin typeface="Arial"/>
              </a:rPr>
              <a:t>•  </a:t>
            </a:r>
            <a:r>
              <a:rPr sz="1900">
                <a:solidFill>
                  <a:srgbClr val="161B26"/>
                </a:solidFill>
                <a:latin typeface="Arial"/>
              </a:rPr>
              <a:t>Taint check: kubectl describe node &lt;n&gt; | grep Taint — pod needs a matching toleration.</a:t>
            </a:r>
          </a:p>
          <a:p>
            <a:pPr>
              <a:spcBef>
                <a:spcPts val="0"/>
              </a:spcBef>
              <a:spcAft>
                <a:spcPts val="1000"/>
              </a:spcAft>
            </a:pPr>
            <a:r>
              <a:rPr sz="1900" b="1">
                <a:solidFill>
                  <a:srgbClr val="1F6FEB"/>
                </a:solidFill>
                <a:latin typeface="Arial"/>
              </a:rPr>
              <a:t>•  </a:t>
            </a:r>
            <a:r>
              <a:rPr sz="1900">
                <a:solidFill>
                  <a:srgbClr val="161B26"/>
                </a:solidFill>
                <a:latin typeface="Arial"/>
              </a:rPr>
              <a:t>nodeSelector / nodeAffinity mismatch: compare spec.nodeSelector with actual node labels.</a:t>
            </a:r>
          </a:p>
          <a:p>
            <a:pPr>
              <a:spcBef>
                <a:spcPts val="0"/>
              </a:spcBef>
              <a:spcAft>
                <a:spcPts val="1000"/>
              </a:spcAft>
            </a:pPr>
            <a:r>
              <a:rPr sz="1900" b="1">
                <a:solidFill>
                  <a:srgbClr val="1F6FEB"/>
                </a:solidFill>
                <a:latin typeface="Arial"/>
              </a:rPr>
              <a:t>•  </a:t>
            </a:r>
            <a:r>
              <a:rPr sz="1900">
                <a:solidFill>
                  <a:srgbClr val="161B26"/>
                </a:solidFill>
                <a:latin typeface="Arial"/>
              </a:rPr>
              <a:t>Unschedulable node: kubectl get nodes — NotReady or SchedulingDisabled blocks all new pods.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269</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4 · RBAC &amp; SCHEDULING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RBAC (403 Forbidden) and Scheduling Failures (Pending Pod)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31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RBAC and scheduling troubleshooting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Diagnose and fix two of the most common CKA exam question types: a 403 Forbidden error caused by a missing ClusterRoleBinding, and a pod stuck in Pending due to a scheduling constraint (taint, node selector, or resource exhaustion).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SA + pod that fails with Forbidden, diagnose with auth can-i, add missing binding. Create pod that is Pending, diagnose with kubectl describe, fix constraint.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run · kubectl describe · » kubectl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RBAC (403 Forbidden) and Scheduling Failures (Pending Pod)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RBAC: diagnose 403 Forbidden</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serviceaccount dev-sa</a:t>
            </a:r>
          </a:p>
          <a:p>
            <a:pPr>
              <a:spcBef>
                <a:spcPts val="0"/>
              </a:spcBef>
              <a:spcAft>
                <a:spcPts val="0"/>
              </a:spcAft>
            </a:pPr>
            <a:r>
              <a:rPr sz="1050">
                <a:solidFill>
                  <a:srgbClr val="161B26"/>
                </a:solidFill>
                <a:latin typeface="Consolas"/>
              </a:rPr>
              <a:t># Pod using dev-sa attempts to list pods:</a:t>
            </a:r>
          </a:p>
          <a:p>
            <a:pPr>
              <a:spcBef>
                <a:spcPts val="0"/>
              </a:spcBef>
              <a:spcAft>
                <a:spcPts val="0"/>
              </a:spcAft>
            </a:pPr>
            <a:r>
              <a:rPr sz="1050">
                <a:solidFill>
                  <a:srgbClr val="161B26"/>
                </a:solidFill>
                <a:latin typeface="Consolas"/>
              </a:rPr>
              <a:t>kubectl exec sa-pod -- kubectl get pods</a:t>
            </a:r>
          </a:p>
          <a:p>
            <a:pPr>
              <a:spcBef>
                <a:spcPts val="0"/>
              </a:spcBef>
              <a:spcAft>
                <a:spcPts val="0"/>
              </a:spcAft>
            </a:pPr>
            <a:r>
              <a:rPr sz="1050">
                <a:solidFill>
                  <a:srgbClr val="161B26"/>
                </a:solidFill>
                <a:latin typeface="Consolas"/>
              </a:rPr>
              <a:t># Error from server (Forbidden)</a:t>
            </a:r>
          </a:p>
          <a:p>
            <a:pPr>
              <a:spcBef>
                <a:spcPts val="0"/>
              </a:spcBef>
              <a:spcAft>
                <a:spcPts val="0"/>
              </a:spcAft>
            </a:pPr>
            <a:r>
              <a:rPr sz="1050">
                <a:solidFill>
                  <a:srgbClr val="161B26"/>
                </a:solidFill>
                <a:latin typeface="Consolas"/>
              </a:rPr>
              <a:t>kubectl auth can-i list pods --as=system:serviceaccount:default:dev-sa</a:t>
            </a:r>
          </a:p>
          <a:p>
            <a:pPr>
              <a:spcBef>
                <a:spcPts val="0"/>
              </a:spcBef>
              <a:spcAft>
                <a:spcPts val="0"/>
              </a:spcAft>
            </a:pPr>
            <a:r>
              <a:rPr sz="1050">
                <a:solidFill>
                  <a:srgbClr val="161B26"/>
                </a:solidFill>
                <a:latin typeface="Consolas"/>
              </a:rPr>
              <a:t># no</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Fix: create RoleBinding</a:t>
            </a:r>
          </a:p>
        </p:txBody>
      </p:sp>
      <p:sp>
        <p:nvSpPr>
          <p:cNvPr id="12" name="Rounded Rectangle 11"/>
          <p:cNvSpPr/>
          <p:nvPr/>
        </p:nvSpPr>
        <p:spPr>
          <a:xfrm>
            <a:off x="777240" y="3913632"/>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clusterrolebinding dev-sa-view \</a:t>
            </a:r>
          </a:p>
          <a:p>
            <a:pPr>
              <a:spcBef>
                <a:spcPts val="0"/>
              </a:spcBef>
              <a:spcAft>
                <a:spcPts val="0"/>
              </a:spcAft>
            </a:pPr>
            <a:r>
              <a:rPr sz="1050">
                <a:solidFill>
                  <a:srgbClr val="161B26"/>
                </a:solidFill>
                <a:latin typeface="Consolas"/>
              </a:rPr>
              <a:t>  --clusterrole=view \</a:t>
            </a:r>
          </a:p>
          <a:p>
            <a:pPr>
              <a:spcBef>
                <a:spcPts val="0"/>
              </a:spcBef>
              <a:spcAft>
                <a:spcPts val="0"/>
              </a:spcAft>
            </a:pPr>
            <a:r>
              <a:rPr sz="1050">
                <a:solidFill>
                  <a:srgbClr val="161B26"/>
                </a:solidFill>
                <a:latin typeface="Consolas"/>
              </a:rPr>
              <a:t>  --serviceaccount=default:dev-sa</a:t>
            </a:r>
          </a:p>
          <a:p>
            <a:pPr>
              <a:spcBef>
                <a:spcPts val="0"/>
              </a:spcBef>
              <a:spcAft>
                <a:spcPts val="0"/>
              </a:spcAft>
            </a:pPr>
            <a:r>
              <a:rPr sz="1050">
                <a:solidFill>
                  <a:srgbClr val="161B26"/>
                </a:solidFill>
                <a:latin typeface="Consolas"/>
              </a:rPr>
              <a:t>kubectl auth can-i list pods --as=system:serviceaccount:default:dev-sa</a:t>
            </a:r>
          </a:p>
          <a:p>
            <a:pPr>
              <a:spcBef>
                <a:spcPts val="0"/>
              </a:spcBef>
              <a:spcAft>
                <a:spcPts val="0"/>
              </a:spcAft>
            </a:pPr>
            <a:r>
              <a:rPr sz="1050">
                <a:solidFill>
                  <a:srgbClr val="161B26"/>
                </a:solidFill>
                <a:latin typeface="Consolas"/>
              </a:rPr>
              <a:t># yes</a:t>
            </a:r>
          </a:p>
          <a:p>
            <a:pPr>
              <a:spcBef>
                <a:spcPts val="0"/>
              </a:spcBef>
              <a:spcAft>
                <a:spcPts val="0"/>
              </a:spcAft>
            </a:pPr>
            <a:r>
              <a:rPr sz="1050">
                <a:solidFill>
                  <a:srgbClr val="161B26"/>
                </a:solidFill>
                <a:latin typeface="Consolas"/>
              </a:rPr>
              <a:t>kubectl exec sa-pod -- kubectl get pods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271</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RBAC (403 Forbidden) and Scheduling Failures (Pending Pod)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Scheduling: diagnose Pending pod</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pending-pod --image=nginx</a:t>
            </a:r>
          </a:p>
          <a:p>
            <a:pPr>
              <a:spcBef>
                <a:spcPts val="0"/>
              </a:spcBef>
              <a:spcAft>
                <a:spcPts val="0"/>
              </a:spcAft>
            </a:pPr>
            <a:r>
              <a:rPr sz="1050">
                <a:solidFill>
                  <a:srgbClr val="161B26"/>
                </a:solidFill>
                <a:latin typeface="Consolas"/>
              </a:rPr>
              <a:t>kubectl get pod pending-pod</a:t>
            </a:r>
          </a:p>
          <a:p>
            <a:pPr>
              <a:spcBef>
                <a:spcPts val="0"/>
              </a:spcBef>
              <a:spcAft>
                <a:spcPts val="0"/>
              </a:spcAft>
            </a:pPr>
            <a:r>
              <a:rPr sz="1050">
                <a:solidFill>
                  <a:srgbClr val="161B26"/>
                </a:solidFill>
                <a:latin typeface="Consolas"/>
              </a:rPr>
              <a:t># Pending</a:t>
            </a:r>
          </a:p>
          <a:p>
            <a:pPr>
              <a:spcBef>
                <a:spcPts val="0"/>
              </a:spcBef>
              <a:spcAft>
                <a:spcPts val="0"/>
              </a:spcAft>
            </a:pPr>
            <a:r>
              <a:rPr sz="1050">
                <a:solidFill>
                  <a:srgbClr val="161B26"/>
                </a:solidFill>
                <a:latin typeface="Consolas"/>
              </a:rPr>
              <a:t>kubectl describe pod pending-pod | grep -A20 Events</a:t>
            </a:r>
          </a:p>
          <a:p>
            <a:pPr>
              <a:spcBef>
                <a:spcPts val="0"/>
              </a:spcBef>
              <a:spcAft>
                <a:spcPts val="0"/>
              </a:spcAft>
            </a:pPr>
            <a:r>
              <a:rPr sz="1050">
                <a:solidFill>
                  <a:srgbClr val="161B26"/>
                </a:solidFill>
                <a:latin typeface="Consolas"/>
              </a:rPr>
              <a:t># Look for: Insufficient cpu, node(s) had taint, MatchNodeSelector</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Fix scheduling constraints</a:t>
            </a:r>
          </a:p>
        </p:txBody>
      </p:sp>
      <p:sp>
        <p:nvSpPr>
          <p:cNvPr id="12" name="Rounded Rectangle 11"/>
          <p:cNvSpPr/>
          <p:nvPr/>
        </p:nvSpPr>
        <p:spPr>
          <a:xfrm>
            <a:off x="777240" y="3726179"/>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Taint causing failure:</a:t>
            </a:r>
          </a:p>
          <a:p>
            <a:pPr>
              <a:spcBef>
                <a:spcPts val="0"/>
              </a:spcBef>
              <a:spcAft>
                <a:spcPts val="0"/>
              </a:spcAft>
            </a:pPr>
            <a:r>
              <a:rPr sz="1050">
                <a:solidFill>
                  <a:srgbClr val="161B26"/>
                </a:solidFill>
                <a:latin typeface="Consolas"/>
              </a:rPr>
              <a:t>kubectl describe node worker01 | grep Taints</a:t>
            </a:r>
          </a:p>
          <a:p>
            <a:pPr>
              <a:spcBef>
                <a:spcPts val="0"/>
              </a:spcBef>
              <a:spcAft>
                <a:spcPts val="0"/>
              </a:spcAft>
            </a:pPr>
            <a:r>
              <a:rPr sz="1050">
                <a:solidFill>
                  <a:srgbClr val="161B26"/>
                </a:solidFill>
                <a:latin typeface="Consolas"/>
              </a:rPr>
              <a:t>kubectl taint node worker01 &lt;key&gt;-</a:t>
            </a:r>
          </a:p>
          <a:p>
            <a:pPr>
              <a:spcBef>
                <a:spcPts val="0"/>
              </a:spcBef>
              <a:spcAft>
                <a:spcPts val="0"/>
              </a:spcAft>
            </a:pPr>
            <a:r>
              <a:rPr sz="1050">
                <a:solidFill>
                  <a:srgbClr val="161B26"/>
                </a:solidFill>
                <a:latin typeface="Consolas"/>
              </a:rPr>
              <a:t># Remove taint</a:t>
            </a:r>
          </a:p>
          <a:p>
            <a:pPr>
              <a:spcBef>
                <a:spcPts val="0"/>
              </a:spcBef>
              <a:spcAft>
                <a:spcPts val="0"/>
              </a:spcAft>
            </a:pPr>
            <a:r>
              <a:rPr sz="1050">
                <a:solidFill>
                  <a:srgbClr val="161B26"/>
                </a:solidFill>
                <a:latin typeface="Consolas"/>
              </a:rPr>
              <a:t># Or add toleration to pod:</a:t>
            </a:r>
          </a:p>
          <a:p>
            <a:pPr>
              <a:spcBef>
                <a:spcPts val="0"/>
              </a:spcBef>
              <a:spcAft>
                <a:spcPts val="0"/>
              </a:spcAft>
            </a:pPr>
            <a:r>
              <a:rPr sz="1050">
                <a:solidFill>
                  <a:srgbClr val="161B26"/>
                </a:solidFill>
                <a:latin typeface="Consolas"/>
              </a:rPr>
              <a:t>tolerations:</a:t>
            </a:r>
          </a:p>
          <a:p>
            <a:pPr>
              <a:spcBef>
                <a:spcPts val="0"/>
              </a:spcBef>
              <a:spcAft>
                <a:spcPts val="0"/>
              </a:spcAft>
            </a:pPr>
            <a:r>
              <a:rPr sz="1050">
                <a:solidFill>
                  <a:srgbClr val="161B26"/>
                </a:solidFill>
                <a:latin typeface="Consolas"/>
              </a:rPr>
              <a:t>- key: &lt;key&gt;</a:t>
            </a:r>
          </a:p>
          <a:p>
            <a:pPr>
              <a:spcBef>
                <a:spcPts val="0"/>
              </a:spcBef>
              <a:spcAft>
                <a:spcPts val="0"/>
              </a:spcAft>
            </a:pPr>
            <a:r>
              <a:rPr sz="1050">
                <a:solidFill>
                  <a:srgbClr val="161B26"/>
                </a:solidFill>
                <a:latin typeface="Consolas"/>
              </a:rPr>
              <a:t>  operator: Exists</a:t>
            </a:r>
          </a:p>
          <a:p>
            <a:pPr>
              <a:spcBef>
                <a:spcPts val="0"/>
              </a:spcBef>
              <a:spcAft>
                <a:spcPts val="0"/>
              </a:spcAft>
            </a:pPr>
            <a:r>
              <a:rPr sz="1050">
                <a:solidFill>
                  <a:srgbClr val="161B26"/>
                </a:solidFill>
                <a:latin typeface="Consolas"/>
              </a:rPr>
              <a:t>  effect: NoSchedule</a:t>
            </a:r>
          </a:p>
          <a:p>
            <a:pPr>
              <a:spcBef>
                <a:spcPts val="0"/>
              </a:spcBef>
              <a:spcAft>
                <a:spcPts val="0"/>
              </a:spcAft>
            </a:pPr>
            <a:r>
              <a:rPr sz="1050">
                <a:solidFill>
                  <a:srgbClr val="161B26"/>
                </a:solidFill>
                <a:latin typeface="Consolas"/>
              </a:rPr>
              <a:t>kubectl get pod pending-pod -o wide</a:t>
            </a:r>
          </a:p>
          <a:p>
            <a:pPr>
              <a:spcBef>
                <a:spcPts val="0"/>
              </a:spcBef>
              <a:spcAft>
                <a:spcPts val="0"/>
              </a:spcAft>
            </a:pPr>
            <a:r>
              <a:rPr sz="1050">
                <a:solidFill>
                  <a:srgbClr val="161B26"/>
                </a:solidFill>
                <a:latin typeface="Consolas"/>
              </a:rPr>
              <a:t># Now Running</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272</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RBAC (403 Forbidden) and Scheduling Failures (Pending Pod)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kubectl describe pod is ALWAYS the first command for a Pending pod -- Events shows exactly why. kubectl auth can-i --as is the fastest way to test what a ServiceAccount can do.</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273</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RBAC (403 Forbidden) and Scheduling Failures (Pending Pod)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adding ClusterRoleBinding: SA can list pods, no Forbidden error. After fixing taint/selector: pod transitions from Pending to Running.</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274</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COURSE COMPLETE</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All five CKA domains complete.</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Architecture · Workloads · Networking · Storage · Troubleshooting.</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275</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621792"/>
            <a:ext cx="109728" cy="594360"/>
          </a:xfrm>
          <a:prstGeom prst="rect">
            <a:avLst/>
          </a:prstGeom>
          <a:solidFill>
            <a:srgbClr val="2563EB"/>
          </a:solidFill>
          <a:ln w="889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828800" cy="201168"/>
          </a:xfrm>
          <a:prstGeom prst="rect">
            <a:avLst/>
          </a:prstGeom>
          <a:noFill/>
        </p:spPr>
        <p:txBody>
          <a:bodyPr wrap="none" lIns="0" rIns="0" tIns="0" bIns="0">
            <a:spAutoFit/>
          </a:bodyPr>
          <a:lstStyle/>
          <a:p>
            <a:pPr algn="l"/>
            <a:r>
              <a:rPr sz="1450" b="1">
                <a:solidFill>
                  <a:srgbClr val="2563EB"/>
                </a:solidFill>
                <a:latin typeface="Arial"/>
              </a:rPr>
              <a:t>PRACTICE EXAM</a:t>
            </a:r>
          </a:p>
        </p:txBody>
      </p:sp>
      <p:sp>
        <p:nvSpPr>
          <p:cNvPr id="5" name="TextBox 4"/>
          <p:cNvSpPr txBox="1"/>
          <p:nvPr/>
        </p:nvSpPr>
        <p:spPr>
          <a:xfrm>
            <a:off x="731520" y="914400"/>
            <a:ext cx="8595360" cy="411480"/>
          </a:xfrm>
          <a:prstGeom prst="rect">
            <a:avLst/>
          </a:prstGeom>
          <a:noFill/>
        </p:spPr>
        <p:txBody>
          <a:bodyPr wrap="none" lIns="0" rIns="0" tIns="0" bIns="0">
            <a:spAutoFit/>
          </a:bodyPr>
          <a:lstStyle/>
          <a:p>
            <a:pPr algn="l"/>
            <a:r>
              <a:rPr sz="2750" b="1">
                <a:solidFill>
                  <a:srgbClr val="111827"/>
                </a:solidFill>
                <a:latin typeface="Arial"/>
              </a:rPr>
              <a:t>Take the Online CKA Practice Exams</a:t>
            </a:r>
          </a:p>
        </p:txBody>
      </p:sp>
      <p:sp>
        <p:nvSpPr>
          <p:cNvPr id="6" name="Rectangle 5"/>
          <p:cNvSpPr/>
          <p:nvPr/>
        </p:nvSpPr>
        <p:spPr>
          <a:xfrm>
            <a:off x="731520" y="1536192"/>
            <a:ext cx="10561320"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965960"/>
            <a:ext cx="50292" cy="50292"/>
          </a:xfrm>
          <a:prstGeom prst="ellipse">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874519"/>
            <a:ext cx="4169663" cy="512064"/>
          </a:xfrm>
          <a:prstGeom prst="rect">
            <a:avLst/>
          </a:prstGeom>
          <a:noFill/>
        </p:spPr>
        <p:txBody>
          <a:bodyPr wrap="none" lIns="0" rIns="0" tIns="0" bIns="0">
            <a:spAutoFit/>
          </a:bodyPr>
          <a:lstStyle/>
          <a:p>
            <a:pPr algn="l"/>
            <a:r>
              <a:rPr sz="1260" b="0">
                <a:solidFill>
                  <a:srgbClr val="111827"/>
                </a:solidFill>
                <a:latin typeface="Arial"/>
              </a:rPr>
              <a:t>Reinforce all five CKA domains with realistic,
exam-style tasks before exam day.</a:t>
            </a:r>
          </a:p>
        </p:txBody>
      </p:sp>
      <p:sp>
        <p:nvSpPr>
          <p:cNvPr id="9" name="Oval 8"/>
          <p:cNvSpPr/>
          <p:nvPr/>
        </p:nvSpPr>
        <p:spPr>
          <a:xfrm>
            <a:off x="731520" y="2660903"/>
            <a:ext cx="50292" cy="50292"/>
          </a:xfrm>
          <a:prstGeom prst="ellipse">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569463"/>
            <a:ext cx="4169663" cy="512064"/>
          </a:xfrm>
          <a:prstGeom prst="rect">
            <a:avLst/>
          </a:prstGeom>
          <a:noFill/>
        </p:spPr>
        <p:txBody>
          <a:bodyPr wrap="none" lIns="0" rIns="0" tIns="0" bIns="0">
            <a:spAutoFit/>
          </a:bodyPr>
          <a:lstStyle/>
          <a:p>
            <a:pPr algn="l"/>
            <a:r>
              <a:rPr sz="1260" b="0">
                <a:solidFill>
                  <a:srgbClr val="111827"/>
                </a:solidFill>
                <a:latin typeface="Arial"/>
              </a:rPr>
              <a:t>3 full practice exams · CKA-style questions ·
120-minute timer · 66% pass mark.</a:t>
            </a:r>
          </a:p>
        </p:txBody>
      </p:sp>
      <p:sp>
        <p:nvSpPr>
          <p:cNvPr id="11" name="Oval 10"/>
          <p:cNvSpPr/>
          <p:nvPr/>
        </p:nvSpPr>
        <p:spPr>
          <a:xfrm>
            <a:off x="731520" y="3355847"/>
            <a:ext cx="50292" cy="50292"/>
          </a:xfrm>
          <a:prstGeom prst="ellipse">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3264407"/>
            <a:ext cx="4169663" cy="512064"/>
          </a:xfrm>
          <a:prstGeom prst="rect">
            <a:avLst/>
          </a:prstGeom>
          <a:noFill/>
        </p:spPr>
        <p:txBody>
          <a:bodyPr wrap="none" lIns="0" rIns="0" tIns="0" bIns="0">
            <a:spAutoFit/>
          </a:bodyPr>
          <a:lstStyle/>
          <a:p>
            <a:pPr algn="l"/>
            <a:r>
              <a:rPr sz="1260" b="0">
                <a:solidFill>
                  <a:srgbClr val="111827"/>
                </a:solidFill>
                <a:latin typeface="Arial"/>
              </a:rPr>
              <a:t>Practice mode shows answers and explanations;
Exam mode mirrors the real timed test.</a:t>
            </a:r>
          </a:p>
        </p:txBody>
      </p:sp>
      <p:sp>
        <p:nvSpPr>
          <p:cNvPr id="13" name="Oval 12"/>
          <p:cNvSpPr/>
          <p:nvPr/>
        </p:nvSpPr>
        <p:spPr>
          <a:xfrm>
            <a:off x="731520" y="4050791"/>
            <a:ext cx="50292" cy="50292"/>
          </a:xfrm>
          <a:prstGeom prst="ellipse">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3959351"/>
            <a:ext cx="4169663" cy="512064"/>
          </a:xfrm>
          <a:prstGeom prst="rect">
            <a:avLst/>
          </a:prstGeom>
          <a:noFill/>
        </p:spPr>
        <p:txBody>
          <a:bodyPr wrap="none" lIns="0" rIns="0" tIns="0" bIns="0">
            <a:spAutoFit/>
          </a:bodyPr>
          <a:lstStyle/>
          <a:p>
            <a:pPr algn="l"/>
            <a:r>
              <a:rPr sz="1260" b="0">
                <a:solidFill>
                  <a:srgbClr val="111827"/>
                </a:solidFill>
                <a:latin typeface="Arial"/>
              </a:rPr>
              <a:t>Start free with the practice teaser, then sign in
to unlock the full bundle.</a:t>
            </a:r>
          </a:p>
        </p:txBody>
      </p:sp>
      <p:sp>
        <p:nvSpPr>
          <p:cNvPr id="15" name="TextBox 14"/>
          <p:cNvSpPr txBox="1"/>
          <p:nvPr/>
        </p:nvSpPr>
        <p:spPr>
          <a:xfrm>
            <a:off x="731520" y="4663440"/>
            <a:ext cx="3291840" cy="201168"/>
          </a:xfrm>
          <a:prstGeom prst="rect">
            <a:avLst/>
          </a:prstGeom>
          <a:noFill/>
        </p:spPr>
        <p:txBody>
          <a:bodyPr wrap="none" lIns="0" rIns="0" tIns="0" bIns="0">
            <a:spAutoFit/>
          </a:bodyPr>
          <a:lstStyle/>
          <a:p>
            <a:pPr algn="l"/>
            <a:r>
              <a:rPr sz="1420" b="1">
                <a:solidFill>
                  <a:srgbClr val="111827"/>
                </a:solidFill>
                <a:latin typeface="Arial"/>
              </a:rPr>
              <a:t>Sign up and practise at:</a:t>
            </a:r>
          </a:p>
        </p:txBody>
      </p:sp>
      <p:sp>
        <p:nvSpPr>
          <p:cNvPr id="16" name="TextBox 15"/>
          <p:cNvSpPr txBox="1"/>
          <p:nvPr/>
        </p:nvSpPr>
        <p:spPr>
          <a:xfrm>
            <a:off x="731520" y="4919472"/>
            <a:ext cx="4343400" cy="502920"/>
          </a:xfrm>
          <a:prstGeom prst="rect">
            <a:avLst/>
          </a:prstGeom>
          <a:noFill/>
        </p:spPr>
        <p:txBody>
          <a:bodyPr wrap="none" lIns="0" rIns="0" tIns="0" bIns="0">
            <a:spAutoFit/>
          </a:bodyPr>
          <a:lstStyle/>
          <a:p>
            <a:pPr algn="l"/>
            <a:r>
              <a:rPr sz="1360" b="1">
                <a:solidFill>
                  <a:srgbClr val="2563EB"/>
                </a:solidFill>
                <a:latin typeface="Arial"/>
              </a:rPr>
              <a:t>exams.tertiaryinfotech.com/practice-
exams/linuxfoundation/linuxfoundation-cka</a:t>
            </a:r>
          </a:p>
        </p:txBody>
      </p:sp>
      <p:sp>
        <p:nvSpPr>
          <p:cNvPr id="17" name="Rectangle 16"/>
          <p:cNvSpPr/>
          <p:nvPr/>
        </p:nvSpPr>
        <p:spPr>
          <a:xfrm>
            <a:off x="6080760" y="1874519"/>
            <a:ext cx="4773168" cy="4050791"/>
          </a:xfrm>
          <a:prstGeom prst="rect">
            <a:avLst/>
          </a:prstGeom>
          <a:solidFill>
            <a:srgbClr val="FFFFFF"/>
          </a:solidFill>
          <a:ln w="889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0" y="1984248"/>
            <a:ext cx="182880" cy="182880"/>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70955" y="2007107"/>
            <a:ext cx="64008" cy="64008"/>
          </a:xfrm>
          <a:prstGeom prst="rect">
            <a:avLst/>
          </a:prstGeom>
          <a:noFill/>
        </p:spPr>
        <p:txBody>
          <a:bodyPr wrap="none" lIns="0" rIns="0" tIns="0" bIns="0">
            <a:spAutoFit/>
          </a:bodyPr>
          <a:lstStyle/>
          <a:p>
            <a:pPr algn="ctr"/>
            <a:r>
              <a:rPr sz="620" b="1">
                <a:solidFill>
                  <a:srgbClr val="FFFFFF"/>
                </a:solidFill>
                <a:latin typeface="Arial"/>
              </a:rPr>
              <a:t>T</a:t>
            </a:r>
          </a:p>
        </p:txBody>
      </p:sp>
      <p:sp>
        <p:nvSpPr>
          <p:cNvPr id="20" name="TextBox 19"/>
          <p:cNvSpPr txBox="1"/>
          <p:nvPr/>
        </p:nvSpPr>
        <p:spPr>
          <a:xfrm>
            <a:off x="6464808" y="2011679"/>
            <a:ext cx="1051560" cy="146304"/>
          </a:xfrm>
          <a:prstGeom prst="rect">
            <a:avLst/>
          </a:prstGeom>
          <a:noFill/>
        </p:spPr>
        <p:txBody>
          <a:bodyPr wrap="none" lIns="0" rIns="0" tIns="0" bIns="0">
            <a:spAutoFit/>
          </a:bodyPr>
          <a:lstStyle/>
          <a:p>
            <a:pPr algn="l"/>
            <a:r>
              <a:rPr sz="560" b="1">
                <a:solidFill>
                  <a:srgbClr val="111827"/>
                </a:solidFill>
                <a:latin typeface="Arial"/>
              </a:rPr>
              <a:t>Tertiary Exams</a:t>
            </a:r>
          </a:p>
        </p:txBody>
      </p:sp>
      <p:sp>
        <p:nvSpPr>
          <p:cNvPr id="21" name="TextBox 20"/>
          <p:cNvSpPr txBox="1"/>
          <p:nvPr/>
        </p:nvSpPr>
        <p:spPr>
          <a:xfrm>
            <a:off x="7708392" y="2029967"/>
            <a:ext cx="512064" cy="91440"/>
          </a:xfrm>
          <a:prstGeom prst="rect">
            <a:avLst/>
          </a:prstGeom>
          <a:noFill/>
        </p:spPr>
        <p:txBody>
          <a:bodyPr wrap="none" lIns="0" rIns="0" tIns="0" bIns="0">
            <a:spAutoFit/>
          </a:bodyPr>
          <a:lstStyle/>
          <a:p>
            <a:pPr algn="ctr"/>
            <a:r>
              <a:rPr sz="400" b="0">
                <a:solidFill>
                  <a:srgbClr val="4B5563"/>
                </a:solidFill>
                <a:latin typeface="Arial"/>
              </a:rPr>
              <a:t>Practice Exams</a:t>
            </a:r>
          </a:p>
        </p:txBody>
      </p:sp>
      <p:sp>
        <p:nvSpPr>
          <p:cNvPr id="22" name="TextBox 21"/>
          <p:cNvSpPr txBox="1"/>
          <p:nvPr/>
        </p:nvSpPr>
        <p:spPr>
          <a:xfrm>
            <a:off x="8348472" y="2029967"/>
            <a:ext cx="347472" cy="91440"/>
          </a:xfrm>
          <a:prstGeom prst="rect">
            <a:avLst/>
          </a:prstGeom>
          <a:noFill/>
        </p:spPr>
        <p:txBody>
          <a:bodyPr wrap="none" lIns="0" rIns="0" tIns="0" bIns="0">
            <a:spAutoFit/>
          </a:bodyPr>
          <a:lstStyle/>
          <a:p>
            <a:pPr algn="ctr"/>
            <a:r>
              <a:rPr sz="400" b="0">
                <a:solidFill>
                  <a:srgbClr val="4B5563"/>
                </a:solidFill>
                <a:latin typeface="Arial"/>
              </a:rPr>
              <a:t>Vendors</a:t>
            </a:r>
          </a:p>
        </p:txBody>
      </p:sp>
      <p:sp>
        <p:nvSpPr>
          <p:cNvPr id="23" name="TextBox 22"/>
          <p:cNvSpPr txBox="1"/>
          <p:nvPr/>
        </p:nvSpPr>
        <p:spPr>
          <a:xfrm>
            <a:off x="8869680" y="2029967"/>
            <a:ext cx="384048" cy="91440"/>
          </a:xfrm>
          <a:prstGeom prst="rect">
            <a:avLst/>
          </a:prstGeom>
          <a:noFill/>
        </p:spPr>
        <p:txBody>
          <a:bodyPr wrap="none" lIns="0" rIns="0" tIns="0" bIns="0">
            <a:spAutoFit/>
          </a:bodyPr>
          <a:lstStyle/>
          <a:p>
            <a:pPr algn="ctr"/>
            <a:r>
              <a:rPr sz="400" b="0">
                <a:solidFill>
                  <a:srgbClr val="4B5563"/>
                </a:solidFill>
                <a:latin typeface="Arial"/>
              </a:rPr>
              <a:t>About Us</a:t>
            </a:r>
          </a:p>
        </p:txBody>
      </p:sp>
      <p:sp>
        <p:nvSpPr>
          <p:cNvPr id="24" name="Rounded Rectangle 23"/>
          <p:cNvSpPr/>
          <p:nvPr/>
        </p:nvSpPr>
        <p:spPr>
          <a:xfrm>
            <a:off x="10177272" y="1984248"/>
            <a:ext cx="384048" cy="164592"/>
          </a:xfrm>
          <a:prstGeom prst="roundRect">
            <a:avLst/>
          </a:prstGeom>
          <a:solidFill>
            <a:srgbClr val="2563EB"/>
          </a:solidFill>
          <a:ln w="889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22992" y="2013508"/>
            <a:ext cx="283464" cy="45720"/>
          </a:xfrm>
          <a:prstGeom prst="rect">
            <a:avLst/>
          </a:prstGeom>
          <a:noFill/>
        </p:spPr>
        <p:txBody>
          <a:bodyPr wrap="none" lIns="0" rIns="0" tIns="0" bIns="0">
            <a:spAutoFit/>
          </a:bodyPr>
          <a:lstStyle/>
          <a:p>
            <a:pPr algn="ctr"/>
            <a:r>
              <a:rPr sz="360" b="1">
                <a:solidFill>
                  <a:srgbClr val="FFFFFF"/>
                </a:solidFill>
                <a:latin typeface="Arial"/>
              </a:rPr>
              <a:t>Get started</a:t>
            </a:r>
          </a:p>
        </p:txBody>
      </p:sp>
      <p:sp>
        <p:nvSpPr>
          <p:cNvPr id="26" name="TextBox 25"/>
          <p:cNvSpPr txBox="1"/>
          <p:nvPr/>
        </p:nvSpPr>
        <p:spPr>
          <a:xfrm>
            <a:off x="6373368" y="2624327"/>
            <a:ext cx="2743200" cy="201168"/>
          </a:xfrm>
          <a:prstGeom prst="rect">
            <a:avLst/>
          </a:prstGeom>
          <a:noFill/>
        </p:spPr>
        <p:txBody>
          <a:bodyPr wrap="none" lIns="0" rIns="0" tIns="0" bIns="0">
            <a:spAutoFit/>
          </a:bodyPr>
          <a:lstStyle/>
          <a:p>
            <a:pPr algn="l"/>
            <a:r>
              <a:rPr sz="740" b="1">
                <a:solidFill>
                  <a:srgbClr val="111827"/>
                </a:solidFill>
                <a:latin typeface="Arial"/>
              </a:rPr>
              <a:t>Certified Kubernetes Administrator (CKA)</a:t>
            </a:r>
          </a:p>
        </p:txBody>
      </p:sp>
      <p:sp>
        <p:nvSpPr>
          <p:cNvPr id="27" name="TextBox 26"/>
          <p:cNvSpPr txBox="1"/>
          <p:nvPr/>
        </p:nvSpPr>
        <p:spPr>
          <a:xfrm>
            <a:off x="6373368" y="2880360"/>
            <a:ext cx="3063240" cy="228600"/>
          </a:xfrm>
          <a:prstGeom prst="rect">
            <a:avLst/>
          </a:prstGeom>
          <a:noFill/>
        </p:spPr>
        <p:txBody>
          <a:bodyPr wrap="none" lIns="0" rIns="0" tIns="0" bIns="0">
            <a:spAutoFit/>
          </a:bodyPr>
          <a:lstStyle/>
          <a:p>
            <a:pPr algn="l"/>
            <a:r>
              <a:rPr sz="480" b="0">
                <a:solidFill>
                  <a:srgbClr val="4B5563"/>
                </a:solidFill>
                <a:latin typeface="Arial"/>
              </a:rPr>
              <a:t>All 3 CKA practice exams in one bundle, covering all five CKA domains.</a:t>
            </a:r>
          </a:p>
        </p:txBody>
      </p:sp>
      <p:sp>
        <p:nvSpPr>
          <p:cNvPr id="28" name="Rounded Rectangle 27"/>
          <p:cNvSpPr/>
          <p:nvPr/>
        </p:nvSpPr>
        <p:spPr>
          <a:xfrm>
            <a:off x="6373368" y="3264408"/>
            <a:ext cx="896112" cy="411480"/>
          </a:xfrm>
          <a:prstGeom prst="round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4808" y="3355848"/>
            <a:ext cx="713232" cy="109728"/>
          </a:xfrm>
          <a:prstGeom prst="rect">
            <a:avLst/>
          </a:prstGeom>
          <a:noFill/>
        </p:spPr>
        <p:txBody>
          <a:bodyPr wrap="none" lIns="0" rIns="0" tIns="0" bIns="0">
            <a:spAutoFit/>
          </a:bodyPr>
          <a:lstStyle/>
          <a:p>
            <a:pPr algn="l"/>
            <a:r>
              <a:rPr sz="490" b="1">
                <a:solidFill>
                  <a:srgbClr val="111827"/>
                </a:solidFill>
                <a:latin typeface="Arial"/>
              </a:rPr>
              <a:t>Questions</a:t>
            </a:r>
          </a:p>
        </p:txBody>
      </p:sp>
      <p:sp>
        <p:nvSpPr>
          <p:cNvPr id="30" name="TextBox 29"/>
          <p:cNvSpPr txBox="1"/>
          <p:nvPr/>
        </p:nvSpPr>
        <p:spPr>
          <a:xfrm>
            <a:off x="6464808" y="3529584"/>
            <a:ext cx="713232" cy="182880"/>
          </a:xfrm>
          <a:prstGeom prst="rect">
            <a:avLst/>
          </a:prstGeom>
          <a:noFill/>
        </p:spPr>
        <p:txBody>
          <a:bodyPr wrap="none" lIns="0" rIns="0" tIns="0" bIns="0">
            <a:spAutoFit/>
          </a:bodyPr>
          <a:lstStyle/>
          <a:p>
            <a:pPr algn="l"/>
            <a:r>
              <a:rPr sz="440" b="0">
                <a:solidFill>
                  <a:srgbClr val="4B5563"/>
                </a:solidFill>
                <a:latin typeface="Arial"/>
              </a:rPr>
              <a:t>CKA-style tasks</a:t>
            </a:r>
          </a:p>
        </p:txBody>
      </p:sp>
      <p:sp>
        <p:nvSpPr>
          <p:cNvPr id="31" name="Rounded Rectangle 30"/>
          <p:cNvSpPr/>
          <p:nvPr/>
        </p:nvSpPr>
        <p:spPr>
          <a:xfrm>
            <a:off x="7379208" y="3264408"/>
            <a:ext cx="896112" cy="411480"/>
          </a:xfrm>
          <a:prstGeom prst="round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70648" y="3355848"/>
            <a:ext cx="713232" cy="109728"/>
          </a:xfrm>
          <a:prstGeom prst="rect">
            <a:avLst/>
          </a:prstGeom>
          <a:noFill/>
        </p:spPr>
        <p:txBody>
          <a:bodyPr wrap="none" lIns="0" rIns="0" tIns="0" bIns="0">
            <a:spAutoFit/>
          </a:bodyPr>
          <a:lstStyle/>
          <a:p>
            <a:pPr algn="l"/>
            <a:r>
              <a:rPr sz="490" b="1">
                <a:solidFill>
                  <a:srgbClr val="111827"/>
                </a:solidFill>
                <a:latin typeface="Arial"/>
              </a:rPr>
              <a:t>Duration</a:t>
            </a:r>
          </a:p>
        </p:txBody>
      </p:sp>
      <p:sp>
        <p:nvSpPr>
          <p:cNvPr id="33" name="TextBox 32"/>
          <p:cNvSpPr txBox="1"/>
          <p:nvPr/>
        </p:nvSpPr>
        <p:spPr>
          <a:xfrm>
            <a:off x="7470648" y="3529584"/>
            <a:ext cx="713232" cy="182880"/>
          </a:xfrm>
          <a:prstGeom prst="rect">
            <a:avLst/>
          </a:prstGeom>
          <a:noFill/>
        </p:spPr>
        <p:txBody>
          <a:bodyPr wrap="none" lIns="0" rIns="0" tIns="0" bIns="0">
            <a:spAutoFit/>
          </a:bodyPr>
          <a:lstStyle/>
          <a:p>
            <a:pPr algn="l"/>
            <a:r>
              <a:rPr sz="440" b="0">
                <a:solidFill>
                  <a:srgbClr val="4B5563"/>
                </a:solidFill>
                <a:latin typeface="Arial"/>
              </a:rPr>
              <a:t>120 min</a:t>
            </a:r>
          </a:p>
        </p:txBody>
      </p:sp>
      <p:sp>
        <p:nvSpPr>
          <p:cNvPr id="34" name="Rounded Rectangle 33"/>
          <p:cNvSpPr/>
          <p:nvPr/>
        </p:nvSpPr>
        <p:spPr>
          <a:xfrm>
            <a:off x="8385048" y="3264408"/>
            <a:ext cx="896112" cy="411480"/>
          </a:xfrm>
          <a:prstGeom prst="round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355848"/>
            <a:ext cx="713232" cy="109728"/>
          </a:xfrm>
          <a:prstGeom prst="rect">
            <a:avLst/>
          </a:prstGeom>
          <a:noFill/>
        </p:spPr>
        <p:txBody>
          <a:bodyPr wrap="none" lIns="0" rIns="0" tIns="0" bIns="0">
            <a:spAutoFit/>
          </a:bodyPr>
          <a:lstStyle/>
          <a:p>
            <a:pPr algn="l"/>
            <a:r>
              <a:rPr sz="490" b="1">
                <a:solidFill>
                  <a:srgbClr val="111827"/>
                </a:solidFill>
                <a:latin typeface="Arial"/>
              </a:rPr>
              <a:t>Pass score</a:t>
            </a:r>
          </a:p>
        </p:txBody>
      </p:sp>
      <p:sp>
        <p:nvSpPr>
          <p:cNvPr id="36" name="TextBox 35"/>
          <p:cNvSpPr txBox="1"/>
          <p:nvPr/>
        </p:nvSpPr>
        <p:spPr>
          <a:xfrm>
            <a:off x="8476488" y="3529584"/>
            <a:ext cx="713232" cy="182880"/>
          </a:xfrm>
          <a:prstGeom prst="rect">
            <a:avLst/>
          </a:prstGeom>
          <a:noFill/>
        </p:spPr>
        <p:txBody>
          <a:bodyPr wrap="none" lIns="0" rIns="0" tIns="0" bIns="0">
            <a:spAutoFit/>
          </a:bodyPr>
          <a:lstStyle/>
          <a:p>
            <a:pPr algn="l"/>
            <a:r>
              <a:rPr sz="440" b="0">
                <a:solidFill>
                  <a:srgbClr val="4B5563"/>
                </a:solidFill>
                <a:latin typeface="Arial"/>
              </a:rPr>
              <a:t>66%</a:t>
            </a:r>
          </a:p>
        </p:txBody>
      </p:sp>
      <p:sp>
        <p:nvSpPr>
          <p:cNvPr id="37" name="Rounded Rectangle 36"/>
          <p:cNvSpPr/>
          <p:nvPr/>
        </p:nvSpPr>
        <p:spPr>
          <a:xfrm>
            <a:off x="6373368" y="3813048"/>
            <a:ext cx="1417320" cy="694944"/>
          </a:xfrm>
          <a:prstGeom prst="round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64808" y="3904487"/>
            <a:ext cx="1234440" cy="109728"/>
          </a:xfrm>
          <a:prstGeom prst="rect">
            <a:avLst/>
          </a:prstGeom>
          <a:noFill/>
        </p:spPr>
        <p:txBody>
          <a:bodyPr wrap="none" lIns="0" rIns="0" tIns="0" bIns="0">
            <a:spAutoFit/>
          </a:bodyPr>
          <a:lstStyle/>
          <a:p>
            <a:pPr algn="l"/>
            <a:r>
              <a:rPr sz="490" b="1">
                <a:solidFill>
                  <a:srgbClr val="111827"/>
                </a:solidFill>
                <a:latin typeface="Arial"/>
              </a:rPr>
              <a:t>Practice mode</a:t>
            </a:r>
          </a:p>
        </p:txBody>
      </p:sp>
      <p:sp>
        <p:nvSpPr>
          <p:cNvPr id="39" name="TextBox 38"/>
          <p:cNvSpPr txBox="1"/>
          <p:nvPr/>
        </p:nvSpPr>
        <p:spPr>
          <a:xfrm>
            <a:off x="6464808" y="4078224"/>
            <a:ext cx="1234440" cy="182880"/>
          </a:xfrm>
          <a:prstGeom prst="rect">
            <a:avLst/>
          </a:prstGeom>
          <a:noFill/>
        </p:spPr>
        <p:txBody>
          <a:bodyPr wrap="none" lIns="0" rIns="0" tIns="0" bIns="0">
            <a:spAutoFit/>
          </a:bodyPr>
          <a:lstStyle/>
          <a:p>
            <a:pPr algn="l"/>
            <a:r>
              <a:rPr sz="440" b="0">
                <a:solidFill>
                  <a:srgbClr val="4B5563"/>
                </a:solidFill>
                <a:latin typeface="Arial"/>
              </a:rPr>
              <a:t>Answers and explanations after each question.</a:t>
            </a:r>
          </a:p>
        </p:txBody>
      </p:sp>
      <p:sp>
        <p:nvSpPr>
          <p:cNvPr id="40" name="Rounded Rectangle 39"/>
          <p:cNvSpPr/>
          <p:nvPr/>
        </p:nvSpPr>
        <p:spPr>
          <a:xfrm>
            <a:off x="7909560" y="3813048"/>
            <a:ext cx="1417320" cy="694944"/>
          </a:xfrm>
          <a:prstGeom prst="round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01000" y="3904487"/>
            <a:ext cx="1234440" cy="109728"/>
          </a:xfrm>
          <a:prstGeom prst="rect">
            <a:avLst/>
          </a:prstGeom>
          <a:noFill/>
        </p:spPr>
        <p:txBody>
          <a:bodyPr wrap="none" lIns="0" rIns="0" tIns="0" bIns="0">
            <a:spAutoFit/>
          </a:bodyPr>
          <a:lstStyle/>
          <a:p>
            <a:pPr algn="l"/>
            <a:r>
              <a:rPr sz="490" b="1">
                <a:solidFill>
                  <a:srgbClr val="111827"/>
                </a:solidFill>
                <a:latin typeface="Arial"/>
              </a:rPr>
              <a:t>Exam mode</a:t>
            </a:r>
          </a:p>
        </p:txBody>
      </p:sp>
      <p:sp>
        <p:nvSpPr>
          <p:cNvPr id="42" name="TextBox 41"/>
          <p:cNvSpPr txBox="1"/>
          <p:nvPr/>
        </p:nvSpPr>
        <p:spPr>
          <a:xfrm>
            <a:off x="8001000" y="4078224"/>
            <a:ext cx="1234440" cy="182880"/>
          </a:xfrm>
          <a:prstGeom prst="rect">
            <a:avLst/>
          </a:prstGeom>
          <a:noFill/>
        </p:spPr>
        <p:txBody>
          <a:bodyPr wrap="none" lIns="0" rIns="0" tIns="0" bIns="0">
            <a:spAutoFit/>
          </a:bodyPr>
          <a:lstStyle/>
          <a:p>
            <a:pPr algn="l"/>
            <a:r>
              <a:rPr sz="440" b="0">
                <a:solidFill>
                  <a:srgbClr val="4B5563"/>
                </a:solidFill>
                <a:latin typeface="Arial"/>
              </a:rPr>
              <a:t>Timed flow that mirrors the real exam.</a:t>
            </a:r>
          </a:p>
        </p:txBody>
      </p:sp>
      <p:sp>
        <p:nvSpPr>
          <p:cNvPr id="43" name="Rounded Rectangle 42"/>
          <p:cNvSpPr/>
          <p:nvPr/>
        </p:nvSpPr>
        <p:spPr>
          <a:xfrm>
            <a:off x="6373368" y="4690872"/>
            <a:ext cx="2953512" cy="914400"/>
          </a:xfrm>
          <a:prstGeom prst="round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92240" y="4837176"/>
            <a:ext cx="914400" cy="91440"/>
          </a:xfrm>
          <a:prstGeom prst="rect">
            <a:avLst/>
          </a:prstGeom>
          <a:noFill/>
        </p:spPr>
        <p:txBody>
          <a:bodyPr wrap="none" lIns="0" rIns="0" tIns="0" bIns="0">
            <a:spAutoFit/>
          </a:bodyPr>
          <a:lstStyle/>
          <a:p>
            <a:pPr algn="l"/>
            <a:r>
              <a:rPr sz="490" b="1">
                <a:solidFill>
                  <a:srgbClr val="111827"/>
                </a:solidFill>
                <a:latin typeface="Arial"/>
              </a:rPr>
              <a:t>Domains covered</a:t>
            </a:r>
          </a:p>
        </p:txBody>
      </p:sp>
      <p:sp>
        <p:nvSpPr>
          <p:cNvPr id="45" name="TextBox 44"/>
          <p:cNvSpPr txBox="1"/>
          <p:nvPr/>
        </p:nvSpPr>
        <p:spPr>
          <a:xfrm>
            <a:off x="6492240" y="5047488"/>
            <a:ext cx="1965960" cy="82296"/>
          </a:xfrm>
          <a:prstGeom prst="rect">
            <a:avLst/>
          </a:prstGeom>
          <a:noFill/>
        </p:spPr>
        <p:txBody>
          <a:bodyPr wrap="none" lIns="0" rIns="0" tIns="0" bIns="0">
            <a:spAutoFit/>
          </a:bodyPr>
          <a:lstStyle/>
          <a:p>
            <a:pPr algn="l"/>
            <a:r>
              <a:rPr sz="395" b="0">
                <a:solidFill>
                  <a:srgbClr val="4B5563"/>
                </a:solidFill>
                <a:latin typeface="Arial"/>
              </a:rPr>
              <a:t>Cluster Architecture &amp; Configuration</a:t>
            </a:r>
          </a:p>
        </p:txBody>
      </p:sp>
      <p:sp>
        <p:nvSpPr>
          <p:cNvPr id="46" name="TextBox 45"/>
          <p:cNvSpPr txBox="1"/>
          <p:nvPr/>
        </p:nvSpPr>
        <p:spPr>
          <a:xfrm>
            <a:off x="8869680" y="5047488"/>
            <a:ext cx="237744" cy="82296"/>
          </a:xfrm>
          <a:prstGeom prst="rect">
            <a:avLst/>
          </a:prstGeom>
          <a:noFill/>
        </p:spPr>
        <p:txBody>
          <a:bodyPr wrap="none" lIns="0" rIns="0" tIns="0" bIns="0">
            <a:spAutoFit/>
          </a:bodyPr>
          <a:lstStyle/>
          <a:p>
            <a:pPr algn="r"/>
            <a:r>
              <a:rPr sz="395" b="0">
                <a:solidFill>
                  <a:srgbClr val="4B5563"/>
                </a:solidFill>
                <a:latin typeface="Arial"/>
              </a:rPr>
              <a:t>25%</a:t>
            </a:r>
          </a:p>
        </p:txBody>
      </p:sp>
      <p:sp>
        <p:nvSpPr>
          <p:cNvPr id="47" name="TextBox 46"/>
          <p:cNvSpPr txBox="1"/>
          <p:nvPr/>
        </p:nvSpPr>
        <p:spPr>
          <a:xfrm>
            <a:off x="6492240" y="5166359"/>
            <a:ext cx="1965960" cy="82296"/>
          </a:xfrm>
          <a:prstGeom prst="rect">
            <a:avLst/>
          </a:prstGeom>
          <a:noFill/>
        </p:spPr>
        <p:txBody>
          <a:bodyPr wrap="none" lIns="0" rIns="0" tIns="0" bIns="0">
            <a:spAutoFit/>
          </a:bodyPr>
          <a:lstStyle/>
          <a:p>
            <a:pPr algn="l"/>
            <a:r>
              <a:rPr sz="395" b="0">
                <a:solidFill>
                  <a:srgbClr val="4B5563"/>
                </a:solidFill>
                <a:latin typeface="Arial"/>
              </a:rPr>
              <a:t>Workloads &amp; Scheduling</a:t>
            </a:r>
          </a:p>
        </p:txBody>
      </p:sp>
      <p:sp>
        <p:nvSpPr>
          <p:cNvPr id="48" name="TextBox 47"/>
          <p:cNvSpPr txBox="1"/>
          <p:nvPr/>
        </p:nvSpPr>
        <p:spPr>
          <a:xfrm>
            <a:off x="8869680" y="5166359"/>
            <a:ext cx="237744" cy="82296"/>
          </a:xfrm>
          <a:prstGeom prst="rect">
            <a:avLst/>
          </a:prstGeom>
          <a:noFill/>
        </p:spPr>
        <p:txBody>
          <a:bodyPr wrap="none" lIns="0" rIns="0" tIns="0" bIns="0">
            <a:spAutoFit/>
          </a:bodyPr>
          <a:lstStyle/>
          <a:p>
            <a:pPr algn="r"/>
            <a:r>
              <a:rPr sz="395" b="0">
                <a:solidFill>
                  <a:srgbClr val="4B5563"/>
                </a:solidFill>
                <a:latin typeface="Arial"/>
              </a:rPr>
              <a:t>15%</a:t>
            </a:r>
          </a:p>
        </p:txBody>
      </p:sp>
      <p:sp>
        <p:nvSpPr>
          <p:cNvPr id="49" name="TextBox 48"/>
          <p:cNvSpPr txBox="1"/>
          <p:nvPr/>
        </p:nvSpPr>
        <p:spPr>
          <a:xfrm>
            <a:off x="6492240" y="5285231"/>
            <a:ext cx="1965960" cy="82296"/>
          </a:xfrm>
          <a:prstGeom prst="rect">
            <a:avLst/>
          </a:prstGeom>
          <a:noFill/>
        </p:spPr>
        <p:txBody>
          <a:bodyPr wrap="none" lIns="0" rIns="0" tIns="0" bIns="0">
            <a:spAutoFit/>
          </a:bodyPr>
          <a:lstStyle/>
          <a:p>
            <a:pPr algn="l"/>
            <a:r>
              <a:rPr sz="395" b="0">
                <a:solidFill>
                  <a:srgbClr val="4B5563"/>
                </a:solidFill>
                <a:latin typeface="Arial"/>
              </a:rPr>
              <a:t>Services &amp; Networking</a:t>
            </a:r>
          </a:p>
        </p:txBody>
      </p:sp>
      <p:sp>
        <p:nvSpPr>
          <p:cNvPr id="50" name="TextBox 49"/>
          <p:cNvSpPr txBox="1"/>
          <p:nvPr/>
        </p:nvSpPr>
        <p:spPr>
          <a:xfrm>
            <a:off x="8869680" y="5285231"/>
            <a:ext cx="237744" cy="82296"/>
          </a:xfrm>
          <a:prstGeom prst="rect">
            <a:avLst/>
          </a:prstGeom>
          <a:noFill/>
        </p:spPr>
        <p:txBody>
          <a:bodyPr wrap="none" lIns="0" rIns="0" tIns="0" bIns="0">
            <a:spAutoFit/>
          </a:bodyPr>
          <a:lstStyle/>
          <a:p>
            <a:pPr algn="r"/>
            <a:r>
              <a:rPr sz="395" b="0">
                <a:solidFill>
                  <a:srgbClr val="4B5563"/>
                </a:solidFill>
                <a:latin typeface="Arial"/>
              </a:rPr>
              <a:t>20%</a:t>
            </a:r>
          </a:p>
        </p:txBody>
      </p:sp>
      <p:sp>
        <p:nvSpPr>
          <p:cNvPr id="51" name="TextBox 50"/>
          <p:cNvSpPr txBox="1"/>
          <p:nvPr/>
        </p:nvSpPr>
        <p:spPr>
          <a:xfrm>
            <a:off x="6492240" y="5404103"/>
            <a:ext cx="1965960" cy="82296"/>
          </a:xfrm>
          <a:prstGeom prst="rect">
            <a:avLst/>
          </a:prstGeom>
          <a:noFill/>
        </p:spPr>
        <p:txBody>
          <a:bodyPr wrap="none" lIns="0" rIns="0" tIns="0" bIns="0">
            <a:spAutoFit/>
          </a:bodyPr>
          <a:lstStyle/>
          <a:p>
            <a:pPr algn="l"/>
            <a:r>
              <a:rPr sz="395" b="0">
                <a:solidFill>
                  <a:srgbClr val="4B5563"/>
                </a:solidFill>
                <a:latin typeface="Arial"/>
              </a:rPr>
              <a:t>Storage</a:t>
            </a:r>
          </a:p>
        </p:txBody>
      </p:sp>
      <p:sp>
        <p:nvSpPr>
          <p:cNvPr id="52" name="TextBox 51"/>
          <p:cNvSpPr txBox="1"/>
          <p:nvPr/>
        </p:nvSpPr>
        <p:spPr>
          <a:xfrm>
            <a:off x="8869680" y="5404103"/>
            <a:ext cx="237744" cy="82296"/>
          </a:xfrm>
          <a:prstGeom prst="rect">
            <a:avLst/>
          </a:prstGeom>
          <a:noFill/>
        </p:spPr>
        <p:txBody>
          <a:bodyPr wrap="none" lIns="0" rIns="0" tIns="0" bIns="0">
            <a:spAutoFit/>
          </a:bodyPr>
          <a:lstStyle/>
          <a:p>
            <a:pPr algn="r"/>
            <a:r>
              <a:rPr sz="395" b="0">
                <a:solidFill>
                  <a:srgbClr val="4B5563"/>
                </a:solidFill>
                <a:latin typeface="Arial"/>
              </a:rPr>
              <a:t>10%</a:t>
            </a:r>
          </a:p>
        </p:txBody>
      </p:sp>
      <p:sp>
        <p:nvSpPr>
          <p:cNvPr id="53" name="TextBox 52"/>
          <p:cNvSpPr txBox="1"/>
          <p:nvPr/>
        </p:nvSpPr>
        <p:spPr>
          <a:xfrm>
            <a:off x="6492240" y="5522975"/>
            <a:ext cx="1965960" cy="82296"/>
          </a:xfrm>
          <a:prstGeom prst="rect">
            <a:avLst/>
          </a:prstGeom>
          <a:noFill/>
        </p:spPr>
        <p:txBody>
          <a:bodyPr wrap="none" lIns="0" rIns="0" tIns="0" bIns="0">
            <a:spAutoFit/>
          </a:bodyPr>
          <a:lstStyle/>
          <a:p>
            <a:pPr algn="l"/>
            <a:r>
              <a:rPr sz="395" b="0">
                <a:solidFill>
                  <a:srgbClr val="4B5563"/>
                </a:solidFill>
                <a:latin typeface="Arial"/>
              </a:rPr>
              <a:t>Troubleshooting</a:t>
            </a:r>
          </a:p>
        </p:txBody>
      </p:sp>
      <p:sp>
        <p:nvSpPr>
          <p:cNvPr id="54" name="TextBox 53"/>
          <p:cNvSpPr txBox="1"/>
          <p:nvPr/>
        </p:nvSpPr>
        <p:spPr>
          <a:xfrm>
            <a:off x="8869680" y="5522975"/>
            <a:ext cx="237744" cy="82296"/>
          </a:xfrm>
          <a:prstGeom prst="rect">
            <a:avLst/>
          </a:prstGeom>
          <a:noFill/>
        </p:spPr>
        <p:txBody>
          <a:bodyPr wrap="none" lIns="0" rIns="0" tIns="0" bIns="0">
            <a:spAutoFit/>
          </a:bodyPr>
          <a:lstStyle/>
          <a:p>
            <a:pPr algn="r"/>
            <a:r>
              <a:rPr sz="395" b="0">
                <a:solidFill>
                  <a:srgbClr val="4B5563"/>
                </a:solidFill>
                <a:latin typeface="Arial"/>
              </a:rPr>
              <a:t>30%</a:t>
            </a:r>
          </a:p>
        </p:txBody>
      </p:sp>
      <p:sp>
        <p:nvSpPr>
          <p:cNvPr id="55" name="Rounded Rectangle 54"/>
          <p:cNvSpPr/>
          <p:nvPr/>
        </p:nvSpPr>
        <p:spPr>
          <a:xfrm>
            <a:off x="9509760" y="2624327"/>
            <a:ext cx="1188720" cy="868680"/>
          </a:xfrm>
          <a:prstGeom prst="round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10344" y="2752344"/>
            <a:ext cx="868680" cy="82296"/>
          </a:xfrm>
          <a:prstGeom prst="rect">
            <a:avLst/>
          </a:prstGeom>
          <a:noFill/>
        </p:spPr>
        <p:txBody>
          <a:bodyPr wrap="none" lIns="0" rIns="0" tIns="0" bIns="0">
            <a:spAutoFit/>
          </a:bodyPr>
          <a:lstStyle/>
          <a:p>
            <a:pPr algn="l"/>
            <a:r>
              <a:rPr sz="400" b="1">
                <a:solidFill>
                  <a:srgbClr val="475569"/>
                </a:solidFill>
                <a:latin typeface="Arial"/>
              </a:rPr>
              <a:t>2026 PRACTICE EXAM DETAILS</a:t>
            </a:r>
          </a:p>
        </p:txBody>
      </p:sp>
      <p:sp>
        <p:nvSpPr>
          <p:cNvPr id="57" name="TextBox 56"/>
          <p:cNvSpPr txBox="1"/>
          <p:nvPr/>
        </p:nvSpPr>
        <p:spPr>
          <a:xfrm>
            <a:off x="9610344" y="2926079"/>
            <a:ext cx="841248" cy="292608"/>
          </a:xfrm>
          <a:prstGeom prst="rect">
            <a:avLst/>
          </a:prstGeom>
          <a:noFill/>
        </p:spPr>
        <p:txBody>
          <a:bodyPr wrap="none" lIns="0" rIns="0" tIns="0" bIns="0">
            <a:spAutoFit/>
          </a:bodyPr>
          <a:lstStyle/>
          <a:p>
            <a:pPr algn="l"/>
            <a:r>
              <a:rPr sz="400" b="0">
                <a:solidFill>
                  <a:srgbClr val="4B5563"/>
                </a:solidFill>
                <a:latin typeface="Arial"/>
              </a:rPr>
              <a:t>Exam code    CKA
Duration      120 min
Pass score    66%</a:t>
            </a:r>
          </a:p>
        </p:txBody>
      </p:sp>
      <p:sp>
        <p:nvSpPr>
          <p:cNvPr id="58" name="Rounded Rectangle 57"/>
          <p:cNvSpPr/>
          <p:nvPr/>
        </p:nvSpPr>
        <p:spPr>
          <a:xfrm>
            <a:off x="9509760" y="3648456"/>
            <a:ext cx="1188720" cy="786384"/>
          </a:xfrm>
          <a:prstGeom prst="round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610344" y="3758183"/>
            <a:ext cx="320040" cy="73152"/>
          </a:xfrm>
          <a:prstGeom prst="rect">
            <a:avLst/>
          </a:prstGeom>
          <a:noFill/>
        </p:spPr>
        <p:txBody>
          <a:bodyPr wrap="none" lIns="0" rIns="0" tIns="0" bIns="0">
            <a:spAutoFit/>
          </a:bodyPr>
          <a:lstStyle/>
          <a:p>
            <a:pPr algn="l"/>
            <a:r>
              <a:rPr sz="400" b="1">
                <a:solidFill>
                  <a:srgbClr val="2563EB"/>
                </a:solidFill>
                <a:latin typeface="Arial"/>
              </a:rPr>
              <a:t>FREE</a:t>
            </a:r>
          </a:p>
        </p:txBody>
      </p:sp>
      <p:sp>
        <p:nvSpPr>
          <p:cNvPr id="60" name="TextBox 59"/>
          <p:cNvSpPr txBox="1"/>
          <p:nvPr/>
        </p:nvSpPr>
        <p:spPr>
          <a:xfrm>
            <a:off x="9610344" y="3931920"/>
            <a:ext cx="868680" cy="228600"/>
          </a:xfrm>
          <a:prstGeom prst="rect">
            <a:avLst/>
          </a:prstGeom>
          <a:noFill/>
        </p:spPr>
        <p:txBody>
          <a:bodyPr wrap="none" lIns="0" rIns="0" tIns="0" bIns="0">
            <a:spAutoFit/>
          </a:bodyPr>
          <a:lstStyle/>
          <a:p>
            <a:pPr algn="l"/>
            <a:r>
              <a:rPr sz="400" b="0">
                <a:solidFill>
                  <a:srgbClr val="111827"/>
                </a:solidFill>
                <a:latin typeface="Arial"/>
              </a:rPr>
              <a:t>Try our free practice teaser
No credit card required.</a:t>
            </a:r>
          </a:p>
        </p:txBody>
      </p:sp>
      <p:sp>
        <p:nvSpPr>
          <p:cNvPr id="61" name="Rounded Rectangle 60"/>
          <p:cNvSpPr/>
          <p:nvPr/>
        </p:nvSpPr>
        <p:spPr>
          <a:xfrm>
            <a:off x="9610344" y="4224527"/>
            <a:ext cx="896112" cy="146304"/>
          </a:xfrm>
          <a:prstGeom prst="round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692640" y="4256531"/>
            <a:ext cx="731520" cy="45720"/>
          </a:xfrm>
          <a:prstGeom prst="rect">
            <a:avLst/>
          </a:prstGeom>
          <a:noFill/>
        </p:spPr>
        <p:txBody>
          <a:bodyPr wrap="none" lIns="0" rIns="0" tIns="0" bIns="0">
            <a:spAutoFit/>
          </a:bodyPr>
          <a:lstStyle/>
          <a:p>
            <a:pPr algn="ctr"/>
            <a:r>
              <a:rPr sz="325" b="1">
                <a:solidFill>
                  <a:srgbClr val="111827"/>
                </a:solidFill>
                <a:latin typeface="Arial"/>
              </a:rPr>
              <a:t>Start free practice exam</a:t>
            </a:r>
          </a:p>
        </p:txBody>
      </p:sp>
      <p:sp>
        <p:nvSpPr>
          <p:cNvPr id="63" name="Rounded Rectangle 62"/>
          <p:cNvSpPr/>
          <p:nvPr/>
        </p:nvSpPr>
        <p:spPr>
          <a:xfrm>
            <a:off x="9509760" y="4572000"/>
            <a:ext cx="1188720" cy="749808"/>
          </a:xfrm>
          <a:prstGeom prst="roundRect">
            <a:avLst/>
          </a:prstGeom>
          <a:solidFill>
            <a:srgbClr val="FFFFFF"/>
          </a:solidFill>
          <a:ln w="889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10344" y="4690872"/>
            <a:ext cx="502920" cy="73152"/>
          </a:xfrm>
          <a:prstGeom prst="rect">
            <a:avLst/>
          </a:prstGeom>
          <a:noFill/>
        </p:spPr>
        <p:txBody>
          <a:bodyPr wrap="none" lIns="0" rIns="0" tIns="0" bIns="0">
            <a:spAutoFit/>
          </a:bodyPr>
          <a:lstStyle/>
          <a:p>
            <a:pPr algn="l"/>
            <a:r>
              <a:rPr sz="380" b="1">
                <a:solidFill>
                  <a:srgbClr val="475569"/>
                </a:solidFill>
                <a:latin typeface="Arial"/>
              </a:rPr>
              <a:t>PICK A PLAN</a:t>
            </a:r>
          </a:p>
        </p:txBody>
      </p:sp>
      <p:sp>
        <p:nvSpPr>
          <p:cNvPr id="65" name="Rounded Rectangle 64"/>
          <p:cNvSpPr/>
          <p:nvPr/>
        </p:nvSpPr>
        <p:spPr>
          <a:xfrm>
            <a:off x="9610344" y="4892040"/>
            <a:ext cx="896112" cy="201168"/>
          </a:xfrm>
          <a:prstGeom prst="roundRect">
            <a:avLst/>
          </a:prstGeom>
          <a:solidFill>
            <a:srgbClr val="EFF6FF"/>
          </a:solidFill>
          <a:ln w="889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720072" y="4946904"/>
            <a:ext cx="457200" cy="45720"/>
          </a:xfrm>
          <a:prstGeom prst="rect">
            <a:avLst/>
          </a:prstGeom>
          <a:noFill/>
        </p:spPr>
        <p:txBody>
          <a:bodyPr wrap="none" lIns="0" rIns="0" tIns="0" bIns="0">
            <a:spAutoFit/>
          </a:bodyPr>
          <a:lstStyle/>
          <a:p>
            <a:pPr algn="l"/>
            <a:r>
              <a:rPr sz="355" b="1">
                <a:solidFill>
                  <a:srgbClr val="111827"/>
                </a:solidFill>
                <a:latin typeface="Arial"/>
              </a:rPr>
              <a:t>Practice Exam</a:t>
            </a:r>
          </a:p>
        </p:txBody>
      </p:sp>
      <p:sp>
        <p:nvSpPr>
          <p:cNvPr id="67" name="TextBox 66"/>
          <p:cNvSpPr txBox="1"/>
          <p:nvPr/>
        </p:nvSpPr>
        <p:spPr>
          <a:xfrm>
            <a:off x="10177272" y="4946904"/>
            <a:ext cx="201168" cy="45720"/>
          </a:xfrm>
          <a:prstGeom prst="rect">
            <a:avLst/>
          </a:prstGeom>
          <a:noFill/>
        </p:spPr>
        <p:txBody>
          <a:bodyPr wrap="none" lIns="0" rIns="0" tIns="0" bIns="0">
            <a:spAutoFit/>
          </a:bodyPr>
          <a:lstStyle/>
          <a:p>
            <a:pPr algn="r"/>
            <a:r>
              <a:rPr sz="355" b="1">
                <a:solidFill>
                  <a:srgbClr val="2563EB"/>
                </a:solidFill>
                <a:latin typeface="Arial"/>
              </a:rPr>
              <a:t>$20</a:t>
            </a:r>
          </a:p>
        </p:txBody>
      </p:sp>
      <p:sp>
        <p:nvSpPr>
          <p:cNvPr id="68" name="Rounded Rectangle 67"/>
          <p:cNvSpPr/>
          <p:nvPr/>
        </p:nvSpPr>
        <p:spPr>
          <a:xfrm>
            <a:off x="9610344" y="5184648"/>
            <a:ext cx="896112" cy="164592"/>
          </a:xfrm>
          <a:prstGeom prst="roundRect">
            <a:avLst/>
          </a:prstGeom>
          <a:solidFill>
            <a:srgbClr val="4F46E5"/>
          </a:solidFill>
          <a:ln w="889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857232" y="5221224"/>
            <a:ext cx="411480" cy="45720"/>
          </a:xfrm>
          <a:prstGeom prst="rect">
            <a:avLst/>
          </a:prstGeom>
          <a:noFill/>
        </p:spPr>
        <p:txBody>
          <a:bodyPr wrap="none" lIns="0" rIns="0" tIns="0" bIns="0">
            <a:spAutoFit/>
          </a:bodyPr>
          <a:lstStyle/>
          <a:p>
            <a:pPr algn="ctr"/>
            <a:r>
              <a:rPr sz="345" b="1">
                <a:solidFill>
                  <a:srgbClr val="FFFFFF"/>
                </a:solidFill>
                <a:latin typeface="Arial"/>
              </a:rPr>
              <a:t>Sign in to buy</a:t>
            </a:r>
          </a:p>
        </p:txBody>
      </p:sp>
      <p:sp>
        <p:nvSpPr>
          <p:cNvPr id="70" name="TextBox 69"/>
          <p:cNvSpPr txBox="1"/>
          <p:nvPr/>
        </p:nvSpPr>
        <p:spPr>
          <a:xfrm>
            <a:off x="502920" y="6464808"/>
            <a:ext cx="4754880" cy="146304"/>
          </a:xfrm>
          <a:prstGeom prst="rect">
            <a:avLst/>
          </a:prstGeom>
          <a:noFill/>
        </p:spPr>
        <p:txBody>
          <a:bodyPr wrap="none" lIns="0" rIns="0" tIns="0" bIns="0">
            <a:spAutoFit/>
          </a:bodyPr>
          <a:lstStyle/>
          <a:p>
            <a:pPr algn="l"/>
            <a:r>
              <a:rPr sz="780" b="0">
                <a:solidFill>
                  <a:srgbClr val="475569"/>
                </a:solidFill>
                <a:latin typeface="Arial"/>
              </a:rPr>
              <a:t>Certified Kubernetes Administrator (CKA)  ·  TGS-2025054612</a:t>
            </a:r>
          </a:p>
        </p:txBody>
      </p:sp>
      <p:sp>
        <p:nvSpPr>
          <p:cNvPr id="71" name="TextBox 70"/>
          <p:cNvSpPr txBox="1"/>
          <p:nvPr/>
        </p:nvSpPr>
        <p:spPr>
          <a:xfrm>
            <a:off x="5102352" y="6464808"/>
            <a:ext cx="3383280" cy="146304"/>
          </a:xfrm>
          <a:prstGeom prst="rect">
            <a:avLst/>
          </a:prstGeom>
          <a:noFill/>
        </p:spPr>
        <p:txBody>
          <a:bodyPr wrap="none" lIns="0" rIns="0" tIns="0" bIns="0">
            <a:spAutoFit/>
          </a:bodyPr>
          <a:lstStyle/>
          <a:p>
            <a:pPr algn="ctr"/>
            <a:r>
              <a:rPr sz="780" b="0">
                <a:solidFill>
                  <a:srgbClr val="475569"/>
                </a:solidFill>
                <a:latin typeface="Arial"/>
              </a:rPr>
              <a:t>© 2026 Tertiary Infotech Academy Pte Ltd</a:t>
            </a:r>
          </a:p>
        </p:txBody>
      </p:sp>
      <p:sp>
        <p:nvSpPr>
          <p:cNvPr id="72" name="TextBox 71"/>
          <p:cNvSpPr txBox="1"/>
          <p:nvPr/>
        </p:nvSpPr>
        <p:spPr>
          <a:xfrm>
            <a:off x="10927080" y="6464808"/>
            <a:ext cx="320040" cy="146304"/>
          </a:xfrm>
          <a:prstGeom prst="rect">
            <a:avLst/>
          </a:prstGeom>
          <a:noFill/>
        </p:spPr>
        <p:txBody>
          <a:bodyPr wrap="none" lIns="0" rIns="0" tIns="0" bIns="0">
            <a:spAutoFit/>
          </a:bodyPr>
          <a:lstStyle/>
          <a:p>
            <a:pPr algn="r"/>
            <a:r>
              <a:rPr sz="780" b="1">
                <a:solidFill>
                  <a:srgbClr val="475569"/>
                </a:solidFill>
                <a:latin typeface="Arial"/>
              </a:rPr>
              <a:t>277</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WARM-UP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Mock-Exam Practice (1:00 PM)</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Warm-up before the graded assessment — work through CKA-style hands-on tasks.</a:t>
            </a:r>
          </a:p>
          <a:p>
            <a:pPr>
              <a:spcBef>
                <a:spcPts val="0"/>
              </a:spcBef>
              <a:spcAft>
                <a:spcPts val="1000"/>
              </a:spcAft>
            </a:pPr>
            <a:r>
              <a:rPr sz="1900" b="1">
                <a:solidFill>
                  <a:srgbClr val="1F6FEB"/>
                </a:solidFill>
                <a:latin typeface="Arial"/>
              </a:rPr>
              <a:t>•  </a:t>
            </a:r>
            <a:r>
              <a:rPr sz="1900">
                <a:solidFill>
                  <a:srgbClr val="161B26"/>
                </a:solidFill>
                <a:latin typeface="Arial"/>
              </a:rPr>
              <a:t>Use killer.sh and Killercoda; rehearse alias k=kubectl and export do='--dry-run=client -o yaml'.</a:t>
            </a:r>
          </a:p>
          <a:p>
            <a:pPr>
              <a:spcBef>
                <a:spcPts val="0"/>
              </a:spcBef>
              <a:spcAft>
                <a:spcPts val="1000"/>
              </a:spcAft>
            </a:pPr>
            <a:r>
              <a:rPr sz="1900" b="1">
                <a:solidFill>
                  <a:srgbClr val="1F6FEB"/>
                </a:solidFill>
                <a:latin typeface="Arial"/>
              </a:rPr>
              <a:t>•  </a:t>
            </a:r>
            <a:r>
              <a:rPr sz="1900">
                <a:solidFill>
                  <a:srgbClr val="161B26"/>
                </a:solidFill>
                <a:latin typeface="Arial"/>
              </a:rPr>
              <a:t>The real CKA exam is 2 hours, 100% hands-on — time yourself on each question.</a:t>
            </a:r>
          </a:p>
          <a:p>
            <a:pPr>
              <a:spcBef>
                <a:spcPts val="0"/>
              </a:spcBef>
              <a:spcAft>
                <a:spcPts val="1000"/>
              </a:spcAft>
            </a:pPr>
            <a:r>
              <a:rPr sz="1900" b="1">
                <a:solidFill>
                  <a:srgbClr val="1F6FEB"/>
                </a:solidFill>
                <a:latin typeface="Arial"/>
              </a:rPr>
              <a:t>•  </a:t>
            </a:r>
            <a:r>
              <a:rPr sz="1900">
                <a:solidFill>
                  <a:srgbClr val="161B26"/>
                </a:solidFill>
                <a:latin typeface="Arial"/>
              </a:rPr>
              <a:t>Trainer is available for questions; the final assessment begins at 3:45 PM.</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278</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ASSESSMENT</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Final Assessment — from 3:45 PM</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Written / MCQ on the LMS · open book · covers all five CKA domains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257800" cy="36576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8136" y="20939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clip.png"/>
          <p:cNvPicPr>
            <a:picLocks noChangeAspect="1"/>
          </p:cNvPicPr>
          <p:nvPr/>
        </p:nvPicPr>
        <p:blipFill>
          <a:blip r:embed="rId2"/>
          <a:stretch>
            <a:fillRect/>
          </a:stretch>
        </p:blipFill>
        <p:spPr>
          <a:xfrm>
            <a:off x="1265895" y="2271735"/>
            <a:ext cx="302850" cy="302850"/>
          </a:xfrm>
          <a:prstGeom prst="rect">
            <a:avLst/>
          </a:prstGeom>
        </p:spPr>
      </p:pic>
      <p:sp>
        <p:nvSpPr>
          <p:cNvPr id="10" name="TextBox 9"/>
          <p:cNvSpPr txBox="1"/>
          <p:nvPr/>
        </p:nvSpPr>
        <p:spPr>
          <a:xfrm>
            <a:off x="196596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161B26"/>
                </a:solidFill>
                <a:latin typeface="Arial"/>
              </a:rPr>
              <a:t>Final Assessment</a:t>
            </a:r>
          </a:p>
        </p:txBody>
      </p:sp>
      <p:sp>
        <p:nvSpPr>
          <p:cNvPr id="11" name="TextBox 10"/>
          <p:cNvSpPr txBox="1"/>
          <p:nvPr/>
        </p:nvSpPr>
        <p:spPr>
          <a:xfrm>
            <a:off x="1088136" y="3063240"/>
            <a:ext cx="4636008" cy="2194560"/>
          </a:xfrm>
          <a:prstGeom prst="rect">
            <a:avLst/>
          </a:prstGeom>
          <a:noFill/>
        </p:spPr>
        <p:txBody>
          <a:bodyPr wrap="square" lIns="0" rIns="0">
            <a:spAutoFit/>
          </a:bodyPr>
          <a:lstStyle/>
          <a:p>
            <a:pPr>
              <a:spcBef>
                <a:spcPts val="0"/>
              </a:spcBef>
              <a:spcAft>
                <a:spcPts val="1000"/>
              </a:spcAft>
            </a:pPr>
            <a:r>
              <a:rPr sz="1300" b="1">
                <a:solidFill>
                  <a:srgbClr val="1F6FEB"/>
                </a:solidFill>
                <a:latin typeface="Arial"/>
              </a:rPr>
              <a:t>•  </a:t>
            </a:r>
            <a:r>
              <a:rPr sz="1300">
                <a:solidFill>
                  <a:srgbClr val="161B26"/>
                </a:solidFill>
                <a:latin typeface="Arial"/>
              </a:rPr>
              <a:t>Written / MCQ assessment on the LMS</a:t>
            </a:r>
          </a:p>
          <a:p>
            <a:pPr>
              <a:spcBef>
                <a:spcPts val="0"/>
              </a:spcBef>
              <a:spcAft>
                <a:spcPts val="1000"/>
              </a:spcAft>
            </a:pPr>
            <a:r>
              <a:rPr sz="1300" b="1">
                <a:solidFill>
                  <a:srgbClr val="1F6FEB"/>
                </a:solidFill>
                <a:latin typeface="Arial"/>
              </a:rPr>
              <a:t>•  </a:t>
            </a:r>
            <a:r>
              <a:rPr sz="1300">
                <a:solidFill>
                  <a:srgbClr val="161B26"/>
                </a:solidFill>
                <a:latin typeface="Arial"/>
              </a:rPr>
              <a:t>Mock-exam practice from 1:00 PM; final assessment from 3:45 PM</a:t>
            </a:r>
          </a:p>
          <a:p>
            <a:pPr>
              <a:spcBef>
                <a:spcPts val="0"/>
              </a:spcBef>
              <a:spcAft>
                <a:spcPts val="1000"/>
              </a:spcAft>
            </a:pPr>
            <a:r>
              <a:rPr sz="1300" b="1">
                <a:solidFill>
                  <a:srgbClr val="1F6FEB"/>
                </a:solidFill>
                <a:latin typeface="Arial"/>
              </a:rPr>
              <a:t>•  </a:t>
            </a:r>
            <a:r>
              <a:rPr sz="1300">
                <a:solidFill>
                  <a:srgbClr val="161B26"/>
                </a:solidFill>
                <a:latin typeface="Arial"/>
              </a:rPr>
              <a:t>Covers all five CKA domains and the hands-on labs</a:t>
            </a:r>
          </a:p>
          <a:p>
            <a:pPr>
              <a:spcBef>
                <a:spcPts val="0"/>
              </a:spcBef>
              <a:spcAft>
                <a:spcPts val="1000"/>
              </a:spcAft>
            </a:pPr>
            <a:r>
              <a:rPr sz="1300" b="1">
                <a:solidFill>
                  <a:srgbClr val="1F6FEB"/>
                </a:solidFill>
                <a:latin typeface="Arial"/>
              </a:rPr>
              <a:t>•  </a:t>
            </a:r>
            <a:r>
              <a:rPr sz="1300">
                <a:solidFill>
                  <a:srgbClr val="161B26"/>
                </a:solidFill>
                <a:latin typeface="Arial"/>
              </a:rPr>
              <a:t>Open book — slides, Learner Guide &amp; kubernetes.io</a:t>
            </a:r>
          </a:p>
          <a:p>
            <a:pPr>
              <a:spcBef>
                <a:spcPts val="0"/>
              </a:spcBef>
              <a:spcAft>
                <a:spcPts val="1000"/>
              </a:spcAft>
            </a:pPr>
            <a:r>
              <a:rPr sz="1300" b="1">
                <a:solidFill>
                  <a:srgbClr val="1F6FEB"/>
                </a:solidFill>
                <a:latin typeface="Arial"/>
              </a:rPr>
              <a:t>•  </a:t>
            </a:r>
            <a:r>
              <a:rPr sz="1300">
                <a:solidFill>
                  <a:srgbClr val="161B26"/>
                </a:solidFill>
                <a:latin typeface="Arial"/>
              </a:rPr>
              <a:t>Must be attempted for SSG funding</a:t>
            </a:r>
          </a:p>
        </p:txBody>
      </p:sp>
      <p:sp>
        <p:nvSpPr>
          <p:cNvPr id="12" name="Rounded Rectangle 11"/>
          <p:cNvSpPr/>
          <p:nvPr/>
        </p:nvSpPr>
        <p:spPr>
          <a:xfrm>
            <a:off x="6309360" y="1783080"/>
            <a:ext cx="5257800" cy="3657600"/>
          </a:xfrm>
          <a:prstGeom prst="roundRect">
            <a:avLst>
              <a:gd name="adj" fmla="val 5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20256" y="2093976"/>
            <a:ext cx="658368" cy="658368"/>
          </a:xfrm>
          <a:prstGeom prst="ellipse">
            <a:avLst/>
          </a:prstGeom>
          <a:solidFill>
            <a:srgbClr val="0B4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FFFFFF"/>
                </a:solidFill>
                <a:latin typeface="Arial"/>
              </a:rPr>
              <a:t>Funding &amp; Competency</a:t>
            </a:r>
          </a:p>
        </p:txBody>
      </p:sp>
      <p:sp>
        <p:nvSpPr>
          <p:cNvPr id="15" name="TextBox 14"/>
          <p:cNvSpPr txBox="1"/>
          <p:nvPr/>
        </p:nvSpPr>
        <p:spPr>
          <a:xfrm>
            <a:off x="6620256" y="310896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Minimum 75% attendance</a:t>
            </a:r>
          </a:p>
          <a:p>
            <a:pPr algn="l">
              <a:spcBef>
                <a:spcPts val="0"/>
              </a:spcBef>
              <a:spcAft>
                <a:spcPts val="600"/>
              </a:spcAft>
            </a:pPr>
            <a:r>
              <a:rPr sz="1300" b="0">
                <a:solidFill>
                  <a:srgbClr val="CFE0FB"/>
                </a:solidFill>
                <a:latin typeface="Arial"/>
              </a:rPr>
              <a:t>Based on SSG digital attendance records.</a:t>
            </a:r>
          </a:p>
        </p:txBody>
      </p:sp>
      <p:sp>
        <p:nvSpPr>
          <p:cNvPr id="16" name="TextBox 15"/>
          <p:cNvSpPr txBox="1"/>
          <p:nvPr/>
        </p:nvSpPr>
        <p:spPr>
          <a:xfrm>
            <a:off x="6620256" y="429768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Assessed as Competent</a:t>
            </a:r>
          </a:p>
          <a:p>
            <a:pPr algn="l">
              <a:spcBef>
                <a:spcPts val="0"/>
              </a:spcBef>
              <a:spcAft>
                <a:spcPts val="600"/>
              </a:spcAft>
            </a:pPr>
            <a:r>
              <a:rPr sz="1300" b="0">
                <a:solidFill>
                  <a:srgbClr val="CFE0FB"/>
                </a:solidFill>
                <a:latin typeface="Arial"/>
              </a:rPr>
              <a:t>Pass the written / MCQ assessment.</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281</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ASSESSMENT RULES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Briefing for Assessment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br1.png"/>
          <p:cNvPicPr>
            <a:picLocks noChangeAspect="1"/>
          </p:cNvPicPr>
          <p:nvPr/>
        </p:nvPicPr>
        <p:blipFill>
          <a:blip r:embed="rId2"/>
          <a:stretch>
            <a:fillRect/>
          </a:stretch>
        </p:blipFill>
        <p:spPr>
          <a:xfrm>
            <a:off x="1177198" y="2137318"/>
            <a:ext cx="260788" cy="260788"/>
          </a:xfrm>
          <a:prstGeom prst="rect">
            <a:avLst/>
          </a:prstGeom>
        </p:spPr>
      </p:pic>
      <p:sp>
        <p:nvSpPr>
          <p:cNvPr id="10" name="TextBox 9"/>
          <p:cNvSpPr txBox="1"/>
          <p:nvPr/>
        </p:nvSpPr>
        <p:spPr>
          <a:xfrm>
            <a:off x="175564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Clear your space</a:t>
            </a:r>
          </a:p>
        </p:txBody>
      </p:sp>
      <p:sp>
        <p:nvSpPr>
          <p:cNvPr id="11" name="TextBox 10"/>
          <p:cNvSpPr txBox="1"/>
          <p:nvPr/>
        </p:nvSpPr>
        <p:spPr>
          <a:xfrm>
            <a:off x="102412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Keep only approved materials on the table.</a:t>
            </a:r>
          </a:p>
        </p:txBody>
      </p:sp>
      <p:sp>
        <p:nvSpPr>
          <p:cNvPr id="12" name="Rounded Rectangle 11"/>
          <p:cNvSpPr/>
          <p:nvPr/>
        </p:nvSpPr>
        <p:spPr>
          <a:xfrm>
            <a:off x="441960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648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br2.png"/>
          <p:cNvPicPr>
            <a:picLocks noChangeAspect="1"/>
          </p:cNvPicPr>
          <p:nvPr/>
        </p:nvPicPr>
        <p:blipFill>
          <a:blip r:embed="rId3"/>
          <a:stretch>
            <a:fillRect/>
          </a:stretch>
        </p:blipFill>
        <p:spPr>
          <a:xfrm>
            <a:off x="4819558" y="2137318"/>
            <a:ext cx="260788" cy="260788"/>
          </a:xfrm>
          <a:prstGeom prst="rect">
            <a:avLst/>
          </a:prstGeom>
        </p:spPr>
      </p:pic>
      <p:sp>
        <p:nvSpPr>
          <p:cNvPr id="15" name="TextBox 14"/>
          <p:cNvSpPr txBox="1"/>
          <p:nvPr/>
        </p:nvSpPr>
        <p:spPr>
          <a:xfrm>
            <a:off x="539800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No recording</a:t>
            </a:r>
          </a:p>
        </p:txBody>
      </p:sp>
      <p:sp>
        <p:nvSpPr>
          <p:cNvPr id="16" name="TextBox 15"/>
          <p:cNvSpPr txBox="1"/>
          <p:nvPr/>
        </p:nvSpPr>
        <p:spPr>
          <a:xfrm>
            <a:off x="466648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photos of the assessment.</a:t>
            </a:r>
          </a:p>
        </p:txBody>
      </p:sp>
      <p:sp>
        <p:nvSpPr>
          <p:cNvPr id="17" name="Rounded Rectangle 16"/>
          <p:cNvSpPr/>
          <p:nvPr/>
        </p:nvSpPr>
        <p:spPr>
          <a:xfrm>
            <a:off x="806196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884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br3.png"/>
          <p:cNvPicPr>
            <a:picLocks noChangeAspect="1"/>
          </p:cNvPicPr>
          <p:nvPr/>
        </p:nvPicPr>
        <p:blipFill>
          <a:blip r:embed="rId4"/>
          <a:stretch>
            <a:fillRect/>
          </a:stretch>
        </p:blipFill>
        <p:spPr>
          <a:xfrm>
            <a:off x="8461918" y="2137318"/>
            <a:ext cx="260788" cy="260788"/>
          </a:xfrm>
          <a:prstGeom prst="rect">
            <a:avLst/>
          </a:prstGeom>
        </p:spPr>
      </p:pic>
      <p:sp>
        <p:nvSpPr>
          <p:cNvPr id="20" name="TextBox 19"/>
          <p:cNvSpPr txBox="1"/>
          <p:nvPr/>
        </p:nvSpPr>
        <p:spPr>
          <a:xfrm>
            <a:off x="904036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Work individually</a:t>
            </a:r>
          </a:p>
        </p:txBody>
      </p:sp>
      <p:sp>
        <p:nvSpPr>
          <p:cNvPr id="21" name="TextBox 20"/>
          <p:cNvSpPr txBox="1"/>
          <p:nvPr/>
        </p:nvSpPr>
        <p:spPr>
          <a:xfrm>
            <a:off x="830884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discussion during the assessment.</a:t>
            </a:r>
          </a:p>
        </p:txBody>
      </p:sp>
      <p:sp>
        <p:nvSpPr>
          <p:cNvPr id="22" name="Rounded Rectangle 21"/>
          <p:cNvSpPr/>
          <p:nvPr/>
        </p:nvSpPr>
        <p:spPr>
          <a:xfrm>
            <a:off x="77724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br4.png"/>
          <p:cNvPicPr>
            <a:picLocks noChangeAspect="1"/>
          </p:cNvPicPr>
          <p:nvPr/>
        </p:nvPicPr>
        <p:blipFill>
          <a:blip r:embed="rId5"/>
          <a:stretch>
            <a:fillRect/>
          </a:stretch>
        </p:blipFill>
        <p:spPr>
          <a:xfrm>
            <a:off x="1177198" y="4167286"/>
            <a:ext cx="260788" cy="260788"/>
          </a:xfrm>
          <a:prstGeom prst="rect">
            <a:avLst/>
          </a:prstGeom>
        </p:spPr>
      </p:pic>
      <p:sp>
        <p:nvSpPr>
          <p:cNvPr id="25" name="TextBox 24"/>
          <p:cNvSpPr txBox="1"/>
          <p:nvPr/>
        </p:nvSpPr>
        <p:spPr>
          <a:xfrm>
            <a:off x="175564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Use the LMS</a:t>
            </a:r>
          </a:p>
        </p:txBody>
      </p:sp>
      <p:sp>
        <p:nvSpPr>
          <p:cNvPr id="26" name="TextBox 25"/>
          <p:cNvSpPr txBox="1"/>
          <p:nvPr/>
        </p:nvSpPr>
        <p:spPr>
          <a:xfrm>
            <a:off x="102412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The assessment is delivered online.</a:t>
            </a:r>
          </a:p>
        </p:txBody>
      </p:sp>
      <p:sp>
        <p:nvSpPr>
          <p:cNvPr id="27" name="Rounded Rectangle 26"/>
          <p:cNvSpPr/>
          <p:nvPr/>
        </p:nvSpPr>
        <p:spPr>
          <a:xfrm>
            <a:off x="441960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648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gr4.png"/>
          <p:cNvPicPr>
            <a:picLocks noChangeAspect="1"/>
          </p:cNvPicPr>
          <p:nvPr/>
        </p:nvPicPr>
        <p:blipFill>
          <a:blip r:embed="rId6"/>
          <a:stretch>
            <a:fillRect/>
          </a:stretch>
        </p:blipFill>
        <p:spPr>
          <a:xfrm>
            <a:off x="4819558" y="4167286"/>
            <a:ext cx="260788" cy="260788"/>
          </a:xfrm>
          <a:prstGeom prst="rect">
            <a:avLst/>
          </a:prstGeom>
        </p:spPr>
      </p:pic>
      <p:sp>
        <p:nvSpPr>
          <p:cNvPr id="30" name="TextBox 29"/>
          <p:cNvSpPr txBox="1"/>
          <p:nvPr/>
        </p:nvSpPr>
        <p:spPr>
          <a:xfrm>
            <a:off x="539800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Open book</a:t>
            </a:r>
          </a:p>
        </p:txBody>
      </p:sp>
      <p:sp>
        <p:nvSpPr>
          <p:cNvPr id="31" name="TextBox 30"/>
          <p:cNvSpPr txBox="1"/>
          <p:nvPr/>
        </p:nvSpPr>
        <p:spPr>
          <a:xfrm>
            <a:off x="466648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Slides, Learner Guide &amp; kubernetes.io are allowed.</a:t>
            </a:r>
          </a:p>
        </p:txBody>
      </p:sp>
      <p:sp>
        <p:nvSpPr>
          <p:cNvPr id="32" name="Rounded Rectangle 31"/>
          <p:cNvSpPr/>
          <p:nvPr/>
        </p:nvSpPr>
        <p:spPr>
          <a:xfrm>
            <a:off x="806196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884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_br6.png"/>
          <p:cNvPicPr>
            <a:picLocks noChangeAspect="1"/>
          </p:cNvPicPr>
          <p:nvPr/>
        </p:nvPicPr>
        <p:blipFill>
          <a:blip r:embed="rId7"/>
          <a:stretch>
            <a:fillRect/>
          </a:stretch>
        </p:blipFill>
        <p:spPr>
          <a:xfrm>
            <a:off x="8461918" y="4167286"/>
            <a:ext cx="260788" cy="260788"/>
          </a:xfrm>
          <a:prstGeom prst="rect">
            <a:avLst/>
          </a:prstGeom>
        </p:spPr>
      </p:pic>
      <p:sp>
        <p:nvSpPr>
          <p:cNvPr id="35" name="TextBox 34"/>
          <p:cNvSpPr txBox="1"/>
          <p:nvPr/>
        </p:nvSpPr>
        <p:spPr>
          <a:xfrm>
            <a:off x="904036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Time's up</a:t>
            </a:r>
          </a:p>
        </p:txBody>
      </p:sp>
      <p:sp>
        <p:nvSpPr>
          <p:cNvPr id="36" name="TextBox 35"/>
          <p:cNvSpPr txBox="1"/>
          <p:nvPr/>
        </p:nvSpPr>
        <p:spPr>
          <a:xfrm>
            <a:off x="830884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Submit when time is up.</a:t>
            </a: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282</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THANK YOU</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Thank you — and good luck with the CKA exam!</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Keep practising on killer.sh and Killercoda; the CKA exam is 2 hours, 100% hands-on.</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